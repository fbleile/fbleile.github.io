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ov" ContentType="video/quicktime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omments/modernComment_124_59D92C1A.xml" ContentType="application/vnd.ms-powerpoint.comment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omments/modernComment_1AD_1BB316F5.xml" ContentType="application/vnd.ms-powerpoint.comments+xml"/>
  <Override PartName="/ppt/comments/modernComment_138_2C62C5D0.xml" ContentType="application/vnd.ms-powerpoint.comment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61_2352A677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65_EE95660D.xml" ContentType="application/vnd.ms-powerpoint.comments+xml"/>
  <Override PartName="/ppt/notesSlides/notesSlide8.xml" ContentType="application/vnd.openxmlformats-officedocument.presentationml.notesSlide+xml"/>
  <Override PartName="/ppt/comments/modernComment_170_E1A83291.xml" ContentType="application/vnd.ms-powerpoint.comment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comments/modernComment_113_B85B50AC.xml" ContentType="application/vnd.ms-powerpoint.comments+xml"/>
  <Override PartName="/ppt/comments/modernComment_118_1ACBA722.xml" ContentType="application/vnd.ms-powerpoint.comments+xml"/>
  <Override PartName="/ppt/comments/modernComment_193_EA97275F.xml" ContentType="application/vnd.ms-powerpoint.comment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E1_D10AE388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E4_249F975D.xml" ContentType="application/vnd.ms-powerpoint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comments/modernComment_176_72387F80.xml" ContentType="application/vnd.ms-powerpoint.comments+xml"/>
  <Override PartName="/ppt/notesSlides/notesSlide19.xml" ContentType="application/vnd.openxmlformats-officedocument.presentationml.notesSlide+xml"/>
  <Override PartName="/ppt/comments/modernComment_189_4A40CFA2.xml" ContentType="application/vnd.ms-powerpoint.comment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1.xml" ContentType="application/vnd.openxmlformats-officedocument.presentationml.notesSlide+xml"/>
  <Override PartName="/ppt/comments/modernComment_141_93613AFF.xml" ContentType="application/vnd.ms-powerpoint.comments+xml"/>
  <Override PartName="/ppt/comments/modernComment_152_227130B7.xml" ContentType="application/vnd.ms-powerpoint.comments+xml"/>
  <Override PartName="/ppt/comments/modernComment_129_7C7099D3.xml" ContentType="application/vnd.ms-powerpoint.comments+xml"/>
  <Override PartName="/ppt/comments/modernComment_1AE_36144CFE.xml" ContentType="application/vnd.ms-powerpoint.comments+xml"/>
  <Override PartName="/ppt/notesSlides/notesSlide22.xml" ContentType="application/vnd.openxmlformats-officedocument.presentationml.notesSlide+xml"/>
  <Override PartName="/ppt/comments/modernComment_1A2_DE811A05.xml" ContentType="application/vnd.ms-powerpoint.comments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75"/>
  </p:notesMasterIdLst>
  <p:handoutMasterIdLst>
    <p:handoutMasterId r:id="rId76"/>
  </p:handoutMasterIdLst>
  <p:sldIdLst>
    <p:sldId id="256" r:id="rId7"/>
    <p:sldId id="292" r:id="rId8"/>
    <p:sldId id="303" r:id="rId9"/>
    <p:sldId id="426" r:id="rId10"/>
    <p:sldId id="429" r:id="rId11"/>
    <p:sldId id="427" r:id="rId12"/>
    <p:sldId id="312" r:id="rId13"/>
    <p:sldId id="439" r:id="rId14"/>
    <p:sldId id="353" r:id="rId15"/>
    <p:sldId id="441" r:id="rId16"/>
    <p:sldId id="445" r:id="rId17"/>
    <p:sldId id="440" r:id="rId18"/>
    <p:sldId id="357" r:id="rId19"/>
    <p:sldId id="442" r:id="rId20"/>
    <p:sldId id="368" r:id="rId21"/>
    <p:sldId id="405" r:id="rId22"/>
    <p:sldId id="294" r:id="rId23"/>
    <p:sldId id="275" r:id="rId24"/>
    <p:sldId id="280" r:id="rId25"/>
    <p:sldId id="284" r:id="rId26"/>
    <p:sldId id="382" r:id="rId27"/>
    <p:sldId id="401" r:id="rId28"/>
    <p:sldId id="403" r:id="rId29"/>
    <p:sldId id="402" r:id="rId30"/>
    <p:sldId id="391" r:id="rId31"/>
    <p:sldId id="423" r:id="rId32"/>
    <p:sldId id="384" r:id="rId33"/>
    <p:sldId id="406" r:id="rId34"/>
    <p:sldId id="276" r:id="rId35"/>
    <p:sldId id="341" r:id="rId36"/>
    <p:sldId id="413" r:id="rId37"/>
    <p:sldId id="483" r:id="rId38"/>
    <p:sldId id="479" r:id="rId39"/>
    <p:sldId id="480" r:id="rId40"/>
    <p:sldId id="481" r:id="rId41"/>
    <p:sldId id="482" r:id="rId42"/>
    <p:sldId id="484" r:id="rId43"/>
    <p:sldId id="435" r:id="rId44"/>
    <p:sldId id="451" r:id="rId45"/>
    <p:sldId id="434" r:id="rId46"/>
    <p:sldId id="407" r:id="rId47"/>
    <p:sldId id="335" r:id="rId48"/>
    <p:sldId id="374" r:id="rId49"/>
    <p:sldId id="375" r:id="rId50"/>
    <p:sldId id="393" r:id="rId51"/>
    <p:sldId id="453" r:id="rId52"/>
    <p:sldId id="408" r:id="rId53"/>
    <p:sldId id="471" r:id="rId54"/>
    <p:sldId id="472" r:id="rId55"/>
    <p:sldId id="473" r:id="rId56"/>
    <p:sldId id="478" r:id="rId57"/>
    <p:sldId id="449" r:id="rId58"/>
    <p:sldId id="388" r:id="rId59"/>
    <p:sldId id="321" r:id="rId60"/>
    <p:sldId id="338" r:id="rId61"/>
    <p:sldId id="291" r:id="rId62"/>
    <p:sldId id="457" r:id="rId63"/>
    <p:sldId id="297" r:id="rId64"/>
    <p:sldId id="298" r:id="rId65"/>
    <p:sldId id="299" r:id="rId66"/>
    <p:sldId id="443" r:id="rId67"/>
    <p:sldId id="430" r:id="rId68"/>
    <p:sldId id="418" r:id="rId69"/>
    <p:sldId id="319" r:id="rId70"/>
    <p:sldId id="446" r:id="rId71"/>
    <p:sldId id="399" r:id="rId72"/>
    <p:sldId id="381" r:id="rId73"/>
    <p:sldId id="416" r:id="rId74"/>
  </p:sldIdLst>
  <p:sldSz cx="12192000" cy="6858000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DFCE09-347C-7129-FD56-A9D6E6BC25D5}" name="Simon Ramoser" initials="SR" userId="S::simon.ramoser@tum.de::caf1d346-547d-4b14-8a1f-ba66b8001487" providerId="AD"/>
  <p188:author id="{719EA81D-37C3-E444-6F9E-77FF8092EFD9}" name="Sándor Daróczi" initials="SD" userId="S::sandor.daroczi@tum.de::0de74fd0-48b8-4c56-bcab-5d6b9ba10823" providerId="AD"/>
  <p188:author id="{C197F746-2EC1-A1B9-1F04-B9D50608840F}" name="Gastbenutzer" initials="Ga" userId="S::urn:spo:anon#d6d0d3ea0e3ec4a4e6f2e72ed758356fb092bcb4ede5cd09f6675f59e9f78fe7::" providerId="AD"/>
  <p188:author id="{4DD77262-66F8-AF3D-8612-693FB57AA0DC}" name="Tobias Oskar Müller" initials="TM" userId="S::tbs.mueller@tum.de::bc3e7445-b400-4b0c-a6ec-59f76f41c5f3" providerId="AD"/>
  <p188:author id="{09E7BF8A-1A20-84EC-F1AC-DA223FD309D4}" name="Fabian Bleile" initials="FB" userId="S::f.bleile@tum.de::a1b11452-9278-4042-b62a-2f158b4fb0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C8FF"/>
    <a:srgbClr val="F67400"/>
    <a:srgbClr val="C01B1A"/>
    <a:srgbClr val="7DD5A5"/>
    <a:srgbClr val="FF9900"/>
    <a:srgbClr val="000000"/>
    <a:srgbClr val="8FCBA2"/>
    <a:srgbClr val="207F00"/>
    <a:srgbClr val="00371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2BBAC6-87D5-4F28-A44E-1D79612775B3}" v="4" dt="2023-07-15T14:05:09.228"/>
  </p1510:revLst>
</p1510:revInfo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100"/>
        <p:guide pos="312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74" Type="http://schemas.openxmlformats.org/officeDocument/2006/relationships/slide" Target="slides/slide68.xml"/><Relationship Id="rId79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notesMaster" Target="notesMasters/notesMaster1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Ramoser" userId="32097c158a1fa5de" providerId="LiveId" clId="{152BBAC6-87D5-4F28-A44E-1D79612775B3}"/>
    <pc:docChg chg="modSld sldOrd">
      <pc:chgData name="Simon Ramoser" userId="32097c158a1fa5de" providerId="LiveId" clId="{152BBAC6-87D5-4F28-A44E-1D79612775B3}" dt="2023-07-15T14:05:09.228" v="5"/>
      <pc:docMkLst>
        <pc:docMk/>
      </pc:docMkLst>
      <pc:sldChg chg="ord">
        <pc:chgData name="Simon Ramoser" userId="32097c158a1fa5de" providerId="LiveId" clId="{152BBAC6-87D5-4F28-A44E-1D79612775B3}" dt="2023-07-15T13:36:51.513" v="1"/>
        <pc:sldMkLst>
          <pc:docMk/>
          <pc:sldMk cId="3202092955" sldId="291"/>
        </pc:sldMkLst>
      </pc:sldChg>
      <pc:sldChg chg="modSp">
        <pc:chgData name="Simon Ramoser" userId="32097c158a1fa5de" providerId="LiveId" clId="{152BBAC6-87D5-4F28-A44E-1D79612775B3}" dt="2023-07-15T14:05:09.228" v="5"/>
        <pc:sldMkLst>
          <pc:docMk/>
          <pc:sldMk cId="3485429846" sldId="434"/>
        </pc:sldMkLst>
        <pc:spChg chg="mod">
          <ac:chgData name="Simon Ramoser" userId="32097c158a1fa5de" providerId="LiveId" clId="{152BBAC6-87D5-4F28-A44E-1D79612775B3}" dt="2023-07-15T14:05:05.456" v="4"/>
          <ac:spMkLst>
            <pc:docMk/>
            <pc:sldMk cId="3485429846" sldId="434"/>
            <ac:spMk id="12" creationId="{1562D753-5E8E-42C3-DC27-2685B2ACABD3}"/>
          </ac:spMkLst>
        </pc:spChg>
        <pc:spChg chg="mod">
          <ac:chgData name="Simon Ramoser" userId="32097c158a1fa5de" providerId="LiveId" clId="{152BBAC6-87D5-4F28-A44E-1D79612775B3}" dt="2023-07-15T14:05:09.228" v="5"/>
          <ac:spMkLst>
            <pc:docMk/>
            <pc:sldMk cId="3485429846" sldId="434"/>
            <ac:spMk id="19" creationId="{E45542C1-D016-F3A9-20F5-7BC4BDBCF8E2}"/>
          </ac:spMkLst>
        </pc:spChg>
      </pc:sldChg>
    </pc:docChg>
  </pc:docChgLst>
</pc:chgInfo>
</file>

<file path=ppt/comments/modernComment_1A2_DE811A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1F4EA66-7F9A-476A-B31A-58CB93F131DF}" authorId="{09E7BF8A-1A20-84EC-F1AC-DA223FD309D4}" status="resolved" created="2023-07-08T20:14:57.78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33002757" sldId="418"/>
      <ac:picMk id="16" creationId="{9790AFD1-45EC-5E7F-1EE2-3BF79FB46EB7}"/>
    </ac:deMkLst>
    <p188:txBody>
      <a:bodyPr/>
      <a:lstStyle/>
      <a:p>
        <a:r>
          <a:rPr lang="en-DE"/>
          <a:t>Im intro example liegt dann der runtime unterschied im dynamic teil?</a:t>
        </a:r>
      </a:p>
    </p188:txBody>
  </p188:cm>
</p188:cmLst>
</file>

<file path=ppt/comments/modernComment_1AD_1BB316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7B61421-E656-2044-BAB3-793E21B9B6C9}" authorId="{719EA81D-37C3-E444-6F9E-77FF8092EFD9}" created="2023-07-09T12:19:09.453">
    <pc:sldMkLst xmlns:pc="http://schemas.microsoft.com/office/powerpoint/2013/main/command">
      <pc:docMk/>
      <pc:sldMk cId="464721653" sldId="429"/>
    </pc:sldMkLst>
    <p188:txBody>
      <a:bodyPr/>
      <a:lstStyle/>
      <a:p>
        <a:r>
          <a:rPr lang="en-DE"/>
          <a:t>Serif Schrift
</a:t>
        </a:r>
      </a:p>
    </p188:txBody>
  </p188:cm>
</p188:cmLst>
</file>

<file path=ppt/comments/modernComment_1AE_36144CF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4949A6-540E-4058-8D4C-BA5F4551DFD3}" authorId="{09E7BF8A-1A20-84EC-F1AC-DA223FD309D4}" status="resolved" created="2023-07-09T09:42:23.803">
    <pc:sldMkLst xmlns:pc="http://schemas.microsoft.com/office/powerpoint/2013/main/command">
      <pc:docMk/>
      <pc:sldMk cId="3207591188" sldId="430"/>
    </pc:sldMkLst>
    <p188:txBody>
      <a:bodyPr/>
      <a:lstStyle/>
      <a:p>
        <a:r>
          <a:rPr lang="en-DE"/>
          <a:t>Auf dem Y-network sollte ich die bessere Lösung bekommen. Mit welchen Zügen habt ihr gerechnet? </a:t>
        </a:r>
      </a:p>
    </p188:txBody>
  </p188:cm>
</p188:cmLst>
</file>

<file path=ppt/comments/modernComment_1E1_D10AE3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654F90-B0F0-4C38-90D4-AB4BC2EF4413}" authorId="{1DDFCE09-347C-7129-FD56-A9D6E6BC25D5}" created="2023-06-30T10:16:12.48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58141460" sldId="360"/>
      <ac:picMk id="6" creationId="{E89613E9-A455-AD24-AC7E-AB215CAAB2B5}"/>
    </ac:deMkLst>
    <p188:txBody>
      <a:bodyPr/>
      <a:lstStyle/>
      <a:p>
        <a:r>
          <a:rPr lang="en-US"/>
          <a:t>Include the f and g from the previous slide in the legend of the plot</a:t>
        </a:r>
      </a:p>
    </p188:txBody>
  </p188:cm>
</p188:cmLst>
</file>

<file path=ppt/comments/modernComment_1E4_249F97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66B195-384E-4BB9-8E01-0106D8CFDF27}" authorId="{C197F746-2EC1-A1B9-1F04-B9D50608840F}" created="2023-07-03T08:59:56.52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21090169" sldId="398"/>
      <ac:picMk id="22" creationId="{D076E106-9CD5-7744-0D53-BDAD641925C0}"/>
    </ac:deMkLst>
    <p188:txBody>
      <a:bodyPr/>
      <a:lstStyle/>
      <a:p>
        <a:r>
          <a:rPr lang="en-US"/>
          <a:t>new color for red train or red speed profile</a:t>
        </a:r>
      </a:p>
    </p188:txBody>
  </p188:cm>
</p188:cmLst>
</file>

<file path=ppt/comments/modernComment_113_B85B50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5522E6-8EDB-414B-AF65-2CD7247781D8}" authorId="{1DDFCE09-347C-7129-FD56-A9D6E6BC25D5}" status="resolved" created="2023-06-12T08:56:32.87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92992172" sldId="275"/>
      <ac:spMk id="8" creationId="{B1236F8C-8CBC-8A8A-76FA-20E65A5A7C54}"/>
    </ac:deMkLst>
    <p188:txBody>
      <a:bodyPr/>
      <a:lstStyle/>
      <a:p>
        <a:r>
          <a:rPr lang="en-US"/>
          <a:t>Rebuild with PPT</a:t>
        </a:r>
      </a:p>
    </p188:txBody>
  </p188:cm>
  <p188:cm id="{FF50F5CF-D84E-471B-9081-DD482999B746}" authorId="{C197F746-2EC1-A1B9-1F04-B9D50608840F}" status="resolved" created="2023-06-13T15:26:20.70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092992172" sldId="275"/>
      <ac:spMk id="69" creationId="{C9E3B4D3-DA64-9D00-F76C-79271794374B}"/>
    </ac:deMkLst>
    <p188:replyLst>
      <p188:reply id="{240A572D-00AB-484D-9809-95AC52EFC7FA}" authorId="{1DDFCE09-347C-7129-FD56-A9D6E6BC25D5}" created="2023-06-25T09:49:10.332">
        <p188:txBody>
          <a:bodyPr/>
          <a:lstStyle/>
          <a:p>
            <a:r>
              <a:rPr lang="en-US"/>
              <a:t>Yes, schau dir das gern mal in der Animation an</a:t>
            </a:r>
          </a:p>
        </p188:txBody>
      </p188:reply>
      <p188:reply id="{6C376E64-4F0F-4309-88FE-B6478E7575C3}" authorId="{C197F746-2EC1-A1B9-1F04-B9D50608840F}" created="2023-06-25T22:50:25.787">
        <p188:txBody>
          <a:bodyPr/>
          <a:lstStyle/>
          <a:p>
            <a:r>
              <a:rPr lang="en-US"/>
              <a:t>Hervorragend, danke!</a:t>
            </a:r>
          </a:p>
        </p188:txBody>
      </p188:reply>
    </p188:replyLst>
    <p188:txBody>
      <a:bodyPr/>
      <a:lstStyle/>
      <a:p>
        <a:r>
          <a:rPr lang="en-US"/>
          <a:t>Können wir da T erst später zeigen?</a:t>
        </a:r>
      </a:p>
    </p188:txBody>
  </p188:cm>
</p188:cmLst>
</file>

<file path=ppt/comments/modernComment_118_1ACBA7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77A67E8-B874-4005-A202-E9E9196B4721}" authorId="{719EA81D-37C3-E444-6F9E-77FF8092EFD9}" created="2023-06-13T16:39:47.01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68743061" sldId="280"/>
      <ac:picMk id="11" creationId="{831F681F-0C14-5777-6A22-B00793BE55D4}"/>
    </ac:deMkLst>
    <p188:replyLst>
      <p188:reply id="{87578388-016D-400D-A4D4-CF884C01CE09}" authorId="{1DDFCE09-347C-7129-FD56-A9D6E6BC25D5}" created="2023-06-25T10:29:12.501">
        <p188:txBody>
          <a:bodyPr/>
          <a:lstStyle/>
          <a:p>
            <a:r>
              <a:rPr lang="en-US"/>
              <a:t>Wenn du nur T-T_plan bestrafst, strebt dein Modell exakt die Zeit T_plan an und ein zu früh ankommen wird bestraft</a:t>
            </a:r>
          </a:p>
        </p188:txBody>
      </p188:reply>
    </p188:replyLst>
    <p188:txBody>
      <a:bodyPr/>
      <a:lstStyle/>
      <a:p>
        <a:r>
          <a:rPr lang="en-DE"/>
          <a:t>Why max(0, T-T_plan)^2 and not simply (T-T_plan)^2??</a:t>
        </a:r>
      </a:p>
    </p188:txBody>
  </p188:cm>
  <p188:cm id="{8CE815E0-AF67-49AE-8C43-680A0007D07D}" authorId="{C197F746-2EC1-A1B9-1F04-B9D50608840F}" created="2023-06-25T22:49:28.6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49554210" sldId="280"/>
      <ac:spMk id="6" creationId="{91E82782-7D75-7916-02CF-FC118E9F4B53}"/>
    </ac:deMkLst>
    <p188:txBody>
      <a:bodyPr/>
      <a:lstStyle/>
      <a:p>
        <a:r>
          <a:rPr lang="en-US"/>
          <a:t>T muss klein sein</a:t>
        </a:r>
      </a:p>
    </p188:txBody>
  </p188:cm>
</p188:cmLst>
</file>

<file path=ppt/comments/modernComment_124_59D92C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51B3703-ED1F-4FE1-84EF-0D9307476DE6}" authorId="{1DDFCE09-347C-7129-FD56-A9D6E6BC25D5}" status="resolved" created="2023-06-13T14:00:08.431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07404826" sldId="292"/>
      <ac:picMk id="11" creationId="{623F8F26-AC3C-DDA9-D1DD-CB5FDB802436}"/>
    </ac:deMkLst>
    <p188:txBody>
      <a:bodyPr/>
      <a:lstStyle/>
      <a:p>
        <a:r>
          <a:rPr lang="de-DE"/>
          <a:t>Need to add source for images</a:t>
        </a:r>
      </a:p>
    </p188:txBody>
  </p188:cm>
</p188:cmLst>
</file>

<file path=ppt/comments/modernComment_129_7C7099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6E9131-6CCF-4DA0-82FD-17353A9B4A68}" authorId="{1DDFCE09-347C-7129-FD56-A9D6E6BC25D5}" created="2023-06-13T11:26:40.5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87754195" sldId="297"/>
      <ac:grpSpMk id="9" creationId="{7FECAF3F-AD81-D311-0209-78672A68CC36}"/>
    </ac:deMkLst>
    <p188:txBody>
      <a:bodyPr/>
      <a:lstStyle/>
      <a:p>
        <a:r>
          <a:rPr lang="de-DE"/>
          <a:t>We should be consistent with the train icons (cf. Slides for Problem Description or Decoupled vs. Combined Approach)</a:t>
        </a:r>
      </a:p>
    </p188:txBody>
  </p188:cm>
</p188:cmLst>
</file>

<file path=ppt/comments/modernComment_138_2C62C5D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234B52B-ACF2-A947-97CB-05D5A8244269}" authorId="{719EA81D-37C3-E444-6F9E-77FF8092EFD9}" created="2023-07-09T12:19:43.283">
    <pc:sldMkLst xmlns:pc="http://schemas.microsoft.com/office/powerpoint/2013/main/command">
      <pc:docMk/>
      <pc:sldMk cId="744670672" sldId="312"/>
    </pc:sldMkLst>
    <p188:replyLst>
      <p188:reply id="{2261A397-7783-A442-B61E-9FACBB081A83}" authorId="{719EA81D-37C3-E444-6F9E-77FF8092EFD9}" created="2023-07-09T12:19:54.366">
        <p188:txBody>
          <a:bodyPr/>
          <a:lstStyle/>
          <a:p>
            <a:r>
              <a:rPr lang="en-DE"/>
              <a:t>Inserting green boxes</a:t>
            </a:r>
          </a:p>
        </p188:txBody>
      </p188:reply>
    </p188:replyLst>
    <p188:txBody>
      <a:bodyPr/>
      <a:lstStyle/>
      <a:p>
        <a:r>
          <a:rPr lang="en-DE"/>
          <a:t>v_max einfügen</a:t>
        </a:r>
      </a:p>
    </p188:txBody>
  </p188:cm>
</p188:cmLst>
</file>

<file path=ppt/comments/modernComment_141_93613A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543D03-F431-4CDE-BF9F-2DB8073DBB77}" authorId="{4DD77262-66F8-AF3D-8612-693FB57AA0DC}" created="2023-07-09T16:43:45.28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472622847" sldId="321"/>
      <ac:spMk id="2" creationId="{A2205DC6-2AD0-34FB-9509-C78DFB46FB9F}"/>
    </ac:deMkLst>
    <p188:txBody>
      <a:bodyPr/>
      <a:lstStyle/>
      <a:p>
        <a:r>
          <a:rPr lang="en-US"/>
          <a:t>:))))</a:t>
        </a:r>
      </a:p>
    </p188:txBody>
  </p188:cm>
</p188:cmLst>
</file>

<file path=ppt/comments/modernComment_152_227130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1251C65-F6D9-4051-BEE7-83F03C4C2403}" authorId="{1DDFCE09-347C-7129-FD56-A9D6E6BC25D5}" created="2023-07-01T14:17:36.49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77843383" sldId="338"/>
      <ac:spMk id="2" creationId="{6B09525C-FA57-6AC7-122B-5310D2BF45A6}"/>
    </ac:deMkLst>
    <p188:txBody>
      <a:bodyPr/>
      <a:lstStyle/>
      <a:p>
        <a:r>
          <a:rPr lang="en-US"/>
          <a:t>What else could we have done? I'm happy for every nice thing we can mention here ☺️</a:t>
        </a:r>
      </a:p>
    </p188:txBody>
  </p188:cm>
</p188:cmLst>
</file>

<file path=ppt/comments/modernComment_161_2352A6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0A9890-3C8F-464B-AFB0-EAE9F777EC5D}" authorId="{719EA81D-37C3-E444-6F9E-77FF8092EFD9}" created="2023-07-09T12:25:57.726">
    <pc:sldMkLst xmlns:pc="http://schemas.microsoft.com/office/powerpoint/2013/main/command">
      <pc:docMk/>
      <pc:sldMk cId="592619127" sldId="353"/>
    </pc:sldMkLst>
    <p188:replyLst>
      <p188:reply id="{7D1EDDF0-9109-E640-A893-B6884EFD110F}" authorId="{719EA81D-37C3-E444-6F9E-77FF8092EFD9}" created="2023-07-09T12:26:02.383">
        <p188:txBody>
          <a:bodyPr/>
          <a:lstStyle/>
          <a:p>
            <a:r>
              <a:rPr lang="en-DE"/>
              <a:t>Boxen erstellen</a:t>
            </a:r>
          </a:p>
        </p188:txBody>
      </p188:reply>
    </p188:replyLst>
    <p188:txBody>
      <a:bodyPr/>
      <a:lstStyle/>
      <a:p>
        <a:r>
          <a:rPr lang="en-DE"/>
          <a:t>Railway network with initial schedules and delays</a:t>
        </a:r>
      </a:p>
    </p188:txBody>
  </p188:cm>
</p188:cmLst>
</file>

<file path=ppt/comments/modernComment_165_EE9566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3BDCC82-48FA-364E-9C70-99F99669680F}" authorId="{719EA81D-37C3-E444-6F9E-77FF8092EFD9}" created="2023-07-09T12:26:13.445">
    <pc:sldMkLst xmlns:pc="http://schemas.microsoft.com/office/powerpoint/2013/main/command">
      <pc:docMk/>
      <pc:sldMk cId="4002768397" sldId="357"/>
    </pc:sldMkLst>
    <p188:replyLst>
      <p188:reply id="{AA6CF32A-CFB9-9141-8CA5-FC1B6A54AFED}" authorId="{719EA81D-37C3-E444-6F9E-77FF8092EFD9}" created="2023-07-09T12:43:01.211">
        <p188:txBody>
          <a:bodyPr/>
          <a:lstStyle/>
          <a:p>
            <a:r>
              <a:rPr lang="en-DE"/>
              <a:t>Fixing spacing</a:t>
            </a:r>
          </a:p>
        </p188:txBody>
      </p188:reply>
    </p188:replyLst>
    <p188:txBody>
      <a:bodyPr/>
      <a:lstStyle/>
      <a:p>
        <a:r>
          <a:rPr lang="en-DE"/>
          <a:t>Nur Formel!</a:t>
        </a:r>
      </a:p>
    </p188:txBody>
  </p188:cm>
</p188:cmLst>
</file>

<file path=ppt/comments/modernComment_170_E1A832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F55763-B546-4F59-A530-DECB415D5E94}" authorId="{1DDFCE09-347C-7129-FD56-A9D6E6BC25D5}" status="resolved" created="2023-07-04T17:00:09.896" complete="100000">
    <pc:sldMkLst xmlns:pc="http://schemas.microsoft.com/office/powerpoint/2013/main/command">
      <pc:docMk/>
      <pc:sldMk cId="3785896593" sldId="368"/>
    </pc:sldMkLst>
    <p188:txBody>
      <a:bodyPr/>
      <a:lstStyle/>
      <a:p>
        <a:r>
          <a:rPr lang="de-DE"/>
          <a:t>This does currently not represent the situation as in the example described before (the green train has a different destination); also refer to the example in Tobi's part!</a:t>
        </a:r>
      </a:p>
    </p188:txBody>
  </p188:cm>
</p188:cmLst>
</file>

<file path=ppt/comments/modernComment_176_72387F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217CEA-B2C4-4769-80C0-D87D2BF63AE1}" authorId="{1DDFCE09-347C-7129-FD56-A9D6E6BC25D5}" created="2023-07-03T08:09:11">
    <pc:sldMkLst xmlns:pc="http://schemas.microsoft.com/office/powerpoint/2013/main/command">
      <pc:docMk/>
      <pc:sldMk cId="1916305280" sldId="374"/>
    </pc:sldMkLst>
    <p188:txBody>
      <a:bodyPr/>
      <a:lstStyle/>
      <a:p>
        <a:r>
          <a:rPr lang="de-DE"/>
          <a:t>Maybe include the fact that realistic networks are often only complex inside stations (https://www.openrailwaymap.org/)</a:t>
        </a:r>
      </a:p>
    </p188:txBody>
  </p188:cm>
</p188:cmLst>
</file>

<file path=ppt/comments/modernComment_189_4A40CF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F0A91F-4E30-7D40-920C-FD2D08F2FA45}" authorId="{719EA81D-37C3-E444-6F9E-77FF8092EFD9}" status="resolved" created="2023-07-09T08:24:53.008" complete="100000">
    <pc:sldMkLst xmlns:pc="http://schemas.microsoft.com/office/powerpoint/2013/main/command">
      <pc:docMk/>
      <pc:sldMk cId="1245761442" sldId="393"/>
    </pc:sldMkLst>
    <p188:replyLst>
      <p188:reply id="{D6078EAA-1418-594B-9ACE-12BA0AF5F26C}" authorId="{719EA81D-37C3-E444-6F9E-77FF8092EFD9}" created="2023-07-09T08:25:49.170">
        <p188:txBody>
          <a:bodyPr/>
          <a:lstStyle/>
          <a:p>
            <a:r>
              <a:rPr lang="en-DE"/>
              <a:t>Or maybe just noting down the objective values as numbers? With red and green as colours?
</a:t>
            </a:r>
          </a:p>
        </p188:txBody>
      </p188:reply>
      <p188:reply id="{6139C83A-7A16-4A4A-8CDB-0CA5B5A8D9B5}" authorId="{1DDFCE09-347C-7129-FD56-A9D6E6BC25D5}" created="2023-07-09T11:19:56.853">
        <p188:txBody>
          <a:bodyPr/>
          <a:lstStyle/>
          <a:p>
            <a:r>
              <a:rPr lang="de-DE"/>
              <a:t>Good point, might do that</a:t>
            </a:r>
          </a:p>
        </p188:txBody>
      </p188:reply>
    </p188:replyLst>
    <p188:txBody>
      <a:bodyPr/>
      <a:lstStyle/>
      <a:p>
        <a:r>
          <a:rPr lang="en-DE"/>
          <a:t>Do we really need the chart with the objective values? I think it makes the slide a bit too crowded and the focus + space is taken away from the video</a:t>
        </a:r>
      </a:p>
    </p188:txBody>
  </p188:cm>
</p188:cmLst>
</file>

<file path=ppt/comments/modernComment_193_EA9727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40EA5-6BB6-7C43-939A-68B7F72FE916}" authorId="{719EA81D-37C3-E444-6F9E-77FF8092EFD9}" status="resolved" created="2023-07-08T18:39:33.377" complete="100000">
    <pc:sldMkLst xmlns:pc="http://schemas.microsoft.com/office/powerpoint/2013/main/command">
      <pc:docMk/>
      <pc:sldMk cId="3935774559" sldId="403"/>
    </pc:sldMkLst>
    <p188:replyLst>
      <p188:reply id="{187435E9-E22F-4C74-B70D-28AF7472960E}" authorId="{1DDFCE09-347C-7129-FD56-A9D6E6BC25D5}" created="2023-07-08T18:40:31.511">
        <p188:txBody>
          <a:bodyPr/>
          <a:lstStyle/>
          <a:p>
            <a:r>
              <a:rPr lang="de-DE"/>
              <a:t>Was ein Scheißdreck</a:t>
            </a:r>
          </a:p>
        </p188:txBody>
      </p188:reply>
      <p188:reply id="{EC469E85-4741-4E66-931D-ED63285C38D9}" authorId="{1DDFCE09-347C-7129-FD56-A9D6E6BC25D5}" created="2023-07-08T18:40:47.173">
        <p188:txBody>
          <a:bodyPr/>
          <a:lstStyle/>
          <a:p>
            <a:r>
              <a:rPr lang="de-DE"/>
              <a:t>Weiß auch nicht woran das liegt...</a:t>
            </a:r>
          </a:p>
        </p188:txBody>
      </p188:reply>
      <p188:reply id="{1D033407-31FE-2B49-A3E1-B92216DDDA8E}" authorId="{719EA81D-37C3-E444-6F9E-77FF8092EFD9}" created="2023-07-08T18:51:55.532">
        <p188:txBody>
          <a:bodyPr/>
          <a:lstStyle/>
          <a:p>
            <a:r>
              <a:rPr lang="en-DE"/>
              <a:t>:(((
Ich habe auch keine Idee
Ich versuche momentan die Figur kopieren und die Kopie benutzen
</a:t>
            </a:r>
          </a:p>
        </p188:txBody>
      </p188:reply>
      <p188:reply id="{0B91AA29-FD8D-4240-9862-54431B59C0EB}" authorId="{719EA81D-37C3-E444-6F9E-77FF8092EFD9}" created="2023-07-08T18:59:22.504">
        <p188:txBody>
          <a:bodyPr/>
          <a:lstStyle/>
          <a:p>
            <a:r>
              <a:rPr lang="en-DE"/>
              <a:t>Ich glaube ich habe eine Lösung gefunden: man muss die Bilder rausschneiden und wieder einfügen, und bei den Einfügeoptionen “Insert as a picture” auswählen</a:t>
            </a:r>
          </a:p>
        </p188:txBody>
      </p188:reply>
      <p188:reply id="{5AEED7AB-EE99-4C5F-8E0A-1A1A2A99892A}" authorId="{1DDFCE09-347C-7129-FD56-A9D6E6BC25D5}" created="2023-07-09T10:09:36.022">
        <p188:txBody>
          <a:bodyPr/>
          <a:lstStyle/>
          <a:p>
            <a:r>
              <a:rPr lang="de-DE"/>
              <a:t>Ja das könnte stabiler sein… kannst du es für diese slide auch fixen?</a:t>
            </a:r>
          </a:p>
        </p188:txBody>
      </p188:reply>
    </p188:replyLst>
    <p188:txBody>
      <a:bodyPr/>
      <a:lstStyle/>
      <a:p>
        <a:r>
          <a:rPr lang="en-DE"/>
          <a:t>The figure for velocity profile get messed up almost each time :/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15/07/2023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15/07/2023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740025" y="500063"/>
            <a:ext cx="444500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146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5044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678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533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251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2677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249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090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7184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942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652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5685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593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Arial"/>
                <a:cs typeface="Arial"/>
              </a:rPr>
              <a:t>v_max</a:t>
            </a:r>
            <a:r>
              <a:rPr lang="en-US">
                <a:latin typeface="Arial"/>
                <a:cs typeface="Arial"/>
              </a:rPr>
              <a:t> = 70, granularity = 1000, </a:t>
            </a:r>
            <a:r>
              <a:rPr lang="en-US" err="1">
                <a:latin typeface="Arial"/>
                <a:cs typeface="Arial"/>
              </a:rPr>
              <a:t>acc_max</a:t>
            </a:r>
            <a:r>
              <a:rPr lang="en-US">
                <a:latin typeface="Arial"/>
                <a:cs typeface="Arial"/>
              </a:rPr>
              <a:t> = 0.1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392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Arial"/>
                <a:cs typeface="Arial"/>
              </a:rPr>
              <a:t>v_max</a:t>
            </a:r>
            <a:r>
              <a:rPr lang="en-US">
                <a:latin typeface="Arial"/>
                <a:cs typeface="Arial"/>
              </a:rPr>
              <a:t> = 70, granularity = 1000, </a:t>
            </a:r>
            <a:r>
              <a:rPr lang="en-US" err="1">
                <a:latin typeface="Arial"/>
                <a:cs typeface="Arial"/>
              </a:rPr>
              <a:t>acc_max</a:t>
            </a:r>
            <a:r>
              <a:rPr lang="en-US">
                <a:latin typeface="Arial"/>
                <a:cs typeface="Arial"/>
              </a:rPr>
              <a:t> = 0.1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0542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40025" y="500063"/>
            <a:ext cx="4445000" cy="25003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Arial"/>
                <a:cs typeface="Arial"/>
              </a:rPr>
              <a:t>v_max</a:t>
            </a:r>
            <a:r>
              <a:rPr lang="en-US">
                <a:latin typeface="Arial"/>
                <a:cs typeface="Arial"/>
              </a:rPr>
              <a:t> = 70, granularity = 4000, </a:t>
            </a:r>
            <a:r>
              <a:rPr lang="en-US" err="1">
                <a:latin typeface="Arial"/>
                <a:cs typeface="Arial"/>
              </a:rPr>
              <a:t>acc_max</a:t>
            </a:r>
            <a:r>
              <a:rPr lang="en-US">
                <a:latin typeface="Arial"/>
                <a:cs typeface="Arial"/>
              </a:rPr>
              <a:t> = 0.1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18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Say: „</a:t>
            </a:r>
            <a:r>
              <a:rPr lang="de-DE" err="1"/>
              <a:t>Routes</a:t>
            </a:r>
            <a:r>
              <a:rPr lang="de-DE"/>
              <a:t> will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determined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segment</a:t>
            </a:r>
            <a:r>
              <a:rPr lang="de-DE"/>
              <a:t> variables“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057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Theoretically</a:t>
            </a:r>
            <a:r>
              <a:rPr lang="de-DE"/>
              <a:t>, </a:t>
            </a:r>
            <a:r>
              <a:rPr lang="de-DE" err="1"/>
              <a:t>that‘s</a:t>
            </a:r>
            <a:r>
              <a:rPr lang="de-DE"/>
              <a:t> nice, but </a:t>
            </a:r>
            <a:r>
              <a:rPr lang="de-DE" err="1"/>
              <a:t>let‘s</a:t>
            </a:r>
            <a:r>
              <a:rPr lang="de-DE"/>
              <a:t> </a:t>
            </a:r>
            <a:r>
              <a:rPr lang="de-DE" err="1"/>
              <a:t>see</a:t>
            </a:r>
            <a:r>
              <a:rPr lang="de-DE"/>
              <a:t> </a:t>
            </a: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looks</a:t>
            </a:r>
            <a:r>
              <a:rPr lang="de-DE"/>
              <a:t> in </a:t>
            </a:r>
            <a:r>
              <a:rPr lang="de-DE" err="1"/>
              <a:t>practice</a:t>
            </a:r>
            <a:r>
              <a:rPr lang="de-DE"/>
              <a:t>!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2137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b="1"/>
              <a:t>Motivation: </a:t>
            </a:r>
            <a:r>
              <a:rPr lang="de-DE" b="0"/>
              <a:t>in </a:t>
            </a:r>
            <a:r>
              <a:rPr lang="de-DE" b="0" err="1"/>
              <a:t>reality</a:t>
            </a:r>
            <a:r>
              <a:rPr lang="de-DE" b="0"/>
              <a:t> </a:t>
            </a:r>
            <a:r>
              <a:rPr lang="de-DE" sz="1200"/>
              <a:t>multiple </a:t>
            </a:r>
            <a:r>
              <a:rPr lang="de-DE" sz="1200" err="1"/>
              <a:t>complex</a:t>
            </a:r>
            <a:r>
              <a:rPr lang="de-DE" sz="1200"/>
              <a:t> </a:t>
            </a:r>
            <a:r>
              <a:rPr lang="de-DE" sz="1200" err="1"/>
              <a:t>parts</a:t>
            </a:r>
            <a:r>
              <a:rPr lang="de-DE" sz="1200"/>
              <a:t> (</a:t>
            </a:r>
            <a:r>
              <a:rPr lang="de-DE" sz="1200" err="1"/>
              <a:t>stations</a:t>
            </a:r>
            <a:r>
              <a:rPr lang="de-DE" sz="1200"/>
              <a:t>) </a:t>
            </a:r>
            <a:r>
              <a:rPr lang="de-DE" sz="1200" err="1"/>
              <a:t>are</a:t>
            </a:r>
            <a:r>
              <a:rPr lang="de-DE" sz="1200"/>
              <a:t> </a:t>
            </a:r>
            <a:r>
              <a:rPr lang="de-DE" sz="1200" err="1"/>
              <a:t>connected</a:t>
            </a:r>
            <a:r>
              <a:rPr lang="de-DE" sz="1200"/>
              <a:t> via </a:t>
            </a:r>
            <a:r>
              <a:rPr lang="de-DE" sz="1200" err="1"/>
              <a:t>few</a:t>
            </a:r>
            <a:r>
              <a:rPr lang="de-DE" sz="1200"/>
              <a:t> (</a:t>
            </a:r>
            <a:r>
              <a:rPr lang="de-DE" sz="1200" err="1"/>
              <a:t>long</a:t>
            </a:r>
            <a:r>
              <a:rPr lang="de-DE" sz="1200"/>
              <a:t>) </a:t>
            </a:r>
            <a:r>
              <a:rPr lang="de-DE" sz="1200" err="1"/>
              <a:t>segments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5171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6453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/>
              <a:t>This </a:t>
            </a:r>
            <a:r>
              <a:rPr lang="de-DE" b="1" err="1"/>
              <a:t>example</a:t>
            </a:r>
            <a:r>
              <a:rPr lang="de-DE" b="1"/>
              <a:t> </a:t>
            </a:r>
            <a:r>
              <a:rPr lang="de-DE" b="1" err="1"/>
              <a:t>has</a:t>
            </a:r>
            <a:r>
              <a:rPr lang="de-DE" b="1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159 </a:t>
            </a:r>
            <a:r>
              <a:rPr lang="de-DE" err="1"/>
              <a:t>segments</a:t>
            </a:r>
            <a:endParaRPr lang="de-DE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134 </a:t>
            </a:r>
            <a:r>
              <a:rPr lang="de-DE" err="1"/>
              <a:t>connectors</a:t>
            </a:r>
            <a:endParaRPr lang="de-DE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20 </a:t>
            </a:r>
            <a:r>
              <a:rPr lang="de-DE" err="1"/>
              <a:t>stations</a:t>
            </a:r>
            <a:endParaRPr lang="de-DE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9 </a:t>
            </a:r>
            <a:r>
              <a:rPr lang="de-DE" err="1"/>
              <a:t>trains</a:t>
            </a:r>
            <a:endParaRPr lang="de-DE"/>
          </a:p>
          <a:p>
            <a:pPr marL="0" indent="0">
              <a:buFont typeface="Arial" panose="020B0604020202020204" pitchFamily="34" charset="0"/>
              <a:buNone/>
            </a:pPr>
            <a:endParaRPr lang="de-DE"/>
          </a:p>
          <a:p>
            <a:pPr marL="0" indent="0">
              <a:buFont typeface="Arial" panose="020B0604020202020204" pitchFamily="34" charset="0"/>
              <a:buNone/>
            </a:pPr>
            <a:r>
              <a:rPr lang="de-DE" b="1" err="1"/>
              <a:t>Interesting</a:t>
            </a:r>
            <a:r>
              <a:rPr lang="de-DE" b="1"/>
              <a:t> </a:t>
            </a:r>
            <a:r>
              <a:rPr lang="de-DE" b="1" err="1"/>
              <a:t>fact</a:t>
            </a:r>
            <a:r>
              <a:rPr lang="de-DE" b="1"/>
              <a:t> </a:t>
            </a:r>
            <a:r>
              <a:rPr lang="de-DE" b="1" err="1"/>
              <a:t>about</a:t>
            </a:r>
            <a:r>
              <a:rPr lang="de-DE" b="1"/>
              <a:t> </a:t>
            </a:r>
            <a:r>
              <a:rPr lang="de-DE" b="1" err="1"/>
              <a:t>runtime</a:t>
            </a:r>
            <a:r>
              <a:rPr lang="de-DE" b="1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~4min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dynamic</a:t>
            </a:r>
            <a:r>
              <a:rPr lang="de-DE"/>
              <a:t> </a:t>
            </a:r>
            <a:r>
              <a:rPr lang="de-DE" err="1"/>
              <a:t>part</a:t>
            </a:r>
            <a:endParaRPr lang="de-DE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/>
              <a:t>~12min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discrete</a:t>
            </a:r>
            <a:r>
              <a:rPr lang="de-DE"/>
              <a:t> </a:t>
            </a:r>
            <a:r>
              <a:rPr lang="de-DE" err="1"/>
              <a:t>part</a:t>
            </a:r>
            <a:endParaRPr lang="de-DE"/>
          </a:p>
          <a:p>
            <a:pPr marL="0" indent="0">
              <a:buFont typeface="Arial" panose="020B0604020202020204" pitchFamily="34" charset="0"/>
              <a:buNone/>
            </a:pPr>
            <a:r>
              <a:rPr lang="de-DE">
                <a:sym typeface="Wingdings" panose="05000000000000000000" pitchFamily="2" charset="2"/>
              </a:rPr>
              <a:t> </a:t>
            </a:r>
            <a:r>
              <a:rPr lang="de-DE" err="1">
                <a:sym typeface="Wingdings" panose="05000000000000000000" pitchFamily="2" charset="2"/>
              </a:rPr>
              <a:t>now</a:t>
            </a:r>
            <a:r>
              <a:rPr lang="de-DE">
                <a:sym typeface="Wingdings" panose="05000000000000000000" pitchFamily="2" charset="2"/>
              </a:rPr>
              <a:t>, </a:t>
            </a:r>
            <a:r>
              <a:rPr lang="de-DE" err="1">
                <a:sym typeface="Wingdings" panose="05000000000000000000" pitchFamily="2" charset="2"/>
              </a:rPr>
              <a:t>the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discrete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part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is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the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computational</a:t>
            </a:r>
            <a:r>
              <a:rPr lang="de-DE">
                <a:sym typeface="Wingdings" panose="05000000000000000000" pitchFamily="2" charset="2"/>
              </a:rPr>
              <a:t> </a:t>
            </a:r>
            <a:r>
              <a:rPr lang="de-DE" err="1">
                <a:sym typeface="Wingdings" panose="05000000000000000000" pitchFamily="2" charset="2"/>
              </a:rPr>
              <a:t>bottleneck</a:t>
            </a: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97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de-DE" b="1"/>
              <a:t>Questions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models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most</a:t>
            </a:r>
            <a:r>
              <a:rPr lang="de-DE"/>
              <a:t> </a:t>
            </a:r>
            <a:r>
              <a:rPr lang="de-DE" err="1"/>
              <a:t>complex</a:t>
            </a:r>
            <a:r>
              <a:rPr lang="de-DE"/>
              <a:t> (</a:t>
            </a:r>
            <a:r>
              <a:rPr lang="de-DE" err="1"/>
              <a:t>number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binary</a:t>
            </a:r>
            <a:r>
              <a:rPr lang="de-DE"/>
              <a:t> variables, non-linear </a:t>
            </a:r>
            <a:r>
              <a:rPr lang="de-DE" err="1"/>
              <a:t>constraints</a:t>
            </a:r>
            <a:r>
              <a:rPr lang="de-DE"/>
              <a:t>, …)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complexity</a:t>
            </a:r>
            <a:r>
              <a:rPr lang="de-DE"/>
              <a:t> </a:t>
            </a:r>
            <a:r>
              <a:rPr lang="de-DE" err="1"/>
              <a:t>reflected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runtime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corresponding</a:t>
            </a:r>
            <a:r>
              <a:rPr lang="de-DE"/>
              <a:t> </a:t>
            </a:r>
            <a:r>
              <a:rPr lang="de-DE" err="1"/>
              <a:t>pipelines</a:t>
            </a:r>
            <a:r>
              <a:rPr lang="de-DE"/>
              <a:t>?</a:t>
            </a:r>
            <a:endParaRPr lang="en-US"/>
          </a:p>
          <a:p>
            <a:endParaRPr lang="en-US"/>
          </a:p>
          <a:p>
            <a:r>
              <a:rPr lang="en-US" b="1"/>
              <a:t>Assumption: </a:t>
            </a:r>
            <a:r>
              <a:rPr lang="en-US" err="1"/>
              <a:t>w.l.o.g</a:t>
            </a:r>
            <a:r>
              <a:rPr lang="en-US"/>
              <a:t>. trains cannot go over segments twice</a:t>
            </a:r>
          </a:p>
          <a:p>
            <a:endParaRPr lang="en-US"/>
          </a:p>
          <a:p>
            <a:r>
              <a:rPr lang="en-US" b="1"/>
              <a:t>Note: </a:t>
            </a:r>
            <a:r>
              <a:rPr lang="en-US"/>
              <a:t>for the decoupled route-based approach, there are two bottlenecks in terms of runtime: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the preprocessing to find routes (enumerating all routes is exponential in general (in </a:t>
            </a:r>
            <a:r>
              <a:rPr lang="en-US" err="1"/>
              <a:t>K_n</a:t>
            </a:r>
            <a:r>
              <a:rPr lang="en-US"/>
              <a:t>, there are 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⌊(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th-italic"/>
              </a:rPr>
              <a:t>n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−2)!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th-italic"/>
              </a:rPr>
              <a:t>e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⌋ </a:t>
            </a:r>
            <a:r>
              <a:rPr lang="de-DE" b="0" i="0" u="none" strike="noStrike" err="1">
                <a:solidFill>
                  <a:srgbClr val="232629"/>
                </a:solidFill>
                <a:effectLst/>
                <a:latin typeface="MathJax_Main"/>
              </a:rPr>
              <a:t>paths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 </a:t>
            </a:r>
            <a:r>
              <a:rPr lang="de-DE" b="0" i="0" u="none" strike="noStrike" err="1">
                <a:solidFill>
                  <a:srgbClr val="232629"/>
                </a:solidFill>
                <a:effectLst/>
                <a:latin typeface="MathJax_Main"/>
              </a:rPr>
              <a:t>between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 </a:t>
            </a:r>
            <a:r>
              <a:rPr lang="de-DE" b="0" i="0" u="none" strike="noStrike" err="1">
                <a:solidFill>
                  <a:srgbClr val="232629"/>
                </a:solidFill>
                <a:effectLst/>
                <a:latin typeface="MathJax_Main"/>
              </a:rPr>
              <a:t>each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 pair </a:t>
            </a:r>
            <a:r>
              <a:rPr lang="de-DE" b="0" i="0" u="none" strike="noStrike" err="1">
                <a:solidFill>
                  <a:srgbClr val="232629"/>
                </a:solidFill>
                <a:effectLst/>
                <a:latin typeface="MathJax_Main"/>
              </a:rPr>
              <a:t>of</a:t>
            </a:r>
            <a:r>
              <a:rPr lang="de-DE" b="0" i="0" u="none" strike="noStrike">
                <a:solidFill>
                  <a:srgbClr val="232629"/>
                </a:solidFill>
                <a:effectLst/>
                <a:latin typeface="MathJax_Main"/>
              </a:rPr>
              <a:t> </a:t>
            </a:r>
            <a:r>
              <a:rPr lang="de-DE" b="0" i="0" u="none" strike="noStrike" err="1">
                <a:solidFill>
                  <a:srgbClr val="232629"/>
                </a:solidFill>
                <a:effectLst/>
                <a:latin typeface="MathJax_Main"/>
              </a:rPr>
              <a:t>vertices</a:t>
            </a:r>
            <a:r>
              <a:rPr lang="en-US"/>
              <a:t>), k-shortest paths is pseudo-polynomial (O(</a:t>
            </a:r>
            <a:r>
              <a:rPr lang="en-US" err="1"/>
              <a:t>kn</a:t>
            </a:r>
            <a:r>
              <a:rPr lang="en-US"/>
              <a:t>(</a:t>
            </a:r>
            <a:r>
              <a:rPr lang="en-US" err="1"/>
              <a:t>m+nlogn</a:t>
            </a:r>
            <a:r>
              <a:rPr lang="en-US"/>
              <a:t>))))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the dynamic part with its nonlinear constraints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/>
              <a:t>Possible recommendation: </a:t>
            </a:r>
            <a:r>
              <a:rPr lang="en-US"/>
              <a:t>since realistic networks are often only complex locally near stations and trains are slow there, neglect dynamics inside stations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combined approach globally on a simplified network (where all stations are simplified to parallel segments between the same two connectors)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segment-based discrete part locally in complex parts of the network to route the trains there (as it is done e.g. in the Dang paper)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9628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</a:t>
            </a:r>
            <a:r>
              <a:rPr lang="en-DE"/>
              <a:t>ptimal solution in 2s :’D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aefefae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523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3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425455" y="994337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49BB2E2-287B-E1DF-0989-C9FA0251E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</p:spPr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5" y="994334"/>
            <a:ext cx="11345332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3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028DDC4-335B-8101-BCBB-DB9918C53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3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Optimal Train Routing</a:t>
            </a:r>
            <a:endParaRPr lang="en-US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5" y="994337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425451" y="1978723"/>
            <a:ext cx="11345332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/>
              <a:t>Referent</a:t>
            </a:r>
            <a:br>
              <a:rPr lang="de-DE" noProof="0"/>
            </a:br>
            <a:r>
              <a:rPr lang="de-DE" noProof="0"/>
              <a:t>Ort, Datum (Schreibweise: 00. Januar 2015)</a:t>
            </a: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B9DF599D-FF7F-61F6-E39C-60027B093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14883" y="1551172"/>
            <a:ext cx="11345332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7E79A348-64E9-8E8A-140C-2D19D2B204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FF397BED-5DFF-B823-D169-83F9F66349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25455" y="2499359"/>
            <a:ext cx="11345332" cy="34200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sz="1600" noProof="0"/>
              <a:t>Dritte Ebene</a:t>
            </a:r>
            <a:endParaRPr lang="de-DE" noProof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762191"/>
            <a:ext cx="11345332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88527FE-4D9A-FDB1-C8DF-0AD520E180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344AD26C-FE1C-5AE9-42D8-F706F15BC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425456" y="1762188"/>
            <a:ext cx="5574547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sz="1600" noProof="0"/>
              <a:t>Dritte Ebene</a:t>
            </a:r>
            <a:endParaRPr lang="de-DE" noProof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6196240" y="1762188"/>
            <a:ext cx="5574547" cy="41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/>
              <a:t>Inhalt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sz="1600" noProof="0"/>
              <a:t>Dritte Ebene</a:t>
            </a:r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559F0E80-598C-8545-6375-C139B415A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1637C16D-1A2F-D600-33F5-CA8703D57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762191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422656" y="2484000"/>
            <a:ext cx="5657088" cy="3420000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 sz="1600"/>
              <a:t>Dritte Ebene</a:t>
            </a:r>
            <a:endParaRPr lang="de-DE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6112256" y="2484120"/>
            <a:ext cx="5659200" cy="34200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52B80FF-A58A-ECE9-4E54-FEB194CB89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6045725B-C995-EB11-96CD-67568CFAC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425454" y="1762191"/>
            <a:ext cx="11345332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D31FCFB0-F835-5A75-1ECA-27A4E69F3B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614ED289-15C2-7F0D-1E92-5B3C3F39E5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A6359E8D-5640-54B4-4426-822CE0990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/>
              <a:t>Titel durch Klicken bearbeiten</a:t>
            </a:r>
          </a:p>
        </p:txBody>
      </p:sp>
      <p:sp>
        <p:nvSpPr>
          <p:cNvPr id="2" name="Fußzeilenplatzhalter 3">
            <a:extLst>
              <a:ext uri="{FF2B5EF4-FFF2-40B4-BE49-F238E27FC236}">
                <a16:creationId xmlns:a16="http://schemas.microsoft.com/office/drawing/2014/main" id="{C640A702-CD14-7719-14FD-2911C76BE4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6205DA-31EC-5999-E32C-1F21384F8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43BE0AA-2ED3-D55A-B22B-52784626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4111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F3AF9-5FD1-8674-57D3-CC80ECC7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B854BE0-CACC-80CF-C9B4-62228E8C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0549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425455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Optimal Train Routing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Optimal Train Routing</a:t>
            </a:r>
            <a:endParaRPr lang="en-US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425455" y="994334"/>
            <a:ext cx="11345332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/>
              <a:t>Präsentationsmuster</a:t>
            </a:r>
            <a:br>
              <a:rPr lang="de-DE" noProof="0"/>
            </a:br>
            <a:br>
              <a:rPr lang="de-DE" noProof="0"/>
            </a:br>
            <a:r>
              <a:rPr lang="de-DE" noProof="0"/>
              <a:t>kann auch als </a:t>
            </a:r>
            <a:r>
              <a:rPr lang="de-DE" noProof="0" err="1"/>
              <a:t>Kapiteltrenner</a:t>
            </a:r>
            <a:r>
              <a:rPr lang="de-DE" noProof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6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B32AEBF-022C-3DFF-2837-F15A8BFDDD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429" y="361982"/>
            <a:ext cx="1376865" cy="245807"/>
          </a:xfrm>
          <a:prstGeom prst="rect">
            <a:avLst/>
          </a:prstGeom>
        </p:spPr>
      </p:pic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35D76F7C-3749-C5DB-42F6-96BA7A0F92C7}"/>
              </a:ext>
            </a:extLst>
          </p:cNvPr>
          <p:cNvSpPr/>
          <p:nvPr userDrawn="1"/>
        </p:nvSpPr>
        <p:spPr>
          <a:xfrm>
            <a:off x="10520652" y="405809"/>
            <a:ext cx="210869" cy="158152"/>
          </a:xfrm>
          <a:prstGeom prst="mathMultiply">
            <a:avLst>
              <a:gd name="adj1" fmla="val 57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11279C5-8D8E-6A69-7E5A-C29CFC6D7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10284440" y="6563283"/>
            <a:ext cx="1487168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56709" y="0"/>
            <a:ext cx="12246708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504" y="324650"/>
            <a:ext cx="799629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6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9" name="Rechteck 8"/>
          <p:cNvSpPr/>
          <p:nvPr userDrawn="1"/>
        </p:nvSpPr>
        <p:spPr>
          <a:xfrm>
            <a:off x="11303203" y="6120224"/>
            <a:ext cx="488655" cy="360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10218056" y="6120442"/>
            <a:ext cx="906557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12" name="Ellipse 11"/>
          <p:cNvSpPr/>
          <p:nvPr userDrawn="1"/>
        </p:nvSpPr>
        <p:spPr>
          <a:xfrm>
            <a:off x="9510383" y="6093693"/>
            <a:ext cx="529087" cy="3968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100954C-3223-3473-0299-E838B8136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6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881" y="324685"/>
            <a:ext cx="811136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/>
        </p:nvSpPr>
        <p:spPr>
          <a:xfrm>
            <a:off x="427201" y="314326"/>
            <a:ext cx="1026620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>
                <a:solidFill>
                  <a:schemeClr val="tx2"/>
                </a:solidFill>
                <a:latin typeface="+mn-lt"/>
              </a:rPr>
              <a:t> München</a:t>
            </a:r>
            <a:endParaRPr lang="de-DE" sz="80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6B4243B-2819-7E04-1FA4-6D98B0964E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17429" y="361982"/>
            <a:ext cx="1376865" cy="245807"/>
          </a:xfrm>
          <a:prstGeom prst="rect">
            <a:avLst/>
          </a:prstGeom>
        </p:spPr>
      </p:pic>
      <p:sp>
        <p:nvSpPr>
          <p:cNvPr id="4" name="Multiplication Sign 3">
            <a:extLst>
              <a:ext uri="{FF2B5EF4-FFF2-40B4-BE49-F238E27FC236}">
                <a16:creationId xmlns:a16="http://schemas.microsoft.com/office/drawing/2014/main" id="{4EDD71EE-AD94-7936-A6A3-D00039A384E8}"/>
              </a:ext>
            </a:extLst>
          </p:cNvPr>
          <p:cNvSpPr/>
          <p:nvPr userDrawn="1"/>
        </p:nvSpPr>
        <p:spPr>
          <a:xfrm>
            <a:off x="10520652" y="405809"/>
            <a:ext cx="210869" cy="158152"/>
          </a:xfrm>
          <a:prstGeom prst="mathMultiply">
            <a:avLst>
              <a:gd name="adj1" fmla="val 5718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ECB1A1A-1E48-4EA1-74DD-477D0F539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6"/>
            <a:ext cx="273609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DE1CD38-7FBA-003C-828B-3FD5A4DD0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653" r:id="rId6"/>
    <p:sldLayoutId id="2147483656" r:id="rId7"/>
    <p:sldLayoutId id="2147483712" r:id="rId8"/>
    <p:sldLayoutId id="2147483713" r:id="rId9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hidden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0963506" y="324650"/>
            <a:ext cx="799631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6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Optimal Train Routing</a:t>
            </a:r>
            <a:endParaRPr lang="en-US"/>
          </a:p>
        </p:txBody>
      </p:sp>
      <p:sp>
        <p:nvSpPr>
          <p:cNvPr id="12" name="Rechteck 11"/>
          <p:cNvSpPr/>
          <p:nvPr userDrawn="1"/>
        </p:nvSpPr>
        <p:spPr>
          <a:xfrm>
            <a:off x="11303203" y="6120224"/>
            <a:ext cx="488655" cy="360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13" name="Rechteck 12"/>
          <p:cNvSpPr/>
          <p:nvPr userDrawn="1"/>
        </p:nvSpPr>
        <p:spPr>
          <a:xfrm>
            <a:off x="10218056" y="6120442"/>
            <a:ext cx="906557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14" name="Ellipse 13"/>
          <p:cNvSpPr/>
          <p:nvPr userDrawn="1"/>
        </p:nvSpPr>
        <p:spPr>
          <a:xfrm>
            <a:off x="9510383" y="6093693"/>
            <a:ext cx="529087" cy="3968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10963504" y="324650"/>
            <a:ext cx="799629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9033245" y="6473316"/>
            <a:ext cx="2736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Optimal Train Routing</a:t>
            </a:r>
            <a:endParaRPr lang="en-US"/>
          </a:p>
        </p:txBody>
      </p:sp>
      <p:sp>
        <p:nvSpPr>
          <p:cNvPr id="6" name="Rechteck 5"/>
          <p:cNvSpPr/>
          <p:nvPr userDrawn="1"/>
        </p:nvSpPr>
        <p:spPr>
          <a:xfrm>
            <a:off x="11303203" y="6120224"/>
            <a:ext cx="488655" cy="360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10218056" y="6120442"/>
            <a:ext cx="906557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11" name="Ellipse 10"/>
          <p:cNvSpPr/>
          <p:nvPr userDrawn="1"/>
        </p:nvSpPr>
        <p:spPr>
          <a:xfrm>
            <a:off x="9510383" y="6093693"/>
            <a:ext cx="529087" cy="396815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microsoft.com/office/2018/10/relationships/comments" Target="../comments/modernComment_124_59D92C1A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microsoft.com/office/2018/10/relationships/comments" Target="../comments/modernComment_1AD_1BB316F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9.svg"/><Relationship Id="rId7" Type="http://schemas.openxmlformats.org/officeDocument/2006/relationships/image" Target="../media/image18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microsoft.com/office/2018/10/relationships/comments" Target="../comments/modernComment_138_2C62C5D0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microsoft.com/office/2018/10/relationships/comments" Target="../comments/modernComment_161_2352A677.xml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11" Type="http://schemas.openxmlformats.org/officeDocument/2006/relationships/image" Target="../media/image25.png"/><Relationship Id="rId5" Type="http://schemas.openxmlformats.org/officeDocument/2006/relationships/image" Target="../media/image20.svg"/><Relationship Id="rId10" Type="http://schemas.openxmlformats.org/officeDocument/2006/relationships/image" Target="../media/image21.sv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9.sv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28.png"/><Relationship Id="rId4" Type="http://schemas.openxmlformats.org/officeDocument/2006/relationships/image" Target="../media/image9.svg"/><Relationship Id="rId9" Type="http://schemas.openxmlformats.org/officeDocument/2006/relationships/image" Target="../media/image23.emf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5_EE95660D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11" Type="http://schemas.openxmlformats.org/officeDocument/2006/relationships/image" Target="../media/image24.emf"/><Relationship Id="rId5" Type="http://schemas.openxmlformats.org/officeDocument/2006/relationships/image" Target="../media/image26.png"/><Relationship Id="rId10" Type="http://schemas.openxmlformats.org/officeDocument/2006/relationships/image" Target="../media/image33.png"/><Relationship Id="rId4" Type="http://schemas.openxmlformats.org/officeDocument/2006/relationships/image" Target="../media/image9.sv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29.png"/><Relationship Id="rId4" Type="http://schemas.microsoft.com/office/2018/10/relationships/comments" Target="../comments/modernComment_170_E1A8329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microsoft.com/office/2018/10/relationships/comments" Target="../comments/modernComment_113_B85B50AC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20.svg"/><Relationship Id="rId4" Type="http://schemas.openxmlformats.org/officeDocument/2006/relationships/image" Target="../media/image37.png"/><Relationship Id="rId9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microsoft.com/office/2018/10/relationships/comments" Target="../comments/modernComment_118_1ACBA7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3" Type="http://schemas.openxmlformats.org/officeDocument/2006/relationships/image" Target="../media/image8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4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4" Type="http://schemas.openxmlformats.org/officeDocument/2006/relationships/image" Target="../media/image20.sv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image" Target="../media/image66.png"/><Relationship Id="rId3" Type="http://schemas.openxmlformats.org/officeDocument/2006/relationships/image" Target="../media/image8.png"/><Relationship Id="rId7" Type="http://schemas.openxmlformats.org/officeDocument/2006/relationships/image" Target="../media/image32.emf"/><Relationship Id="rId12" Type="http://schemas.openxmlformats.org/officeDocument/2006/relationships/image" Target="../media/image65.png"/><Relationship Id="rId2" Type="http://schemas.microsoft.com/office/2018/10/relationships/comments" Target="../comments/modernComment_193_EA97275F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emf"/><Relationship Id="rId11" Type="http://schemas.openxmlformats.org/officeDocument/2006/relationships/image" Target="../media/image64.png"/><Relationship Id="rId5" Type="http://schemas.openxmlformats.org/officeDocument/2006/relationships/image" Target="../media/image30.emf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20.svg"/><Relationship Id="rId9" Type="http://schemas.openxmlformats.org/officeDocument/2006/relationships/image" Target="../media/image34.emf"/><Relationship Id="rId14" Type="http://schemas.openxmlformats.org/officeDocument/2006/relationships/image" Target="../media/image6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18" Type="http://schemas.openxmlformats.org/officeDocument/2006/relationships/image" Target="../media/image70.png"/><Relationship Id="rId3" Type="http://schemas.openxmlformats.org/officeDocument/2006/relationships/image" Target="../media/image20.svg"/><Relationship Id="rId21" Type="http://schemas.openxmlformats.org/officeDocument/2006/relationships/image" Target="../media/image73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17" Type="http://schemas.openxmlformats.org/officeDocument/2006/relationships/image" Target="../media/image69.png"/><Relationship Id="rId2" Type="http://schemas.openxmlformats.org/officeDocument/2006/relationships/image" Target="../media/image8.png"/><Relationship Id="rId16" Type="http://schemas.openxmlformats.org/officeDocument/2006/relationships/image" Target="../media/image57.png"/><Relationship Id="rId20" Type="http://schemas.openxmlformats.org/officeDocument/2006/relationships/image" Target="../media/image7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5" Type="http://schemas.openxmlformats.org/officeDocument/2006/relationships/image" Target="../media/image56.png"/><Relationship Id="rId10" Type="http://schemas.openxmlformats.org/officeDocument/2006/relationships/image" Target="../media/image51.png"/><Relationship Id="rId19" Type="http://schemas.openxmlformats.org/officeDocument/2006/relationships/image" Target="../media/image7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5.png"/><Relationship Id="rId7" Type="http://schemas.openxmlformats.org/officeDocument/2006/relationships/image" Target="../media/image7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13" Type="http://schemas.openxmlformats.org/officeDocument/2006/relationships/image" Target="../media/image20.svg"/><Relationship Id="rId18" Type="http://schemas.openxmlformats.org/officeDocument/2006/relationships/image" Target="../media/image93.png"/><Relationship Id="rId26" Type="http://schemas.openxmlformats.org/officeDocument/2006/relationships/image" Target="../media/image101.png"/><Relationship Id="rId3" Type="http://schemas.openxmlformats.org/officeDocument/2006/relationships/image" Target="../media/image35.emf"/><Relationship Id="rId21" Type="http://schemas.openxmlformats.org/officeDocument/2006/relationships/image" Target="../media/image96.png"/><Relationship Id="rId7" Type="http://schemas.openxmlformats.org/officeDocument/2006/relationships/image" Target="../media/image39.emf"/><Relationship Id="rId12" Type="http://schemas.openxmlformats.org/officeDocument/2006/relationships/image" Target="../media/image8.png"/><Relationship Id="rId17" Type="http://schemas.openxmlformats.org/officeDocument/2006/relationships/image" Target="../media/image92.png"/><Relationship Id="rId25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8.emf"/><Relationship Id="rId11" Type="http://schemas.openxmlformats.org/officeDocument/2006/relationships/image" Target="../media/image43.emf"/><Relationship Id="rId24" Type="http://schemas.openxmlformats.org/officeDocument/2006/relationships/image" Target="../media/image99.png"/><Relationship Id="rId5" Type="http://schemas.openxmlformats.org/officeDocument/2006/relationships/image" Target="../media/image37.emf"/><Relationship Id="rId15" Type="http://schemas.openxmlformats.org/officeDocument/2006/relationships/image" Target="../media/image90.png"/><Relationship Id="rId23" Type="http://schemas.openxmlformats.org/officeDocument/2006/relationships/image" Target="../media/image98.png"/><Relationship Id="rId28" Type="http://schemas.openxmlformats.org/officeDocument/2006/relationships/image" Target="../media/image103.png"/><Relationship Id="rId10" Type="http://schemas.openxmlformats.org/officeDocument/2006/relationships/image" Target="../media/image42.emf"/><Relationship Id="rId19" Type="http://schemas.openxmlformats.org/officeDocument/2006/relationships/image" Target="../media/image94.png"/><Relationship Id="rId31" Type="http://schemas.openxmlformats.org/officeDocument/2006/relationships/image" Target="../media/image106.png"/><Relationship Id="rId4" Type="http://schemas.openxmlformats.org/officeDocument/2006/relationships/image" Target="../media/image36.emf"/><Relationship Id="rId9" Type="http://schemas.openxmlformats.org/officeDocument/2006/relationships/image" Target="../media/image41.emf"/><Relationship Id="rId14" Type="http://schemas.openxmlformats.org/officeDocument/2006/relationships/image" Target="../media/image89.png"/><Relationship Id="rId22" Type="http://schemas.openxmlformats.org/officeDocument/2006/relationships/image" Target="../media/image97.png"/><Relationship Id="rId27" Type="http://schemas.openxmlformats.org/officeDocument/2006/relationships/image" Target="../media/image102.png"/><Relationship Id="rId30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7" Type="http://schemas.openxmlformats.org/officeDocument/2006/relationships/image" Target="../media/image9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6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61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Relationship Id="rId9" Type="http://schemas.openxmlformats.org/officeDocument/2006/relationships/image" Target="../media/image9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19.png"/><Relationship Id="rId15" Type="http://schemas.openxmlformats.org/officeDocument/2006/relationships/image" Target="../media/image9.svg"/><Relationship Id="rId10" Type="http://schemas.openxmlformats.org/officeDocument/2006/relationships/image" Target="../media/image124.png"/><Relationship Id="rId4" Type="http://schemas.openxmlformats.org/officeDocument/2006/relationships/image" Target="../media/image118.png"/><Relationship Id="rId9" Type="http://schemas.openxmlformats.org/officeDocument/2006/relationships/image" Target="../media/image123.png"/><Relationship Id="rId1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5.png"/><Relationship Id="rId3" Type="http://schemas.openxmlformats.org/officeDocument/2006/relationships/image" Target="../media/image128.png"/><Relationship Id="rId7" Type="http://schemas.openxmlformats.org/officeDocument/2006/relationships/image" Target="../media/image131.png"/><Relationship Id="rId12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0.png"/><Relationship Id="rId11" Type="http://schemas.openxmlformats.org/officeDocument/2006/relationships/image" Target="../media/image8.png"/><Relationship Id="rId5" Type="http://schemas.openxmlformats.org/officeDocument/2006/relationships/image" Target="../media/image120.png"/><Relationship Id="rId10" Type="http://schemas.openxmlformats.org/officeDocument/2006/relationships/image" Target="../media/image134.png"/><Relationship Id="rId4" Type="http://schemas.openxmlformats.org/officeDocument/2006/relationships/image" Target="../media/image129.png"/><Relationship Id="rId9" Type="http://schemas.openxmlformats.org/officeDocument/2006/relationships/image" Target="../media/image13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9.svg"/><Relationship Id="rId3" Type="http://schemas.microsoft.com/office/2018/10/relationships/comments" Target="../comments/modernComment_1E1_D10AE388.xml"/><Relationship Id="rId7" Type="http://schemas.openxmlformats.org/officeDocument/2006/relationships/image" Target="../media/image139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png"/><Relationship Id="rId4" Type="http://schemas.openxmlformats.org/officeDocument/2006/relationships/image" Target="../media/image80.png"/><Relationship Id="rId9" Type="http://schemas.openxmlformats.org/officeDocument/2006/relationships/image" Target="../media/image141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81.png"/><Relationship Id="rId7" Type="http://schemas.openxmlformats.org/officeDocument/2006/relationships/image" Target="../media/image137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11" Type="http://schemas.openxmlformats.org/officeDocument/2006/relationships/image" Target="../media/image139.png"/><Relationship Id="rId5" Type="http://schemas.openxmlformats.org/officeDocument/2006/relationships/image" Target="../media/image9.svg"/><Relationship Id="rId10" Type="http://schemas.openxmlformats.org/officeDocument/2006/relationships/image" Target="../media/image138.png"/><Relationship Id="rId4" Type="http://schemas.openxmlformats.org/officeDocument/2006/relationships/image" Target="../media/image8.png"/><Relationship Id="rId9" Type="http://schemas.openxmlformats.org/officeDocument/2006/relationships/image" Target="../media/image14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83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2.png"/><Relationship Id="rId5" Type="http://schemas.microsoft.com/office/2018/10/relationships/comments" Target="../comments/modernComment_1E4_249F975D.xml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7" Type="http://schemas.openxmlformats.org/officeDocument/2006/relationships/image" Target="../media/image20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155.png"/><Relationship Id="rId3" Type="http://schemas.openxmlformats.org/officeDocument/2006/relationships/image" Target="../media/image147.png"/><Relationship Id="rId7" Type="http://schemas.openxmlformats.org/officeDocument/2006/relationships/image" Target="../media/image8.png"/><Relationship Id="rId12" Type="http://schemas.openxmlformats.org/officeDocument/2006/relationships/image" Target="../media/image1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11" Type="http://schemas.openxmlformats.org/officeDocument/2006/relationships/image" Target="../media/image153.png"/><Relationship Id="rId5" Type="http://schemas.openxmlformats.org/officeDocument/2006/relationships/image" Target="../media/image149.png"/><Relationship Id="rId15" Type="http://schemas.openxmlformats.org/officeDocument/2006/relationships/image" Target="../media/image157.png"/><Relationship Id="rId10" Type="http://schemas.openxmlformats.org/officeDocument/2006/relationships/image" Target="../media/image152.png"/><Relationship Id="rId4" Type="http://schemas.openxmlformats.org/officeDocument/2006/relationships/image" Target="../media/image148.png"/><Relationship Id="rId9" Type="http://schemas.openxmlformats.org/officeDocument/2006/relationships/image" Target="../media/image151.png"/><Relationship Id="rId14" Type="http://schemas.openxmlformats.org/officeDocument/2006/relationships/image" Target="../media/image156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1.png"/><Relationship Id="rId5" Type="http://schemas.openxmlformats.org/officeDocument/2006/relationships/image" Target="../media/image160.png"/><Relationship Id="rId4" Type="http://schemas.openxmlformats.org/officeDocument/2006/relationships/image" Target="../media/image84.png"/><Relationship Id="rId9" Type="http://schemas.openxmlformats.org/officeDocument/2006/relationships/image" Target="../media/image1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20.xml"/><Relationship Id="rId4" Type="http://schemas.openxmlformats.org/officeDocument/2006/relationships/tags" Target="../tags/tag19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png"/><Relationship Id="rId3" Type="http://schemas.microsoft.com/office/2007/relationships/media" Target="../media/media4.mp4"/><Relationship Id="rId7" Type="http://schemas.openxmlformats.org/officeDocument/2006/relationships/image" Target="../media/image166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87.png"/><Relationship Id="rId4" Type="http://schemas.openxmlformats.org/officeDocument/2006/relationships/video" Target="../media/media4.mp4"/><Relationship Id="rId9" Type="http://schemas.openxmlformats.org/officeDocument/2006/relationships/image" Target="../media/image8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microsoft.com/office/2018/10/relationships/comments" Target="../comments/modernComment_176_72387F80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7.png"/><Relationship Id="rId4" Type="http://schemas.openxmlformats.org/officeDocument/2006/relationships/image" Target="../media/image89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09.png"/><Relationship Id="rId5" Type="http://schemas.microsoft.com/office/2018/10/relationships/comments" Target="../comments/modernComment_189_4A40CFA2.xml"/><Relationship Id="rId4" Type="http://schemas.openxmlformats.org/officeDocument/2006/relationships/notesSlide" Target="../notesSlides/notesSlide1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25.xml"/><Relationship Id="rId4" Type="http://schemas.openxmlformats.org/officeDocument/2006/relationships/tags" Target="../tags/tag24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emf"/><Relationship Id="rId3" Type="http://schemas.openxmlformats.org/officeDocument/2006/relationships/image" Target="../media/image137.svg"/><Relationship Id="rId7" Type="http://schemas.openxmlformats.org/officeDocument/2006/relationships/image" Target="../media/image182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1.png"/><Relationship Id="rId5" Type="http://schemas.openxmlformats.org/officeDocument/2006/relationships/image" Target="../media/image9.svg"/><Relationship Id="rId4" Type="http://schemas.openxmlformats.org/officeDocument/2006/relationships/image" Target="../media/image8.png"/><Relationship Id="rId9" Type="http://schemas.openxmlformats.org/officeDocument/2006/relationships/image" Target="../media/image18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svg"/><Relationship Id="rId2" Type="http://schemas.microsoft.com/office/2007/relationships/media" Target="../media/media6.mp4"/><Relationship Id="rId1" Type="http://schemas.openxmlformats.org/officeDocument/2006/relationships/video" Target="NULL" TargetMode="External"/><Relationship Id="rId6" Type="http://schemas.openxmlformats.org/officeDocument/2006/relationships/image" Target="../media/image2.png"/><Relationship Id="rId5" Type="http://schemas.openxmlformats.org/officeDocument/2006/relationships/image" Target="../media/image1.wmf"/><Relationship Id="rId4" Type="http://schemas.openxmlformats.org/officeDocument/2006/relationships/notesSlide" Target="../notesSlides/notesSlide2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41_93613AFF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52_227130B7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46.png"/><Relationship Id="rId7" Type="http://schemas.openxmlformats.org/officeDocument/2006/relationships/image" Target="../media/image169.png"/><Relationship Id="rId12" Type="http://schemas.openxmlformats.org/officeDocument/2006/relationships/image" Target="../media/image17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8.png"/><Relationship Id="rId11" Type="http://schemas.openxmlformats.org/officeDocument/2006/relationships/image" Target="../media/image174.png"/><Relationship Id="rId5" Type="http://schemas.openxmlformats.org/officeDocument/2006/relationships/image" Target="../media/image162.png"/><Relationship Id="rId10" Type="http://schemas.openxmlformats.org/officeDocument/2006/relationships/image" Target="../media/image173.png"/><Relationship Id="rId4" Type="http://schemas.openxmlformats.org/officeDocument/2006/relationships/image" Target="../media/image159.png"/><Relationship Id="rId9" Type="http://schemas.openxmlformats.org/officeDocument/2006/relationships/image" Target="../media/image17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7" Type="http://schemas.openxmlformats.org/officeDocument/2006/relationships/image" Target="../media/image183.png"/><Relationship Id="rId2" Type="http://schemas.microsoft.com/office/2018/10/relationships/comments" Target="../comments/modernComment_129_7C7099D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0.svg"/><Relationship Id="rId5" Type="http://schemas.openxmlformats.org/officeDocument/2006/relationships/image" Target="../media/image179.png"/><Relationship Id="rId4" Type="http://schemas.openxmlformats.org/officeDocument/2006/relationships/image" Target="../media/image178.sv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sv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3.png"/><Relationship Id="rId5" Type="http://schemas.openxmlformats.org/officeDocument/2006/relationships/image" Target="../media/image180.svg"/><Relationship Id="rId4" Type="http://schemas.openxmlformats.org/officeDocument/2006/relationships/image" Target="../media/image17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7.png"/><Relationship Id="rId3" Type="http://schemas.microsoft.com/office/2007/relationships/media" Target="../media/media8.mp4"/><Relationship Id="rId7" Type="http://schemas.openxmlformats.org/officeDocument/2006/relationships/image" Target="../media/image178.svg"/><Relationship Id="rId12" Type="http://schemas.openxmlformats.org/officeDocument/2006/relationships/image" Target="../media/image186.png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77.png"/><Relationship Id="rId11" Type="http://schemas.openxmlformats.org/officeDocument/2006/relationships/image" Target="../media/image18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83.png"/><Relationship Id="rId4" Type="http://schemas.openxmlformats.org/officeDocument/2006/relationships/video" Target="../media/media8.mp4"/><Relationship Id="rId9" Type="http://schemas.openxmlformats.org/officeDocument/2006/relationships/image" Target="../media/image180.svg"/><Relationship Id="rId14" Type="http://schemas.openxmlformats.org/officeDocument/2006/relationships/image" Target="../media/image18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sv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microsoft.com/office/2018/10/relationships/comments" Target="../comments/modernComment_1AE_36144CFE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1.png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A2_DE811A0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93.png"/><Relationship Id="rId2" Type="http://schemas.openxmlformats.org/officeDocument/2006/relationships/video" Target="../media/media9.mp4"/><Relationship Id="rId1" Type="http://schemas.microsoft.com/office/2007/relationships/media" Target="../media/media9.mp4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w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svg"/><Relationship Id="rId2" Type="http://schemas.openxmlformats.org/officeDocument/2006/relationships/video" Target="../media/media10.mp4"/><Relationship Id="rId1" Type="http://schemas.microsoft.com/office/2007/relationships/media" Target="../media/media10.mp4"/><Relationship Id="rId6" Type="http://schemas.openxmlformats.org/officeDocument/2006/relationships/image" Target="../media/image2.png"/><Relationship Id="rId5" Type="http://schemas.openxmlformats.org/officeDocument/2006/relationships/image" Target="../media/image1.wmf"/><Relationship Id="rId4" Type="http://schemas.openxmlformats.org/officeDocument/2006/relationships/notesSlide" Target="../notesSlides/notesSlide2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sv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hal/" TargetMode="External"/><Relationship Id="rId2" Type="http://schemas.openxmlformats.org/officeDocument/2006/relationships/hyperlink" Target="https://doi.org/10.1109/TPAMI.2011.21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7B3A-6608-CE48-DC04-8C84AEEEE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891" y="1341017"/>
            <a:ext cx="10948219" cy="1026071"/>
          </a:xfrm>
        </p:spPr>
        <p:txBody>
          <a:bodyPr/>
          <a:lstStyle/>
          <a:p>
            <a:pPr algn="ctr"/>
            <a:r>
              <a:rPr lang="en-DE" sz="4800"/>
              <a:t>Optimal Train Routing</a:t>
            </a:r>
            <a:r>
              <a:rPr lang="de-DE" sz="4800"/>
              <a:t> and Scheduling</a:t>
            </a:r>
            <a:endParaRPr lang="en-DE" sz="48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5C2E4-D1B3-ACFB-59DA-EB1F6AB2D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2005" y="2966887"/>
            <a:ext cx="7947991" cy="1162461"/>
          </a:xfrm>
        </p:spPr>
        <p:txBody>
          <a:bodyPr>
            <a:normAutofit fontScale="92500" lnSpcReduction="20000"/>
          </a:bodyPr>
          <a:lstStyle/>
          <a:p>
            <a:r>
              <a:rPr lang="de-DE" sz="3200"/>
              <a:t>Case Study – Final</a:t>
            </a:r>
            <a:r>
              <a:rPr lang="en-DE" sz="3200"/>
              <a:t> Presentation</a:t>
            </a:r>
          </a:p>
          <a:p>
            <a:endParaRPr lang="en-DE" sz="2000"/>
          </a:p>
          <a:p>
            <a:pPr>
              <a:lnSpc>
                <a:spcPct val="160000"/>
              </a:lnSpc>
            </a:pPr>
            <a:r>
              <a:rPr lang="en-DE" sz="2200"/>
              <a:t>Fabian Bleile, Sándor Daróczi, Simon Ramoser, Tobias Müller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33FBC94-5031-09CD-0DDA-66295C7BBF85}"/>
              </a:ext>
            </a:extLst>
          </p:cNvPr>
          <p:cNvGrpSpPr/>
          <p:nvPr/>
        </p:nvGrpSpPr>
        <p:grpSpPr>
          <a:xfrm>
            <a:off x="958142" y="5310449"/>
            <a:ext cx="10275716" cy="723644"/>
            <a:chOff x="860324" y="5310449"/>
            <a:chExt cx="10275716" cy="723644"/>
          </a:xfrm>
        </p:grpSpPr>
        <p:pic>
          <p:nvPicPr>
            <p:cNvPr id="4" name="Bild 2" descr="20150416 tum logo blau png final.png">
              <a:extLst>
                <a:ext uri="{FF2B5EF4-FFF2-40B4-BE49-F238E27FC236}">
                  <a16:creationId xmlns:a16="http://schemas.microsoft.com/office/drawing/2014/main" id="{0CEDF6B0-D8E1-FA45-71A1-FF1F77584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62036" y="5310449"/>
              <a:ext cx="1374004" cy="723644"/>
            </a:xfrm>
            <a:prstGeom prst="rect">
              <a:avLst/>
            </a:prstGeom>
          </p:spPr>
        </p:pic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65C55D72-1332-37B1-60F0-219B5606B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0324" y="5394685"/>
              <a:ext cx="2332306" cy="555172"/>
            </a:xfrm>
            <a:prstGeom prst="rect">
              <a:avLst/>
            </a:prstGeom>
          </p:spPr>
        </p:pic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233FBC94-5031-09CD-0DDA-66295C7BBF85}"/>
              </a:ext>
            </a:extLst>
          </p:cNvPr>
          <p:cNvGrpSpPr/>
          <p:nvPr/>
        </p:nvGrpSpPr>
        <p:grpSpPr>
          <a:xfrm>
            <a:off x="958142" y="5310449"/>
            <a:ext cx="10275716" cy="723644"/>
            <a:chOff x="860324" y="5310449"/>
            <a:chExt cx="10275716" cy="723644"/>
          </a:xfrm>
        </p:grpSpPr>
        <p:pic>
          <p:nvPicPr>
            <p:cNvPr id="7" name="Bild 2" descr="20150416 tum logo blau png final.png">
              <a:extLst>
                <a:ext uri="{FF2B5EF4-FFF2-40B4-BE49-F238E27FC236}">
                  <a16:creationId xmlns:a16="http://schemas.microsoft.com/office/drawing/2014/main" id="{0CEDF6B0-D8E1-FA45-71A1-FF1F77584A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62036" y="5310449"/>
              <a:ext cx="1374004" cy="723644"/>
            </a:xfrm>
            <a:prstGeom prst="rect">
              <a:avLst/>
            </a:prstGeom>
          </p:spPr>
        </p:pic>
        <p:pic>
          <p:nvPicPr>
            <p:cNvPr id="8" name="Graphic 4">
              <a:extLst>
                <a:ext uri="{FF2B5EF4-FFF2-40B4-BE49-F238E27FC236}">
                  <a16:creationId xmlns:a16="http://schemas.microsoft.com/office/drawing/2014/main" id="{65C55D72-1332-37B1-60F0-219B5606B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60324" y="5394685"/>
              <a:ext cx="2332306" cy="5551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1341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98FC0-A270-50F5-FB75-B8C185CD0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9F7154-E560-6C1C-4A5E-E3A592F0A856}"/>
              </a:ext>
            </a:extLst>
          </p:cNvPr>
          <p:cNvSpPr txBox="1"/>
          <p:nvPr/>
        </p:nvSpPr>
        <p:spPr>
          <a:xfrm>
            <a:off x="4895790" y="5341267"/>
            <a:ext cx="2579666" cy="5145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3200">
                <a:latin typeface="+mn-lt"/>
              </a:rPr>
              <a:t>No, not again!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BCE7061-8CE0-4000-FB88-D7A6D3F48BD1}"/>
              </a:ext>
            </a:extLst>
          </p:cNvPr>
          <p:cNvGrpSpPr/>
          <p:nvPr/>
        </p:nvGrpSpPr>
        <p:grpSpPr>
          <a:xfrm>
            <a:off x="755781" y="1580650"/>
            <a:ext cx="4805243" cy="3234382"/>
            <a:chOff x="643088" y="1846663"/>
            <a:chExt cx="3440479" cy="2315767"/>
          </a:xfrm>
        </p:grpSpPr>
        <p:pic>
          <p:nvPicPr>
            <p:cNvPr id="11" name="Picture 10" descr="A picture containing people, building, train station, platform&#10;&#10;Description automatically generated">
              <a:extLst>
                <a:ext uri="{FF2B5EF4-FFF2-40B4-BE49-F238E27FC236}">
                  <a16:creationId xmlns:a16="http://schemas.microsoft.com/office/drawing/2014/main" id="{623F8F26-AC3C-DDA9-D1DD-CB5FDB802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088" y="1846663"/>
              <a:ext cx="3355656" cy="224042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F106DB-C5C4-5C6F-282F-385D6C8C7C02}"/>
                </a:ext>
              </a:extLst>
            </p:cNvPr>
            <p:cNvSpPr txBox="1"/>
            <p:nvPr/>
          </p:nvSpPr>
          <p:spPr>
            <a:xfrm>
              <a:off x="643088" y="4098053"/>
              <a:ext cx="3440479" cy="643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GB" sz="400" i="1">
                  <a:latin typeface="+mn-lt"/>
                </a:rPr>
                <a:t>https://www.openpetition.de/petition/online/umsteigen-im-muenchner-hauptbahnhof-leichter-machen-bau-einer-zusaetzlichen-bahnsteigverbindung</a:t>
              </a:r>
              <a:endParaRPr lang="en-DE" sz="400" i="1">
                <a:latin typeface="+mn-lt"/>
              </a:endParaRPr>
            </a:p>
          </p:txBody>
        </p:sp>
      </p:grpSp>
      <p:sp>
        <p:nvSpPr>
          <p:cNvPr id="19" name="Arrow: Right 1">
            <a:extLst>
              <a:ext uri="{FF2B5EF4-FFF2-40B4-BE49-F238E27FC236}">
                <a16:creationId xmlns:a16="http://schemas.microsoft.com/office/drawing/2014/main" id="{AA2FBE6F-9016-4722-E975-7C061A13848C}"/>
              </a:ext>
            </a:extLst>
          </p:cNvPr>
          <p:cNvSpPr/>
          <p:nvPr/>
        </p:nvSpPr>
        <p:spPr>
          <a:xfrm>
            <a:off x="5860246" y="2970956"/>
            <a:ext cx="649857" cy="606797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43E3FB4-F3A6-A53A-5846-6B0449FE8991}"/>
              </a:ext>
            </a:extLst>
          </p:cNvPr>
          <p:cNvGrpSpPr/>
          <p:nvPr/>
        </p:nvGrpSpPr>
        <p:grpSpPr>
          <a:xfrm>
            <a:off x="6927796" y="1621444"/>
            <a:ext cx="4841548" cy="3273803"/>
            <a:chOff x="5297429" y="1836015"/>
            <a:chExt cx="3440479" cy="2326415"/>
          </a:xfrm>
        </p:grpSpPr>
        <p:pic>
          <p:nvPicPr>
            <p:cNvPr id="13" name="Picture 12" descr="A picture containing text, screenshot, number, scoreboard&#10;&#10;Description automatically generated">
              <a:extLst>
                <a:ext uri="{FF2B5EF4-FFF2-40B4-BE49-F238E27FC236}">
                  <a16:creationId xmlns:a16="http://schemas.microsoft.com/office/drawing/2014/main" id="{2DF087C6-4814-B6E3-B04E-D1B490554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7429" y="1836015"/>
              <a:ext cx="3369060" cy="2240424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31B60E-7118-5001-76A4-6D3A37DCE9E1}"/>
                </a:ext>
              </a:extLst>
            </p:cNvPr>
            <p:cNvSpPr txBox="1"/>
            <p:nvPr/>
          </p:nvSpPr>
          <p:spPr>
            <a:xfrm>
              <a:off x="5297429" y="4098053"/>
              <a:ext cx="3440479" cy="643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GB" sz="400" i="1">
                  <a:latin typeface="+mn-lt"/>
                </a:rPr>
                <a:t>https://www.derwesten.de/panorama/vermischtes/deutsche-bahn-zug-verspaetung-app-entschaedigung-ausfall-id233567353.html</a:t>
              </a:r>
              <a:endParaRPr lang="en-DE" sz="400" i="1">
                <a:latin typeface="+mn-lt"/>
              </a:endParaRPr>
            </a:p>
          </p:txBody>
        </p:sp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49C5CD4-3AC6-0918-DD5A-AEF44E651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</p:spPr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048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737F23-AF35-BC0A-52A9-3E8E85BCA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4A1B81-764E-5D53-BB7F-622EAFD25951}"/>
              </a:ext>
            </a:extLst>
          </p:cNvPr>
          <p:cNvGrpSpPr/>
          <p:nvPr/>
        </p:nvGrpSpPr>
        <p:grpSpPr>
          <a:xfrm>
            <a:off x="425451" y="1730716"/>
            <a:ext cx="9058103" cy="432000"/>
            <a:chOff x="425451" y="1730716"/>
            <a:chExt cx="9058103" cy="432000"/>
          </a:xfrm>
        </p:grpSpPr>
        <p:sp>
          <p:nvSpPr>
            <p:cNvPr id="5" name="Symbol zastępczy tekstu 23">
              <a:extLst>
                <a:ext uri="{FF2B5EF4-FFF2-40B4-BE49-F238E27FC236}">
                  <a16:creationId xmlns:a16="http://schemas.microsoft.com/office/drawing/2014/main" id="{92ACA924-F654-129F-30A4-E6AC38633EA6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425451" y="1730716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01</a:t>
              </a:r>
            </a:p>
          </p:txBody>
        </p:sp>
        <p:sp>
          <p:nvSpPr>
            <p:cNvPr id="14" name="Symbol zastępczy tekstu 32">
              <a:extLst>
                <a:ext uri="{FF2B5EF4-FFF2-40B4-BE49-F238E27FC236}">
                  <a16:creationId xmlns:a16="http://schemas.microsoft.com/office/drawing/2014/main" id="{8E529EEA-0535-9A7D-86C2-7876638BAC0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1795516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b="1">
                  <a:latin typeface="+mn-lt"/>
                </a:rPr>
                <a:t>Problem Description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EA386430-C085-9BD0-B7DE-D747AABA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E693B2-B7EA-A8ED-5270-2AB1AE73340A}"/>
              </a:ext>
            </a:extLst>
          </p:cNvPr>
          <p:cNvGrpSpPr/>
          <p:nvPr/>
        </p:nvGrpSpPr>
        <p:grpSpPr>
          <a:xfrm>
            <a:off x="425451" y="2365003"/>
            <a:ext cx="9058103" cy="432000"/>
            <a:chOff x="425451" y="2302130"/>
            <a:chExt cx="9058103" cy="432000"/>
          </a:xfrm>
        </p:grpSpPr>
        <p:sp>
          <p:nvSpPr>
            <p:cNvPr id="21" name="Symbol zastępczy tekstu 23">
              <a:extLst>
                <a:ext uri="{FF2B5EF4-FFF2-40B4-BE49-F238E27FC236}">
                  <a16:creationId xmlns:a16="http://schemas.microsoft.com/office/drawing/2014/main" id="{7DCA2B47-C54D-BE17-3572-876C62CBE633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425451" y="2302130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02</a:t>
              </a:r>
            </a:p>
          </p:txBody>
        </p:sp>
        <p:sp>
          <p:nvSpPr>
            <p:cNvPr id="22" name="Symbol zastępczy tekstu 32">
              <a:extLst>
                <a:ext uri="{FF2B5EF4-FFF2-40B4-BE49-F238E27FC236}">
                  <a16:creationId xmlns:a16="http://schemas.microsoft.com/office/drawing/2014/main" id="{10264CC8-DAC8-EC57-9E7E-2CA02391D67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2366930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err="1">
                  <a:latin typeface="+mn-lt"/>
                </a:rPr>
                <a:t>Combined</a:t>
              </a:r>
              <a:r>
                <a:rPr lang="de-DE">
                  <a:latin typeface="+mn-lt"/>
                </a:rPr>
                <a:t> Approach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05FE4E-B733-E02F-F1D0-603EDE5C57D0}"/>
              </a:ext>
            </a:extLst>
          </p:cNvPr>
          <p:cNvGrpSpPr/>
          <p:nvPr/>
        </p:nvGrpSpPr>
        <p:grpSpPr>
          <a:xfrm>
            <a:off x="425451" y="2999289"/>
            <a:ext cx="9058103" cy="432000"/>
            <a:chOff x="414883" y="3024067"/>
            <a:chExt cx="9058103" cy="432000"/>
          </a:xfrm>
        </p:grpSpPr>
        <p:sp>
          <p:nvSpPr>
            <p:cNvPr id="28" name="Symbol zastępczy tekstu 23">
              <a:extLst>
                <a:ext uri="{FF2B5EF4-FFF2-40B4-BE49-F238E27FC236}">
                  <a16:creationId xmlns:a16="http://schemas.microsoft.com/office/drawing/2014/main" id="{D720CF5E-FDA2-1C5D-38DE-39BBA1E2DEF2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 bwMode="gray">
            <a:xfrm>
              <a:off x="414883" y="3024067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03</a:t>
              </a:r>
            </a:p>
          </p:txBody>
        </p:sp>
        <p:sp>
          <p:nvSpPr>
            <p:cNvPr id="29" name="Symbol zastępczy tekstu 32">
              <a:extLst>
                <a:ext uri="{FF2B5EF4-FFF2-40B4-BE49-F238E27FC236}">
                  <a16:creationId xmlns:a16="http://schemas.microsoft.com/office/drawing/2014/main" id="{FA72EB01-738B-7CCC-980D-06139E9AC6D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088867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sz="2400" err="1">
                  <a:latin typeface="+mn-lt"/>
                </a:rPr>
                <a:t>Decoupled</a:t>
              </a:r>
              <a:r>
                <a:rPr lang="de-DE" sz="2400">
                  <a:latin typeface="+mn-lt"/>
                </a:rPr>
                <a:t> Approach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7EAD94-3138-9D1F-F35C-D6504C79E4A8}"/>
              </a:ext>
            </a:extLst>
          </p:cNvPr>
          <p:cNvGrpSpPr/>
          <p:nvPr/>
        </p:nvGrpSpPr>
        <p:grpSpPr>
          <a:xfrm>
            <a:off x="425451" y="3633576"/>
            <a:ext cx="9058103" cy="432000"/>
            <a:chOff x="414883" y="3595481"/>
            <a:chExt cx="9058103" cy="432000"/>
          </a:xfrm>
        </p:grpSpPr>
        <p:sp>
          <p:nvSpPr>
            <p:cNvPr id="30" name="Symbol zastępczy tekstu 23">
              <a:extLst>
                <a:ext uri="{FF2B5EF4-FFF2-40B4-BE49-F238E27FC236}">
                  <a16:creationId xmlns:a16="http://schemas.microsoft.com/office/drawing/2014/main" id="{C3928531-532D-C2CF-CF37-2AA870874CD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04</a:t>
              </a:r>
            </a:p>
          </p:txBody>
        </p:sp>
        <p:sp>
          <p:nvSpPr>
            <p:cNvPr id="31" name="Symbol zastępczy tekstu 32">
              <a:extLst>
                <a:ext uri="{FF2B5EF4-FFF2-40B4-BE49-F238E27FC236}">
                  <a16:creationId xmlns:a16="http://schemas.microsoft.com/office/drawing/2014/main" id="{49C1A316-6797-48F9-929B-30544324700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Experiments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7A1342-6839-F824-F73E-F5FE35FBEE13}"/>
              </a:ext>
            </a:extLst>
          </p:cNvPr>
          <p:cNvGrpSpPr/>
          <p:nvPr/>
        </p:nvGrpSpPr>
        <p:grpSpPr>
          <a:xfrm>
            <a:off x="425451" y="4267862"/>
            <a:ext cx="9058103" cy="432000"/>
            <a:chOff x="414883" y="3595481"/>
            <a:chExt cx="9058103" cy="432000"/>
          </a:xfrm>
        </p:grpSpPr>
        <p:sp>
          <p:nvSpPr>
            <p:cNvPr id="37" name="Symbol zastępczy tekstu 23">
              <a:extLst>
                <a:ext uri="{FF2B5EF4-FFF2-40B4-BE49-F238E27FC236}">
                  <a16:creationId xmlns:a16="http://schemas.microsoft.com/office/drawing/2014/main" id="{102D37CF-0904-A649-17BF-716C80D2279F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05</a:t>
              </a:r>
            </a:p>
          </p:txBody>
        </p:sp>
        <p:sp>
          <p:nvSpPr>
            <p:cNvPr id="38" name="Symbol zastępczy tekstu 32">
              <a:extLst>
                <a:ext uri="{FF2B5EF4-FFF2-40B4-BE49-F238E27FC236}">
                  <a16:creationId xmlns:a16="http://schemas.microsoft.com/office/drawing/2014/main" id="{19C24D9E-4416-65CE-489F-5646D2ED271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Summary</a:t>
              </a:r>
            </a:p>
          </p:txBody>
        </p:sp>
      </p:grp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3BD930A-9C1E-727C-E1D8-F0016E452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50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3AD2DDD-EBA4-537E-7299-6D665A1A3C65}"/>
              </a:ext>
            </a:extLst>
          </p:cNvPr>
          <p:cNvCxnSpPr>
            <a:cxnSpLocks/>
          </p:cNvCxnSpPr>
          <p:nvPr/>
        </p:nvCxnSpPr>
        <p:spPr>
          <a:xfrm flipV="1">
            <a:off x="4938990" y="4013952"/>
            <a:ext cx="934265" cy="4049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7181EA-D164-79AC-DACD-E7548CEA9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BABDFA3-0C1E-515C-EF38-B8F282A6F576}"/>
              </a:ext>
            </a:extLst>
          </p:cNvPr>
          <p:cNvCxnSpPr>
            <a:cxnSpLocks/>
          </p:cNvCxnSpPr>
          <p:nvPr/>
        </p:nvCxnSpPr>
        <p:spPr>
          <a:xfrm flipV="1">
            <a:off x="3866136" y="2622103"/>
            <a:ext cx="2038769" cy="4207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7A90D6-5544-5AD7-DE65-044EC64B5EAD}"/>
              </a:ext>
            </a:extLst>
          </p:cNvPr>
          <p:cNvCxnSpPr>
            <a:cxnSpLocks/>
          </p:cNvCxnSpPr>
          <p:nvPr/>
        </p:nvCxnSpPr>
        <p:spPr>
          <a:xfrm flipV="1">
            <a:off x="7142874" y="3118677"/>
            <a:ext cx="1230608" cy="591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59D25E-E3C9-5CFA-7205-AF1E08D1B4C5}"/>
              </a:ext>
            </a:extLst>
          </p:cNvPr>
          <p:cNvCxnSpPr>
            <a:cxnSpLocks/>
          </p:cNvCxnSpPr>
          <p:nvPr/>
        </p:nvCxnSpPr>
        <p:spPr>
          <a:xfrm>
            <a:off x="6091335" y="2699760"/>
            <a:ext cx="860764" cy="982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DEA18C-4467-BABF-3DDD-00D38EFFAA9A}"/>
              </a:ext>
            </a:extLst>
          </p:cNvPr>
          <p:cNvCxnSpPr>
            <a:cxnSpLocks/>
          </p:cNvCxnSpPr>
          <p:nvPr/>
        </p:nvCxnSpPr>
        <p:spPr>
          <a:xfrm>
            <a:off x="8701642" y="3059345"/>
            <a:ext cx="7508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920B60C-616B-FD9C-221D-CF9DA25A4953}"/>
              </a:ext>
            </a:extLst>
          </p:cNvPr>
          <p:cNvCxnSpPr>
            <a:cxnSpLocks/>
          </p:cNvCxnSpPr>
          <p:nvPr/>
        </p:nvCxnSpPr>
        <p:spPr>
          <a:xfrm flipV="1">
            <a:off x="7252435" y="3171708"/>
            <a:ext cx="1214534" cy="12033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738AE8-E665-7456-7570-D83FAC4AE5A6}"/>
              </a:ext>
            </a:extLst>
          </p:cNvPr>
          <p:cNvCxnSpPr>
            <a:cxnSpLocks/>
          </p:cNvCxnSpPr>
          <p:nvPr/>
        </p:nvCxnSpPr>
        <p:spPr>
          <a:xfrm flipH="1" flipV="1">
            <a:off x="3852078" y="3131607"/>
            <a:ext cx="1102919" cy="5958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C4A53C-D290-C5F3-C294-5082CFE9C5C7}"/>
              </a:ext>
            </a:extLst>
          </p:cNvPr>
          <p:cNvCxnSpPr>
            <a:cxnSpLocks/>
          </p:cNvCxnSpPr>
          <p:nvPr/>
        </p:nvCxnSpPr>
        <p:spPr>
          <a:xfrm>
            <a:off x="5203274" y="3814376"/>
            <a:ext cx="665003" cy="89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63">
            <a:extLst>
              <a:ext uri="{FF2B5EF4-FFF2-40B4-BE49-F238E27FC236}">
                <a16:creationId xmlns:a16="http://schemas.microsoft.com/office/drawing/2014/main" id="{99870F13-1829-7A5C-21C1-B4F01246E4B7}"/>
              </a:ext>
            </a:extLst>
          </p:cNvPr>
          <p:cNvCxnSpPr>
            <a:cxnSpLocks/>
          </p:cNvCxnSpPr>
          <p:nvPr/>
        </p:nvCxnSpPr>
        <p:spPr>
          <a:xfrm>
            <a:off x="8701642" y="3008738"/>
            <a:ext cx="750580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DFF6A0-709A-858A-C280-5BB4B505BDF0}"/>
              </a:ext>
            </a:extLst>
          </p:cNvPr>
          <p:cNvCxnSpPr>
            <a:cxnSpLocks/>
          </p:cNvCxnSpPr>
          <p:nvPr/>
        </p:nvCxnSpPr>
        <p:spPr>
          <a:xfrm flipV="1">
            <a:off x="3866136" y="2622103"/>
            <a:ext cx="2038769" cy="420794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A7F2F4-29FD-DBAE-4549-1DE6A1FAF860}"/>
              </a:ext>
            </a:extLst>
          </p:cNvPr>
          <p:cNvCxnSpPr>
            <a:cxnSpLocks/>
          </p:cNvCxnSpPr>
          <p:nvPr/>
        </p:nvCxnSpPr>
        <p:spPr>
          <a:xfrm>
            <a:off x="6139289" y="2611312"/>
            <a:ext cx="2299739" cy="4315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4A3FC-79D6-95E6-003D-FC74823D4EE1}"/>
              </a:ext>
            </a:extLst>
          </p:cNvPr>
          <p:cNvCxnSpPr>
            <a:cxnSpLocks/>
          </p:cNvCxnSpPr>
          <p:nvPr/>
        </p:nvCxnSpPr>
        <p:spPr>
          <a:xfrm>
            <a:off x="2689328" y="2699760"/>
            <a:ext cx="925828" cy="319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98775004-CF9E-6710-DE94-4A8A9945607E}"/>
              </a:ext>
            </a:extLst>
          </p:cNvPr>
          <p:cNvSpPr/>
          <p:nvPr/>
        </p:nvSpPr>
        <p:spPr>
          <a:xfrm>
            <a:off x="8507281" y="299263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94B8B1B-41AD-B207-74E9-913A4013F3AC}"/>
              </a:ext>
            </a:extLst>
          </p:cNvPr>
          <p:cNvCxnSpPr>
            <a:cxnSpLocks/>
          </p:cNvCxnSpPr>
          <p:nvPr/>
        </p:nvCxnSpPr>
        <p:spPr>
          <a:xfrm flipV="1">
            <a:off x="6119950" y="3781151"/>
            <a:ext cx="783118" cy="125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4B87E880-256F-B984-9E18-659ABD606245}"/>
              </a:ext>
            </a:extLst>
          </p:cNvPr>
          <p:cNvSpPr/>
          <p:nvPr/>
        </p:nvSpPr>
        <p:spPr>
          <a:xfrm>
            <a:off x="5038184" y="3710562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C2F5D5-CB34-1295-2457-7B174A1A5E86}"/>
              </a:ext>
            </a:extLst>
          </p:cNvPr>
          <p:cNvCxnSpPr>
            <a:cxnSpLocks/>
          </p:cNvCxnSpPr>
          <p:nvPr/>
        </p:nvCxnSpPr>
        <p:spPr>
          <a:xfrm flipV="1">
            <a:off x="2704191" y="3130629"/>
            <a:ext cx="886404" cy="3718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35306E-6287-5896-42F2-A81961B51400}"/>
              </a:ext>
            </a:extLst>
          </p:cNvPr>
          <p:cNvCxnSpPr>
            <a:cxnSpLocks/>
          </p:cNvCxnSpPr>
          <p:nvPr/>
        </p:nvCxnSpPr>
        <p:spPr>
          <a:xfrm>
            <a:off x="3784841" y="3191005"/>
            <a:ext cx="896799" cy="11840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EF37B1C-A959-3F3C-50E7-293EA3BCB160}"/>
              </a:ext>
            </a:extLst>
          </p:cNvPr>
          <p:cNvSpPr txBox="1"/>
          <p:nvPr/>
        </p:nvSpPr>
        <p:spPr>
          <a:xfrm>
            <a:off x="2815026" y="2907910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b="1">
                <a:latin typeface="+mn-lt"/>
              </a:rPr>
              <a:t>A</a:t>
            </a:r>
            <a:endParaRPr lang="en-DE" sz="1100" b="1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2A63AA-C1EB-5FF8-27B1-3B477C111727}"/>
              </a:ext>
            </a:extLst>
          </p:cNvPr>
          <p:cNvSpPr txBox="1"/>
          <p:nvPr/>
        </p:nvSpPr>
        <p:spPr>
          <a:xfrm>
            <a:off x="8979892" y="3142936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b="1">
                <a:latin typeface="+mn-lt"/>
              </a:rPr>
              <a:t>B</a:t>
            </a:r>
            <a:endParaRPr lang="en-DE" sz="1400" b="1">
              <a:latin typeface="+mn-lt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FE048A-C222-5E41-78EE-630FE9E977D6}"/>
              </a:ext>
            </a:extLst>
          </p:cNvPr>
          <p:cNvCxnSpPr>
            <a:cxnSpLocks/>
          </p:cNvCxnSpPr>
          <p:nvPr/>
        </p:nvCxnSpPr>
        <p:spPr>
          <a:xfrm flipV="1">
            <a:off x="3784837" y="4551090"/>
            <a:ext cx="850285" cy="2888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6D1514-374B-432D-5AF4-15E55FA9F5CF}"/>
              </a:ext>
            </a:extLst>
          </p:cNvPr>
          <p:cNvCxnSpPr>
            <a:cxnSpLocks/>
          </p:cNvCxnSpPr>
          <p:nvPr/>
        </p:nvCxnSpPr>
        <p:spPr>
          <a:xfrm flipV="1">
            <a:off x="4839801" y="3917498"/>
            <a:ext cx="198384" cy="4649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941649A-E5C7-E370-1115-A4F282C3320E}"/>
              </a:ext>
            </a:extLst>
          </p:cNvPr>
          <p:cNvCxnSpPr>
            <a:cxnSpLocks/>
          </p:cNvCxnSpPr>
          <p:nvPr/>
        </p:nvCxnSpPr>
        <p:spPr>
          <a:xfrm flipV="1">
            <a:off x="4898823" y="4503486"/>
            <a:ext cx="2109616" cy="59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9BDC3B-D784-A991-ED84-F8C86BAF7D70}"/>
              </a:ext>
            </a:extLst>
          </p:cNvPr>
          <p:cNvCxnSpPr>
            <a:cxnSpLocks/>
          </p:cNvCxnSpPr>
          <p:nvPr/>
        </p:nvCxnSpPr>
        <p:spPr>
          <a:xfrm flipH="1" flipV="1">
            <a:off x="7022360" y="3886758"/>
            <a:ext cx="83195" cy="460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6C56FC27-0816-E7AE-693A-30B7C5C52302}"/>
              </a:ext>
            </a:extLst>
          </p:cNvPr>
          <p:cNvSpPr/>
          <p:nvPr/>
        </p:nvSpPr>
        <p:spPr>
          <a:xfrm>
            <a:off x="5954150" y="2534742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330EAF1-4772-6C4D-0178-823CCBCE2190}"/>
              </a:ext>
            </a:extLst>
          </p:cNvPr>
          <p:cNvSpPr/>
          <p:nvPr/>
        </p:nvSpPr>
        <p:spPr>
          <a:xfrm>
            <a:off x="4709139" y="444040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3799AC2-861C-EE5B-6F43-D64BCCDC2203}"/>
              </a:ext>
            </a:extLst>
          </p:cNvPr>
          <p:cNvGrpSpPr/>
          <p:nvPr/>
        </p:nvGrpSpPr>
        <p:grpSpPr>
          <a:xfrm>
            <a:off x="5923171" y="3850787"/>
            <a:ext cx="1282347" cy="722416"/>
            <a:chOff x="4503293" y="4189137"/>
            <a:chExt cx="1009536" cy="587019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2758500-DE54-FD55-8182-B59EA31D7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558" y="4320579"/>
              <a:ext cx="784297" cy="3302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993FC83-D998-0382-DF40-293CB0B74062}"/>
                </a:ext>
              </a:extLst>
            </p:cNvPr>
            <p:cNvSpPr/>
            <p:nvPr/>
          </p:nvSpPr>
          <p:spPr>
            <a:xfrm>
              <a:off x="4503293" y="41891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FDF8B09-92EF-DA7B-C494-BC71DE235255}"/>
                </a:ext>
              </a:extLst>
            </p:cNvPr>
            <p:cNvSpPr/>
            <p:nvPr/>
          </p:nvSpPr>
          <p:spPr>
            <a:xfrm>
              <a:off x="5404829" y="466773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199E17F-548C-E191-7B3D-9B9E4FEF4578}"/>
              </a:ext>
            </a:extLst>
          </p:cNvPr>
          <p:cNvCxnSpPr>
            <a:cxnSpLocks/>
          </p:cNvCxnSpPr>
          <p:nvPr/>
        </p:nvCxnSpPr>
        <p:spPr>
          <a:xfrm>
            <a:off x="7242623" y="4561807"/>
            <a:ext cx="905174" cy="331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6F9FA8A5-C034-4D7A-B7C8-59605A7ADDB8}"/>
              </a:ext>
            </a:extLst>
          </p:cNvPr>
          <p:cNvSpPr/>
          <p:nvPr/>
        </p:nvSpPr>
        <p:spPr>
          <a:xfrm>
            <a:off x="3651005" y="3008738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ACF4FA7-8CC1-A321-239A-C22FADE56D2D}"/>
              </a:ext>
            </a:extLst>
          </p:cNvPr>
          <p:cNvSpPr/>
          <p:nvPr/>
        </p:nvSpPr>
        <p:spPr>
          <a:xfrm>
            <a:off x="6952099" y="369661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Oval 64">
            <a:extLst>
              <a:ext uri="{FF2B5EF4-FFF2-40B4-BE49-F238E27FC236}">
                <a16:creationId xmlns:a16="http://schemas.microsoft.com/office/drawing/2014/main" id="{6465C960-53B2-AB78-0368-47ACB7B144EC}"/>
              </a:ext>
            </a:extLst>
          </p:cNvPr>
          <p:cNvSpPr/>
          <p:nvPr/>
        </p:nvSpPr>
        <p:spPr>
          <a:xfrm>
            <a:off x="2526885" y="262304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7" name="Oval 64">
            <a:extLst>
              <a:ext uri="{FF2B5EF4-FFF2-40B4-BE49-F238E27FC236}">
                <a16:creationId xmlns:a16="http://schemas.microsoft.com/office/drawing/2014/main" id="{A22558F8-0D36-F96D-6EF7-7A99E6F887A8}"/>
              </a:ext>
            </a:extLst>
          </p:cNvPr>
          <p:cNvSpPr/>
          <p:nvPr/>
        </p:nvSpPr>
        <p:spPr>
          <a:xfrm>
            <a:off x="2539493" y="349912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8" name="Oval 64">
            <a:extLst>
              <a:ext uri="{FF2B5EF4-FFF2-40B4-BE49-F238E27FC236}">
                <a16:creationId xmlns:a16="http://schemas.microsoft.com/office/drawing/2014/main" id="{604E243C-E558-9530-6A5C-361BC3FDA828}"/>
              </a:ext>
            </a:extLst>
          </p:cNvPr>
          <p:cNvSpPr/>
          <p:nvPr/>
        </p:nvSpPr>
        <p:spPr>
          <a:xfrm>
            <a:off x="3590592" y="482622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9" name="Oval 64">
            <a:extLst>
              <a:ext uri="{FF2B5EF4-FFF2-40B4-BE49-F238E27FC236}">
                <a16:creationId xmlns:a16="http://schemas.microsoft.com/office/drawing/2014/main" id="{75259AB8-4242-40BA-CC84-7D211884C79A}"/>
              </a:ext>
            </a:extLst>
          </p:cNvPr>
          <p:cNvSpPr/>
          <p:nvPr/>
        </p:nvSpPr>
        <p:spPr>
          <a:xfrm>
            <a:off x="8193771" y="4860675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80" name="Oval 64">
            <a:extLst>
              <a:ext uri="{FF2B5EF4-FFF2-40B4-BE49-F238E27FC236}">
                <a16:creationId xmlns:a16="http://schemas.microsoft.com/office/drawing/2014/main" id="{090D6FA2-C047-3709-BF58-3EC9661D83E8}"/>
              </a:ext>
            </a:extLst>
          </p:cNvPr>
          <p:cNvSpPr/>
          <p:nvPr/>
        </p:nvSpPr>
        <p:spPr>
          <a:xfrm>
            <a:off x="9527930" y="2985389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81" name="Straight Connector 63">
            <a:extLst>
              <a:ext uri="{FF2B5EF4-FFF2-40B4-BE49-F238E27FC236}">
                <a16:creationId xmlns:a16="http://schemas.microsoft.com/office/drawing/2014/main" id="{B8D1D3FF-8805-3E01-1373-6B0C8C115A92}"/>
              </a:ext>
            </a:extLst>
          </p:cNvPr>
          <p:cNvCxnSpPr>
            <a:cxnSpLocks/>
          </p:cNvCxnSpPr>
          <p:nvPr/>
        </p:nvCxnSpPr>
        <p:spPr>
          <a:xfrm>
            <a:off x="2704191" y="2668174"/>
            <a:ext cx="927562" cy="306448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Graphic 81" descr="Toy Train with solid fill">
            <a:extLst>
              <a:ext uri="{FF2B5EF4-FFF2-40B4-BE49-F238E27FC236}">
                <a16:creationId xmlns:a16="http://schemas.microsoft.com/office/drawing/2014/main" id="{D5A12AA0-A0E6-E375-273C-1EAAC2BA5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139651">
            <a:off x="2958706" y="2296376"/>
            <a:ext cx="612059" cy="636456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D113059-6361-6DCB-4BB8-A83885328BBD}"/>
              </a:ext>
            </a:extLst>
          </p:cNvPr>
          <p:cNvSpPr txBox="1"/>
          <p:nvPr/>
        </p:nvSpPr>
        <p:spPr>
          <a:xfrm>
            <a:off x="4209187" y="4716881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b="1">
                <a:latin typeface="+mn-lt"/>
              </a:rPr>
              <a:t>C</a:t>
            </a:r>
            <a:endParaRPr lang="en-DE" sz="1100" b="1">
              <a:latin typeface="+mn-lt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D4DB321-DBFE-593A-7308-94AAA24B741F}"/>
              </a:ext>
            </a:extLst>
          </p:cNvPr>
          <p:cNvSpPr txBox="1"/>
          <p:nvPr/>
        </p:nvSpPr>
        <p:spPr>
          <a:xfrm>
            <a:off x="7460442" y="4716881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b="1">
                <a:latin typeface="+mn-lt"/>
              </a:rPr>
              <a:t>D</a:t>
            </a:r>
            <a:endParaRPr lang="en-DE" sz="1100" b="1">
              <a:latin typeface="+mn-lt"/>
            </a:endParaRPr>
          </a:p>
        </p:txBody>
      </p:sp>
      <p:pic>
        <p:nvPicPr>
          <p:cNvPr id="112" name="Graphic 111" descr="Toy Train with solid fill">
            <a:extLst>
              <a:ext uri="{FF2B5EF4-FFF2-40B4-BE49-F238E27FC236}">
                <a16:creationId xmlns:a16="http://schemas.microsoft.com/office/drawing/2014/main" id="{6F464A53-6C0B-0401-89A9-8DEBBF173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20878014">
            <a:off x="4475857" y="2288575"/>
            <a:ext cx="612058" cy="636456"/>
          </a:xfrm>
          <a:prstGeom prst="rect">
            <a:avLst/>
          </a:prstGeom>
        </p:spPr>
      </p:pic>
      <p:pic>
        <p:nvPicPr>
          <p:cNvPr id="113" name="Graphic 112" descr="Toy Train with solid fill">
            <a:extLst>
              <a:ext uri="{FF2B5EF4-FFF2-40B4-BE49-F238E27FC236}">
                <a16:creationId xmlns:a16="http://schemas.microsoft.com/office/drawing/2014/main" id="{D3BC9418-8D23-A69D-25F9-45D675D5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677191">
            <a:off x="6832499" y="2243695"/>
            <a:ext cx="612058" cy="636456"/>
          </a:xfrm>
          <a:prstGeom prst="rect">
            <a:avLst/>
          </a:prstGeom>
        </p:spPr>
      </p:pic>
      <p:sp>
        <p:nvSpPr>
          <p:cNvPr id="167" name="Title 16">
            <a:extLst>
              <a:ext uri="{FF2B5EF4-FFF2-40B4-BE49-F238E27FC236}">
                <a16:creationId xmlns:a16="http://schemas.microsoft.com/office/drawing/2014/main" id="{D17D754B-CFB5-1D39-0A9F-FD2193EC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96FB2653-837B-1365-1E99-1CFAAB62DDBA}"/>
              </a:ext>
            </a:extLst>
          </p:cNvPr>
          <p:cNvCxnSpPr>
            <a:cxnSpLocks/>
          </p:cNvCxnSpPr>
          <p:nvPr/>
        </p:nvCxnSpPr>
        <p:spPr>
          <a:xfrm>
            <a:off x="6139289" y="2611155"/>
            <a:ext cx="2299739" cy="428442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A50515F-8C15-DAEB-6219-A4B5EF45BAAD}"/>
              </a:ext>
            </a:extLst>
          </p:cNvPr>
          <p:cNvSpPr txBox="1"/>
          <p:nvPr/>
        </p:nvSpPr>
        <p:spPr>
          <a:xfrm>
            <a:off x="6206989" y="1946907"/>
            <a:ext cx="93397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A3FD7-1C7B-1E4C-839E-9187C8BB06DD}"/>
              </a:ext>
            </a:extLst>
          </p:cNvPr>
          <p:cNvSpPr txBox="1"/>
          <p:nvPr/>
        </p:nvSpPr>
        <p:spPr>
          <a:xfrm>
            <a:off x="4846324" y="1993475"/>
            <a:ext cx="98801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0C40B9-DECA-161F-B9C4-34337A95816F}"/>
              </a:ext>
            </a:extLst>
          </p:cNvPr>
          <p:cNvSpPr txBox="1"/>
          <p:nvPr/>
        </p:nvSpPr>
        <p:spPr>
          <a:xfrm>
            <a:off x="3359162" y="2009894"/>
            <a:ext cx="1112815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3</a:t>
            </a:r>
          </a:p>
        </p:txBody>
      </p:sp>
    </p:spTree>
    <p:extLst>
      <p:ext uri="{BB962C8B-B14F-4D97-AF65-F5344CB8AC3E}">
        <p14:creationId xmlns:p14="http://schemas.microsoft.com/office/powerpoint/2010/main" val="129593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3AD2DDD-EBA4-537E-7299-6D665A1A3C65}"/>
              </a:ext>
            </a:extLst>
          </p:cNvPr>
          <p:cNvCxnSpPr>
            <a:cxnSpLocks/>
          </p:cNvCxnSpPr>
          <p:nvPr/>
        </p:nvCxnSpPr>
        <p:spPr>
          <a:xfrm flipV="1">
            <a:off x="4938990" y="4013952"/>
            <a:ext cx="934265" cy="4049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7181EA-D164-79AC-DACD-E7548CEA9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BABDFA3-0C1E-515C-EF38-B8F282A6F576}"/>
              </a:ext>
            </a:extLst>
          </p:cNvPr>
          <p:cNvCxnSpPr>
            <a:cxnSpLocks/>
          </p:cNvCxnSpPr>
          <p:nvPr/>
        </p:nvCxnSpPr>
        <p:spPr>
          <a:xfrm flipV="1">
            <a:off x="3866136" y="2622103"/>
            <a:ext cx="2038769" cy="42079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7A90D6-5544-5AD7-DE65-044EC64B5EAD}"/>
              </a:ext>
            </a:extLst>
          </p:cNvPr>
          <p:cNvCxnSpPr>
            <a:cxnSpLocks/>
          </p:cNvCxnSpPr>
          <p:nvPr/>
        </p:nvCxnSpPr>
        <p:spPr>
          <a:xfrm flipV="1">
            <a:off x="7142874" y="3118677"/>
            <a:ext cx="1230608" cy="591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59D25E-E3C9-5CFA-7205-AF1E08D1B4C5}"/>
              </a:ext>
            </a:extLst>
          </p:cNvPr>
          <p:cNvCxnSpPr>
            <a:cxnSpLocks/>
          </p:cNvCxnSpPr>
          <p:nvPr/>
        </p:nvCxnSpPr>
        <p:spPr>
          <a:xfrm>
            <a:off x="6091335" y="2699760"/>
            <a:ext cx="860764" cy="982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DEA18C-4467-BABF-3DDD-00D38EFFAA9A}"/>
              </a:ext>
            </a:extLst>
          </p:cNvPr>
          <p:cNvCxnSpPr>
            <a:cxnSpLocks/>
          </p:cNvCxnSpPr>
          <p:nvPr/>
        </p:nvCxnSpPr>
        <p:spPr>
          <a:xfrm>
            <a:off x="8701642" y="3059345"/>
            <a:ext cx="7508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920B60C-616B-FD9C-221D-CF9DA25A4953}"/>
              </a:ext>
            </a:extLst>
          </p:cNvPr>
          <p:cNvCxnSpPr>
            <a:cxnSpLocks/>
          </p:cNvCxnSpPr>
          <p:nvPr/>
        </p:nvCxnSpPr>
        <p:spPr>
          <a:xfrm flipV="1">
            <a:off x="7252435" y="3171708"/>
            <a:ext cx="1214534" cy="12033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738AE8-E665-7456-7570-D83FAC4AE5A6}"/>
              </a:ext>
            </a:extLst>
          </p:cNvPr>
          <p:cNvCxnSpPr>
            <a:cxnSpLocks/>
          </p:cNvCxnSpPr>
          <p:nvPr/>
        </p:nvCxnSpPr>
        <p:spPr>
          <a:xfrm flipH="1" flipV="1">
            <a:off x="3852078" y="3131607"/>
            <a:ext cx="1102919" cy="5958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C4A53C-D290-C5F3-C294-5082CFE9C5C7}"/>
              </a:ext>
            </a:extLst>
          </p:cNvPr>
          <p:cNvCxnSpPr>
            <a:cxnSpLocks/>
          </p:cNvCxnSpPr>
          <p:nvPr/>
        </p:nvCxnSpPr>
        <p:spPr>
          <a:xfrm>
            <a:off x="5203274" y="3814376"/>
            <a:ext cx="665003" cy="89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63">
            <a:extLst>
              <a:ext uri="{FF2B5EF4-FFF2-40B4-BE49-F238E27FC236}">
                <a16:creationId xmlns:a16="http://schemas.microsoft.com/office/drawing/2014/main" id="{99870F13-1829-7A5C-21C1-B4F01246E4B7}"/>
              </a:ext>
            </a:extLst>
          </p:cNvPr>
          <p:cNvCxnSpPr>
            <a:cxnSpLocks/>
          </p:cNvCxnSpPr>
          <p:nvPr/>
        </p:nvCxnSpPr>
        <p:spPr>
          <a:xfrm>
            <a:off x="8701642" y="3008738"/>
            <a:ext cx="750580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DFF6A0-709A-858A-C280-5BB4B505BDF0}"/>
              </a:ext>
            </a:extLst>
          </p:cNvPr>
          <p:cNvCxnSpPr>
            <a:cxnSpLocks/>
          </p:cNvCxnSpPr>
          <p:nvPr/>
        </p:nvCxnSpPr>
        <p:spPr>
          <a:xfrm flipV="1">
            <a:off x="3866136" y="2622103"/>
            <a:ext cx="2038769" cy="420794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A7F2F4-29FD-DBAE-4549-1DE6A1FAF860}"/>
              </a:ext>
            </a:extLst>
          </p:cNvPr>
          <p:cNvCxnSpPr>
            <a:cxnSpLocks/>
          </p:cNvCxnSpPr>
          <p:nvPr/>
        </p:nvCxnSpPr>
        <p:spPr>
          <a:xfrm>
            <a:off x="6139289" y="2611312"/>
            <a:ext cx="2299739" cy="4315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4A3FC-79D6-95E6-003D-FC74823D4EE1}"/>
              </a:ext>
            </a:extLst>
          </p:cNvPr>
          <p:cNvCxnSpPr>
            <a:cxnSpLocks/>
          </p:cNvCxnSpPr>
          <p:nvPr/>
        </p:nvCxnSpPr>
        <p:spPr>
          <a:xfrm>
            <a:off x="2689328" y="2699760"/>
            <a:ext cx="925828" cy="319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98775004-CF9E-6710-DE94-4A8A9945607E}"/>
              </a:ext>
            </a:extLst>
          </p:cNvPr>
          <p:cNvSpPr/>
          <p:nvPr/>
        </p:nvSpPr>
        <p:spPr>
          <a:xfrm>
            <a:off x="8507281" y="299263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94B8B1B-41AD-B207-74E9-913A4013F3AC}"/>
              </a:ext>
            </a:extLst>
          </p:cNvPr>
          <p:cNvCxnSpPr>
            <a:cxnSpLocks/>
          </p:cNvCxnSpPr>
          <p:nvPr/>
        </p:nvCxnSpPr>
        <p:spPr>
          <a:xfrm flipV="1">
            <a:off x="6119950" y="3781151"/>
            <a:ext cx="783118" cy="125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4B87E880-256F-B984-9E18-659ABD606245}"/>
              </a:ext>
            </a:extLst>
          </p:cNvPr>
          <p:cNvSpPr/>
          <p:nvPr/>
        </p:nvSpPr>
        <p:spPr>
          <a:xfrm>
            <a:off x="5038184" y="3710562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C2F5D5-CB34-1295-2457-7B174A1A5E86}"/>
              </a:ext>
            </a:extLst>
          </p:cNvPr>
          <p:cNvCxnSpPr>
            <a:cxnSpLocks/>
          </p:cNvCxnSpPr>
          <p:nvPr/>
        </p:nvCxnSpPr>
        <p:spPr>
          <a:xfrm flipV="1">
            <a:off x="2704191" y="3130629"/>
            <a:ext cx="886404" cy="3718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35306E-6287-5896-42F2-A81961B51400}"/>
              </a:ext>
            </a:extLst>
          </p:cNvPr>
          <p:cNvCxnSpPr>
            <a:cxnSpLocks/>
          </p:cNvCxnSpPr>
          <p:nvPr/>
        </p:nvCxnSpPr>
        <p:spPr>
          <a:xfrm>
            <a:off x="3784841" y="3191005"/>
            <a:ext cx="896799" cy="11840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EF37B1C-A959-3F3C-50E7-293EA3BCB160}"/>
              </a:ext>
            </a:extLst>
          </p:cNvPr>
          <p:cNvSpPr txBox="1"/>
          <p:nvPr/>
        </p:nvSpPr>
        <p:spPr>
          <a:xfrm>
            <a:off x="2815026" y="2907910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b="1">
                <a:latin typeface="+mn-lt"/>
              </a:rPr>
              <a:t>A</a:t>
            </a:r>
            <a:endParaRPr lang="en-DE" sz="1100" b="1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2A63AA-C1EB-5FF8-27B1-3B477C111727}"/>
              </a:ext>
            </a:extLst>
          </p:cNvPr>
          <p:cNvSpPr txBox="1"/>
          <p:nvPr/>
        </p:nvSpPr>
        <p:spPr>
          <a:xfrm>
            <a:off x="8979892" y="3142936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b="1">
                <a:latin typeface="+mn-lt"/>
              </a:rPr>
              <a:t>B</a:t>
            </a:r>
            <a:endParaRPr lang="en-DE" sz="1400" b="1">
              <a:latin typeface="+mn-lt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FE048A-C222-5E41-78EE-630FE9E977D6}"/>
              </a:ext>
            </a:extLst>
          </p:cNvPr>
          <p:cNvCxnSpPr>
            <a:cxnSpLocks/>
          </p:cNvCxnSpPr>
          <p:nvPr/>
        </p:nvCxnSpPr>
        <p:spPr>
          <a:xfrm flipV="1">
            <a:off x="3784837" y="4551090"/>
            <a:ext cx="850285" cy="2888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6D1514-374B-432D-5AF4-15E55FA9F5CF}"/>
              </a:ext>
            </a:extLst>
          </p:cNvPr>
          <p:cNvCxnSpPr>
            <a:cxnSpLocks/>
          </p:cNvCxnSpPr>
          <p:nvPr/>
        </p:nvCxnSpPr>
        <p:spPr>
          <a:xfrm flipV="1">
            <a:off x="4839801" y="3917498"/>
            <a:ext cx="198384" cy="4649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941649A-E5C7-E370-1115-A4F282C3320E}"/>
              </a:ext>
            </a:extLst>
          </p:cNvPr>
          <p:cNvCxnSpPr>
            <a:cxnSpLocks/>
          </p:cNvCxnSpPr>
          <p:nvPr/>
        </p:nvCxnSpPr>
        <p:spPr>
          <a:xfrm flipV="1">
            <a:off x="4898823" y="4503486"/>
            <a:ext cx="2109616" cy="59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9BDC3B-D784-A991-ED84-F8C86BAF7D70}"/>
              </a:ext>
            </a:extLst>
          </p:cNvPr>
          <p:cNvCxnSpPr>
            <a:cxnSpLocks/>
          </p:cNvCxnSpPr>
          <p:nvPr/>
        </p:nvCxnSpPr>
        <p:spPr>
          <a:xfrm flipH="1" flipV="1">
            <a:off x="7022360" y="3886758"/>
            <a:ext cx="83195" cy="4607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6C56FC27-0816-E7AE-693A-30B7C5C52302}"/>
              </a:ext>
            </a:extLst>
          </p:cNvPr>
          <p:cNvSpPr/>
          <p:nvPr/>
        </p:nvSpPr>
        <p:spPr>
          <a:xfrm>
            <a:off x="5954150" y="2534742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330EAF1-4772-6C4D-0178-823CCBCE2190}"/>
              </a:ext>
            </a:extLst>
          </p:cNvPr>
          <p:cNvSpPr/>
          <p:nvPr/>
        </p:nvSpPr>
        <p:spPr>
          <a:xfrm>
            <a:off x="4709139" y="444040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3799AC2-861C-EE5B-6F43-D64BCCDC2203}"/>
              </a:ext>
            </a:extLst>
          </p:cNvPr>
          <p:cNvGrpSpPr/>
          <p:nvPr/>
        </p:nvGrpSpPr>
        <p:grpSpPr>
          <a:xfrm>
            <a:off x="5923171" y="3850787"/>
            <a:ext cx="1282347" cy="722416"/>
            <a:chOff x="4503293" y="4189137"/>
            <a:chExt cx="1009536" cy="587019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2758500-DE54-FD55-8182-B59EA31D7D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558" y="4320579"/>
              <a:ext cx="784297" cy="3302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993FC83-D998-0382-DF40-293CB0B74062}"/>
                </a:ext>
              </a:extLst>
            </p:cNvPr>
            <p:cNvSpPr/>
            <p:nvPr/>
          </p:nvSpPr>
          <p:spPr>
            <a:xfrm>
              <a:off x="4503293" y="41891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FDF8B09-92EF-DA7B-C494-BC71DE235255}"/>
                </a:ext>
              </a:extLst>
            </p:cNvPr>
            <p:cNvSpPr/>
            <p:nvPr/>
          </p:nvSpPr>
          <p:spPr>
            <a:xfrm>
              <a:off x="5404829" y="466773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199E17F-548C-E191-7B3D-9B9E4FEF4578}"/>
              </a:ext>
            </a:extLst>
          </p:cNvPr>
          <p:cNvCxnSpPr>
            <a:cxnSpLocks/>
          </p:cNvCxnSpPr>
          <p:nvPr/>
        </p:nvCxnSpPr>
        <p:spPr>
          <a:xfrm>
            <a:off x="7242623" y="4561807"/>
            <a:ext cx="905174" cy="331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6F9FA8A5-C034-4D7A-B7C8-59605A7ADDB8}"/>
              </a:ext>
            </a:extLst>
          </p:cNvPr>
          <p:cNvSpPr/>
          <p:nvPr/>
        </p:nvSpPr>
        <p:spPr>
          <a:xfrm>
            <a:off x="3651005" y="3008738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ACF4FA7-8CC1-A321-239A-C22FADE56D2D}"/>
              </a:ext>
            </a:extLst>
          </p:cNvPr>
          <p:cNvSpPr/>
          <p:nvPr/>
        </p:nvSpPr>
        <p:spPr>
          <a:xfrm>
            <a:off x="6952099" y="369661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Oval 64">
            <a:extLst>
              <a:ext uri="{FF2B5EF4-FFF2-40B4-BE49-F238E27FC236}">
                <a16:creationId xmlns:a16="http://schemas.microsoft.com/office/drawing/2014/main" id="{6465C960-53B2-AB78-0368-47ACB7B144EC}"/>
              </a:ext>
            </a:extLst>
          </p:cNvPr>
          <p:cNvSpPr/>
          <p:nvPr/>
        </p:nvSpPr>
        <p:spPr>
          <a:xfrm>
            <a:off x="2526885" y="262304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7" name="Oval 64">
            <a:extLst>
              <a:ext uri="{FF2B5EF4-FFF2-40B4-BE49-F238E27FC236}">
                <a16:creationId xmlns:a16="http://schemas.microsoft.com/office/drawing/2014/main" id="{A22558F8-0D36-F96D-6EF7-7A99E6F887A8}"/>
              </a:ext>
            </a:extLst>
          </p:cNvPr>
          <p:cNvSpPr/>
          <p:nvPr/>
        </p:nvSpPr>
        <p:spPr>
          <a:xfrm>
            <a:off x="2539493" y="349912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8" name="Oval 64">
            <a:extLst>
              <a:ext uri="{FF2B5EF4-FFF2-40B4-BE49-F238E27FC236}">
                <a16:creationId xmlns:a16="http://schemas.microsoft.com/office/drawing/2014/main" id="{604E243C-E558-9530-6A5C-361BC3FDA828}"/>
              </a:ext>
            </a:extLst>
          </p:cNvPr>
          <p:cNvSpPr/>
          <p:nvPr/>
        </p:nvSpPr>
        <p:spPr>
          <a:xfrm>
            <a:off x="3590592" y="482622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9" name="Oval 64">
            <a:extLst>
              <a:ext uri="{FF2B5EF4-FFF2-40B4-BE49-F238E27FC236}">
                <a16:creationId xmlns:a16="http://schemas.microsoft.com/office/drawing/2014/main" id="{75259AB8-4242-40BA-CC84-7D211884C79A}"/>
              </a:ext>
            </a:extLst>
          </p:cNvPr>
          <p:cNvSpPr/>
          <p:nvPr/>
        </p:nvSpPr>
        <p:spPr>
          <a:xfrm>
            <a:off x="8193771" y="4860675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80" name="Oval 64">
            <a:extLst>
              <a:ext uri="{FF2B5EF4-FFF2-40B4-BE49-F238E27FC236}">
                <a16:creationId xmlns:a16="http://schemas.microsoft.com/office/drawing/2014/main" id="{090D6FA2-C047-3709-BF58-3EC9661D83E8}"/>
              </a:ext>
            </a:extLst>
          </p:cNvPr>
          <p:cNvSpPr/>
          <p:nvPr/>
        </p:nvSpPr>
        <p:spPr>
          <a:xfrm>
            <a:off x="9527930" y="2985389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81" name="Straight Connector 63">
            <a:extLst>
              <a:ext uri="{FF2B5EF4-FFF2-40B4-BE49-F238E27FC236}">
                <a16:creationId xmlns:a16="http://schemas.microsoft.com/office/drawing/2014/main" id="{B8D1D3FF-8805-3E01-1373-6B0C8C115A92}"/>
              </a:ext>
            </a:extLst>
          </p:cNvPr>
          <p:cNvCxnSpPr>
            <a:cxnSpLocks/>
          </p:cNvCxnSpPr>
          <p:nvPr/>
        </p:nvCxnSpPr>
        <p:spPr>
          <a:xfrm>
            <a:off x="2713315" y="2645955"/>
            <a:ext cx="918438" cy="328667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Graphic 81" descr="Toy Train with solid fill">
            <a:extLst>
              <a:ext uri="{FF2B5EF4-FFF2-40B4-BE49-F238E27FC236}">
                <a16:creationId xmlns:a16="http://schemas.microsoft.com/office/drawing/2014/main" id="{D5A12AA0-A0E6-E375-273C-1EAAC2BA53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139651">
            <a:off x="2958706" y="2296376"/>
            <a:ext cx="612059" cy="636456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D113059-6361-6DCB-4BB8-A83885328BBD}"/>
              </a:ext>
            </a:extLst>
          </p:cNvPr>
          <p:cNvSpPr txBox="1"/>
          <p:nvPr/>
        </p:nvSpPr>
        <p:spPr>
          <a:xfrm>
            <a:off x="4209187" y="4716881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b="1">
                <a:latin typeface="+mn-lt"/>
              </a:rPr>
              <a:t>C</a:t>
            </a:r>
            <a:endParaRPr lang="en-DE" sz="1100" b="1">
              <a:latin typeface="+mn-lt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D4DB321-DBFE-593A-7308-94AAA24B741F}"/>
              </a:ext>
            </a:extLst>
          </p:cNvPr>
          <p:cNvSpPr txBox="1"/>
          <p:nvPr/>
        </p:nvSpPr>
        <p:spPr>
          <a:xfrm>
            <a:off x="7460442" y="4716881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b="1">
                <a:latin typeface="+mn-lt"/>
              </a:rPr>
              <a:t>D</a:t>
            </a:r>
            <a:endParaRPr lang="en-DE" sz="1100" b="1">
              <a:latin typeface="+mn-lt"/>
            </a:endParaRPr>
          </a:p>
        </p:txBody>
      </p:sp>
      <p:pic>
        <p:nvPicPr>
          <p:cNvPr id="112" name="Graphic 111" descr="Toy Train with solid fill">
            <a:extLst>
              <a:ext uri="{FF2B5EF4-FFF2-40B4-BE49-F238E27FC236}">
                <a16:creationId xmlns:a16="http://schemas.microsoft.com/office/drawing/2014/main" id="{6F464A53-6C0B-0401-89A9-8DEBBF173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20878014">
            <a:off x="4475857" y="2288575"/>
            <a:ext cx="612058" cy="636456"/>
          </a:xfrm>
          <a:prstGeom prst="rect">
            <a:avLst/>
          </a:prstGeom>
        </p:spPr>
      </p:pic>
      <p:pic>
        <p:nvPicPr>
          <p:cNvPr id="113" name="Graphic 112" descr="Toy Train with solid fill">
            <a:extLst>
              <a:ext uri="{FF2B5EF4-FFF2-40B4-BE49-F238E27FC236}">
                <a16:creationId xmlns:a16="http://schemas.microsoft.com/office/drawing/2014/main" id="{D3BC9418-8D23-A69D-25F9-45D675D544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677191">
            <a:off x="6832499" y="2243695"/>
            <a:ext cx="612058" cy="636456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8B5F9BA2-D01A-BD07-6A7D-F4F0BA1C8D2A}"/>
              </a:ext>
            </a:extLst>
          </p:cNvPr>
          <p:cNvSpPr txBox="1"/>
          <p:nvPr/>
        </p:nvSpPr>
        <p:spPr>
          <a:xfrm>
            <a:off x="6206989" y="1946907"/>
            <a:ext cx="93397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6C09310-1CE9-6B74-A125-BC8C132845D8}"/>
              </a:ext>
            </a:extLst>
          </p:cNvPr>
          <p:cNvSpPr txBox="1"/>
          <p:nvPr/>
        </p:nvSpPr>
        <p:spPr>
          <a:xfrm>
            <a:off x="4846324" y="1993475"/>
            <a:ext cx="98801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2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E0B0D3C-3973-524F-EDA7-B7C84E5AA59B}"/>
              </a:ext>
            </a:extLst>
          </p:cNvPr>
          <p:cNvSpPr txBox="1"/>
          <p:nvPr/>
        </p:nvSpPr>
        <p:spPr>
          <a:xfrm>
            <a:off x="3359162" y="2009894"/>
            <a:ext cx="1112815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3</a:t>
            </a:r>
          </a:p>
        </p:txBody>
      </p:sp>
      <p:sp>
        <p:nvSpPr>
          <p:cNvPr id="167" name="Title 16">
            <a:extLst>
              <a:ext uri="{FF2B5EF4-FFF2-40B4-BE49-F238E27FC236}">
                <a16:creationId xmlns:a16="http://schemas.microsoft.com/office/drawing/2014/main" id="{D17D754B-CFB5-1D39-0A9F-FD2193EC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168" name="Rounded Rectangle 14">
            <a:extLst>
              <a:ext uri="{FF2B5EF4-FFF2-40B4-BE49-F238E27FC236}">
                <a16:creationId xmlns:a16="http://schemas.microsoft.com/office/drawing/2014/main" id="{F4EEA623-A13E-6FDF-01C5-AD9441138E1B}"/>
              </a:ext>
            </a:extLst>
          </p:cNvPr>
          <p:cNvSpPr/>
          <p:nvPr/>
        </p:nvSpPr>
        <p:spPr>
          <a:xfrm>
            <a:off x="2490782" y="5345595"/>
            <a:ext cx="6864777" cy="83495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en-DE" sz="2000">
                <a:solidFill>
                  <a:schemeClr val="tx1"/>
                </a:solidFill>
              </a:rPr>
              <a:t>What should Trains 2 and 3 do to minimize overall delay?</a:t>
            </a:r>
          </a:p>
        </p:txBody>
      </p:sp>
      <p:pic>
        <p:nvPicPr>
          <p:cNvPr id="169" name="Graphic 168" descr="Cow with solid fill">
            <a:extLst>
              <a:ext uri="{FF2B5EF4-FFF2-40B4-BE49-F238E27FC236}">
                <a16:creationId xmlns:a16="http://schemas.microsoft.com/office/drawing/2014/main" id="{03248FD5-3629-C26F-C08B-D307D31531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657924" flipH="1">
            <a:off x="7399033" y="2236250"/>
            <a:ext cx="833673" cy="80769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96FB2653-837B-1365-1E99-1CFAAB62DDBA}"/>
              </a:ext>
            </a:extLst>
          </p:cNvPr>
          <p:cNvCxnSpPr>
            <a:cxnSpLocks/>
          </p:cNvCxnSpPr>
          <p:nvPr/>
        </p:nvCxnSpPr>
        <p:spPr>
          <a:xfrm>
            <a:off x="6139289" y="2611155"/>
            <a:ext cx="2299739" cy="428442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DBE358-AF59-2A75-2A51-342FF82F6DC5}"/>
                  </a:ext>
                </a:extLst>
              </p:cNvPr>
              <p:cNvSpPr txBox="1"/>
              <p:nvPr/>
            </p:nvSpPr>
            <p:spPr>
              <a:xfrm>
                <a:off x="7213469" y="1884752"/>
                <a:ext cx="2089364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000" b="1"/>
                        <m:t>Delay</m:t>
                      </m:r>
                      <m:r>
                        <a:rPr lang="de-DE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i="0" smtClean="0">
                          <a:latin typeface="+mn-lt"/>
                        </a:rPr>
                        <m:t>= 20 </m:t>
                      </m:r>
                      <m:r>
                        <m:rPr>
                          <m:nor/>
                        </m:rPr>
                        <a:rPr lang="de-DE" sz="2000" b="0" i="0" smtClean="0">
                          <a:latin typeface="+mn-lt"/>
                        </a:rPr>
                        <m:t>min</m:t>
                      </m:r>
                    </m:oMath>
                  </m:oMathPara>
                </a14:m>
                <a:endParaRPr lang="en-DE" sz="2000">
                  <a:latin typeface="+mn-lt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DBE358-AF59-2A75-2A51-342FF82F6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69" y="1884752"/>
                <a:ext cx="2089364" cy="350865"/>
              </a:xfrm>
              <a:prstGeom prst="rect">
                <a:avLst/>
              </a:prstGeom>
              <a:blipFill>
                <a:blip r:embed="rId9"/>
                <a:stretch>
                  <a:fillRect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4721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82C63DA-FD72-7517-D148-FC8CCD5C2519}"/>
              </a:ext>
            </a:extLst>
          </p:cNvPr>
          <p:cNvCxnSpPr>
            <a:cxnSpLocks/>
          </p:cNvCxnSpPr>
          <p:nvPr/>
        </p:nvCxnSpPr>
        <p:spPr>
          <a:xfrm flipV="1">
            <a:off x="4938990" y="4013953"/>
            <a:ext cx="934265" cy="4049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920B60C-616B-FD9C-221D-CF9DA25A4953}"/>
              </a:ext>
            </a:extLst>
          </p:cNvPr>
          <p:cNvCxnSpPr>
            <a:cxnSpLocks/>
          </p:cNvCxnSpPr>
          <p:nvPr/>
        </p:nvCxnSpPr>
        <p:spPr>
          <a:xfrm flipV="1">
            <a:off x="7252435" y="3171710"/>
            <a:ext cx="1214534" cy="12033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1C4A53C-D290-C5F3-C294-5082CFE9C5C7}"/>
              </a:ext>
            </a:extLst>
          </p:cNvPr>
          <p:cNvCxnSpPr>
            <a:cxnSpLocks/>
          </p:cNvCxnSpPr>
          <p:nvPr/>
        </p:nvCxnSpPr>
        <p:spPr>
          <a:xfrm>
            <a:off x="5203274" y="3814377"/>
            <a:ext cx="665003" cy="89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8738AE8-E665-7456-7570-D83FAC4AE5A6}"/>
              </a:ext>
            </a:extLst>
          </p:cNvPr>
          <p:cNvCxnSpPr>
            <a:cxnSpLocks/>
          </p:cNvCxnSpPr>
          <p:nvPr/>
        </p:nvCxnSpPr>
        <p:spPr>
          <a:xfrm flipH="1" flipV="1">
            <a:off x="3852078" y="3131609"/>
            <a:ext cx="1102919" cy="59588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BABDFA3-0C1E-515C-EF38-B8F282A6F576}"/>
              </a:ext>
            </a:extLst>
          </p:cNvPr>
          <p:cNvCxnSpPr>
            <a:cxnSpLocks/>
          </p:cNvCxnSpPr>
          <p:nvPr/>
        </p:nvCxnSpPr>
        <p:spPr>
          <a:xfrm flipV="1">
            <a:off x="3866136" y="2622104"/>
            <a:ext cx="2038769" cy="42079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DEA18C-4467-BABF-3DDD-00D38EFFAA9A}"/>
              </a:ext>
            </a:extLst>
          </p:cNvPr>
          <p:cNvCxnSpPr>
            <a:cxnSpLocks/>
          </p:cNvCxnSpPr>
          <p:nvPr/>
        </p:nvCxnSpPr>
        <p:spPr>
          <a:xfrm>
            <a:off x="8701642" y="3059346"/>
            <a:ext cx="75085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7A90D6-5544-5AD7-DE65-044EC64B5EAD}"/>
              </a:ext>
            </a:extLst>
          </p:cNvPr>
          <p:cNvCxnSpPr>
            <a:cxnSpLocks/>
          </p:cNvCxnSpPr>
          <p:nvPr/>
        </p:nvCxnSpPr>
        <p:spPr>
          <a:xfrm flipV="1">
            <a:off x="7142874" y="3118678"/>
            <a:ext cx="1230608" cy="5918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759D25E-E3C9-5CFA-7205-AF1E08D1B4C5}"/>
              </a:ext>
            </a:extLst>
          </p:cNvPr>
          <p:cNvCxnSpPr>
            <a:cxnSpLocks/>
          </p:cNvCxnSpPr>
          <p:nvPr/>
        </p:nvCxnSpPr>
        <p:spPr>
          <a:xfrm>
            <a:off x="6091335" y="2699762"/>
            <a:ext cx="860764" cy="9828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Graphic 111" descr="Toy Train with solid fill">
            <a:extLst>
              <a:ext uri="{FF2B5EF4-FFF2-40B4-BE49-F238E27FC236}">
                <a16:creationId xmlns:a16="http://schemas.microsoft.com/office/drawing/2014/main" id="{6F464A53-6C0B-0401-89A9-8DEBBF173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20878014">
            <a:off x="4475857" y="2288576"/>
            <a:ext cx="612058" cy="63645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7181EA-D164-79AC-DACD-E7548CEA9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A65C357-0CC5-EEDF-B115-515F17DE8825}"/>
              </a:ext>
            </a:extLst>
          </p:cNvPr>
          <p:cNvCxnSpPr>
            <a:cxnSpLocks/>
          </p:cNvCxnSpPr>
          <p:nvPr/>
        </p:nvCxnSpPr>
        <p:spPr>
          <a:xfrm>
            <a:off x="6045045" y="4047745"/>
            <a:ext cx="996293" cy="406364"/>
          </a:xfrm>
          <a:prstGeom prst="line">
            <a:avLst/>
          </a:prstGeom>
          <a:ln w="57150">
            <a:solidFill>
              <a:srgbClr val="7FD7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68">
            <a:extLst>
              <a:ext uri="{FF2B5EF4-FFF2-40B4-BE49-F238E27FC236}">
                <a16:creationId xmlns:a16="http://schemas.microsoft.com/office/drawing/2014/main" id="{33E26312-AC1A-73D1-3347-61CC3FA98054}"/>
              </a:ext>
            </a:extLst>
          </p:cNvPr>
          <p:cNvCxnSpPr>
            <a:cxnSpLocks/>
          </p:cNvCxnSpPr>
          <p:nvPr/>
        </p:nvCxnSpPr>
        <p:spPr>
          <a:xfrm flipV="1">
            <a:off x="4935398" y="4011940"/>
            <a:ext cx="941456" cy="407570"/>
          </a:xfrm>
          <a:prstGeom prst="line">
            <a:avLst/>
          </a:prstGeom>
          <a:ln w="57150">
            <a:solidFill>
              <a:srgbClr val="00B05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69">
            <a:extLst>
              <a:ext uri="{FF2B5EF4-FFF2-40B4-BE49-F238E27FC236}">
                <a16:creationId xmlns:a16="http://schemas.microsoft.com/office/drawing/2014/main" id="{0832299A-080B-F156-27A0-5F4CE5AC4F22}"/>
              </a:ext>
            </a:extLst>
          </p:cNvPr>
          <p:cNvCxnSpPr>
            <a:cxnSpLocks/>
          </p:cNvCxnSpPr>
          <p:nvPr/>
        </p:nvCxnSpPr>
        <p:spPr>
          <a:xfrm>
            <a:off x="8701642" y="3105466"/>
            <a:ext cx="750580" cy="0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63">
            <a:extLst>
              <a:ext uri="{FF2B5EF4-FFF2-40B4-BE49-F238E27FC236}">
                <a16:creationId xmlns:a16="http://schemas.microsoft.com/office/drawing/2014/main" id="{99870F13-1829-7A5C-21C1-B4F01246E4B7}"/>
              </a:ext>
            </a:extLst>
          </p:cNvPr>
          <p:cNvCxnSpPr>
            <a:cxnSpLocks/>
          </p:cNvCxnSpPr>
          <p:nvPr/>
        </p:nvCxnSpPr>
        <p:spPr>
          <a:xfrm>
            <a:off x="8701642" y="3008739"/>
            <a:ext cx="750580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E0959D9-ACF5-BA97-4EAC-79B2F98C0F88}"/>
              </a:ext>
            </a:extLst>
          </p:cNvPr>
          <p:cNvCxnSpPr>
            <a:cxnSpLocks/>
          </p:cNvCxnSpPr>
          <p:nvPr/>
        </p:nvCxnSpPr>
        <p:spPr>
          <a:xfrm>
            <a:off x="3852078" y="3135240"/>
            <a:ext cx="1102919" cy="592248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7EF5FFF-ACCD-CCAB-4123-7AAB00412554}"/>
              </a:ext>
            </a:extLst>
          </p:cNvPr>
          <p:cNvCxnSpPr>
            <a:cxnSpLocks/>
          </p:cNvCxnSpPr>
          <p:nvPr/>
        </p:nvCxnSpPr>
        <p:spPr>
          <a:xfrm flipH="1" flipV="1">
            <a:off x="5203274" y="3814377"/>
            <a:ext cx="665003" cy="89146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D0B3C1-65EC-7142-19BD-82C1F6F90A6F}"/>
              </a:ext>
            </a:extLst>
          </p:cNvPr>
          <p:cNvCxnSpPr>
            <a:cxnSpLocks/>
          </p:cNvCxnSpPr>
          <p:nvPr/>
        </p:nvCxnSpPr>
        <p:spPr>
          <a:xfrm flipV="1">
            <a:off x="7140155" y="3113841"/>
            <a:ext cx="1251276" cy="605639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50451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2036CA-8DD7-E7EF-BEE3-5FC1E8613A53}"/>
              </a:ext>
            </a:extLst>
          </p:cNvPr>
          <p:cNvCxnSpPr>
            <a:cxnSpLocks/>
          </p:cNvCxnSpPr>
          <p:nvPr/>
        </p:nvCxnSpPr>
        <p:spPr>
          <a:xfrm>
            <a:off x="6092727" y="2699762"/>
            <a:ext cx="859372" cy="982826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64CCCEF-B624-C988-0318-5840CF7B5F1B}"/>
              </a:ext>
            </a:extLst>
          </p:cNvPr>
          <p:cNvCxnSpPr>
            <a:cxnSpLocks/>
          </p:cNvCxnSpPr>
          <p:nvPr/>
        </p:nvCxnSpPr>
        <p:spPr>
          <a:xfrm flipV="1">
            <a:off x="7252438" y="3161451"/>
            <a:ext cx="1219020" cy="1213652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69">
            <a:extLst>
              <a:ext uri="{FF2B5EF4-FFF2-40B4-BE49-F238E27FC236}">
                <a16:creationId xmlns:a16="http://schemas.microsoft.com/office/drawing/2014/main" id="{1C7AE986-398F-7965-CD0A-B7E64D78F662}"/>
              </a:ext>
            </a:extLst>
          </p:cNvPr>
          <p:cNvCxnSpPr>
            <a:cxnSpLocks/>
          </p:cNvCxnSpPr>
          <p:nvPr/>
        </p:nvCxnSpPr>
        <p:spPr>
          <a:xfrm>
            <a:off x="2675736" y="2744514"/>
            <a:ext cx="926024" cy="316417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8DFF6A0-709A-858A-C280-5BB4B505BDF0}"/>
              </a:ext>
            </a:extLst>
          </p:cNvPr>
          <p:cNvCxnSpPr>
            <a:cxnSpLocks/>
          </p:cNvCxnSpPr>
          <p:nvPr/>
        </p:nvCxnSpPr>
        <p:spPr>
          <a:xfrm flipV="1">
            <a:off x="3866136" y="2622104"/>
            <a:ext cx="2038769" cy="420795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A7F2F4-29FD-DBAE-4549-1DE6A1FAF860}"/>
              </a:ext>
            </a:extLst>
          </p:cNvPr>
          <p:cNvCxnSpPr>
            <a:cxnSpLocks/>
          </p:cNvCxnSpPr>
          <p:nvPr/>
        </p:nvCxnSpPr>
        <p:spPr>
          <a:xfrm>
            <a:off x="6139289" y="2611313"/>
            <a:ext cx="2299739" cy="431585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864A3FC-79D6-95E6-003D-FC74823D4EE1}"/>
              </a:ext>
            </a:extLst>
          </p:cNvPr>
          <p:cNvCxnSpPr>
            <a:cxnSpLocks/>
          </p:cNvCxnSpPr>
          <p:nvPr/>
        </p:nvCxnSpPr>
        <p:spPr>
          <a:xfrm>
            <a:off x="2689328" y="2699762"/>
            <a:ext cx="925828" cy="3193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98775004-CF9E-6710-DE94-4A8A9945607E}"/>
              </a:ext>
            </a:extLst>
          </p:cNvPr>
          <p:cNvSpPr/>
          <p:nvPr/>
        </p:nvSpPr>
        <p:spPr>
          <a:xfrm>
            <a:off x="8507281" y="2992631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94B8B1B-41AD-B207-74E9-913A4013F3AC}"/>
              </a:ext>
            </a:extLst>
          </p:cNvPr>
          <p:cNvCxnSpPr>
            <a:cxnSpLocks/>
          </p:cNvCxnSpPr>
          <p:nvPr/>
        </p:nvCxnSpPr>
        <p:spPr>
          <a:xfrm flipV="1">
            <a:off x="6119950" y="3781152"/>
            <a:ext cx="783118" cy="1256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4B87E880-256F-B984-9E18-659ABD606245}"/>
              </a:ext>
            </a:extLst>
          </p:cNvPr>
          <p:cNvSpPr/>
          <p:nvPr/>
        </p:nvSpPr>
        <p:spPr>
          <a:xfrm>
            <a:off x="5038184" y="3710563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1C2F5D5-CB34-1295-2457-7B174A1A5E86}"/>
              </a:ext>
            </a:extLst>
          </p:cNvPr>
          <p:cNvCxnSpPr>
            <a:cxnSpLocks/>
          </p:cNvCxnSpPr>
          <p:nvPr/>
        </p:nvCxnSpPr>
        <p:spPr>
          <a:xfrm flipV="1">
            <a:off x="2704191" y="3130630"/>
            <a:ext cx="886404" cy="37184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35306E-6287-5896-42F2-A81961B51400}"/>
              </a:ext>
            </a:extLst>
          </p:cNvPr>
          <p:cNvCxnSpPr>
            <a:cxnSpLocks/>
          </p:cNvCxnSpPr>
          <p:nvPr/>
        </p:nvCxnSpPr>
        <p:spPr>
          <a:xfrm>
            <a:off x="3784841" y="3191006"/>
            <a:ext cx="896799" cy="11840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EF37B1C-A959-3F3C-50E7-293EA3BCB160}"/>
              </a:ext>
            </a:extLst>
          </p:cNvPr>
          <p:cNvSpPr txBox="1"/>
          <p:nvPr/>
        </p:nvSpPr>
        <p:spPr>
          <a:xfrm>
            <a:off x="2815026" y="2907912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b="1">
                <a:latin typeface="+mn-lt"/>
              </a:rPr>
              <a:t>A</a:t>
            </a:r>
            <a:endParaRPr lang="en-DE" sz="1100" b="1">
              <a:latin typeface="+mn-lt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2A63AA-C1EB-5FF8-27B1-3B477C111727}"/>
              </a:ext>
            </a:extLst>
          </p:cNvPr>
          <p:cNvSpPr txBox="1"/>
          <p:nvPr/>
        </p:nvSpPr>
        <p:spPr>
          <a:xfrm>
            <a:off x="8979892" y="3142937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b="1">
                <a:latin typeface="+mn-lt"/>
              </a:rPr>
              <a:t>B</a:t>
            </a:r>
            <a:endParaRPr lang="en-DE" sz="1400" b="1">
              <a:latin typeface="+mn-lt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6FE048A-C222-5E41-78EE-630FE9E977D6}"/>
              </a:ext>
            </a:extLst>
          </p:cNvPr>
          <p:cNvCxnSpPr>
            <a:cxnSpLocks/>
          </p:cNvCxnSpPr>
          <p:nvPr/>
        </p:nvCxnSpPr>
        <p:spPr>
          <a:xfrm flipV="1">
            <a:off x="3784837" y="4551092"/>
            <a:ext cx="850285" cy="2888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A6D1514-374B-432D-5AF4-15E55FA9F5CF}"/>
              </a:ext>
            </a:extLst>
          </p:cNvPr>
          <p:cNvCxnSpPr>
            <a:cxnSpLocks/>
          </p:cNvCxnSpPr>
          <p:nvPr/>
        </p:nvCxnSpPr>
        <p:spPr>
          <a:xfrm flipV="1">
            <a:off x="4839801" y="3917500"/>
            <a:ext cx="198384" cy="46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941649A-E5C7-E370-1115-A4F282C3320E}"/>
              </a:ext>
            </a:extLst>
          </p:cNvPr>
          <p:cNvCxnSpPr>
            <a:cxnSpLocks/>
          </p:cNvCxnSpPr>
          <p:nvPr/>
        </p:nvCxnSpPr>
        <p:spPr>
          <a:xfrm flipV="1">
            <a:off x="4898823" y="4503487"/>
            <a:ext cx="2109616" cy="59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9BDC3B-D784-A991-ED84-F8C86BAF7D70}"/>
              </a:ext>
            </a:extLst>
          </p:cNvPr>
          <p:cNvCxnSpPr>
            <a:cxnSpLocks/>
          </p:cNvCxnSpPr>
          <p:nvPr/>
        </p:nvCxnSpPr>
        <p:spPr>
          <a:xfrm flipH="1" flipV="1">
            <a:off x="7022360" y="3886759"/>
            <a:ext cx="83195" cy="4607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6C56FC27-0816-E7AE-693A-30B7C5C52302}"/>
              </a:ext>
            </a:extLst>
          </p:cNvPr>
          <p:cNvSpPr/>
          <p:nvPr/>
        </p:nvSpPr>
        <p:spPr>
          <a:xfrm>
            <a:off x="5954150" y="2534743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330EAF1-4772-6C4D-0178-823CCBCE2190}"/>
              </a:ext>
            </a:extLst>
          </p:cNvPr>
          <p:cNvSpPr/>
          <p:nvPr/>
        </p:nvSpPr>
        <p:spPr>
          <a:xfrm>
            <a:off x="4709139" y="4440402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F92B758-AD74-BFDA-425B-57B8F30EC48A}"/>
              </a:ext>
            </a:extLst>
          </p:cNvPr>
          <p:cNvCxnSpPr>
            <a:cxnSpLocks/>
          </p:cNvCxnSpPr>
          <p:nvPr/>
        </p:nvCxnSpPr>
        <p:spPr>
          <a:xfrm>
            <a:off x="6082267" y="3975100"/>
            <a:ext cx="996293" cy="406364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32758500-DE54-FD55-8182-B59EA31D7DE9}"/>
              </a:ext>
            </a:extLst>
          </p:cNvPr>
          <p:cNvCxnSpPr>
            <a:cxnSpLocks/>
          </p:cNvCxnSpPr>
          <p:nvPr/>
        </p:nvCxnSpPr>
        <p:spPr>
          <a:xfrm flipH="1" flipV="1">
            <a:off x="6063233" y="4012549"/>
            <a:ext cx="996241" cy="4063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3993FC83-D998-0382-DF40-293CB0B74062}"/>
              </a:ext>
            </a:extLst>
          </p:cNvPr>
          <p:cNvSpPr/>
          <p:nvPr/>
        </p:nvSpPr>
        <p:spPr>
          <a:xfrm>
            <a:off x="5923171" y="3850789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FDF8B09-92EF-DA7B-C494-BC71DE235255}"/>
              </a:ext>
            </a:extLst>
          </p:cNvPr>
          <p:cNvSpPr/>
          <p:nvPr/>
        </p:nvSpPr>
        <p:spPr>
          <a:xfrm>
            <a:off x="7068333" y="4439774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C199E17F-548C-E191-7B3D-9B9E4FEF4578}"/>
              </a:ext>
            </a:extLst>
          </p:cNvPr>
          <p:cNvCxnSpPr>
            <a:cxnSpLocks/>
          </p:cNvCxnSpPr>
          <p:nvPr/>
        </p:nvCxnSpPr>
        <p:spPr>
          <a:xfrm>
            <a:off x="7242623" y="4561809"/>
            <a:ext cx="905174" cy="3311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6F9FA8A5-C034-4D7A-B7C8-59605A7ADDB8}"/>
              </a:ext>
            </a:extLst>
          </p:cNvPr>
          <p:cNvSpPr/>
          <p:nvPr/>
        </p:nvSpPr>
        <p:spPr>
          <a:xfrm>
            <a:off x="3651005" y="3008739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ACF4FA7-8CC1-A321-239A-C22FADE56D2D}"/>
              </a:ext>
            </a:extLst>
          </p:cNvPr>
          <p:cNvSpPr/>
          <p:nvPr/>
        </p:nvSpPr>
        <p:spPr>
          <a:xfrm>
            <a:off x="6952099" y="3696619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Oval 64">
            <a:extLst>
              <a:ext uri="{FF2B5EF4-FFF2-40B4-BE49-F238E27FC236}">
                <a16:creationId xmlns:a16="http://schemas.microsoft.com/office/drawing/2014/main" id="{6465C960-53B2-AB78-0368-47ACB7B144EC}"/>
              </a:ext>
            </a:extLst>
          </p:cNvPr>
          <p:cNvSpPr/>
          <p:nvPr/>
        </p:nvSpPr>
        <p:spPr>
          <a:xfrm>
            <a:off x="2526885" y="2623041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7" name="Oval 64">
            <a:extLst>
              <a:ext uri="{FF2B5EF4-FFF2-40B4-BE49-F238E27FC236}">
                <a16:creationId xmlns:a16="http://schemas.microsoft.com/office/drawing/2014/main" id="{A22558F8-0D36-F96D-6EF7-7A99E6F887A8}"/>
              </a:ext>
            </a:extLst>
          </p:cNvPr>
          <p:cNvSpPr/>
          <p:nvPr/>
        </p:nvSpPr>
        <p:spPr>
          <a:xfrm>
            <a:off x="2539493" y="3499128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8" name="Oval 64">
            <a:extLst>
              <a:ext uri="{FF2B5EF4-FFF2-40B4-BE49-F238E27FC236}">
                <a16:creationId xmlns:a16="http://schemas.microsoft.com/office/drawing/2014/main" id="{604E243C-E558-9530-6A5C-361BC3FDA828}"/>
              </a:ext>
            </a:extLst>
          </p:cNvPr>
          <p:cNvSpPr/>
          <p:nvPr/>
        </p:nvSpPr>
        <p:spPr>
          <a:xfrm>
            <a:off x="3590592" y="4826229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9" name="Oval 64">
            <a:extLst>
              <a:ext uri="{FF2B5EF4-FFF2-40B4-BE49-F238E27FC236}">
                <a16:creationId xmlns:a16="http://schemas.microsoft.com/office/drawing/2014/main" id="{75259AB8-4242-40BA-CC84-7D211884C79A}"/>
              </a:ext>
            </a:extLst>
          </p:cNvPr>
          <p:cNvSpPr/>
          <p:nvPr/>
        </p:nvSpPr>
        <p:spPr>
          <a:xfrm>
            <a:off x="8193771" y="4860677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80" name="Oval 64">
            <a:extLst>
              <a:ext uri="{FF2B5EF4-FFF2-40B4-BE49-F238E27FC236}">
                <a16:creationId xmlns:a16="http://schemas.microsoft.com/office/drawing/2014/main" id="{090D6FA2-C047-3709-BF58-3EC9661D83E8}"/>
              </a:ext>
            </a:extLst>
          </p:cNvPr>
          <p:cNvSpPr/>
          <p:nvPr/>
        </p:nvSpPr>
        <p:spPr>
          <a:xfrm>
            <a:off x="9527930" y="2985390"/>
            <a:ext cx="137185" cy="13343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pic>
        <p:nvPicPr>
          <p:cNvPr id="82" name="Graphic 81" descr="Toy Train with solid fill">
            <a:extLst>
              <a:ext uri="{FF2B5EF4-FFF2-40B4-BE49-F238E27FC236}">
                <a16:creationId xmlns:a16="http://schemas.microsoft.com/office/drawing/2014/main" id="{D5A12AA0-A0E6-E375-273C-1EAAC2BA5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139651">
            <a:off x="2958706" y="2296377"/>
            <a:ext cx="612059" cy="636457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BD113059-6361-6DCB-4BB8-A83885328BBD}"/>
              </a:ext>
            </a:extLst>
          </p:cNvPr>
          <p:cNvSpPr txBox="1"/>
          <p:nvPr/>
        </p:nvSpPr>
        <p:spPr>
          <a:xfrm>
            <a:off x="4209187" y="4716883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b="1">
                <a:latin typeface="+mn-lt"/>
              </a:rPr>
              <a:t>C</a:t>
            </a:r>
            <a:endParaRPr lang="en-DE" sz="1100" b="1">
              <a:latin typeface="+mn-lt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D4DB321-DBFE-593A-7308-94AAA24B741F}"/>
              </a:ext>
            </a:extLst>
          </p:cNvPr>
          <p:cNvSpPr txBox="1"/>
          <p:nvPr/>
        </p:nvSpPr>
        <p:spPr>
          <a:xfrm>
            <a:off x="7460442" y="4716883"/>
            <a:ext cx="194355" cy="356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b="1">
                <a:latin typeface="+mn-lt"/>
              </a:rPr>
              <a:t>D</a:t>
            </a:r>
            <a:endParaRPr lang="en-DE" sz="1100" b="1">
              <a:latin typeface="+mn-lt"/>
            </a:endParaRPr>
          </a:p>
        </p:txBody>
      </p:sp>
      <p:cxnSp>
        <p:nvCxnSpPr>
          <p:cNvPr id="98" name="Straight Connector 68">
            <a:extLst>
              <a:ext uri="{FF2B5EF4-FFF2-40B4-BE49-F238E27FC236}">
                <a16:creationId xmlns:a16="http://schemas.microsoft.com/office/drawing/2014/main" id="{D745F65C-0DAB-1D78-E0BC-B4C24D226EB7}"/>
              </a:ext>
            </a:extLst>
          </p:cNvPr>
          <p:cNvCxnSpPr>
            <a:cxnSpLocks/>
          </p:cNvCxnSpPr>
          <p:nvPr/>
        </p:nvCxnSpPr>
        <p:spPr>
          <a:xfrm flipV="1">
            <a:off x="3767294" y="4503487"/>
            <a:ext cx="846929" cy="287351"/>
          </a:xfrm>
          <a:prstGeom prst="line">
            <a:avLst/>
          </a:prstGeom>
          <a:ln w="57150">
            <a:solidFill>
              <a:srgbClr val="00B05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Graphic 98" descr="Toy Train with solid fill">
            <a:extLst>
              <a:ext uri="{FF2B5EF4-FFF2-40B4-BE49-F238E27FC236}">
                <a16:creationId xmlns:a16="http://schemas.microsoft.com/office/drawing/2014/main" id="{C9E15297-FBC4-3B0A-54C0-4BBE2476B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20504347">
            <a:off x="3763085" y="4124562"/>
            <a:ext cx="612059" cy="636457"/>
          </a:xfrm>
          <a:prstGeom prst="rect">
            <a:avLst/>
          </a:prstGeom>
        </p:spPr>
      </p:pic>
      <p:cxnSp>
        <p:nvCxnSpPr>
          <p:cNvPr id="100" name="Straight Connector 68">
            <a:extLst>
              <a:ext uri="{FF2B5EF4-FFF2-40B4-BE49-F238E27FC236}">
                <a16:creationId xmlns:a16="http://schemas.microsoft.com/office/drawing/2014/main" id="{76754056-78AF-D51D-7949-D978A22B293A}"/>
              </a:ext>
            </a:extLst>
          </p:cNvPr>
          <p:cNvCxnSpPr>
            <a:cxnSpLocks/>
          </p:cNvCxnSpPr>
          <p:nvPr/>
        </p:nvCxnSpPr>
        <p:spPr>
          <a:xfrm>
            <a:off x="7265420" y="4515361"/>
            <a:ext cx="901067" cy="323359"/>
          </a:xfrm>
          <a:prstGeom prst="line">
            <a:avLst/>
          </a:prstGeom>
          <a:ln w="57150">
            <a:solidFill>
              <a:srgbClr val="00B05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EA1E3B7-6400-3956-D117-FFF06039521D}"/>
              </a:ext>
            </a:extLst>
          </p:cNvPr>
          <p:cNvCxnSpPr>
            <a:cxnSpLocks/>
          </p:cNvCxnSpPr>
          <p:nvPr/>
        </p:nvCxnSpPr>
        <p:spPr>
          <a:xfrm>
            <a:off x="6063182" y="4008104"/>
            <a:ext cx="996293" cy="40636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Graphic 112" descr="Toy Train with solid fill">
            <a:extLst>
              <a:ext uri="{FF2B5EF4-FFF2-40B4-BE49-F238E27FC236}">
                <a16:creationId xmlns:a16="http://schemas.microsoft.com/office/drawing/2014/main" id="{D3BC9418-8D23-A69D-25F9-45D675D544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677191">
            <a:off x="6832499" y="2243696"/>
            <a:ext cx="612058" cy="636456"/>
          </a:xfrm>
          <a:prstGeom prst="rect">
            <a:avLst/>
          </a:prstGeom>
        </p:spPr>
      </p:pic>
      <p:pic>
        <p:nvPicPr>
          <p:cNvPr id="114" name="Graphic 113" descr="Cow with solid fill">
            <a:extLst>
              <a:ext uri="{FF2B5EF4-FFF2-40B4-BE49-F238E27FC236}">
                <a16:creationId xmlns:a16="http://schemas.microsoft.com/office/drawing/2014/main" id="{5D86DF00-947B-6D0C-05D1-616367734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657924" flipH="1">
            <a:off x="7399033" y="2236251"/>
            <a:ext cx="833673" cy="807694"/>
          </a:xfrm>
          <a:prstGeom prst="rect">
            <a:avLst/>
          </a:prstGeom>
        </p:spPr>
      </p:pic>
      <p:sp>
        <p:nvSpPr>
          <p:cNvPr id="118" name="TextBox 117">
            <a:extLst>
              <a:ext uri="{FF2B5EF4-FFF2-40B4-BE49-F238E27FC236}">
                <a16:creationId xmlns:a16="http://schemas.microsoft.com/office/drawing/2014/main" id="{138E8C0B-D9C9-877F-ED74-88CBF15D1E9E}"/>
              </a:ext>
            </a:extLst>
          </p:cNvPr>
          <p:cNvSpPr txBox="1"/>
          <p:nvPr/>
        </p:nvSpPr>
        <p:spPr>
          <a:xfrm>
            <a:off x="3320754" y="3953890"/>
            <a:ext cx="699335" cy="2423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1600">
                <a:latin typeface="+mn-lt"/>
              </a:rPr>
              <a:t>Train 4</a:t>
            </a:r>
          </a:p>
        </p:txBody>
      </p:sp>
      <p:sp>
        <p:nvSpPr>
          <p:cNvPr id="167" name="Title 16">
            <a:extLst>
              <a:ext uri="{FF2B5EF4-FFF2-40B4-BE49-F238E27FC236}">
                <a16:creationId xmlns:a16="http://schemas.microsoft.com/office/drawing/2014/main" id="{D17D754B-CFB5-1D39-0A9F-FD2193EC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82C0E516-8F8C-3989-2E97-AE930101056D}"/>
              </a:ext>
            </a:extLst>
          </p:cNvPr>
          <p:cNvSpPr/>
          <p:nvPr/>
        </p:nvSpPr>
        <p:spPr>
          <a:xfrm>
            <a:off x="1180500" y="5368896"/>
            <a:ext cx="4996561" cy="94234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r>
              <a:rPr lang="en-US" sz="2000">
                <a:solidFill>
                  <a:schemeClr val="tx1"/>
                </a:solidFill>
              </a:rPr>
              <a:t>Whole network might be affected</a:t>
            </a:r>
          </a:p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r>
              <a:rPr lang="en-US" sz="2000">
                <a:solidFill>
                  <a:schemeClr val="tx1"/>
                </a:solidFill>
              </a:rPr>
              <a:t>Exponentially many routes in general</a:t>
            </a:r>
          </a:p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endParaRPr lang="en-US" sz="200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en-US" sz="2000">
                <a:solidFill>
                  <a:schemeClr val="tx1"/>
                </a:solidFill>
              </a:rPr>
              <a:t>    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19F6B1-5427-FB07-9687-5E6AF5F6FCD4}"/>
              </a:ext>
            </a:extLst>
          </p:cNvPr>
          <p:cNvSpPr txBox="1"/>
          <p:nvPr/>
        </p:nvSpPr>
        <p:spPr>
          <a:xfrm>
            <a:off x="7411014" y="5474354"/>
            <a:ext cx="2736099" cy="6920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US" sz="2000"/>
              <a:t>It can be shown that the problem is </a:t>
            </a:r>
            <a:r>
              <a:rPr lang="en-US" sz="2000" b="1"/>
              <a:t>NP-hard</a:t>
            </a:r>
            <a:endParaRPr lang="en-DE" sz="2000" b="1"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AB8889-A1E4-51B2-91FC-A8C185E07093}"/>
              </a:ext>
            </a:extLst>
          </p:cNvPr>
          <p:cNvSpPr txBox="1"/>
          <p:nvPr/>
        </p:nvSpPr>
        <p:spPr>
          <a:xfrm>
            <a:off x="5916416" y="4716883"/>
            <a:ext cx="856004" cy="321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Conflict</a:t>
            </a:r>
          </a:p>
        </p:txBody>
      </p:sp>
      <p:sp>
        <p:nvSpPr>
          <p:cNvPr id="8" name="Arrow: Right 1">
            <a:extLst>
              <a:ext uri="{FF2B5EF4-FFF2-40B4-BE49-F238E27FC236}">
                <a16:creationId xmlns:a16="http://schemas.microsoft.com/office/drawing/2014/main" id="{86765278-D766-81B4-78FD-14967863A0BD}"/>
              </a:ext>
            </a:extLst>
          </p:cNvPr>
          <p:cNvSpPr/>
          <p:nvPr/>
        </p:nvSpPr>
        <p:spPr>
          <a:xfrm rot="17563146">
            <a:off x="6296972" y="4467490"/>
            <a:ext cx="329884" cy="131655"/>
          </a:xfrm>
          <a:prstGeom prst="rightArrow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5FA0D3-56C2-697A-CE45-E9521262C946}"/>
              </a:ext>
            </a:extLst>
          </p:cNvPr>
          <p:cNvSpPr txBox="1"/>
          <p:nvPr/>
        </p:nvSpPr>
        <p:spPr>
          <a:xfrm>
            <a:off x="3359162" y="2009894"/>
            <a:ext cx="1112815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496655-D708-3A37-8984-17F509A8E96B}"/>
              </a:ext>
            </a:extLst>
          </p:cNvPr>
          <p:cNvSpPr txBox="1"/>
          <p:nvPr/>
        </p:nvSpPr>
        <p:spPr>
          <a:xfrm>
            <a:off x="4846324" y="1993475"/>
            <a:ext cx="98801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latin typeface="+mn-lt"/>
              </a:rPr>
              <a:t>Train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07C717-25C6-DBEA-4F8B-E01FF1AE8E7C}"/>
              </a:ext>
            </a:extLst>
          </p:cNvPr>
          <p:cNvSpPr txBox="1"/>
          <p:nvPr/>
        </p:nvSpPr>
        <p:spPr>
          <a:xfrm>
            <a:off x="6206989" y="1946907"/>
            <a:ext cx="93397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>
                <a:solidFill>
                  <a:schemeClr val="tx1">
                    <a:alpha val="40044"/>
                  </a:schemeClr>
                </a:solidFill>
                <a:latin typeface="+mn-lt"/>
              </a:rPr>
              <a:t>Train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63BC2D-3604-EBD2-71D4-178BD0A6C81C}"/>
                  </a:ext>
                </a:extLst>
              </p:cNvPr>
              <p:cNvSpPr txBox="1"/>
              <p:nvPr/>
            </p:nvSpPr>
            <p:spPr>
              <a:xfrm>
                <a:off x="7213469" y="1884752"/>
                <a:ext cx="2089364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000" b="1" smtClean="0">
                          <a:solidFill>
                            <a:schemeClr val="tx1">
                              <a:alpha val="39893"/>
                            </a:schemeClr>
                          </a:solidFill>
                        </a:rPr>
                        <m:t>Delay</m:t>
                      </m:r>
                      <m:r>
                        <a:rPr lang="de-DE" sz="2000" i="1">
                          <a:solidFill>
                            <a:schemeClr val="tx1">
                              <a:alpha val="39893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i="0" smtClean="0">
                          <a:solidFill>
                            <a:schemeClr val="tx1">
                              <a:alpha val="39893"/>
                            </a:schemeClr>
                          </a:solidFill>
                          <a:latin typeface="+mn-lt"/>
                        </a:rPr>
                        <m:t>= 20 </m:t>
                      </m:r>
                      <m:r>
                        <m:rPr>
                          <m:nor/>
                        </m:rPr>
                        <a:rPr lang="de-DE" sz="2000" b="0" i="0" smtClean="0">
                          <a:solidFill>
                            <a:schemeClr val="tx1">
                              <a:alpha val="39893"/>
                            </a:schemeClr>
                          </a:solidFill>
                          <a:latin typeface="+mn-lt"/>
                        </a:rPr>
                        <m:t>min</m:t>
                      </m:r>
                    </m:oMath>
                  </m:oMathPara>
                </a14:m>
                <a:endParaRPr lang="en-DE" sz="2000">
                  <a:solidFill>
                    <a:schemeClr val="tx1">
                      <a:alpha val="39893"/>
                    </a:schemeClr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63BC2D-3604-EBD2-71D4-178BD0A6C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69" y="1884752"/>
                <a:ext cx="2089364" cy="350865"/>
              </a:xfrm>
              <a:prstGeom prst="rect">
                <a:avLst/>
              </a:prstGeom>
              <a:blipFill>
                <a:blip r:embed="rId8"/>
                <a:stretch>
                  <a:fillRect b="-2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63">
            <a:extLst>
              <a:ext uri="{FF2B5EF4-FFF2-40B4-BE49-F238E27FC236}">
                <a16:creationId xmlns:a16="http://schemas.microsoft.com/office/drawing/2014/main" id="{1E04DDC5-33FC-8A3B-37BA-142EC3977782}"/>
              </a:ext>
            </a:extLst>
          </p:cNvPr>
          <p:cNvCxnSpPr>
            <a:cxnSpLocks/>
          </p:cNvCxnSpPr>
          <p:nvPr/>
        </p:nvCxnSpPr>
        <p:spPr>
          <a:xfrm>
            <a:off x="2713315" y="2645955"/>
            <a:ext cx="918438" cy="328667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96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4" grpId="0" animBg="1"/>
      <p:bldP spid="5" grpId="0"/>
      <p:bldP spid="7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1F6B9EB-77AC-7003-8303-CE044D1017C0}"/>
              </a:ext>
            </a:extLst>
          </p:cNvPr>
          <p:cNvSpPr/>
          <p:nvPr/>
        </p:nvSpPr>
        <p:spPr>
          <a:xfrm>
            <a:off x="855485" y="1536569"/>
            <a:ext cx="7239783" cy="210462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5AAF2B-2A4B-514E-EF17-834D874B8E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10990-1E70-641D-5A87-CF0F0B0B4FB3}"/>
              </a:ext>
            </a:extLst>
          </p:cNvPr>
          <p:cNvSpPr txBox="1"/>
          <p:nvPr/>
        </p:nvSpPr>
        <p:spPr>
          <a:xfrm>
            <a:off x="1028998" y="1726368"/>
            <a:ext cx="6892757" cy="1725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err="1">
                <a:latin typeface="+mn-lt"/>
              </a:rPr>
              <a:t>Additionally</a:t>
            </a:r>
            <a:r>
              <a:rPr lang="de-DE" sz="2000">
                <a:latin typeface="+mn-lt"/>
              </a:rPr>
              <a:t>, </a:t>
            </a:r>
            <a:r>
              <a:rPr lang="de-DE" sz="2000" b="1" err="1">
                <a:latin typeface="+mn-lt"/>
              </a:rPr>
              <a:t>train</a:t>
            </a:r>
            <a:r>
              <a:rPr lang="de-DE" sz="2000">
                <a:latin typeface="+mn-lt"/>
              </a:rPr>
              <a:t> </a:t>
            </a:r>
            <a:r>
              <a:rPr lang="en-DE" sz="2000" b="1">
                <a:latin typeface="+mn-lt"/>
              </a:rPr>
              <a:t>dynamics</a:t>
            </a:r>
            <a:r>
              <a:rPr lang="en-DE" sz="2000">
                <a:latin typeface="+mn-lt"/>
              </a:rPr>
              <a:t> </a:t>
            </a:r>
            <a:r>
              <a:rPr lang="de-DE" sz="2000">
                <a:latin typeface="+mn-lt"/>
              </a:rPr>
              <a:t>also </a:t>
            </a:r>
            <a:r>
              <a:rPr lang="de-DE" sz="2000" err="1">
                <a:latin typeface="+mn-lt"/>
              </a:rPr>
              <a:t>have</a:t>
            </a:r>
            <a:r>
              <a:rPr lang="en-DE" sz="2000">
                <a:latin typeface="+mn-lt"/>
              </a:rPr>
              <a:t> to be considered:</a:t>
            </a:r>
          </a:p>
          <a:p>
            <a:pPr marL="7429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2000">
                <a:latin typeface="+mn-lt"/>
              </a:rPr>
              <a:t>A</a:t>
            </a:r>
            <a:r>
              <a:rPr lang="en-DE" sz="2000">
                <a:latin typeface="+mn-lt"/>
              </a:rPr>
              <a:t>ccelerat</a:t>
            </a:r>
            <a:r>
              <a:rPr lang="de-DE" sz="2000" err="1">
                <a:latin typeface="+mn-lt"/>
              </a:rPr>
              <a:t>ion</a:t>
            </a:r>
            <a:endParaRPr lang="en-DE" sz="2000">
              <a:latin typeface="+mn-lt"/>
            </a:endParaRPr>
          </a:p>
          <a:p>
            <a:pPr marL="7429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DE" sz="2000">
                <a:latin typeface="+mn-lt"/>
              </a:rPr>
              <a:t>Braking</a:t>
            </a:r>
            <a:endParaRPr lang="de-DE" sz="2000">
              <a:latin typeface="+mn-lt"/>
            </a:endParaRPr>
          </a:p>
          <a:p>
            <a:pPr marL="7429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2000">
                <a:latin typeface="+mn-lt"/>
              </a:rPr>
              <a:t>Maximum </a:t>
            </a:r>
            <a:r>
              <a:rPr lang="de-DE" sz="2000" err="1">
                <a:latin typeface="+mn-lt"/>
              </a:rPr>
              <a:t>speed</a:t>
            </a:r>
            <a:endParaRPr lang="de-DE" sz="2000">
              <a:latin typeface="+mn-lt"/>
            </a:endParaRPr>
          </a:p>
          <a:p>
            <a:pPr marL="742950" lvl="1" indent="-28575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2000">
                <a:latin typeface="+mn-lt"/>
              </a:rPr>
              <a:t>…</a:t>
            </a:r>
            <a:endParaRPr lang="en-DE" sz="2000">
              <a:latin typeface="+mn-lt"/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F26D356-392F-DB55-B2A4-552F97B3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36" name="Footer Placeholder 4">
            <a:extLst>
              <a:ext uri="{FF2B5EF4-FFF2-40B4-BE49-F238E27FC236}">
                <a16:creationId xmlns:a16="http://schemas.microsoft.com/office/drawing/2014/main" id="{8C636123-C28C-A050-36B1-86F486117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E2C8A91-D251-A260-A9FB-FE2F76D0C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302" y="3742816"/>
            <a:ext cx="4926553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670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769856" y="1536569"/>
            <a:ext cx="10652288" cy="47769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8425542-F194-2724-14F0-423504740FED}"/>
              </a:ext>
            </a:extLst>
          </p:cNvPr>
          <p:cNvSpPr/>
          <p:nvPr/>
        </p:nvSpPr>
        <p:spPr>
          <a:xfrm>
            <a:off x="1595942" y="1640245"/>
            <a:ext cx="9000115" cy="63083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3200">
                <a:solidFill>
                  <a:schemeClr val="tx1"/>
                </a:solidFill>
              </a:rPr>
              <a:t>Optimization Problem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86517B-11C5-2C4C-2762-A63A36FBFEBE}"/>
              </a:ext>
            </a:extLst>
          </p:cNvPr>
          <p:cNvGrpSpPr/>
          <p:nvPr/>
        </p:nvGrpSpPr>
        <p:grpSpPr>
          <a:xfrm>
            <a:off x="1581339" y="2582736"/>
            <a:ext cx="2065737" cy="630834"/>
            <a:chOff x="319090" y="4963595"/>
            <a:chExt cx="2685917" cy="82022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73BB45D-ACF4-04E3-4D8C-AB8ED0426D33}"/>
                </a:ext>
              </a:extLst>
            </p:cNvPr>
            <p:cNvGrpSpPr/>
            <p:nvPr/>
          </p:nvGrpSpPr>
          <p:grpSpPr>
            <a:xfrm>
              <a:off x="319090" y="4963595"/>
              <a:ext cx="2685917" cy="820224"/>
              <a:chOff x="2006006" y="3269604"/>
              <a:chExt cx="1650409" cy="504001"/>
            </a:xfrm>
          </p:grpSpPr>
          <p:sp>
            <p:nvSpPr>
              <p:cNvPr id="60" name="Flowchart: Stored Data 92">
                <a:extLst>
                  <a:ext uri="{FF2B5EF4-FFF2-40B4-BE49-F238E27FC236}">
                    <a16:creationId xmlns:a16="http://schemas.microsoft.com/office/drawing/2014/main" id="{2B1C63F2-0B92-3CA9-C444-9A4785A6D35D}"/>
                  </a:ext>
                </a:extLst>
              </p:cNvPr>
              <p:cNvSpPr/>
              <p:nvPr/>
            </p:nvSpPr>
            <p:spPr>
              <a:xfrm flipH="1">
                <a:off x="2258001" y="3269604"/>
                <a:ext cx="1398414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EFF26DB-97CD-6F65-C40A-33451CB2CD45}"/>
                  </a:ext>
                </a:extLst>
              </p:cNvPr>
              <p:cNvSpPr txBox="1"/>
              <p:nvPr/>
            </p:nvSpPr>
            <p:spPr>
              <a:xfrm>
                <a:off x="2633153" y="3388475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Inputs</a:t>
                </a:r>
                <a:endParaRPr lang="en-DE" sz="140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03F01E3-DE5C-D81B-9705-85475FCFDF8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4B2F89-479D-E2F5-BA6C-BA1C387A170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1029511-CE6E-DA8E-F01D-5B3758E96917}"/>
              </a:ext>
            </a:extLst>
          </p:cNvPr>
          <p:cNvGrpSpPr/>
          <p:nvPr/>
        </p:nvGrpSpPr>
        <p:grpSpPr>
          <a:xfrm>
            <a:off x="1589957" y="3930744"/>
            <a:ext cx="2066670" cy="630834"/>
            <a:chOff x="319090" y="4963595"/>
            <a:chExt cx="2687129" cy="82022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126816A-715E-F78D-F416-9FDAD526469F}"/>
                </a:ext>
              </a:extLst>
            </p:cNvPr>
            <p:cNvGrpSpPr/>
            <p:nvPr/>
          </p:nvGrpSpPr>
          <p:grpSpPr>
            <a:xfrm>
              <a:off x="319090" y="4963595"/>
              <a:ext cx="2687129" cy="820224"/>
              <a:chOff x="2006006" y="3269604"/>
              <a:chExt cx="1651154" cy="504001"/>
            </a:xfrm>
          </p:grpSpPr>
          <p:sp>
            <p:nvSpPr>
              <p:cNvPr id="66" name="Flowchart: Stored Data 92">
                <a:extLst>
                  <a:ext uri="{FF2B5EF4-FFF2-40B4-BE49-F238E27FC236}">
                    <a16:creationId xmlns:a16="http://schemas.microsoft.com/office/drawing/2014/main" id="{93072F41-226F-198C-D08C-C8EDD708BA2D}"/>
                  </a:ext>
                </a:extLst>
              </p:cNvPr>
              <p:cNvSpPr/>
              <p:nvPr/>
            </p:nvSpPr>
            <p:spPr>
              <a:xfrm flipH="1">
                <a:off x="2258003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EF6325-1628-8889-AF0D-4E2C7205C498}"/>
                  </a:ext>
                </a:extLst>
              </p:cNvPr>
              <p:cNvSpPr txBox="1"/>
              <p:nvPr/>
            </p:nvSpPr>
            <p:spPr>
              <a:xfrm>
                <a:off x="2633720" y="3388317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Goal</a:t>
                </a:r>
                <a:endParaRPr lang="en-DE" sz="140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1F47D43-E3D7-A37D-627F-5D24A78EF82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439818C-128A-E266-C876-5ABEB7EE6451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360CEDE-E4A3-611D-974A-1CC6497E747E}"/>
              </a:ext>
            </a:extLst>
          </p:cNvPr>
          <p:cNvGrpSpPr/>
          <p:nvPr/>
        </p:nvGrpSpPr>
        <p:grpSpPr>
          <a:xfrm>
            <a:off x="1589959" y="5278471"/>
            <a:ext cx="2066668" cy="630834"/>
            <a:chOff x="319090" y="4963595"/>
            <a:chExt cx="2687127" cy="82022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1B35CD1-91D4-6297-5C0C-FD0A093B4F30}"/>
                </a:ext>
              </a:extLst>
            </p:cNvPr>
            <p:cNvGrpSpPr/>
            <p:nvPr/>
          </p:nvGrpSpPr>
          <p:grpSpPr>
            <a:xfrm>
              <a:off x="319090" y="4963595"/>
              <a:ext cx="2687127" cy="820224"/>
              <a:chOff x="2006006" y="3269604"/>
              <a:chExt cx="1651153" cy="504001"/>
            </a:xfrm>
          </p:grpSpPr>
          <p:sp>
            <p:nvSpPr>
              <p:cNvPr id="72" name="Flowchart: Stored Data 92">
                <a:extLst>
                  <a:ext uri="{FF2B5EF4-FFF2-40B4-BE49-F238E27FC236}">
                    <a16:creationId xmlns:a16="http://schemas.microsoft.com/office/drawing/2014/main" id="{48E52B81-5941-26F1-28DB-0AFFF41A21C2}"/>
                  </a:ext>
                </a:extLst>
              </p:cNvPr>
              <p:cNvSpPr/>
              <p:nvPr/>
            </p:nvSpPr>
            <p:spPr>
              <a:xfrm flipH="1">
                <a:off x="2258002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8F33CD9-0DA2-2703-C4F7-1649A115427D}"/>
                  </a:ext>
                </a:extLst>
              </p:cNvPr>
              <p:cNvSpPr txBox="1"/>
              <p:nvPr/>
            </p:nvSpPr>
            <p:spPr>
              <a:xfrm>
                <a:off x="2631890" y="3388317"/>
                <a:ext cx="906635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 err="1"/>
                  <a:t>Objective</a:t>
                </a:r>
                <a:endParaRPr lang="en-DE" sz="14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50CECA6-1EC6-727E-590E-FD3DE283DF33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8C0E0A-08FF-D271-0609-4CD7E0C18D4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</p:grpSp>
      <p:sp>
        <p:nvSpPr>
          <p:cNvPr id="75" name="Down Arrow 74">
            <a:extLst>
              <a:ext uri="{FF2B5EF4-FFF2-40B4-BE49-F238E27FC236}">
                <a16:creationId xmlns:a16="http://schemas.microsoft.com/office/drawing/2014/main" id="{F0A123B5-E184-EAF1-D2E5-CD7CED432D5D}"/>
              </a:ext>
            </a:extLst>
          </p:cNvPr>
          <p:cNvSpPr/>
          <p:nvPr/>
        </p:nvSpPr>
        <p:spPr>
          <a:xfrm>
            <a:off x="2561327" y="3468323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Down Arrow 75">
            <a:extLst>
              <a:ext uri="{FF2B5EF4-FFF2-40B4-BE49-F238E27FC236}">
                <a16:creationId xmlns:a16="http://schemas.microsoft.com/office/drawing/2014/main" id="{933A797A-F4F4-E57D-AF84-19376CDCC396}"/>
              </a:ext>
            </a:extLst>
          </p:cNvPr>
          <p:cNvSpPr/>
          <p:nvPr/>
        </p:nvSpPr>
        <p:spPr>
          <a:xfrm>
            <a:off x="2561327" y="4826170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327C00-AD0D-B0BD-449A-0C13D41D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6B2537-8F3A-BAC5-D9E3-B36B96A1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4230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F3F195-E47B-E9EB-5E56-E5B0AF982EEE}"/>
              </a:ext>
            </a:extLst>
          </p:cNvPr>
          <p:cNvSpPr/>
          <p:nvPr/>
        </p:nvSpPr>
        <p:spPr>
          <a:xfrm>
            <a:off x="7414197" y="2720959"/>
            <a:ext cx="3369606" cy="35925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FB0FBC7-2359-8CF9-34A0-48F2A92B420E}"/>
              </a:ext>
            </a:extLst>
          </p:cNvPr>
          <p:cNvSpPr/>
          <p:nvPr/>
        </p:nvSpPr>
        <p:spPr>
          <a:xfrm>
            <a:off x="769855" y="2720959"/>
            <a:ext cx="6183981" cy="359255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BC06D2-E511-9A04-ADE7-FDB0D1BA0FD1}"/>
              </a:ext>
            </a:extLst>
          </p:cNvPr>
          <p:cNvSpPr txBox="1"/>
          <p:nvPr/>
        </p:nvSpPr>
        <p:spPr>
          <a:xfrm>
            <a:off x="1638418" y="2960812"/>
            <a:ext cx="4233984" cy="672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r>
              <a:rPr lang="de-DE" sz="2000">
                <a:latin typeface="+mn-lt"/>
              </a:rPr>
              <a:t>R</a:t>
            </a:r>
            <a:r>
              <a:rPr lang="en-DE" sz="2000">
                <a:latin typeface="+mn-lt"/>
              </a:rPr>
              <a:t>ailway network with</a:t>
            </a:r>
            <a:r>
              <a:rPr lang="de-DE" sz="2000">
                <a:latin typeface="+mn-lt"/>
              </a:rPr>
              <a:t> initial </a:t>
            </a:r>
            <a:r>
              <a:rPr lang="de-DE" sz="2000" err="1">
                <a:latin typeface="+mn-lt"/>
              </a:rPr>
              <a:t>schedules</a:t>
            </a:r>
            <a:r>
              <a:rPr lang="de-DE" sz="2000">
                <a:latin typeface="+mn-lt"/>
              </a:rPr>
              <a:t> and </a:t>
            </a:r>
            <a:r>
              <a:rPr lang="de-DE" sz="2000" err="1">
                <a:latin typeface="+mn-lt"/>
              </a:rPr>
              <a:t>delays</a:t>
            </a:r>
            <a:endParaRPr lang="en-DE" sz="2000">
              <a:latin typeface="+mn-lt"/>
            </a:endParaRPr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3DFBCB5-1E6F-D321-A453-0346A678EDA7}"/>
              </a:ext>
            </a:extLst>
          </p:cNvPr>
          <p:cNvGrpSpPr/>
          <p:nvPr/>
        </p:nvGrpSpPr>
        <p:grpSpPr>
          <a:xfrm>
            <a:off x="7554164" y="4636716"/>
            <a:ext cx="3164262" cy="1330639"/>
            <a:chOff x="1232185" y="4491632"/>
            <a:chExt cx="2195813" cy="923388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3121E02-B0BA-F203-38F5-0B82AA4E332D}"/>
                </a:ext>
              </a:extLst>
            </p:cNvPr>
            <p:cNvCxnSpPr/>
            <p:nvPr/>
          </p:nvCxnSpPr>
          <p:spPr>
            <a:xfrm flipV="1">
              <a:off x="1636421" y="4856748"/>
              <a:ext cx="282757" cy="127739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7F72F33-C532-69E0-DD97-43D688D5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174" y="5011154"/>
              <a:ext cx="0" cy="25716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C1873A0-3CC7-B71E-A1C7-CF0577F547F9}"/>
                </a:ext>
              </a:extLst>
            </p:cNvPr>
            <p:cNvCxnSpPr>
              <a:cxnSpLocks/>
            </p:cNvCxnSpPr>
            <p:nvPr/>
          </p:nvCxnSpPr>
          <p:spPr>
            <a:xfrm>
              <a:off x="2644392" y="4871659"/>
              <a:ext cx="327775" cy="13949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Graphic 166" descr="Toy Train with solid fill">
              <a:extLst>
                <a:ext uri="{FF2B5EF4-FFF2-40B4-BE49-F238E27FC236}">
                  <a16:creationId xmlns:a16="http://schemas.microsoft.com/office/drawing/2014/main" id="{1C85AC3A-6163-7482-31F9-3B8969859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038051" y="4491632"/>
              <a:ext cx="528245" cy="5282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3DEEBF1-9561-8EAC-811F-ED64F9A36B24}"/>
                    </a:ext>
                  </a:extLst>
                </p:cNvPr>
                <p:cNvSpPr txBox="1"/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3DEEBF1-9561-8EAC-811F-ED64F9A36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69BC49E-EC2F-AA8D-91CE-7E58D3067660}"/>
                    </a:ext>
                  </a:extLst>
                </p:cNvPr>
                <p:cNvSpPr txBox="1"/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69BC49E-EC2F-AA8D-91CE-7E58D30676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EA72F5-A7A1-3E9E-B5AE-0B2598FA40B3}"/>
                </a:ext>
              </a:extLst>
            </p:cNvPr>
            <p:cNvSpPr txBox="1"/>
            <p:nvPr/>
          </p:nvSpPr>
          <p:spPr>
            <a:xfrm>
              <a:off x="3020609" y="4988614"/>
              <a:ext cx="407389" cy="17708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400">
                  <a:latin typeface="+mn-lt"/>
                </a:rPr>
                <a:t>weight</a:t>
              </a:r>
            </a:p>
          </p:txBody>
        </p:sp>
      </p:grpSp>
      <p:sp>
        <p:nvSpPr>
          <p:cNvPr id="190" name="TextBox 189">
            <a:extLst>
              <a:ext uri="{FF2B5EF4-FFF2-40B4-BE49-F238E27FC236}">
                <a16:creationId xmlns:a16="http://schemas.microsoft.com/office/drawing/2014/main" id="{8F581017-69E4-FB81-2FFD-D7546D096CFF}"/>
              </a:ext>
            </a:extLst>
          </p:cNvPr>
          <p:cNvSpPr txBox="1"/>
          <p:nvPr/>
        </p:nvSpPr>
        <p:spPr>
          <a:xfrm>
            <a:off x="7714050" y="2970693"/>
            <a:ext cx="3522993" cy="672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14000"/>
              </a:lnSpc>
              <a:buFont typeface="+mj-lt"/>
              <a:buAutoNum type="arabicPeriod" startAt="2"/>
            </a:pPr>
            <a:r>
              <a:rPr lang="en-DE" sz="2000">
                <a:latin typeface="+mn-lt"/>
              </a:rPr>
              <a:t>Parameters for</a:t>
            </a:r>
            <a:r>
              <a:rPr lang="de-DE" sz="2000">
                <a:latin typeface="+mn-lt"/>
              </a:rPr>
              <a:t> </a:t>
            </a:r>
            <a:r>
              <a:rPr lang="en-DE" sz="2000">
                <a:latin typeface="+mn-lt"/>
              </a:rPr>
              <a:t>train dynamics</a:t>
            </a:r>
          </a:p>
        </p:txBody>
      </p:sp>
      <p:sp>
        <p:nvSpPr>
          <p:cNvPr id="54" name="Title 53">
            <a:extLst>
              <a:ext uri="{FF2B5EF4-FFF2-40B4-BE49-F238E27FC236}">
                <a16:creationId xmlns:a16="http://schemas.microsoft.com/office/drawing/2014/main" id="{D35F5AC9-937D-8123-F394-C8EEA8A54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2E1408-2E2F-B12C-443D-27377A1D1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CD12715-1312-1395-3DF4-3CEFDA640DFE}"/>
              </a:ext>
            </a:extLst>
          </p:cNvPr>
          <p:cNvGrpSpPr/>
          <p:nvPr/>
        </p:nvGrpSpPr>
        <p:grpSpPr>
          <a:xfrm>
            <a:off x="1396981" y="3967917"/>
            <a:ext cx="5436695" cy="2224746"/>
            <a:chOff x="2526885" y="1808819"/>
            <a:chExt cx="7987915" cy="326872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C91D15-8E3C-6558-2977-133BE2D6B6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990" y="4013952"/>
              <a:ext cx="934265" cy="4049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FD677CB-0B09-8CAC-D11E-A3D6530C29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4A97D0E-CD1C-3249-6D42-25B4E9F6E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2874" y="3118677"/>
              <a:ext cx="1230608" cy="5918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6308C1-879B-96BA-8801-C8DA1246926B}"/>
                </a:ext>
              </a:extLst>
            </p:cNvPr>
            <p:cNvCxnSpPr>
              <a:cxnSpLocks/>
            </p:cNvCxnSpPr>
            <p:nvPr/>
          </p:nvCxnSpPr>
          <p:spPr>
            <a:xfrm>
              <a:off x="6091335" y="2699760"/>
              <a:ext cx="860764" cy="9828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BBDAD6A-1527-A639-4B5C-04AC59F7A0BB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59345"/>
              <a:ext cx="750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D8D8C24-70F2-86B4-93DE-93EF77A05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2435" y="3171708"/>
              <a:ext cx="1214534" cy="12033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C3F1AFD-31DC-5B8F-FC8D-CA4A5AA0BC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078" y="3131607"/>
              <a:ext cx="1102919" cy="5958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4FBE6BA-7465-BB7D-8DEE-D323A4FB77B4}"/>
                </a:ext>
              </a:extLst>
            </p:cNvPr>
            <p:cNvCxnSpPr>
              <a:cxnSpLocks/>
            </p:cNvCxnSpPr>
            <p:nvPr/>
          </p:nvCxnSpPr>
          <p:spPr>
            <a:xfrm>
              <a:off x="5203274" y="3814376"/>
              <a:ext cx="665003" cy="891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63">
              <a:extLst>
                <a:ext uri="{FF2B5EF4-FFF2-40B4-BE49-F238E27FC236}">
                  <a16:creationId xmlns:a16="http://schemas.microsoft.com/office/drawing/2014/main" id="{101B0AD0-21BA-0988-9226-F932C1CFAB81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08738"/>
              <a:ext cx="750580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BB58D04-0E0E-51C5-CDB0-458064BB1B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0A8C3E2-5DE0-2574-0C26-024A1C096F18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312"/>
              <a:ext cx="2299739" cy="43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54FD885-0018-F4A2-A0CA-0627297E47FF}"/>
                </a:ext>
              </a:extLst>
            </p:cNvPr>
            <p:cNvCxnSpPr>
              <a:cxnSpLocks/>
            </p:cNvCxnSpPr>
            <p:nvPr/>
          </p:nvCxnSpPr>
          <p:spPr>
            <a:xfrm>
              <a:off x="2689328" y="2699760"/>
              <a:ext cx="925828" cy="3193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EADE91A-4FDF-BCD9-5545-EA8909EA0F1E}"/>
                </a:ext>
              </a:extLst>
            </p:cNvPr>
            <p:cNvSpPr/>
            <p:nvPr/>
          </p:nvSpPr>
          <p:spPr>
            <a:xfrm>
              <a:off x="8507281" y="299263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B7969BA-46D7-CA9A-9CE7-E8F210AD95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950" y="3781151"/>
              <a:ext cx="783118" cy="1256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86543A89-6842-BCA5-DBFF-A97196362B77}"/>
                </a:ext>
              </a:extLst>
            </p:cNvPr>
            <p:cNvSpPr/>
            <p:nvPr/>
          </p:nvSpPr>
          <p:spPr>
            <a:xfrm>
              <a:off x="5038184" y="371056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60C3BF33-CD21-67EB-32C3-ABD91A22F5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191" y="3130629"/>
              <a:ext cx="886404" cy="3718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8B53783-354B-918B-C504-9EC061804EF6}"/>
                </a:ext>
              </a:extLst>
            </p:cNvPr>
            <p:cNvCxnSpPr>
              <a:cxnSpLocks/>
            </p:cNvCxnSpPr>
            <p:nvPr/>
          </p:nvCxnSpPr>
          <p:spPr>
            <a:xfrm>
              <a:off x="3784841" y="3191005"/>
              <a:ext cx="896799" cy="11840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F68840B-17AB-4DC6-AC76-308B4B55AF71}"/>
                </a:ext>
              </a:extLst>
            </p:cNvPr>
            <p:cNvSpPr txBox="1"/>
            <p:nvPr/>
          </p:nvSpPr>
          <p:spPr>
            <a:xfrm>
              <a:off x="2815026" y="2907911"/>
              <a:ext cx="194356" cy="360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400" b="1">
                  <a:latin typeface="+mn-lt"/>
                </a:rPr>
                <a:t>A</a:t>
              </a:r>
              <a:endParaRPr lang="en-DE" sz="1000" b="1">
                <a:latin typeface="+mn-lt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F090E89-E746-F2F6-869A-37AB54BA246F}"/>
                </a:ext>
              </a:extLst>
            </p:cNvPr>
            <p:cNvSpPr txBox="1"/>
            <p:nvPr/>
          </p:nvSpPr>
          <p:spPr>
            <a:xfrm>
              <a:off x="8979892" y="3142935"/>
              <a:ext cx="194356" cy="360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400" b="1">
                  <a:latin typeface="+mn-lt"/>
                </a:rPr>
                <a:t>B</a:t>
              </a:r>
              <a:endParaRPr lang="en-DE" sz="1100" b="1">
                <a:latin typeface="+mn-lt"/>
              </a:endParaRP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A50DDFA-3E8F-BA85-E653-30C39DB2FC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4837" y="4551090"/>
              <a:ext cx="850285" cy="2888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AC5F5C5-7388-10C8-B435-6FDC678228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801" y="3917498"/>
              <a:ext cx="198384" cy="464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609F6CEF-E7A4-FE3D-EA1C-1267D641E9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8823" y="4503486"/>
              <a:ext cx="2109616" cy="5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922679B-0571-9D0E-FDDC-2A7CB6EA6B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2360" y="3886758"/>
              <a:ext cx="83195" cy="4607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3CCB5E1-0FFC-6C67-5E85-0663056B2B33}"/>
                </a:ext>
              </a:extLst>
            </p:cNvPr>
            <p:cNvSpPr/>
            <p:nvPr/>
          </p:nvSpPr>
          <p:spPr>
            <a:xfrm>
              <a:off x="5954150" y="253474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675525E-FBDB-CD18-85AB-300DDD967E69}"/>
                </a:ext>
              </a:extLst>
            </p:cNvPr>
            <p:cNvSpPr/>
            <p:nvPr/>
          </p:nvSpPr>
          <p:spPr>
            <a:xfrm>
              <a:off x="4709139" y="444040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9C25DDE-9B43-7DE8-210B-EE8F54074F2A}"/>
                </a:ext>
              </a:extLst>
            </p:cNvPr>
            <p:cNvGrpSpPr/>
            <p:nvPr/>
          </p:nvGrpSpPr>
          <p:grpSpPr>
            <a:xfrm>
              <a:off x="5923199" y="3850752"/>
              <a:ext cx="1282347" cy="722415"/>
              <a:chOff x="4503293" y="4189137"/>
              <a:chExt cx="1009536" cy="587019"/>
            </a:xfrm>
          </p:grpSpPr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D61ED29-3D88-0590-4A6B-3AAB364196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13558" y="4320579"/>
                <a:ext cx="784297" cy="3302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89BD037E-7A1C-E5E2-E4DB-4FF05B65E141}"/>
                  </a:ext>
                </a:extLst>
              </p:cNvPr>
              <p:cNvSpPr/>
              <p:nvPr/>
            </p:nvSpPr>
            <p:spPr>
              <a:xfrm>
                <a:off x="4503293" y="4189137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BB890B78-D71C-D16D-D676-989765073667}"/>
                  </a:ext>
                </a:extLst>
              </p:cNvPr>
              <p:cNvSpPr/>
              <p:nvPr/>
            </p:nvSpPr>
            <p:spPr>
              <a:xfrm>
                <a:off x="5404829" y="4667732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</p:grp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DB9DB6-AE59-DE62-8195-11C35C860CAD}"/>
                </a:ext>
              </a:extLst>
            </p:cNvPr>
            <p:cNvCxnSpPr>
              <a:cxnSpLocks/>
            </p:cNvCxnSpPr>
            <p:nvPr/>
          </p:nvCxnSpPr>
          <p:spPr>
            <a:xfrm>
              <a:off x="7242623" y="4561807"/>
              <a:ext cx="905174" cy="3311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B7BA120-84E9-9365-D58B-0964612F7C2C}"/>
                </a:ext>
              </a:extLst>
            </p:cNvPr>
            <p:cNvSpPr/>
            <p:nvPr/>
          </p:nvSpPr>
          <p:spPr>
            <a:xfrm>
              <a:off x="3651005" y="3008738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3D36D75-7B29-7C9B-7FFF-616585122195}"/>
                </a:ext>
              </a:extLst>
            </p:cNvPr>
            <p:cNvSpPr/>
            <p:nvPr/>
          </p:nvSpPr>
          <p:spPr>
            <a:xfrm>
              <a:off x="6952099" y="369661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2" name="Oval 64">
              <a:extLst>
                <a:ext uri="{FF2B5EF4-FFF2-40B4-BE49-F238E27FC236}">
                  <a16:creationId xmlns:a16="http://schemas.microsoft.com/office/drawing/2014/main" id="{12ED433D-D33E-DE54-AEF4-AC0EAC466A41}"/>
                </a:ext>
              </a:extLst>
            </p:cNvPr>
            <p:cNvSpPr/>
            <p:nvPr/>
          </p:nvSpPr>
          <p:spPr>
            <a:xfrm>
              <a:off x="2526885" y="262304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3" name="Oval 64">
              <a:extLst>
                <a:ext uri="{FF2B5EF4-FFF2-40B4-BE49-F238E27FC236}">
                  <a16:creationId xmlns:a16="http://schemas.microsoft.com/office/drawing/2014/main" id="{EB374282-0481-908B-9DEA-7160CB293958}"/>
                </a:ext>
              </a:extLst>
            </p:cNvPr>
            <p:cNvSpPr/>
            <p:nvPr/>
          </p:nvSpPr>
          <p:spPr>
            <a:xfrm>
              <a:off x="2539493" y="34991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5" name="Oval 64">
              <a:extLst>
                <a:ext uri="{FF2B5EF4-FFF2-40B4-BE49-F238E27FC236}">
                  <a16:creationId xmlns:a16="http://schemas.microsoft.com/office/drawing/2014/main" id="{0F724FF3-AB0F-FA42-2376-0DD7134963EA}"/>
                </a:ext>
              </a:extLst>
            </p:cNvPr>
            <p:cNvSpPr/>
            <p:nvPr/>
          </p:nvSpPr>
          <p:spPr>
            <a:xfrm>
              <a:off x="3590592" y="48262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A956CD77-FB12-C705-8C6A-9C20C451B991}"/>
                </a:ext>
              </a:extLst>
            </p:cNvPr>
            <p:cNvSpPr/>
            <p:nvPr/>
          </p:nvSpPr>
          <p:spPr>
            <a:xfrm>
              <a:off x="8193771" y="4860675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8" name="Oval 64">
              <a:extLst>
                <a:ext uri="{FF2B5EF4-FFF2-40B4-BE49-F238E27FC236}">
                  <a16:creationId xmlns:a16="http://schemas.microsoft.com/office/drawing/2014/main" id="{DFD214B0-C021-9532-CA56-0BE6A3655499}"/>
                </a:ext>
              </a:extLst>
            </p:cNvPr>
            <p:cNvSpPr/>
            <p:nvPr/>
          </p:nvSpPr>
          <p:spPr>
            <a:xfrm>
              <a:off x="9527930" y="2985389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59" name="Straight Connector 63">
              <a:extLst>
                <a:ext uri="{FF2B5EF4-FFF2-40B4-BE49-F238E27FC236}">
                  <a16:creationId xmlns:a16="http://schemas.microsoft.com/office/drawing/2014/main" id="{B582328B-5376-5234-41F1-4CEA4765105B}"/>
                </a:ext>
              </a:extLst>
            </p:cNvPr>
            <p:cNvCxnSpPr>
              <a:cxnSpLocks/>
            </p:cNvCxnSpPr>
            <p:nvPr/>
          </p:nvCxnSpPr>
          <p:spPr>
            <a:xfrm>
              <a:off x="2713315" y="2645955"/>
              <a:ext cx="918438" cy="3286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 descr="Toy Train with solid fill">
              <a:extLst>
                <a:ext uri="{FF2B5EF4-FFF2-40B4-BE49-F238E27FC236}">
                  <a16:creationId xmlns:a16="http://schemas.microsoft.com/office/drawing/2014/main" id="{FE61C61E-663E-5B1A-9967-84A76D4DD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 rot="1139651">
              <a:off x="2958706" y="2296376"/>
              <a:ext cx="612059" cy="63645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C74EA6C-CA75-BB66-9BC4-0B83A66DB162}"/>
                </a:ext>
              </a:extLst>
            </p:cNvPr>
            <p:cNvSpPr txBox="1"/>
            <p:nvPr/>
          </p:nvSpPr>
          <p:spPr>
            <a:xfrm>
              <a:off x="4209187" y="4716882"/>
              <a:ext cx="194356" cy="360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400" b="1">
                  <a:latin typeface="+mn-lt"/>
                </a:rPr>
                <a:t>C</a:t>
              </a:r>
              <a:endParaRPr lang="en-DE" sz="1000" b="1">
                <a:latin typeface="+mn-lt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4EE0CCB-1310-E92E-1EB6-831DAA1E6082}"/>
                </a:ext>
              </a:extLst>
            </p:cNvPr>
            <p:cNvSpPr txBox="1"/>
            <p:nvPr/>
          </p:nvSpPr>
          <p:spPr>
            <a:xfrm>
              <a:off x="7460443" y="4716882"/>
              <a:ext cx="194356" cy="360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400" b="1">
                  <a:latin typeface="+mn-lt"/>
                </a:rPr>
                <a:t>D</a:t>
              </a:r>
              <a:endParaRPr lang="en-DE" sz="1000" b="1">
                <a:latin typeface="+mn-lt"/>
              </a:endParaRPr>
            </a:p>
          </p:txBody>
        </p:sp>
        <p:pic>
          <p:nvPicPr>
            <p:cNvPr id="63" name="Graphic 62" descr="Toy Train with solid fill">
              <a:extLst>
                <a:ext uri="{FF2B5EF4-FFF2-40B4-BE49-F238E27FC236}">
                  <a16:creationId xmlns:a16="http://schemas.microsoft.com/office/drawing/2014/main" id="{63D79035-94A3-FFAF-B078-3D44A52F8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 rot="20878014">
              <a:off x="4475857" y="2288575"/>
              <a:ext cx="612058" cy="636456"/>
            </a:xfrm>
            <a:prstGeom prst="rect">
              <a:avLst/>
            </a:prstGeom>
          </p:spPr>
        </p:pic>
        <p:pic>
          <p:nvPicPr>
            <p:cNvPr id="64" name="Graphic 63" descr="Toy Train with solid fill">
              <a:extLst>
                <a:ext uri="{FF2B5EF4-FFF2-40B4-BE49-F238E27FC236}">
                  <a16:creationId xmlns:a16="http://schemas.microsoft.com/office/drawing/2014/main" id="{89FE3D24-212E-F0B3-F06D-AEB74D6A0B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 rot="677191">
              <a:off x="6832499" y="2243695"/>
              <a:ext cx="612058" cy="6364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D5636FC-C7FF-F9BC-A19C-57F1A9120453}"/>
                    </a:ext>
                  </a:extLst>
                </p:cNvPr>
                <p:cNvSpPr txBox="1"/>
                <p:nvPr/>
              </p:nvSpPr>
              <p:spPr>
                <a:xfrm>
                  <a:off x="7444982" y="1808819"/>
                  <a:ext cx="3069818" cy="5155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2000" b="1"/>
                          <m:t>Delay</m:t>
                        </m:r>
                        <m:r>
                          <a:rPr lang="de-DE" sz="20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sz="2000"/>
                          <m:t>= 20 </m:t>
                        </m:r>
                        <m:r>
                          <m:rPr>
                            <m:nor/>
                          </m:rPr>
                          <a:rPr lang="de-DE" sz="2000"/>
                          <m:t>min</m:t>
                        </m:r>
                      </m:oMath>
                    </m:oMathPara>
                  </a14:m>
                  <a:endParaRPr lang="en-DE" sz="200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2D5636FC-C7FF-F9BC-A19C-57F1A9120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982" y="1808819"/>
                  <a:ext cx="3069818" cy="515511"/>
                </a:xfrm>
                <a:prstGeom prst="rect">
                  <a:avLst/>
                </a:prstGeom>
                <a:blipFill>
                  <a:blip r:embed="rId11"/>
                  <a:stretch>
                    <a:fillRect b="-228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89EAAFC-ECDB-FE15-5599-13812C4FFFC0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155"/>
              <a:ext cx="2299739" cy="42844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3801D47-0F13-25A7-DA11-BC81CBF43356}"/>
              </a:ext>
            </a:extLst>
          </p:cNvPr>
          <p:cNvGrpSpPr/>
          <p:nvPr/>
        </p:nvGrpSpPr>
        <p:grpSpPr>
          <a:xfrm>
            <a:off x="764087" y="1871566"/>
            <a:ext cx="2065737" cy="630834"/>
            <a:chOff x="319090" y="4963595"/>
            <a:chExt cx="2685917" cy="820224"/>
          </a:xfrm>
        </p:grpSpPr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8AA2EB07-E582-9511-C3D7-72ED8CF317A4}"/>
                </a:ext>
              </a:extLst>
            </p:cNvPr>
            <p:cNvGrpSpPr/>
            <p:nvPr/>
          </p:nvGrpSpPr>
          <p:grpSpPr>
            <a:xfrm>
              <a:off x="319090" y="4963595"/>
              <a:ext cx="2685917" cy="820224"/>
              <a:chOff x="2006006" y="3269604"/>
              <a:chExt cx="1650409" cy="504001"/>
            </a:xfrm>
          </p:grpSpPr>
          <p:sp>
            <p:nvSpPr>
              <p:cNvPr id="175" name="Flowchart: Stored Data 92">
                <a:extLst>
                  <a:ext uri="{FF2B5EF4-FFF2-40B4-BE49-F238E27FC236}">
                    <a16:creationId xmlns:a16="http://schemas.microsoft.com/office/drawing/2014/main" id="{05E85A1B-D304-AEEB-E9CA-8B9074231161}"/>
                  </a:ext>
                </a:extLst>
              </p:cNvPr>
              <p:cNvSpPr/>
              <p:nvPr/>
            </p:nvSpPr>
            <p:spPr>
              <a:xfrm flipH="1">
                <a:off x="2258001" y="3269604"/>
                <a:ext cx="1398414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12AFE108-20D5-11FD-816B-4CD2F795C094}"/>
                  </a:ext>
                </a:extLst>
              </p:cNvPr>
              <p:cNvSpPr txBox="1"/>
              <p:nvPr/>
            </p:nvSpPr>
            <p:spPr>
              <a:xfrm>
                <a:off x="2633153" y="3388475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Inputs</a:t>
                </a:r>
                <a:endParaRPr lang="en-DE" sz="1400"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66E14A13-D0BE-2BBA-8EB5-0E4FF832EDFB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7EFA4193-AC65-E42C-C582-379192107C4E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2619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769856" y="1536569"/>
            <a:ext cx="10652288" cy="47769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8425542-F194-2724-14F0-423504740FED}"/>
              </a:ext>
            </a:extLst>
          </p:cNvPr>
          <p:cNvSpPr/>
          <p:nvPr/>
        </p:nvSpPr>
        <p:spPr>
          <a:xfrm>
            <a:off x="1595942" y="1640245"/>
            <a:ext cx="9000115" cy="63083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3200">
                <a:solidFill>
                  <a:schemeClr val="tx1"/>
                </a:solidFill>
              </a:rPr>
              <a:t>Optimization Problem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86517B-11C5-2C4C-2762-A63A36FBFEBE}"/>
              </a:ext>
            </a:extLst>
          </p:cNvPr>
          <p:cNvGrpSpPr/>
          <p:nvPr/>
        </p:nvGrpSpPr>
        <p:grpSpPr>
          <a:xfrm>
            <a:off x="1581339" y="2582736"/>
            <a:ext cx="2065737" cy="630834"/>
            <a:chOff x="319090" y="4963595"/>
            <a:chExt cx="2685917" cy="82022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73BB45D-ACF4-04E3-4D8C-AB8ED0426D33}"/>
                </a:ext>
              </a:extLst>
            </p:cNvPr>
            <p:cNvGrpSpPr/>
            <p:nvPr/>
          </p:nvGrpSpPr>
          <p:grpSpPr>
            <a:xfrm>
              <a:off x="319090" y="4963595"/>
              <a:ext cx="2685917" cy="820224"/>
              <a:chOff x="2006006" y="3269604"/>
              <a:chExt cx="1650409" cy="504001"/>
            </a:xfrm>
          </p:grpSpPr>
          <p:sp>
            <p:nvSpPr>
              <p:cNvPr id="60" name="Flowchart: Stored Data 92">
                <a:extLst>
                  <a:ext uri="{FF2B5EF4-FFF2-40B4-BE49-F238E27FC236}">
                    <a16:creationId xmlns:a16="http://schemas.microsoft.com/office/drawing/2014/main" id="{2B1C63F2-0B92-3CA9-C444-9A4785A6D35D}"/>
                  </a:ext>
                </a:extLst>
              </p:cNvPr>
              <p:cNvSpPr/>
              <p:nvPr/>
            </p:nvSpPr>
            <p:spPr>
              <a:xfrm flipH="1">
                <a:off x="2258001" y="3269604"/>
                <a:ext cx="1398414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EFF26DB-97CD-6F65-C40A-33451CB2CD45}"/>
                  </a:ext>
                </a:extLst>
              </p:cNvPr>
              <p:cNvSpPr txBox="1"/>
              <p:nvPr/>
            </p:nvSpPr>
            <p:spPr>
              <a:xfrm>
                <a:off x="2633153" y="3388475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Inputs</a:t>
                </a:r>
                <a:endParaRPr lang="en-DE" sz="140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03F01E3-DE5C-D81B-9705-85475FCFDF8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4B2F89-479D-E2F5-BA6C-BA1C387A170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1029511-CE6E-DA8E-F01D-5B3758E96917}"/>
              </a:ext>
            </a:extLst>
          </p:cNvPr>
          <p:cNvGrpSpPr/>
          <p:nvPr/>
        </p:nvGrpSpPr>
        <p:grpSpPr>
          <a:xfrm>
            <a:off x="1589957" y="3930744"/>
            <a:ext cx="2066670" cy="630834"/>
            <a:chOff x="319090" y="4963595"/>
            <a:chExt cx="2687129" cy="82022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126816A-715E-F78D-F416-9FDAD526469F}"/>
                </a:ext>
              </a:extLst>
            </p:cNvPr>
            <p:cNvGrpSpPr/>
            <p:nvPr/>
          </p:nvGrpSpPr>
          <p:grpSpPr>
            <a:xfrm>
              <a:off x="319090" y="4963595"/>
              <a:ext cx="2687129" cy="820224"/>
              <a:chOff x="2006006" y="3269604"/>
              <a:chExt cx="1651154" cy="504001"/>
            </a:xfrm>
          </p:grpSpPr>
          <p:sp>
            <p:nvSpPr>
              <p:cNvPr id="66" name="Flowchart: Stored Data 92">
                <a:extLst>
                  <a:ext uri="{FF2B5EF4-FFF2-40B4-BE49-F238E27FC236}">
                    <a16:creationId xmlns:a16="http://schemas.microsoft.com/office/drawing/2014/main" id="{93072F41-226F-198C-D08C-C8EDD708BA2D}"/>
                  </a:ext>
                </a:extLst>
              </p:cNvPr>
              <p:cNvSpPr/>
              <p:nvPr/>
            </p:nvSpPr>
            <p:spPr>
              <a:xfrm flipH="1">
                <a:off x="2258003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EF6325-1628-8889-AF0D-4E2C7205C498}"/>
                  </a:ext>
                </a:extLst>
              </p:cNvPr>
              <p:cNvSpPr txBox="1"/>
              <p:nvPr/>
            </p:nvSpPr>
            <p:spPr>
              <a:xfrm>
                <a:off x="2633720" y="3388317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Goal</a:t>
                </a:r>
                <a:endParaRPr lang="en-DE" sz="140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1F47D43-E3D7-A37D-627F-5D24A78EF82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439818C-128A-E266-C876-5ABEB7EE6451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360CEDE-E4A3-611D-974A-1CC6497E747E}"/>
              </a:ext>
            </a:extLst>
          </p:cNvPr>
          <p:cNvGrpSpPr/>
          <p:nvPr/>
        </p:nvGrpSpPr>
        <p:grpSpPr>
          <a:xfrm>
            <a:off x="1589959" y="5278471"/>
            <a:ext cx="2066668" cy="630834"/>
            <a:chOff x="319090" y="4963595"/>
            <a:chExt cx="2687127" cy="82022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1B35CD1-91D4-6297-5C0C-FD0A093B4F30}"/>
                </a:ext>
              </a:extLst>
            </p:cNvPr>
            <p:cNvGrpSpPr/>
            <p:nvPr/>
          </p:nvGrpSpPr>
          <p:grpSpPr>
            <a:xfrm>
              <a:off x="319090" y="4963595"/>
              <a:ext cx="2687127" cy="820224"/>
              <a:chOff x="2006006" y="3269604"/>
              <a:chExt cx="1651153" cy="504001"/>
            </a:xfrm>
          </p:grpSpPr>
          <p:sp>
            <p:nvSpPr>
              <p:cNvPr id="72" name="Flowchart: Stored Data 92">
                <a:extLst>
                  <a:ext uri="{FF2B5EF4-FFF2-40B4-BE49-F238E27FC236}">
                    <a16:creationId xmlns:a16="http://schemas.microsoft.com/office/drawing/2014/main" id="{48E52B81-5941-26F1-28DB-0AFFF41A21C2}"/>
                  </a:ext>
                </a:extLst>
              </p:cNvPr>
              <p:cNvSpPr/>
              <p:nvPr/>
            </p:nvSpPr>
            <p:spPr>
              <a:xfrm flipH="1">
                <a:off x="2258002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8F33CD9-0DA2-2703-C4F7-1649A115427D}"/>
                  </a:ext>
                </a:extLst>
              </p:cNvPr>
              <p:cNvSpPr txBox="1"/>
              <p:nvPr/>
            </p:nvSpPr>
            <p:spPr>
              <a:xfrm>
                <a:off x="2631890" y="3388317"/>
                <a:ext cx="906635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 err="1"/>
                  <a:t>Objective</a:t>
                </a:r>
                <a:endParaRPr lang="en-DE" sz="14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50CECA6-1EC6-727E-590E-FD3DE283DF33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8C0E0A-08FF-D271-0609-4CD7E0C18D4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</p:grpSp>
      <p:sp>
        <p:nvSpPr>
          <p:cNvPr id="75" name="Down Arrow 74">
            <a:extLst>
              <a:ext uri="{FF2B5EF4-FFF2-40B4-BE49-F238E27FC236}">
                <a16:creationId xmlns:a16="http://schemas.microsoft.com/office/drawing/2014/main" id="{F0A123B5-E184-EAF1-D2E5-CD7CED432D5D}"/>
              </a:ext>
            </a:extLst>
          </p:cNvPr>
          <p:cNvSpPr/>
          <p:nvPr/>
        </p:nvSpPr>
        <p:spPr>
          <a:xfrm>
            <a:off x="2561327" y="3468323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Down Arrow 75">
            <a:extLst>
              <a:ext uri="{FF2B5EF4-FFF2-40B4-BE49-F238E27FC236}">
                <a16:creationId xmlns:a16="http://schemas.microsoft.com/office/drawing/2014/main" id="{933A797A-F4F4-E57D-AF84-19376CDCC396}"/>
              </a:ext>
            </a:extLst>
          </p:cNvPr>
          <p:cNvSpPr/>
          <p:nvPr/>
        </p:nvSpPr>
        <p:spPr>
          <a:xfrm>
            <a:off x="2561327" y="4826170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327C00-AD0D-B0BD-449A-0C13D41D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6B2537-8F3A-BAC5-D9E3-B36B96A1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FE7BC9-70B7-E8B5-70CA-A8F248490B29}"/>
              </a:ext>
            </a:extLst>
          </p:cNvPr>
          <p:cNvGrpSpPr/>
          <p:nvPr/>
        </p:nvGrpSpPr>
        <p:grpSpPr>
          <a:xfrm>
            <a:off x="8285465" y="2604004"/>
            <a:ext cx="2052372" cy="863071"/>
            <a:chOff x="1232185" y="4491632"/>
            <a:chExt cx="2195813" cy="92338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9A7C2C5-711D-BDA5-51D0-C3E6196FD53D}"/>
                </a:ext>
              </a:extLst>
            </p:cNvPr>
            <p:cNvCxnSpPr/>
            <p:nvPr/>
          </p:nvCxnSpPr>
          <p:spPr>
            <a:xfrm flipV="1">
              <a:off x="1636421" y="4856748"/>
              <a:ext cx="282757" cy="127739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0D03BA1-5D40-4B49-09CD-2FBE6E3B35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174" y="5011154"/>
              <a:ext cx="0" cy="25716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960B03D-40FF-793E-11CA-2A615A70E389}"/>
                </a:ext>
              </a:extLst>
            </p:cNvPr>
            <p:cNvCxnSpPr>
              <a:cxnSpLocks/>
            </p:cNvCxnSpPr>
            <p:nvPr/>
          </p:nvCxnSpPr>
          <p:spPr>
            <a:xfrm>
              <a:off x="2644392" y="4871659"/>
              <a:ext cx="327775" cy="13949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Graphic 77" descr="Toy Train with solid fill">
              <a:extLst>
                <a:ext uri="{FF2B5EF4-FFF2-40B4-BE49-F238E27FC236}">
                  <a16:creationId xmlns:a16="http://schemas.microsoft.com/office/drawing/2014/main" id="{93E5E9AA-98AC-16BA-4C36-97000DBD9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038051" y="4491632"/>
              <a:ext cx="528245" cy="5282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7D3B35-EB9E-AAFF-871E-1864AEA09A6C}"/>
                    </a:ext>
                  </a:extLst>
                </p:cNvPr>
                <p:cNvSpPr txBox="1"/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7D3B35-EB9E-AAFF-871E-1864AEA09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blipFill>
                  <a:blip r:embed="rId5"/>
                  <a:stretch>
                    <a:fillRect l="-13333" r="-30000" b="-5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BA3169A-12F2-3113-05F4-44CE609498FB}"/>
                    </a:ext>
                  </a:extLst>
                </p:cNvPr>
                <p:cNvSpPr txBox="1"/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BA3169A-12F2-3113-05F4-44CE60949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blipFill>
                  <a:blip r:embed="rId6"/>
                  <a:stretch>
                    <a:fillRect l="-13559" r="-30508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C47274-A50A-6901-BD0F-2E15AE1C2AFC}"/>
                </a:ext>
              </a:extLst>
            </p:cNvPr>
            <p:cNvSpPr txBox="1"/>
            <p:nvPr/>
          </p:nvSpPr>
          <p:spPr>
            <a:xfrm>
              <a:off x="3020609" y="4988614"/>
              <a:ext cx="407389" cy="17708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400">
                  <a:latin typeface="+mn-lt"/>
                </a:rPr>
                <a:t>weight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F1F7E41-951B-B4BC-B452-A7DE918E5252}"/>
              </a:ext>
            </a:extLst>
          </p:cNvPr>
          <p:cNvGrpSpPr/>
          <p:nvPr/>
        </p:nvGrpSpPr>
        <p:grpSpPr>
          <a:xfrm>
            <a:off x="4427710" y="2386512"/>
            <a:ext cx="3610913" cy="1245563"/>
            <a:chOff x="2526885" y="1808819"/>
            <a:chExt cx="9204218" cy="34413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FADCEF56-AE92-CAA5-171D-8910BC0BE7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990" y="4013952"/>
              <a:ext cx="934265" cy="4049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8614B3A-FC33-D9C0-E76A-C2984E5BB9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198FFFB7-C3AF-081C-7CC7-B727FDA2D4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2874" y="3118677"/>
              <a:ext cx="1230608" cy="5918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86E01D9-AE66-5651-96E8-F87C524008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1335" y="2699760"/>
              <a:ext cx="860764" cy="9828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6809C3-F55A-3AFA-6C1D-06BA5B6B50A4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59345"/>
              <a:ext cx="750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FCCE95-C241-D071-05A1-FC946CAEF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2435" y="3171708"/>
              <a:ext cx="1214534" cy="12033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8823F4C-D10E-7063-7B30-DB4948080E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078" y="3131607"/>
              <a:ext cx="1102919" cy="5958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5A7357D-DD84-619F-DF3C-C441A4DE5037}"/>
                </a:ext>
              </a:extLst>
            </p:cNvPr>
            <p:cNvCxnSpPr>
              <a:cxnSpLocks/>
            </p:cNvCxnSpPr>
            <p:nvPr/>
          </p:nvCxnSpPr>
          <p:spPr>
            <a:xfrm>
              <a:off x="5203274" y="3814376"/>
              <a:ext cx="665003" cy="891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>
              <a:extLst>
                <a:ext uri="{FF2B5EF4-FFF2-40B4-BE49-F238E27FC236}">
                  <a16:creationId xmlns:a16="http://schemas.microsoft.com/office/drawing/2014/main" id="{D020AE7C-6D49-A576-5BE2-29757F963334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08738"/>
              <a:ext cx="750580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5670BEA-A7B7-68D4-2041-5C67531A65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0AFB931-A535-B2DF-A7CB-E639107FABAA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312"/>
              <a:ext cx="2299739" cy="43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B1BFAFA-3A51-BFCB-10DF-6774576FDCA4}"/>
                </a:ext>
              </a:extLst>
            </p:cNvPr>
            <p:cNvCxnSpPr>
              <a:cxnSpLocks/>
            </p:cNvCxnSpPr>
            <p:nvPr/>
          </p:nvCxnSpPr>
          <p:spPr>
            <a:xfrm>
              <a:off x="2689328" y="2699760"/>
              <a:ext cx="925828" cy="3193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8392C2A-A375-8E66-BE04-1127610AC297}"/>
                </a:ext>
              </a:extLst>
            </p:cNvPr>
            <p:cNvSpPr/>
            <p:nvPr/>
          </p:nvSpPr>
          <p:spPr>
            <a:xfrm>
              <a:off x="8507281" y="299263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522D580-1F7A-F7F6-1CE5-60B9B88B17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950" y="3781151"/>
              <a:ext cx="783118" cy="1256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1F0ADF4-2056-CAA6-9CC2-764F1B2727C7}"/>
                </a:ext>
              </a:extLst>
            </p:cNvPr>
            <p:cNvSpPr/>
            <p:nvPr/>
          </p:nvSpPr>
          <p:spPr>
            <a:xfrm>
              <a:off x="5038184" y="371056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1C4CCB-E5FB-1A7B-F4C4-3527729FF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191" y="3130629"/>
              <a:ext cx="886404" cy="3718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5DAA28E-CD78-932E-410D-C1241BA51CFB}"/>
                </a:ext>
              </a:extLst>
            </p:cNvPr>
            <p:cNvCxnSpPr>
              <a:cxnSpLocks/>
            </p:cNvCxnSpPr>
            <p:nvPr/>
          </p:nvCxnSpPr>
          <p:spPr>
            <a:xfrm>
              <a:off x="3784841" y="3191005"/>
              <a:ext cx="896799" cy="11840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74BE6B-DC0D-8C3F-C1F2-95C75B6094C3}"/>
                </a:ext>
              </a:extLst>
            </p:cNvPr>
            <p:cNvSpPr txBox="1"/>
            <p:nvPr/>
          </p:nvSpPr>
          <p:spPr>
            <a:xfrm>
              <a:off x="2815026" y="2907911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A</a:t>
              </a:r>
              <a:endParaRPr lang="en-DE" sz="900" b="1">
                <a:latin typeface="+mn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4FD748-5EBC-D195-B3FE-EEF2DC1418C7}"/>
                </a:ext>
              </a:extLst>
            </p:cNvPr>
            <p:cNvSpPr txBox="1"/>
            <p:nvPr/>
          </p:nvSpPr>
          <p:spPr>
            <a:xfrm>
              <a:off x="8979892" y="3142936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B</a:t>
              </a:r>
              <a:endParaRPr lang="en-DE" sz="1050" b="1">
                <a:latin typeface="+mn-lt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AE48594-5885-D1A1-3CB5-19F68FA97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4837" y="4551090"/>
              <a:ext cx="850285" cy="2888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AC8DDC0-D868-CB73-930B-18A7A5A800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801" y="3917498"/>
              <a:ext cx="198384" cy="464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A7222EA-DFB0-0A96-99DD-4627E20F7B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8823" y="4503486"/>
              <a:ext cx="2109616" cy="5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0DD9514-1F1C-D9AE-AA19-F8AAC67634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2360" y="3886758"/>
              <a:ext cx="83195" cy="4607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19457D4-11F2-76DF-8153-6009F22B6373}"/>
                </a:ext>
              </a:extLst>
            </p:cNvPr>
            <p:cNvSpPr/>
            <p:nvPr/>
          </p:nvSpPr>
          <p:spPr>
            <a:xfrm>
              <a:off x="5954150" y="253474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FFAF5B3-D555-F30A-6234-BB880615514C}"/>
                </a:ext>
              </a:extLst>
            </p:cNvPr>
            <p:cNvSpPr/>
            <p:nvPr/>
          </p:nvSpPr>
          <p:spPr>
            <a:xfrm>
              <a:off x="4709139" y="444040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C2D3D37-AB19-40B4-BC97-5923F76FDD51}"/>
                </a:ext>
              </a:extLst>
            </p:cNvPr>
            <p:cNvGrpSpPr/>
            <p:nvPr/>
          </p:nvGrpSpPr>
          <p:grpSpPr>
            <a:xfrm>
              <a:off x="5923200" y="3850751"/>
              <a:ext cx="1282347" cy="722415"/>
              <a:chOff x="4503293" y="4189137"/>
              <a:chExt cx="1009536" cy="587019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8DA0B65-79D4-77C0-78F8-2F7462FC77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13558" y="4320579"/>
                <a:ext cx="784297" cy="3302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FC70F28-E40A-949E-5C50-F3EC3194E3BB}"/>
                  </a:ext>
                </a:extLst>
              </p:cNvPr>
              <p:cNvSpPr/>
              <p:nvPr/>
            </p:nvSpPr>
            <p:spPr>
              <a:xfrm>
                <a:off x="4503293" y="4189137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DC65816-7D2C-5D26-CED9-D01988C079DC}"/>
                  </a:ext>
                </a:extLst>
              </p:cNvPr>
              <p:cNvSpPr/>
              <p:nvPr/>
            </p:nvSpPr>
            <p:spPr>
              <a:xfrm>
                <a:off x="5404829" y="4667732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E720623-2A93-AB79-E961-A25B655DA847}"/>
                </a:ext>
              </a:extLst>
            </p:cNvPr>
            <p:cNvCxnSpPr>
              <a:cxnSpLocks/>
            </p:cNvCxnSpPr>
            <p:nvPr/>
          </p:nvCxnSpPr>
          <p:spPr>
            <a:xfrm>
              <a:off x="7242623" y="4561807"/>
              <a:ext cx="905174" cy="3311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C4BEDE6-BD50-D403-6D92-C311EF5F8FAF}"/>
                </a:ext>
              </a:extLst>
            </p:cNvPr>
            <p:cNvSpPr/>
            <p:nvPr/>
          </p:nvSpPr>
          <p:spPr>
            <a:xfrm>
              <a:off x="3651005" y="3008738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3A84BA0-3B06-B2BE-4ECA-36E75307DAC6}"/>
                </a:ext>
              </a:extLst>
            </p:cNvPr>
            <p:cNvSpPr/>
            <p:nvPr/>
          </p:nvSpPr>
          <p:spPr>
            <a:xfrm>
              <a:off x="6952099" y="369661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6" name="Oval 64">
              <a:extLst>
                <a:ext uri="{FF2B5EF4-FFF2-40B4-BE49-F238E27FC236}">
                  <a16:creationId xmlns:a16="http://schemas.microsoft.com/office/drawing/2014/main" id="{24ACD23E-8ACC-EE2F-95A4-60BC1C672E8B}"/>
                </a:ext>
              </a:extLst>
            </p:cNvPr>
            <p:cNvSpPr/>
            <p:nvPr/>
          </p:nvSpPr>
          <p:spPr>
            <a:xfrm>
              <a:off x="2526885" y="262304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7" name="Oval 64">
              <a:extLst>
                <a:ext uri="{FF2B5EF4-FFF2-40B4-BE49-F238E27FC236}">
                  <a16:creationId xmlns:a16="http://schemas.microsoft.com/office/drawing/2014/main" id="{6E1686BB-3616-665C-D8F1-3EC4D99AFF8B}"/>
                </a:ext>
              </a:extLst>
            </p:cNvPr>
            <p:cNvSpPr/>
            <p:nvPr/>
          </p:nvSpPr>
          <p:spPr>
            <a:xfrm>
              <a:off x="2539493" y="34991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8" name="Oval 64">
              <a:extLst>
                <a:ext uri="{FF2B5EF4-FFF2-40B4-BE49-F238E27FC236}">
                  <a16:creationId xmlns:a16="http://schemas.microsoft.com/office/drawing/2014/main" id="{BEEAB8FF-D5C2-F005-DF80-5FFB7B5C8565}"/>
                </a:ext>
              </a:extLst>
            </p:cNvPr>
            <p:cNvSpPr/>
            <p:nvPr/>
          </p:nvSpPr>
          <p:spPr>
            <a:xfrm>
              <a:off x="3590592" y="48262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9" name="Oval 64">
              <a:extLst>
                <a:ext uri="{FF2B5EF4-FFF2-40B4-BE49-F238E27FC236}">
                  <a16:creationId xmlns:a16="http://schemas.microsoft.com/office/drawing/2014/main" id="{ECD24C69-29D3-9233-5DF3-F6C3AF7BC3B6}"/>
                </a:ext>
              </a:extLst>
            </p:cNvPr>
            <p:cNvSpPr/>
            <p:nvPr/>
          </p:nvSpPr>
          <p:spPr>
            <a:xfrm>
              <a:off x="8193771" y="4860675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41" name="Oval 64">
              <a:extLst>
                <a:ext uri="{FF2B5EF4-FFF2-40B4-BE49-F238E27FC236}">
                  <a16:creationId xmlns:a16="http://schemas.microsoft.com/office/drawing/2014/main" id="{9818A82C-A72C-538A-6804-2D05090B55CF}"/>
                </a:ext>
              </a:extLst>
            </p:cNvPr>
            <p:cNvSpPr/>
            <p:nvPr/>
          </p:nvSpPr>
          <p:spPr>
            <a:xfrm>
              <a:off x="9527930" y="2985389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42" name="Straight Connector 63">
              <a:extLst>
                <a:ext uri="{FF2B5EF4-FFF2-40B4-BE49-F238E27FC236}">
                  <a16:creationId xmlns:a16="http://schemas.microsoft.com/office/drawing/2014/main" id="{A9BFD4C3-B992-479C-63D0-726644D6415A}"/>
                </a:ext>
              </a:extLst>
            </p:cNvPr>
            <p:cNvCxnSpPr>
              <a:cxnSpLocks/>
            </p:cNvCxnSpPr>
            <p:nvPr/>
          </p:nvCxnSpPr>
          <p:spPr>
            <a:xfrm>
              <a:off x="2713315" y="2645955"/>
              <a:ext cx="918438" cy="3286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Graphic 42" descr="Toy Train with solid fill">
              <a:extLst>
                <a:ext uri="{FF2B5EF4-FFF2-40B4-BE49-F238E27FC236}">
                  <a16:creationId xmlns:a16="http://schemas.microsoft.com/office/drawing/2014/main" id="{E86F7915-92FA-2D2E-4975-C60C47A41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1139651">
              <a:off x="2958706" y="2296376"/>
              <a:ext cx="612059" cy="63645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D189D01-99F4-59F1-3625-8E44BF6CB89F}"/>
                </a:ext>
              </a:extLst>
            </p:cNvPr>
            <p:cNvSpPr txBox="1"/>
            <p:nvPr/>
          </p:nvSpPr>
          <p:spPr>
            <a:xfrm>
              <a:off x="4209186" y="4716883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C</a:t>
              </a:r>
              <a:endParaRPr lang="en-DE" sz="900" b="1">
                <a:latin typeface="+mn-lt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F879B4C-EFD8-3739-8F5F-458B819629EF}"/>
                </a:ext>
              </a:extLst>
            </p:cNvPr>
            <p:cNvSpPr txBox="1"/>
            <p:nvPr/>
          </p:nvSpPr>
          <p:spPr>
            <a:xfrm>
              <a:off x="7460444" y="4716883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D</a:t>
              </a:r>
              <a:endParaRPr lang="en-DE" sz="900" b="1">
                <a:latin typeface="+mn-lt"/>
              </a:endParaRPr>
            </a:p>
          </p:txBody>
        </p:sp>
        <p:pic>
          <p:nvPicPr>
            <p:cNvPr id="46" name="Graphic 45" descr="Toy Train with solid fill">
              <a:extLst>
                <a:ext uri="{FF2B5EF4-FFF2-40B4-BE49-F238E27FC236}">
                  <a16:creationId xmlns:a16="http://schemas.microsoft.com/office/drawing/2014/main" id="{AA4A2526-B272-3949-14DC-457BA3F6F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20878014">
              <a:off x="4475857" y="2288575"/>
              <a:ext cx="612058" cy="636456"/>
            </a:xfrm>
            <a:prstGeom prst="rect">
              <a:avLst/>
            </a:prstGeom>
          </p:spPr>
        </p:pic>
        <p:pic>
          <p:nvPicPr>
            <p:cNvPr id="47" name="Graphic 46" descr="Toy Train with solid fill">
              <a:extLst>
                <a:ext uri="{FF2B5EF4-FFF2-40B4-BE49-F238E27FC236}">
                  <a16:creationId xmlns:a16="http://schemas.microsoft.com/office/drawing/2014/main" id="{F3C3BD71-DAEA-A3D1-69DB-CE9400DEC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 rot="677191">
              <a:off x="6832499" y="2243695"/>
              <a:ext cx="612058" cy="6364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80746E-BC40-8D29-FA52-9C6787B83BD5}"/>
                    </a:ext>
                  </a:extLst>
                </p:cNvPr>
                <p:cNvSpPr txBox="1"/>
                <p:nvPr/>
              </p:nvSpPr>
              <p:spPr>
                <a:xfrm>
                  <a:off x="7444982" y="1808819"/>
                  <a:ext cx="4286121" cy="7755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1600" b="1"/>
                          <m:t>Delay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sz="1600"/>
                          <m:t>= 20 </m:t>
                        </m:r>
                        <m:r>
                          <m:rPr>
                            <m:nor/>
                          </m:rPr>
                          <a:rPr lang="de-DE" sz="1600"/>
                          <m:t>min</m:t>
                        </m:r>
                      </m:oMath>
                    </m:oMathPara>
                  </a14:m>
                  <a:endParaRPr lang="en-DE" sz="160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80746E-BC40-8D29-FA52-9C6787B83B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982" y="1808819"/>
                  <a:ext cx="4286121" cy="775581"/>
                </a:xfrm>
                <a:prstGeom prst="rect">
                  <a:avLst/>
                </a:prstGeom>
                <a:blipFill>
                  <a:blip r:embed="rId9"/>
                  <a:stretch>
                    <a:fillRect b="-212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A481D29-EEDE-55AF-D6C4-F7D2F3B1FEDA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155"/>
              <a:ext cx="2299739" cy="42844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7651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9940FAC-D03C-D418-2104-1AB09A6449A0}"/>
              </a:ext>
            </a:extLst>
          </p:cNvPr>
          <p:cNvSpPr/>
          <p:nvPr/>
        </p:nvSpPr>
        <p:spPr>
          <a:xfrm>
            <a:off x="6808323" y="2778405"/>
            <a:ext cx="4683461" cy="35568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7900C3E-E95B-1F48-C97B-4927312A1BD3}"/>
              </a:ext>
            </a:extLst>
          </p:cNvPr>
          <p:cNvSpPr/>
          <p:nvPr/>
        </p:nvSpPr>
        <p:spPr>
          <a:xfrm>
            <a:off x="1056989" y="2778405"/>
            <a:ext cx="5630944" cy="35568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B18BE3-254A-020E-7EB6-6E462710C65A}"/>
              </a:ext>
            </a:extLst>
          </p:cNvPr>
          <p:cNvSpPr txBox="1"/>
          <p:nvPr/>
        </p:nvSpPr>
        <p:spPr>
          <a:xfrm>
            <a:off x="1778923" y="2971357"/>
            <a:ext cx="4055221" cy="6723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14000"/>
              </a:lnSpc>
              <a:buFont typeface="+mj-lt"/>
              <a:buAutoNum type="arabicPeriod"/>
            </a:pPr>
            <a:r>
              <a:rPr lang="de-DE" sz="2000" err="1">
                <a:latin typeface="+mn-lt"/>
              </a:rPr>
              <a:t>Compute</a:t>
            </a:r>
            <a:r>
              <a:rPr lang="de-DE" sz="2000">
                <a:latin typeface="+mn-lt"/>
              </a:rPr>
              <a:t> a </a:t>
            </a:r>
            <a:r>
              <a:rPr lang="de-DE" sz="2000" err="1">
                <a:latin typeface="+mn-lt"/>
              </a:rPr>
              <a:t>set</a:t>
            </a:r>
            <a:r>
              <a:rPr lang="de-DE" sz="2000">
                <a:latin typeface="+mn-lt"/>
              </a:rPr>
              <a:t> </a:t>
            </a:r>
            <a:r>
              <a:rPr lang="de-DE" sz="2000" err="1">
                <a:latin typeface="+mn-lt"/>
              </a:rPr>
              <a:t>of</a:t>
            </a:r>
            <a:r>
              <a:rPr lang="de-DE" sz="2000">
                <a:latin typeface="+mn-lt"/>
              </a:rPr>
              <a:t> </a:t>
            </a:r>
            <a:r>
              <a:rPr lang="de-DE" sz="2000" err="1">
                <a:latin typeface="+mn-lt"/>
              </a:rPr>
              <a:t>feasible</a:t>
            </a:r>
            <a:r>
              <a:rPr lang="de-DE" sz="2000">
                <a:latin typeface="+mn-lt"/>
              </a:rPr>
              <a:t> </a:t>
            </a:r>
            <a:r>
              <a:rPr lang="de-DE" sz="2000" err="1">
                <a:latin typeface="+mn-lt"/>
              </a:rPr>
              <a:t>routes</a:t>
            </a:r>
            <a:r>
              <a:rPr lang="de-DE" sz="2000">
                <a:latin typeface="+mn-lt"/>
              </a:rPr>
              <a:t> and </a:t>
            </a:r>
            <a:r>
              <a:rPr lang="de-DE" sz="2000" err="1">
                <a:latin typeface="+mn-lt"/>
              </a:rPr>
              <a:t>schedules</a:t>
            </a:r>
            <a:endParaRPr lang="de-DE" sz="2000">
              <a:latin typeface="+mn-lt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353A7D4-708A-3282-8B35-F21EE602E579}"/>
              </a:ext>
            </a:extLst>
          </p:cNvPr>
          <p:cNvSpPr txBox="1"/>
          <p:nvPr/>
        </p:nvSpPr>
        <p:spPr>
          <a:xfrm>
            <a:off x="7240496" y="2986041"/>
            <a:ext cx="3204403" cy="3214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>
                <a:latin typeface="+mn-lt"/>
              </a:rPr>
              <a:t>2.  </a:t>
            </a:r>
            <a:r>
              <a:rPr lang="de-DE" sz="2000" err="1">
                <a:latin typeface="+mn-lt"/>
              </a:rPr>
              <a:t>Determine</a:t>
            </a:r>
            <a:r>
              <a:rPr lang="de-DE" sz="2000">
                <a:latin typeface="+mn-lt"/>
              </a:rPr>
              <a:t> </a:t>
            </a:r>
            <a:r>
              <a:rPr lang="de-DE" sz="2000" err="1">
                <a:latin typeface="+mn-lt"/>
              </a:rPr>
              <a:t>speed</a:t>
            </a:r>
            <a:r>
              <a:rPr lang="de-DE" sz="2000">
                <a:latin typeface="+mn-lt"/>
              </a:rPr>
              <a:t> </a:t>
            </a:r>
            <a:r>
              <a:rPr lang="de-DE" sz="2000" err="1">
                <a:latin typeface="+mn-lt"/>
              </a:rPr>
              <a:t>profiles</a:t>
            </a:r>
            <a:endParaRPr lang="en-DE" sz="2000">
              <a:latin typeface="+mn-lt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EB5FDB5A-2F4A-2A69-A4DC-BFC8A7F6F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81878-79F0-3ED8-A1FC-BEC213FA3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F6D127EE-54C6-F993-0F85-35E78FE9988B}"/>
              </a:ext>
            </a:extLst>
          </p:cNvPr>
          <p:cNvGrpSpPr/>
          <p:nvPr/>
        </p:nvGrpSpPr>
        <p:grpSpPr>
          <a:xfrm>
            <a:off x="1578416" y="4218500"/>
            <a:ext cx="4709762" cy="1866809"/>
            <a:chOff x="1766898" y="3825959"/>
            <a:chExt cx="7138230" cy="2829383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487DE65-EFED-2EA0-E4C6-110BF77DC1AB}"/>
                </a:ext>
              </a:extLst>
            </p:cNvPr>
            <p:cNvGrpSpPr/>
            <p:nvPr/>
          </p:nvGrpSpPr>
          <p:grpSpPr>
            <a:xfrm>
              <a:off x="1766898" y="3825959"/>
              <a:ext cx="7138230" cy="2829383"/>
              <a:chOff x="2526885" y="2243696"/>
              <a:chExt cx="7138230" cy="2829383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B2F8D07A-96F7-B76B-F30A-F69AEC6CA0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861" y="3985495"/>
                <a:ext cx="935165" cy="4527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6086A7C1-3E2F-2E45-D3AA-03BE65CDA1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38990" y="4013953"/>
                <a:ext cx="934265" cy="4049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EE842D6-EE2B-A617-0732-5D51BB0176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2435" y="3171710"/>
                <a:ext cx="1214534" cy="12033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B2AC826-F6C9-4F23-DF73-784D88792F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3274" y="3814377"/>
                <a:ext cx="665003" cy="891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3946A10-F00E-A4E3-064C-4B10F49626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2078" y="3131609"/>
                <a:ext cx="1102919" cy="595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BA359A3E-805E-D6D7-060A-E502CDF1B4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136" y="2622104"/>
                <a:ext cx="2038769" cy="4207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138B72E8-F097-AF7E-1505-B231450F00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059346"/>
                <a:ext cx="75085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31B1BE35-99D5-683F-5F5A-10D9FA01DD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2874" y="3118678"/>
                <a:ext cx="1230608" cy="5918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8A9B0AEA-000F-3870-99D7-8FB54BDD7E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1335" y="2699762"/>
                <a:ext cx="860764" cy="9828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5" name="Graphic 64" descr="Toy Train with solid fill">
                <a:extLst>
                  <a:ext uri="{FF2B5EF4-FFF2-40B4-BE49-F238E27FC236}">
                    <a16:creationId xmlns:a16="http://schemas.microsoft.com/office/drawing/2014/main" id="{02C5CBFE-AEA1-E73B-EDA5-99FF98001D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20878014">
                <a:off x="4475857" y="2288576"/>
                <a:ext cx="612058" cy="636456"/>
              </a:xfrm>
              <a:prstGeom prst="rect">
                <a:avLst/>
              </a:prstGeom>
            </p:spPr>
          </p:pic>
          <p:cxnSp>
            <p:nvCxnSpPr>
              <p:cNvPr id="74" name="Straight Connector 69">
                <a:extLst>
                  <a:ext uri="{FF2B5EF4-FFF2-40B4-BE49-F238E27FC236}">
                    <a16:creationId xmlns:a16="http://schemas.microsoft.com/office/drawing/2014/main" id="{696A48E1-D51F-ECE4-1A52-8C2AAE8C8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109953"/>
                <a:ext cx="750580" cy="0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63">
                <a:extLst>
                  <a:ext uri="{FF2B5EF4-FFF2-40B4-BE49-F238E27FC236}">
                    <a16:creationId xmlns:a16="http://schemas.microsoft.com/office/drawing/2014/main" id="{E8845D0E-C4D3-FA8B-95C5-E437DC657B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008739"/>
                <a:ext cx="750580" cy="0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0940C3AA-8F99-90BC-3459-4E56D6FABE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2078" y="3135240"/>
                <a:ext cx="1102919" cy="592248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57E91F5D-63C7-AD8B-1E5A-844C24DD019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03274" y="3814377"/>
                <a:ext cx="665003" cy="89146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F5E8FDCB-66C8-79C9-74A5-AC3A12350C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0155" y="3113841"/>
                <a:ext cx="1251276" cy="605639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50451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0B89AE6D-E08E-184C-EDD4-507EC0751C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2727" y="2699762"/>
                <a:ext cx="859372" cy="982826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CB136AB-4B65-B74E-DA07-E502943689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2438" y="3161451"/>
                <a:ext cx="1219020" cy="1213652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69">
                <a:extLst>
                  <a:ext uri="{FF2B5EF4-FFF2-40B4-BE49-F238E27FC236}">
                    <a16:creationId xmlns:a16="http://schemas.microsoft.com/office/drawing/2014/main" id="{70DDDED1-7058-2974-8051-3B1D01727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810" y="2756477"/>
                <a:ext cx="926024" cy="316417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D74E4298-6B40-7C68-991F-8184FCA5F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136" y="2622104"/>
                <a:ext cx="2038769" cy="42079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3D55ECEF-350A-40B4-E724-7C8112EDB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9289" y="2611313"/>
                <a:ext cx="2299739" cy="431585"/>
              </a:xfrm>
              <a:prstGeom prst="line">
                <a:avLst/>
              </a:prstGeom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39ABB5C4-766C-2ECE-2C7D-D74CB23EB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9328" y="2699762"/>
                <a:ext cx="925828" cy="3193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7D4B0255-7F71-BAE2-98A0-FC655CADAE12}"/>
                  </a:ext>
                </a:extLst>
              </p:cNvPr>
              <p:cNvSpPr/>
              <p:nvPr/>
            </p:nvSpPr>
            <p:spPr>
              <a:xfrm>
                <a:off x="8507281" y="2992631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622F01A2-775D-2881-B22A-3AA16127A73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19950" y="3781152"/>
                <a:ext cx="783118" cy="1256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F68A129D-51EA-8029-E9D5-4721B3826C5A}"/>
                  </a:ext>
                </a:extLst>
              </p:cNvPr>
              <p:cNvSpPr/>
              <p:nvPr/>
            </p:nvSpPr>
            <p:spPr>
              <a:xfrm>
                <a:off x="5038184" y="3710563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AC58F1F7-395F-4E75-F4AC-FB5FE6AD82F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4191" y="3130630"/>
                <a:ext cx="886404" cy="37184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8F3EDD4F-AE8F-24D8-448D-8539EA1A61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4841" y="3191006"/>
                <a:ext cx="896799" cy="11840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AFB1268-2885-1ACB-1FC3-AF804158B4A5}"/>
                  </a:ext>
                </a:extLst>
              </p:cNvPr>
              <p:cNvSpPr txBox="1"/>
              <p:nvPr/>
            </p:nvSpPr>
            <p:spPr>
              <a:xfrm>
                <a:off x="2815026" y="2907912"/>
                <a:ext cx="194355" cy="356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DE" b="1">
                    <a:latin typeface="+mn-lt"/>
                  </a:rPr>
                  <a:t>A</a:t>
                </a:r>
                <a:endParaRPr lang="en-DE" sz="1100" b="1">
                  <a:latin typeface="+mn-lt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9A2C408-2773-1B9D-F3B3-7F664698C7D0}"/>
                  </a:ext>
                </a:extLst>
              </p:cNvPr>
              <p:cNvSpPr txBox="1"/>
              <p:nvPr/>
            </p:nvSpPr>
            <p:spPr>
              <a:xfrm>
                <a:off x="8979892" y="3142937"/>
                <a:ext cx="194355" cy="356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DE" b="1">
                    <a:latin typeface="+mn-lt"/>
                  </a:rPr>
                  <a:t>B</a:t>
                </a:r>
                <a:endParaRPr lang="en-DE" sz="1400" b="1">
                  <a:latin typeface="+mn-lt"/>
                </a:endParaRPr>
              </a:p>
            </p:txBody>
          </p: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746580B0-0B09-4B1D-C6B0-DF012DC09A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4837" y="4551092"/>
                <a:ext cx="850285" cy="28884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F7D31486-BB31-9983-293C-0E30708997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39801" y="3917500"/>
                <a:ext cx="198384" cy="465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05C2F49E-A7D0-AA38-AA52-2D818412C34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8823" y="4503487"/>
                <a:ext cx="2109616" cy="599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E3FDCEB1-30E3-6B58-B870-C8635DA8E5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22360" y="3886759"/>
                <a:ext cx="83195" cy="4607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B507C9ED-D373-569D-CEDA-D08F2C00E8A6}"/>
                  </a:ext>
                </a:extLst>
              </p:cNvPr>
              <p:cNvSpPr/>
              <p:nvPr/>
            </p:nvSpPr>
            <p:spPr>
              <a:xfrm>
                <a:off x="5954150" y="2534743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316AE599-503A-1159-B9D8-3A94FA6F7220}"/>
                  </a:ext>
                </a:extLst>
              </p:cNvPr>
              <p:cNvSpPr/>
              <p:nvPr/>
            </p:nvSpPr>
            <p:spPr>
              <a:xfrm>
                <a:off x="4709139" y="4440402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F48B53EC-9A42-5B35-E2FC-904F1B9640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7758" y="3990828"/>
                <a:ext cx="948168" cy="455414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7FDFB9E-B37A-6568-2EFA-70749EB79E53}"/>
                  </a:ext>
                </a:extLst>
              </p:cNvPr>
              <p:cNvSpPr/>
              <p:nvPr/>
            </p:nvSpPr>
            <p:spPr>
              <a:xfrm>
                <a:off x="5923171" y="385078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03FAB4C9-4D65-10DD-C73A-5CE833FAF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623" y="4561809"/>
                <a:ext cx="905174" cy="33116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CA5011F8-DE9C-ECCD-CA98-41F26C91B011}"/>
                  </a:ext>
                </a:extLst>
              </p:cNvPr>
              <p:cNvSpPr/>
              <p:nvPr/>
            </p:nvSpPr>
            <p:spPr>
              <a:xfrm>
                <a:off x="3651005" y="300873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D01C880B-3653-DFDE-D8F4-30E4654F5A21}"/>
                  </a:ext>
                </a:extLst>
              </p:cNvPr>
              <p:cNvSpPr/>
              <p:nvPr/>
            </p:nvSpPr>
            <p:spPr>
              <a:xfrm>
                <a:off x="6952099" y="369661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18" name="Oval 64">
                <a:extLst>
                  <a:ext uri="{FF2B5EF4-FFF2-40B4-BE49-F238E27FC236}">
                    <a16:creationId xmlns:a16="http://schemas.microsoft.com/office/drawing/2014/main" id="{6F6954C9-1304-B180-74E1-56275149A074}"/>
                  </a:ext>
                </a:extLst>
              </p:cNvPr>
              <p:cNvSpPr/>
              <p:nvPr/>
            </p:nvSpPr>
            <p:spPr>
              <a:xfrm>
                <a:off x="2526885" y="2623041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19" name="Oval 64">
                <a:extLst>
                  <a:ext uri="{FF2B5EF4-FFF2-40B4-BE49-F238E27FC236}">
                    <a16:creationId xmlns:a16="http://schemas.microsoft.com/office/drawing/2014/main" id="{456CE403-F731-154D-AD06-FEB20861A841}"/>
                  </a:ext>
                </a:extLst>
              </p:cNvPr>
              <p:cNvSpPr/>
              <p:nvPr/>
            </p:nvSpPr>
            <p:spPr>
              <a:xfrm>
                <a:off x="2539493" y="3499128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20" name="Oval 64">
                <a:extLst>
                  <a:ext uri="{FF2B5EF4-FFF2-40B4-BE49-F238E27FC236}">
                    <a16:creationId xmlns:a16="http://schemas.microsoft.com/office/drawing/2014/main" id="{8F32967C-F0F1-14D0-12DF-99504004204B}"/>
                  </a:ext>
                </a:extLst>
              </p:cNvPr>
              <p:cNvSpPr/>
              <p:nvPr/>
            </p:nvSpPr>
            <p:spPr>
              <a:xfrm>
                <a:off x="3590592" y="482622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21" name="Oval 64">
                <a:extLst>
                  <a:ext uri="{FF2B5EF4-FFF2-40B4-BE49-F238E27FC236}">
                    <a16:creationId xmlns:a16="http://schemas.microsoft.com/office/drawing/2014/main" id="{144C68FF-2836-1F8D-FE3D-1F3F32211ABA}"/>
                  </a:ext>
                </a:extLst>
              </p:cNvPr>
              <p:cNvSpPr/>
              <p:nvPr/>
            </p:nvSpPr>
            <p:spPr>
              <a:xfrm>
                <a:off x="8193771" y="4860677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22" name="Oval 64">
                <a:extLst>
                  <a:ext uri="{FF2B5EF4-FFF2-40B4-BE49-F238E27FC236}">
                    <a16:creationId xmlns:a16="http://schemas.microsoft.com/office/drawing/2014/main" id="{AEBA61FF-D6A5-E74C-8BF5-0821742DF14F}"/>
                  </a:ext>
                </a:extLst>
              </p:cNvPr>
              <p:cNvSpPr/>
              <p:nvPr/>
            </p:nvSpPr>
            <p:spPr>
              <a:xfrm>
                <a:off x="9527930" y="2985390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pic>
            <p:nvPicPr>
              <p:cNvPr id="123" name="Graphic 122" descr="Toy Train with solid fill">
                <a:extLst>
                  <a:ext uri="{FF2B5EF4-FFF2-40B4-BE49-F238E27FC236}">
                    <a16:creationId xmlns:a16="http://schemas.microsoft.com/office/drawing/2014/main" id="{F0C9A061-A23F-A958-A6BA-3AD38DC556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1139651">
                <a:off x="2958706" y="2296377"/>
                <a:ext cx="612059" cy="636457"/>
              </a:xfrm>
              <a:prstGeom prst="rect">
                <a:avLst/>
              </a:prstGeom>
            </p:spPr>
          </p:pic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7012B71-58B5-9466-FF85-0897B0E19032}"/>
                  </a:ext>
                </a:extLst>
              </p:cNvPr>
              <p:cNvSpPr txBox="1"/>
              <p:nvPr/>
            </p:nvSpPr>
            <p:spPr>
              <a:xfrm>
                <a:off x="4209187" y="4716883"/>
                <a:ext cx="194355" cy="356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b="1">
                    <a:latin typeface="+mn-lt"/>
                  </a:rPr>
                  <a:t>C</a:t>
                </a:r>
                <a:endParaRPr lang="en-DE" sz="1100" b="1">
                  <a:latin typeface="+mn-lt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84720B37-AB54-B0CF-19C7-B381BE7D7119}"/>
                  </a:ext>
                </a:extLst>
              </p:cNvPr>
              <p:cNvSpPr txBox="1"/>
              <p:nvPr/>
            </p:nvSpPr>
            <p:spPr>
              <a:xfrm>
                <a:off x="7460442" y="4716883"/>
                <a:ext cx="194355" cy="356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b="1">
                    <a:latin typeface="+mn-lt"/>
                  </a:rPr>
                  <a:t>D</a:t>
                </a:r>
                <a:endParaRPr lang="en-DE" sz="1100" b="1">
                  <a:latin typeface="+mn-lt"/>
                </a:endParaRPr>
              </a:p>
            </p:txBody>
          </p:sp>
          <p:cxnSp>
            <p:nvCxnSpPr>
              <p:cNvPr id="126" name="Straight Connector 68">
                <a:extLst>
                  <a:ext uri="{FF2B5EF4-FFF2-40B4-BE49-F238E27FC236}">
                    <a16:creationId xmlns:a16="http://schemas.microsoft.com/office/drawing/2014/main" id="{FE7CC9B5-B86E-4761-3ADE-55E4C96D75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7294" y="4503487"/>
                <a:ext cx="846929" cy="287351"/>
              </a:xfrm>
              <a:prstGeom prst="line">
                <a:avLst/>
              </a:prstGeom>
              <a:ln w="5715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7" name="Graphic 126" descr="Toy Train with solid fill">
                <a:extLst>
                  <a:ext uri="{FF2B5EF4-FFF2-40B4-BE49-F238E27FC236}">
                    <a16:creationId xmlns:a16="http://schemas.microsoft.com/office/drawing/2014/main" id="{A63D5534-A817-3C0F-93F2-05E3237E1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20504347">
                <a:off x="3763085" y="4124562"/>
                <a:ext cx="612059" cy="636457"/>
              </a:xfrm>
              <a:prstGeom prst="rect">
                <a:avLst/>
              </a:prstGeom>
            </p:spPr>
          </p:pic>
          <p:cxnSp>
            <p:nvCxnSpPr>
              <p:cNvPr id="128" name="Straight Connector 68">
                <a:extLst>
                  <a:ext uri="{FF2B5EF4-FFF2-40B4-BE49-F238E27FC236}">
                    <a16:creationId xmlns:a16="http://schemas.microsoft.com/office/drawing/2014/main" id="{8CD31560-6C8A-FE23-1605-C83453A6F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5420" y="4515361"/>
                <a:ext cx="901067" cy="323359"/>
              </a:xfrm>
              <a:prstGeom prst="line">
                <a:avLst/>
              </a:prstGeom>
              <a:ln w="5715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0" name="Graphic 129" descr="Toy Train with solid fill">
                <a:extLst>
                  <a:ext uri="{FF2B5EF4-FFF2-40B4-BE49-F238E27FC236}">
                    <a16:creationId xmlns:a16="http://schemas.microsoft.com/office/drawing/2014/main" id="{099F885B-3369-A3B0-F44E-941BCD267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 rot="677191">
                <a:off x="6832499" y="2243696"/>
                <a:ext cx="612058" cy="636456"/>
              </a:xfrm>
              <a:prstGeom prst="rect">
                <a:avLst/>
              </a:prstGeom>
            </p:spPr>
          </p:pic>
        </p:grpSp>
        <p:cxnSp>
          <p:nvCxnSpPr>
            <p:cNvPr id="148" name="Straight Connector 68">
              <a:extLst>
                <a:ext uri="{FF2B5EF4-FFF2-40B4-BE49-F238E27FC236}">
                  <a16:creationId xmlns:a16="http://schemas.microsoft.com/office/drawing/2014/main" id="{8137008F-6FC5-3A35-0B82-9842122ADE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8836" y="6091749"/>
              <a:ext cx="2121868" cy="3669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1724549C-992F-FA40-4DC7-CB54BCF837CD}"/>
                </a:ext>
              </a:extLst>
            </p:cNvPr>
            <p:cNvSpPr/>
            <p:nvPr/>
          </p:nvSpPr>
          <p:spPr>
            <a:xfrm>
              <a:off x="6308346" y="602203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0217C42-22C5-B802-7B07-227C66C5ECDD}"/>
              </a:ext>
            </a:extLst>
          </p:cNvPr>
          <p:cNvGrpSpPr/>
          <p:nvPr/>
        </p:nvGrpSpPr>
        <p:grpSpPr>
          <a:xfrm>
            <a:off x="741576" y="1880101"/>
            <a:ext cx="2066670" cy="630834"/>
            <a:chOff x="319090" y="4963595"/>
            <a:chExt cx="2687129" cy="820224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C93647E5-86A9-0967-7966-F6A3A4412A64}"/>
                </a:ext>
              </a:extLst>
            </p:cNvPr>
            <p:cNvGrpSpPr/>
            <p:nvPr/>
          </p:nvGrpSpPr>
          <p:grpSpPr>
            <a:xfrm>
              <a:off x="319090" y="4963595"/>
              <a:ext cx="2687129" cy="820224"/>
              <a:chOff x="2006006" y="3269604"/>
              <a:chExt cx="1651154" cy="504001"/>
            </a:xfrm>
          </p:grpSpPr>
          <p:sp>
            <p:nvSpPr>
              <p:cNvPr id="157" name="Flowchart: Stored Data 92">
                <a:extLst>
                  <a:ext uri="{FF2B5EF4-FFF2-40B4-BE49-F238E27FC236}">
                    <a16:creationId xmlns:a16="http://schemas.microsoft.com/office/drawing/2014/main" id="{5FB0F763-E092-B4F0-E1E6-0D43AC2A8A07}"/>
                  </a:ext>
                </a:extLst>
              </p:cNvPr>
              <p:cNvSpPr/>
              <p:nvPr/>
            </p:nvSpPr>
            <p:spPr>
              <a:xfrm flipH="1">
                <a:off x="2258003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427E294D-70E6-631F-3F63-7878F84439BB}"/>
                  </a:ext>
                </a:extLst>
              </p:cNvPr>
              <p:cNvSpPr txBox="1"/>
              <p:nvPr/>
            </p:nvSpPr>
            <p:spPr>
              <a:xfrm>
                <a:off x="2633720" y="3388317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Goal</a:t>
                </a:r>
                <a:endParaRPr lang="en-DE" sz="1400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229FBAD-25F3-8A62-633F-8ED75ED5584E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8BC60DD-0BE6-4A57-D554-027E2942606D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FB8738CE-6071-87DB-D559-1D83C944A8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5272" y="4151160"/>
            <a:ext cx="3072035" cy="194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71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769856" y="1536569"/>
            <a:ext cx="10652288" cy="47769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8425542-F194-2724-14F0-423504740FED}"/>
              </a:ext>
            </a:extLst>
          </p:cNvPr>
          <p:cNvSpPr/>
          <p:nvPr/>
        </p:nvSpPr>
        <p:spPr>
          <a:xfrm>
            <a:off x="1595942" y="1640245"/>
            <a:ext cx="9000115" cy="63083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3200">
                <a:solidFill>
                  <a:schemeClr val="tx1"/>
                </a:solidFill>
              </a:rPr>
              <a:t>Optimization Problem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86517B-11C5-2C4C-2762-A63A36FBFEBE}"/>
              </a:ext>
            </a:extLst>
          </p:cNvPr>
          <p:cNvGrpSpPr/>
          <p:nvPr/>
        </p:nvGrpSpPr>
        <p:grpSpPr>
          <a:xfrm>
            <a:off x="1581339" y="2582736"/>
            <a:ext cx="2065737" cy="630834"/>
            <a:chOff x="319090" y="4963595"/>
            <a:chExt cx="2685917" cy="82022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73BB45D-ACF4-04E3-4D8C-AB8ED0426D33}"/>
                </a:ext>
              </a:extLst>
            </p:cNvPr>
            <p:cNvGrpSpPr/>
            <p:nvPr/>
          </p:nvGrpSpPr>
          <p:grpSpPr>
            <a:xfrm>
              <a:off x="319090" y="4963595"/>
              <a:ext cx="2685917" cy="820224"/>
              <a:chOff x="2006006" y="3269604"/>
              <a:chExt cx="1650409" cy="504001"/>
            </a:xfrm>
          </p:grpSpPr>
          <p:sp>
            <p:nvSpPr>
              <p:cNvPr id="60" name="Flowchart: Stored Data 92">
                <a:extLst>
                  <a:ext uri="{FF2B5EF4-FFF2-40B4-BE49-F238E27FC236}">
                    <a16:creationId xmlns:a16="http://schemas.microsoft.com/office/drawing/2014/main" id="{2B1C63F2-0B92-3CA9-C444-9A4785A6D35D}"/>
                  </a:ext>
                </a:extLst>
              </p:cNvPr>
              <p:cNvSpPr/>
              <p:nvPr/>
            </p:nvSpPr>
            <p:spPr>
              <a:xfrm flipH="1">
                <a:off x="2258001" y="3269604"/>
                <a:ext cx="1398414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EFF26DB-97CD-6F65-C40A-33451CB2CD45}"/>
                  </a:ext>
                </a:extLst>
              </p:cNvPr>
              <p:cNvSpPr txBox="1"/>
              <p:nvPr/>
            </p:nvSpPr>
            <p:spPr>
              <a:xfrm>
                <a:off x="2633153" y="3388475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Inputs</a:t>
                </a:r>
                <a:endParaRPr lang="en-DE" sz="140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03F01E3-DE5C-D81B-9705-85475FCFDF8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4B2F89-479D-E2F5-BA6C-BA1C387A170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1029511-CE6E-DA8E-F01D-5B3758E96917}"/>
              </a:ext>
            </a:extLst>
          </p:cNvPr>
          <p:cNvGrpSpPr/>
          <p:nvPr/>
        </p:nvGrpSpPr>
        <p:grpSpPr>
          <a:xfrm>
            <a:off x="1589957" y="3930744"/>
            <a:ext cx="2066670" cy="630834"/>
            <a:chOff x="319090" y="4963595"/>
            <a:chExt cx="2687129" cy="82022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126816A-715E-F78D-F416-9FDAD526469F}"/>
                </a:ext>
              </a:extLst>
            </p:cNvPr>
            <p:cNvGrpSpPr/>
            <p:nvPr/>
          </p:nvGrpSpPr>
          <p:grpSpPr>
            <a:xfrm>
              <a:off x="319090" y="4963595"/>
              <a:ext cx="2687129" cy="820224"/>
              <a:chOff x="2006006" y="3269604"/>
              <a:chExt cx="1651154" cy="504001"/>
            </a:xfrm>
          </p:grpSpPr>
          <p:sp>
            <p:nvSpPr>
              <p:cNvPr id="66" name="Flowchart: Stored Data 92">
                <a:extLst>
                  <a:ext uri="{FF2B5EF4-FFF2-40B4-BE49-F238E27FC236}">
                    <a16:creationId xmlns:a16="http://schemas.microsoft.com/office/drawing/2014/main" id="{93072F41-226F-198C-D08C-C8EDD708BA2D}"/>
                  </a:ext>
                </a:extLst>
              </p:cNvPr>
              <p:cNvSpPr/>
              <p:nvPr/>
            </p:nvSpPr>
            <p:spPr>
              <a:xfrm flipH="1">
                <a:off x="2258003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EF6325-1628-8889-AF0D-4E2C7205C498}"/>
                  </a:ext>
                </a:extLst>
              </p:cNvPr>
              <p:cNvSpPr txBox="1"/>
              <p:nvPr/>
            </p:nvSpPr>
            <p:spPr>
              <a:xfrm>
                <a:off x="2633720" y="3388317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Goal</a:t>
                </a:r>
                <a:endParaRPr lang="en-DE" sz="140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1F47D43-E3D7-A37D-627F-5D24A78EF82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439818C-128A-E266-C876-5ABEB7EE6451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360CEDE-E4A3-611D-974A-1CC6497E747E}"/>
              </a:ext>
            </a:extLst>
          </p:cNvPr>
          <p:cNvGrpSpPr/>
          <p:nvPr/>
        </p:nvGrpSpPr>
        <p:grpSpPr>
          <a:xfrm>
            <a:off x="1589959" y="5278471"/>
            <a:ext cx="2066668" cy="630834"/>
            <a:chOff x="319090" y="4963595"/>
            <a:chExt cx="2687127" cy="82022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1B35CD1-91D4-6297-5C0C-FD0A093B4F30}"/>
                </a:ext>
              </a:extLst>
            </p:cNvPr>
            <p:cNvGrpSpPr/>
            <p:nvPr/>
          </p:nvGrpSpPr>
          <p:grpSpPr>
            <a:xfrm>
              <a:off x="319090" y="4963595"/>
              <a:ext cx="2687127" cy="820224"/>
              <a:chOff x="2006006" y="3269604"/>
              <a:chExt cx="1651153" cy="504001"/>
            </a:xfrm>
          </p:grpSpPr>
          <p:sp>
            <p:nvSpPr>
              <p:cNvPr id="72" name="Flowchart: Stored Data 92">
                <a:extLst>
                  <a:ext uri="{FF2B5EF4-FFF2-40B4-BE49-F238E27FC236}">
                    <a16:creationId xmlns:a16="http://schemas.microsoft.com/office/drawing/2014/main" id="{48E52B81-5941-26F1-28DB-0AFFF41A21C2}"/>
                  </a:ext>
                </a:extLst>
              </p:cNvPr>
              <p:cNvSpPr/>
              <p:nvPr/>
            </p:nvSpPr>
            <p:spPr>
              <a:xfrm flipH="1">
                <a:off x="2258002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8F33CD9-0DA2-2703-C4F7-1649A115427D}"/>
                  </a:ext>
                </a:extLst>
              </p:cNvPr>
              <p:cNvSpPr txBox="1"/>
              <p:nvPr/>
            </p:nvSpPr>
            <p:spPr>
              <a:xfrm>
                <a:off x="2631890" y="3388317"/>
                <a:ext cx="906635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 err="1"/>
                  <a:t>Objective</a:t>
                </a:r>
                <a:endParaRPr lang="en-DE" sz="14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50CECA6-1EC6-727E-590E-FD3DE283DF33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8C0E0A-08FF-D271-0609-4CD7E0C18D4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</p:grpSp>
      <p:sp>
        <p:nvSpPr>
          <p:cNvPr id="75" name="Down Arrow 74">
            <a:extLst>
              <a:ext uri="{FF2B5EF4-FFF2-40B4-BE49-F238E27FC236}">
                <a16:creationId xmlns:a16="http://schemas.microsoft.com/office/drawing/2014/main" id="{F0A123B5-E184-EAF1-D2E5-CD7CED432D5D}"/>
              </a:ext>
            </a:extLst>
          </p:cNvPr>
          <p:cNvSpPr/>
          <p:nvPr/>
        </p:nvSpPr>
        <p:spPr>
          <a:xfrm>
            <a:off x="2561327" y="3468323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Down Arrow 75">
            <a:extLst>
              <a:ext uri="{FF2B5EF4-FFF2-40B4-BE49-F238E27FC236}">
                <a16:creationId xmlns:a16="http://schemas.microsoft.com/office/drawing/2014/main" id="{933A797A-F4F4-E57D-AF84-19376CDCC396}"/>
              </a:ext>
            </a:extLst>
          </p:cNvPr>
          <p:cNvSpPr/>
          <p:nvPr/>
        </p:nvSpPr>
        <p:spPr>
          <a:xfrm>
            <a:off x="2561327" y="4826170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327C00-AD0D-B0BD-449A-0C13D41D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6B2537-8F3A-BAC5-D9E3-B36B96A1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FE7BC9-70B7-E8B5-70CA-A8F248490B29}"/>
              </a:ext>
            </a:extLst>
          </p:cNvPr>
          <p:cNvGrpSpPr/>
          <p:nvPr/>
        </p:nvGrpSpPr>
        <p:grpSpPr>
          <a:xfrm>
            <a:off x="8285465" y="2604004"/>
            <a:ext cx="2052372" cy="863071"/>
            <a:chOff x="1232185" y="4491632"/>
            <a:chExt cx="2195813" cy="92338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9A7C2C5-711D-BDA5-51D0-C3E6196FD53D}"/>
                </a:ext>
              </a:extLst>
            </p:cNvPr>
            <p:cNvCxnSpPr/>
            <p:nvPr/>
          </p:nvCxnSpPr>
          <p:spPr>
            <a:xfrm flipV="1">
              <a:off x="1636421" y="4856748"/>
              <a:ext cx="282757" cy="127739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0D03BA1-5D40-4B49-09CD-2FBE6E3B35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174" y="5011154"/>
              <a:ext cx="0" cy="25716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960B03D-40FF-793E-11CA-2A615A70E389}"/>
                </a:ext>
              </a:extLst>
            </p:cNvPr>
            <p:cNvCxnSpPr>
              <a:cxnSpLocks/>
            </p:cNvCxnSpPr>
            <p:nvPr/>
          </p:nvCxnSpPr>
          <p:spPr>
            <a:xfrm>
              <a:off x="2644392" y="4871659"/>
              <a:ext cx="327775" cy="13949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Graphic 77" descr="Toy Train with solid fill">
              <a:extLst>
                <a:ext uri="{FF2B5EF4-FFF2-40B4-BE49-F238E27FC236}">
                  <a16:creationId xmlns:a16="http://schemas.microsoft.com/office/drawing/2014/main" id="{93E5E9AA-98AC-16BA-4C36-97000DBD9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038051" y="4491632"/>
              <a:ext cx="528245" cy="5282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7D3B35-EB9E-AAFF-871E-1864AEA09A6C}"/>
                    </a:ext>
                  </a:extLst>
                </p:cNvPr>
                <p:cNvSpPr txBox="1"/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7D3B35-EB9E-AAFF-871E-1864AEA09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blipFill>
                  <a:blip r:embed="rId5"/>
                  <a:stretch>
                    <a:fillRect l="-13333" r="-30000" b="-5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BA3169A-12F2-3113-05F4-44CE609498FB}"/>
                    </a:ext>
                  </a:extLst>
                </p:cNvPr>
                <p:cNvSpPr txBox="1"/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BA3169A-12F2-3113-05F4-44CE60949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blipFill>
                  <a:blip r:embed="rId6"/>
                  <a:stretch>
                    <a:fillRect l="-13559" r="-30508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C47274-A50A-6901-BD0F-2E15AE1C2AFC}"/>
                </a:ext>
              </a:extLst>
            </p:cNvPr>
            <p:cNvSpPr txBox="1"/>
            <p:nvPr/>
          </p:nvSpPr>
          <p:spPr>
            <a:xfrm>
              <a:off x="3020609" y="4988614"/>
              <a:ext cx="407389" cy="17708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400">
                  <a:latin typeface="+mn-lt"/>
                </a:rPr>
                <a:t>weight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A4E343-0C02-5C03-F0BF-AC7C78D1C5B6}"/>
              </a:ext>
            </a:extLst>
          </p:cNvPr>
          <p:cNvGrpSpPr/>
          <p:nvPr/>
        </p:nvGrpSpPr>
        <p:grpSpPr>
          <a:xfrm>
            <a:off x="4489080" y="3873850"/>
            <a:ext cx="2667514" cy="1115447"/>
            <a:chOff x="1766898" y="3825959"/>
            <a:chExt cx="7138230" cy="298492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912DCB6-E5EA-F146-7304-FBC4E43679BE}"/>
                </a:ext>
              </a:extLst>
            </p:cNvPr>
            <p:cNvGrpSpPr/>
            <p:nvPr/>
          </p:nvGrpSpPr>
          <p:grpSpPr>
            <a:xfrm>
              <a:off x="1766898" y="3825959"/>
              <a:ext cx="7138230" cy="2984925"/>
              <a:chOff x="2526885" y="2243696"/>
              <a:chExt cx="7138230" cy="2984925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D976686-C8D1-B431-C915-65190B11D1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861" y="3985495"/>
                <a:ext cx="935165" cy="4527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4E1B553-3D3E-D63B-F82A-10E1A23A58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38990" y="4013953"/>
                <a:ext cx="934265" cy="4049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15DD354-9423-DEB6-B0D8-798DD2DA2A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2435" y="3171710"/>
                <a:ext cx="1214534" cy="12033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B36D9C5-DDBB-F300-29F7-E86CCC0F42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3274" y="3814377"/>
                <a:ext cx="665003" cy="891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A066E909-8E55-C270-5C8D-5C98291336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2078" y="3131609"/>
                <a:ext cx="1102919" cy="595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C4FC63D-4811-67AE-FB03-6F5EEFCF2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136" y="2622104"/>
                <a:ext cx="2038769" cy="4207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8CFD5A20-BD01-A37E-563A-2C600B7BD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059346"/>
                <a:ext cx="75085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14B20E85-A050-0839-3D6F-F82E353C01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2874" y="3118678"/>
                <a:ext cx="1230608" cy="5918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BCB0773-E48A-0A1A-0EE5-5C860E0C0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1335" y="2699762"/>
                <a:ext cx="860764" cy="9828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Graphic 113" descr="Toy Train with solid fill">
                <a:extLst>
                  <a:ext uri="{FF2B5EF4-FFF2-40B4-BE49-F238E27FC236}">
                    <a16:creationId xmlns:a16="http://schemas.microsoft.com/office/drawing/2014/main" id="{EB222957-D2F4-CB9A-5567-38FCA24394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20878014">
                <a:off x="4475857" y="2288576"/>
                <a:ext cx="612058" cy="636456"/>
              </a:xfrm>
              <a:prstGeom prst="rect">
                <a:avLst/>
              </a:prstGeom>
            </p:spPr>
          </p:pic>
          <p:cxnSp>
            <p:nvCxnSpPr>
              <p:cNvPr id="115" name="Straight Connector 69">
                <a:extLst>
                  <a:ext uri="{FF2B5EF4-FFF2-40B4-BE49-F238E27FC236}">
                    <a16:creationId xmlns:a16="http://schemas.microsoft.com/office/drawing/2014/main" id="{13623861-382E-0AB1-B3E2-DECCDB1C3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109953"/>
                <a:ext cx="750580" cy="0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63">
                <a:extLst>
                  <a:ext uri="{FF2B5EF4-FFF2-40B4-BE49-F238E27FC236}">
                    <a16:creationId xmlns:a16="http://schemas.microsoft.com/office/drawing/2014/main" id="{21A8C6E4-D556-D19B-C248-93EFD659E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008739"/>
                <a:ext cx="750580" cy="0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C246CD57-D2E9-9AFF-40CB-897293538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2078" y="3135240"/>
                <a:ext cx="1102919" cy="592248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46AC86A-18BD-F5A6-DB6E-3D9D1716C3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03274" y="3814377"/>
                <a:ext cx="665003" cy="89146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3DAAC609-B0EC-1BA9-719F-7CDE0E1410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0155" y="3113841"/>
                <a:ext cx="1251276" cy="605639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50451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ECA12499-CB6F-BA9D-6BF6-BC7C13E4B9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2727" y="2699762"/>
                <a:ext cx="859372" cy="982826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FF5DA2DD-02D9-E429-5800-F785DF151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2438" y="3161451"/>
                <a:ext cx="1219020" cy="1213652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69">
                <a:extLst>
                  <a:ext uri="{FF2B5EF4-FFF2-40B4-BE49-F238E27FC236}">
                    <a16:creationId xmlns:a16="http://schemas.microsoft.com/office/drawing/2014/main" id="{964B4CBA-86F7-388B-8EAA-BCBE13EC2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810" y="2756477"/>
                <a:ext cx="926024" cy="316417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550C9392-11FA-AD1D-F8C9-1BA45026D5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136" y="2622104"/>
                <a:ext cx="2038769" cy="42079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3F03BD0A-0231-233E-2D02-2BD7BD2656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9289" y="2611313"/>
                <a:ext cx="2299739" cy="431585"/>
              </a:xfrm>
              <a:prstGeom prst="line">
                <a:avLst/>
              </a:prstGeom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15E0923-657B-4FAC-65D8-B57B0EA573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9328" y="2699762"/>
                <a:ext cx="925828" cy="3193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542EC716-6F22-FBE3-153A-6CC11A3C04E5}"/>
                  </a:ext>
                </a:extLst>
              </p:cNvPr>
              <p:cNvSpPr/>
              <p:nvPr/>
            </p:nvSpPr>
            <p:spPr>
              <a:xfrm>
                <a:off x="8507281" y="2992631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60B5A637-5FDD-E96D-5B26-D643F6717E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19950" y="3781152"/>
                <a:ext cx="783118" cy="1256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D9108E25-9FB3-6114-850F-6C88ABA0D0A7}"/>
                  </a:ext>
                </a:extLst>
              </p:cNvPr>
              <p:cNvSpPr/>
              <p:nvPr/>
            </p:nvSpPr>
            <p:spPr>
              <a:xfrm>
                <a:off x="5038184" y="3710563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8F0742-DFDD-D073-6A4D-13341232F0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4191" y="3130630"/>
                <a:ext cx="886404" cy="37184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D6DB8DFC-D180-E6BE-D154-28341DF97D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4841" y="3191006"/>
                <a:ext cx="896799" cy="11840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5AFD43F-208E-5FB6-1E14-225DC3953C75}"/>
                  </a:ext>
                </a:extLst>
              </p:cNvPr>
              <p:cNvSpPr txBox="1"/>
              <p:nvPr/>
            </p:nvSpPr>
            <p:spPr>
              <a:xfrm>
                <a:off x="2815027" y="2907911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DE" sz="1200" b="1">
                    <a:latin typeface="+mn-lt"/>
                  </a:rPr>
                  <a:t>A</a:t>
                </a:r>
                <a:endParaRPr lang="en-DE" sz="900" b="1">
                  <a:latin typeface="+mn-lt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6AA2FA6-61E7-DECD-6C84-2B8922BCF5FB}"/>
                  </a:ext>
                </a:extLst>
              </p:cNvPr>
              <p:cNvSpPr txBox="1"/>
              <p:nvPr/>
            </p:nvSpPr>
            <p:spPr>
              <a:xfrm>
                <a:off x="8979893" y="3142937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DE" sz="1200" b="1">
                    <a:latin typeface="+mn-lt"/>
                  </a:rPr>
                  <a:t>B</a:t>
                </a:r>
                <a:endParaRPr lang="en-DE" sz="1050" b="1">
                  <a:latin typeface="+mn-lt"/>
                </a:endParaRPr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E3113185-61E4-9C51-D3C1-40E67BB0E9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4837" y="4551092"/>
                <a:ext cx="850285" cy="28884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9B90B82-0ACB-D14F-3330-CE5D1ABC7C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39801" y="3917500"/>
                <a:ext cx="198384" cy="465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5B8BC84-43A0-E39B-C9EB-34D24E8D6A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8823" y="4503487"/>
                <a:ext cx="2109616" cy="599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83F31D7-8984-F756-64AA-418A86CF9D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22360" y="3886759"/>
                <a:ext cx="83195" cy="4607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D5962C7-D2DC-7000-0803-654F8B032372}"/>
                  </a:ext>
                </a:extLst>
              </p:cNvPr>
              <p:cNvSpPr/>
              <p:nvPr/>
            </p:nvSpPr>
            <p:spPr>
              <a:xfrm>
                <a:off x="5954150" y="2534743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40FA5620-9F22-5557-282F-43F75084876F}"/>
                  </a:ext>
                </a:extLst>
              </p:cNvPr>
              <p:cNvSpPr/>
              <p:nvPr/>
            </p:nvSpPr>
            <p:spPr>
              <a:xfrm>
                <a:off x="4709139" y="4440402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2A9164D0-AADB-45F8-8538-8AA847757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7758" y="3990828"/>
                <a:ext cx="948168" cy="455414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EB61071-32F0-0948-566E-5EC047003DD5}"/>
                  </a:ext>
                </a:extLst>
              </p:cNvPr>
              <p:cNvSpPr/>
              <p:nvPr/>
            </p:nvSpPr>
            <p:spPr>
              <a:xfrm>
                <a:off x="5923171" y="385078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E624E1A-F06F-EBCD-C232-6A661D3F9C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623" y="4561809"/>
                <a:ext cx="905174" cy="33116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8BBBFAD9-0D1A-8AC8-23F0-8635842D00E0}"/>
                  </a:ext>
                </a:extLst>
              </p:cNvPr>
              <p:cNvSpPr/>
              <p:nvPr/>
            </p:nvSpPr>
            <p:spPr>
              <a:xfrm>
                <a:off x="3651005" y="300873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0BF6398-9D40-832F-A961-E6EBDB1FBC9F}"/>
                  </a:ext>
                </a:extLst>
              </p:cNvPr>
              <p:cNvSpPr/>
              <p:nvPr/>
            </p:nvSpPr>
            <p:spPr>
              <a:xfrm>
                <a:off x="6952099" y="369661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4" name="Oval 64">
                <a:extLst>
                  <a:ext uri="{FF2B5EF4-FFF2-40B4-BE49-F238E27FC236}">
                    <a16:creationId xmlns:a16="http://schemas.microsoft.com/office/drawing/2014/main" id="{95447011-949E-2C49-E384-9A8458938747}"/>
                  </a:ext>
                </a:extLst>
              </p:cNvPr>
              <p:cNvSpPr/>
              <p:nvPr/>
            </p:nvSpPr>
            <p:spPr>
              <a:xfrm>
                <a:off x="2526885" y="2623041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5" name="Oval 64">
                <a:extLst>
                  <a:ext uri="{FF2B5EF4-FFF2-40B4-BE49-F238E27FC236}">
                    <a16:creationId xmlns:a16="http://schemas.microsoft.com/office/drawing/2014/main" id="{60800FD5-7BE6-9112-2F6F-57017DC4AB12}"/>
                  </a:ext>
                </a:extLst>
              </p:cNvPr>
              <p:cNvSpPr/>
              <p:nvPr/>
            </p:nvSpPr>
            <p:spPr>
              <a:xfrm>
                <a:off x="2539493" y="3499128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6" name="Oval 64">
                <a:extLst>
                  <a:ext uri="{FF2B5EF4-FFF2-40B4-BE49-F238E27FC236}">
                    <a16:creationId xmlns:a16="http://schemas.microsoft.com/office/drawing/2014/main" id="{D70137C9-18D9-B368-5543-43C1E886E18A}"/>
                  </a:ext>
                </a:extLst>
              </p:cNvPr>
              <p:cNvSpPr/>
              <p:nvPr/>
            </p:nvSpPr>
            <p:spPr>
              <a:xfrm>
                <a:off x="3590592" y="482622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7" name="Oval 64">
                <a:extLst>
                  <a:ext uri="{FF2B5EF4-FFF2-40B4-BE49-F238E27FC236}">
                    <a16:creationId xmlns:a16="http://schemas.microsoft.com/office/drawing/2014/main" id="{2BF63270-3AAE-A850-6E61-8B1F85E55A51}"/>
                  </a:ext>
                </a:extLst>
              </p:cNvPr>
              <p:cNvSpPr/>
              <p:nvPr/>
            </p:nvSpPr>
            <p:spPr>
              <a:xfrm>
                <a:off x="8193771" y="4860677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8" name="Oval 64">
                <a:extLst>
                  <a:ext uri="{FF2B5EF4-FFF2-40B4-BE49-F238E27FC236}">
                    <a16:creationId xmlns:a16="http://schemas.microsoft.com/office/drawing/2014/main" id="{ACA0B27C-8473-CE21-0CCF-F4D6929BCA9C}"/>
                  </a:ext>
                </a:extLst>
              </p:cNvPr>
              <p:cNvSpPr/>
              <p:nvPr/>
            </p:nvSpPr>
            <p:spPr>
              <a:xfrm>
                <a:off x="9527930" y="2985390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pic>
            <p:nvPicPr>
              <p:cNvPr id="149" name="Graphic 148" descr="Toy Train with solid fill">
                <a:extLst>
                  <a:ext uri="{FF2B5EF4-FFF2-40B4-BE49-F238E27FC236}">
                    <a16:creationId xmlns:a16="http://schemas.microsoft.com/office/drawing/2014/main" id="{8C652CF6-D8A6-1277-E0CE-022203B61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1139651">
                <a:off x="2958706" y="2296377"/>
                <a:ext cx="612059" cy="636457"/>
              </a:xfrm>
              <a:prstGeom prst="rect">
                <a:avLst/>
              </a:prstGeom>
            </p:spPr>
          </p:pic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825427C-B212-B940-3936-E1E39522F14F}"/>
                  </a:ext>
                </a:extLst>
              </p:cNvPr>
              <p:cNvSpPr txBox="1"/>
              <p:nvPr/>
            </p:nvSpPr>
            <p:spPr>
              <a:xfrm>
                <a:off x="4209187" y="4716884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b="1">
                    <a:latin typeface="+mn-lt"/>
                  </a:rPr>
                  <a:t>C</a:t>
                </a:r>
                <a:endParaRPr lang="en-DE" sz="900" b="1">
                  <a:latin typeface="+mn-lt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8C38E48-148D-0343-086F-6DDEB7E21375}"/>
                  </a:ext>
                </a:extLst>
              </p:cNvPr>
              <p:cNvSpPr txBox="1"/>
              <p:nvPr/>
            </p:nvSpPr>
            <p:spPr>
              <a:xfrm>
                <a:off x="7460441" y="4716884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b="1">
                    <a:latin typeface="+mn-lt"/>
                  </a:rPr>
                  <a:t>D</a:t>
                </a:r>
                <a:endParaRPr lang="en-DE" sz="900" b="1">
                  <a:latin typeface="+mn-lt"/>
                </a:endParaRPr>
              </a:p>
            </p:txBody>
          </p:sp>
          <p:cxnSp>
            <p:nvCxnSpPr>
              <p:cNvPr id="152" name="Straight Connector 68">
                <a:extLst>
                  <a:ext uri="{FF2B5EF4-FFF2-40B4-BE49-F238E27FC236}">
                    <a16:creationId xmlns:a16="http://schemas.microsoft.com/office/drawing/2014/main" id="{400F5770-6B21-B99C-93DE-60A2C5CB53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7294" y="4503487"/>
                <a:ext cx="846929" cy="287351"/>
              </a:xfrm>
              <a:prstGeom prst="line">
                <a:avLst/>
              </a:prstGeom>
              <a:ln w="5715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3" name="Graphic 152" descr="Toy Train with solid fill">
                <a:extLst>
                  <a:ext uri="{FF2B5EF4-FFF2-40B4-BE49-F238E27FC236}">
                    <a16:creationId xmlns:a16="http://schemas.microsoft.com/office/drawing/2014/main" id="{C7B09BAB-B059-2CAD-E669-BB8B59F7F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20504347">
                <a:off x="3763085" y="4124562"/>
                <a:ext cx="612059" cy="636457"/>
              </a:xfrm>
              <a:prstGeom prst="rect">
                <a:avLst/>
              </a:prstGeom>
            </p:spPr>
          </p:pic>
          <p:cxnSp>
            <p:nvCxnSpPr>
              <p:cNvPr id="154" name="Straight Connector 68">
                <a:extLst>
                  <a:ext uri="{FF2B5EF4-FFF2-40B4-BE49-F238E27FC236}">
                    <a16:creationId xmlns:a16="http://schemas.microsoft.com/office/drawing/2014/main" id="{2CE477EA-A1F1-3024-7538-B72A03862B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5420" y="4515361"/>
                <a:ext cx="901067" cy="323359"/>
              </a:xfrm>
              <a:prstGeom prst="line">
                <a:avLst/>
              </a:prstGeom>
              <a:ln w="5715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5" name="Graphic 154" descr="Toy Train with solid fill">
                <a:extLst>
                  <a:ext uri="{FF2B5EF4-FFF2-40B4-BE49-F238E27FC236}">
                    <a16:creationId xmlns:a16="http://schemas.microsoft.com/office/drawing/2014/main" id="{1A8226A7-259C-D74D-8802-9C9B3049FE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 rot="677191">
                <a:off x="6832499" y="2243696"/>
                <a:ext cx="612058" cy="636456"/>
              </a:xfrm>
              <a:prstGeom prst="rect">
                <a:avLst/>
              </a:prstGeom>
            </p:spPr>
          </p:pic>
        </p:grpSp>
        <p:cxnSp>
          <p:nvCxnSpPr>
            <p:cNvPr id="103" name="Straight Connector 68">
              <a:extLst>
                <a:ext uri="{FF2B5EF4-FFF2-40B4-BE49-F238E27FC236}">
                  <a16:creationId xmlns:a16="http://schemas.microsoft.com/office/drawing/2014/main" id="{7206105B-F13F-A689-8685-6D027965D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8836" y="6091749"/>
              <a:ext cx="2121868" cy="3669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0740054-BA0D-4B19-4466-3FA3435BA299}"/>
                </a:ext>
              </a:extLst>
            </p:cNvPr>
            <p:cNvSpPr/>
            <p:nvPr/>
          </p:nvSpPr>
          <p:spPr>
            <a:xfrm>
              <a:off x="6308346" y="602203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pic>
        <p:nvPicPr>
          <p:cNvPr id="291" name="Picture 290">
            <a:extLst>
              <a:ext uri="{FF2B5EF4-FFF2-40B4-BE49-F238E27FC236}">
                <a16:creationId xmlns:a16="http://schemas.microsoft.com/office/drawing/2014/main" id="{111CDA33-D772-60F6-1E94-01528B65E5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9685" y="3641964"/>
            <a:ext cx="2552700" cy="16129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CD945C-B881-60DD-DB11-4BAC7BF74DEC}"/>
              </a:ext>
            </a:extLst>
          </p:cNvPr>
          <p:cNvGrpSpPr/>
          <p:nvPr/>
        </p:nvGrpSpPr>
        <p:grpSpPr>
          <a:xfrm>
            <a:off x="4427710" y="2386512"/>
            <a:ext cx="3610913" cy="1245563"/>
            <a:chOff x="2526885" y="1808819"/>
            <a:chExt cx="9204218" cy="34413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4BA7BFB-C666-5545-7E0A-A2CD71C5A5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990" y="4013952"/>
              <a:ext cx="934265" cy="4049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36B781-1620-160D-6A9E-0389FA9C4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B21070D-7C24-C8C2-5656-D1229329D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2874" y="3118677"/>
              <a:ext cx="1230608" cy="5918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590B7D-AFCF-EBAF-881A-CF30EDC2D6FB}"/>
                </a:ext>
              </a:extLst>
            </p:cNvPr>
            <p:cNvCxnSpPr>
              <a:cxnSpLocks/>
            </p:cNvCxnSpPr>
            <p:nvPr/>
          </p:nvCxnSpPr>
          <p:spPr>
            <a:xfrm>
              <a:off x="6091335" y="2699760"/>
              <a:ext cx="860764" cy="9828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25A351-91DF-FABB-3730-77BE24929333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59345"/>
              <a:ext cx="750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4A920BD-49AF-7754-7345-11DED23DB7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2435" y="3171708"/>
              <a:ext cx="1214534" cy="12033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8C0E3AD-020E-BE16-C1A4-7EDEB7648B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078" y="3131607"/>
              <a:ext cx="1102919" cy="5958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F0F315D-4FC7-3E33-1D68-00E87714AFF4}"/>
                </a:ext>
              </a:extLst>
            </p:cNvPr>
            <p:cNvCxnSpPr>
              <a:cxnSpLocks/>
            </p:cNvCxnSpPr>
            <p:nvPr/>
          </p:nvCxnSpPr>
          <p:spPr>
            <a:xfrm>
              <a:off x="5203274" y="3814376"/>
              <a:ext cx="665003" cy="891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3">
              <a:extLst>
                <a:ext uri="{FF2B5EF4-FFF2-40B4-BE49-F238E27FC236}">
                  <a16:creationId xmlns:a16="http://schemas.microsoft.com/office/drawing/2014/main" id="{FE40156D-9A00-FE97-EEB6-555C52CC5CE6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08738"/>
              <a:ext cx="750580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B83977E-C101-0E77-DFFF-4F3652E1C1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54B5550-0A16-5B8A-81E6-F3A40E86B669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312"/>
              <a:ext cx="2299739" cy="43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A872D4D-14BC-47AF-FFC7-968433A8FBBC}"/>
                </a:ext>
              </a:extLst>
            </p:cNvPr>
            <p:cNvCxnSpPr>
              <a:cxnSpLocks/>
            </p:cNvCxnSpPr>
            <p:nvPr/>
          </p:nvCxnSpPr>
          <p:spPr>
            <a:xfrm>
              <a:off x="2689328" y="2699760"/>
              <a:ext cx="925828" cy="3193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C39674E-47A8-DEE9-06D8-8D4EEF9CA6C9}"/>
                </a:ext>
              </a:extLst>
            </p:cNvPr>
            <p:cNvSpPr/>
            <p:nvPr/>
          </p:nvSpPr>
          <p:spPr>
            <a:xfrm>
              <a:off x="8507281" y="299263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B20ED2-AC9E-0842-6338-33C1CDD9EE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950" y="3781151"/>
              <a:ext cx="783118" cy="1256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8D9E03A-71A6-D0E5-796C-C6532489822A}"/>
                </a:ext>
              </a:extLst>
            </p:cNvPr>
            <p:cNvSpPr/>
            <p:nvPr/>
          </p:nvSpPr>
          <p:spPr>
            <a:xfrm>
              <a:off x="5038184" y="371056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3DB939B-F165-5B2F-E291-B5A7E971F5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191" y="3130629"/>
              <a:ext cx="886404" cy="3718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DF8D165-9996-EA69-C1A3-236BDD307850}"/>
                </a:ext>
              </a:extLst>
            </p:cNvPr>
            <p:cNvCxnSpPr>
              <a:cxnSpLocks/>
            </p:cNvCxnSpPr>
            <p:nvPr/>
          </p:nvCxnSpPr>
          <p:spPr>
            <a:xfrm>
              <a:off x="3784841" y="3191005"/>
              <a:ext cx="896799" cy="11840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A489A07-2C7F-CAA7-C40F-115B86F6418D}"/>
                </a:ext>
              </a:extLst>
            </p:cNvPr>
            <p:cNvSpPr txBox="1"/>
            <p:nvPr/>
          </p:nvSpPr>
          <p:spPr>
            <a:xfrm>
              <a:off x="2815026" y="2907911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A</a:t>
              </a:r>
              <a:endParaRPr lang="en-DE" sz="900" b="1">
                <a:latin typeface="+mn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4CCB1B-25E5-839C-61F8-C906EFC4DCA1}"/>
                </a:ext>
              </a:extLst>
            </p:cNvPr>
            <p:cNvSpPr txBox="1"/>
            <p:nvPr/>
          </p:nvSpPr>
          <p:spPr>
            <a:xfrm>
              <a:off x="8979892" y="3142936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B</a:t>
              </a:r>
              <a:endParaRPr lang="en-DE" sz="1050" b="1">
                <a:latin typeface="+mn-lt"/>
              </a:endParaRP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7E0C90C-DE4F-E061-567B-DD6D1278FE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4837" y="4551090"/>
              <a:ext cx="850285" cy="2888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02D6516-77A5-D6BE-8EC9-21C0AF0625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801" y="3917498"/>
              <a:ext cx="198384" cy="464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E2CD0D2-8D79-A2DC-5433-144EAD82A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8823" y="4503486"/>
              <a:ext cx="2109616" cy="5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A3CE171-1A5A-5DF9-E9AF-9EEBCCA2D8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2360" y="3886758"/>
              <a:ext cx="83195" cy="4607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289B44E-9ECA-E3F6-47E3-D10B444F7D75}"/>
                </a:ext>
              </a:extLst>
            </p:cNvPr>
            <p:cNvSpPr/>
            <p:nvPr/>
          </p:nvSpPr>
          <p:spPr>
            <a:xfrm>
              <a:off x="5954150" y="253474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88278BE-54A4-7232-68DA-EB67E0CEE40D}"/>
                </a:ext>
              </a:extLst>
            </p:cNvPr>
            <p:cNvSpPr/>
            <p:nvPr/>
          </p:nvSpPr>
          <p:spPr>
            <a:xfrm>
              <a:off x="4709139" y="444040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6534112-6BBD-8BE8-90B6-BE081A227408}"/>
                </a:ext>
              </a:extLst>
            </p:cNvPr>
            <p:cNvGrpSpPr/>
            <p:nvPr/>
          </p:nvGrpSpPr>
          <p:grpSpPr>
            <a:xfrm>
              <a:off x="5923200" y="3850751"/>
              <a:ext cx="1282347" cy="722415"/>
              <a:chOff x="4503293" y="4189137"/>
              <a:chExt cx="1009536" cy="587019"/>
            </a:xfrm>
          </p:grpSpPr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8179809-A4F0-71B1-85A8-B6202173C0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13558" y="4320579"/>
                <a:ext cx="784297" cy="3302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C0D2A2C6-D866-9594-E8E2-E76CA1AD9122}"/>
                  </a:ext>
                </a:extLst>
              </p:cNvPr>
              <p:cNvSpPr/>
              <p:nvPr/>
            </p:nvSpPr>
            <p:spPr>
              <a:xfrm>
                <a:off x="4503293" y="4189137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D10A67DA-E9E5-9E65-08C4-91B429ACE00D}"/>
                  </a:ext>
                </a:extLst>
              </p:cNvPr>
              <p:cNvSpPr/>
              <p:nvPr/>
            </p:nvSpPr>
            <p:spPr>
              <a:xfrm>
                <a:off x="5404829" y="4667732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B453D1-C92A-F883-9EBE-4AB948AC9939}"/>
                </a:ext>
              </a:extLst>
            </p:cNvPr>
            <p:cNvCxnSpPr>
              <a:cxnSpLocks/>
            </p:cNvCxnSpPr>
            <p:nvPr/>
          </p:nvCxnSpPr>
          <p:spPr>
            <a:xfrm>
              <a:off x="7242623" y="4561807"/>
              <a:ext cx="905174" cy="3311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44BBF716-DA0E-590B-BC1C-ECD997A835AA}"/>
                </a:ext>
              </a:extLst>
            </p:cNvPr>
            <p:cNvSpPr/>
            <p:nvPr/>
          </p:nvSpPr>
          <p:spPr>
            <a:xfrm>
              <a:off x="3651005" y="3008738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E318155-FF8E-DBAD-BAF3-B8A9405F2369}"/>
                </a:ext>
              </a:extLst>
            </p:cNvPr>
            <p:cNvSpPr/>
            <p:nvPr/>
          </p:nvSpPr>
          <p:spPr>
            <a:xfrm>
              <a:off x="6952099" y="369661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6" name="Oval 64">
              <a:extLst>
                <a:ext uri="{FF2B5EF4-FFF2-40B4-BE49-F238E27FC236}">
                  <a16:creationId xmlns:a16="http://schemas.microsoft.com/office/drawing/2014/main" id="{17CF481B-9ABF-7378-6AA4-ABA098498D4B}"/>
                </a:ext>
              </a:extLst>
            </p:cNvPr>
            <p:cNvSpPr/>
            <p:nvPr/>
          </p:nvSpPr>
          <p:spPr>
            <a:xfrm>
              <a:off x="2526885" y="262304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7" name="Oval 64">
              <a:extLst>
                <a:ext uri="{FF2B5EF4-FFF2-40B4-BE49-F238E27FC236}">
                  <a16:creationId xmlns:a16="http://schemas.microsoft.com/office/drawing/2014/main" id="{3F6639FD-799C-FE7E-C6A1-ACA75A4891B4}"/>
                </a:ext>
              </a:extLst>
            </p:cNvPr>
            <p:cNvSpPr/>
            <p:nvPr/>
          </p:nvSpPr>
          <p:spPr>
            <a:xfrm>
              <a:off x="2539493" y="34991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8" name="Oval 64">
              <a:extLst>
                <a:ext uri="{FF2B5EF4-FFF2-40B4-BE49-F238E27FC236}">
                  <a16:creationId xmlns:a16="http://schemas.microsoft.com/office/drawing/2014/main" id="{8C25574D-3039-4CEE-BFDE-CF848D370E3A}"/>
                </a:ext>
              </a:extLst>
            </p:cNvPr>
            <p:cNvSpPr/>
            <p:nvPr/>
          </p:nvSpPr>
          <p:spPr>
            <a:xfrm>
              <a:off x="3590592" y="48262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39" name="Oval 64">
              <a:extLst>
                <a:ext uri="{FF2B5EF4-FFF2-40B4-BE49-F238E27FC236}">
                  <a16:creationId xmlns:a16="http://schemas.microsoft.com/office/drawing/2014/main" id="{48E92192-76B6-4819-4236-9E92CBBC2D81}"/>
                </a:ext>
              </a:extLst>
            </p:cNvPr>
            <p:cNvSpPr/>
            <p:nvPr/>
          </p:nvSpPr>
          <p:spPr>
            <a:xfrm>
              <a:off x="8193771" y="4860675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41" name="Oval 64">
              <a:extLst>
                <a:ext uri="{FF2B5EF4-FFF2-40B4-BE49-F238E27FC236}">
                  <a16:creationId xmlns:a16="http://schemas.microsoft.com/office/drawing/2014/main" id="{24CAF7E7-BCB9-1D50-E7C7-B873B8E7C86F}"/>
                </a:ext>
              </a:extLst>
            </p:cNvPr>
            <p:cNvSpPr/>
            <p:nvPr/>
          </p:nvSpPr>
          <p:spPr>
            <a:xfrm>
              <a:off x="9527930" y="2985389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42" name="Straight Connector 63">
              <a:extLst>
                <a:ext uri="{FF2B5EF4-FFF2-40B4-BE49-F238E27FC236}">
                  <a16:creationId xmlns:a16="http://schemas.microsoft.com/office/drawing/2014/main" id="{85A0A62A-5C65-C18C-BD9B-E16485094BE9}"/>
                </a:ext>
              </a:extLst>
            </p:cNvPr>
            <p:cNvCxnSpPr>
              <a:cxnSpLocks/>
            </p:cNvCxnSpPr>
            <p:nvPr/>
          </p:nvCxnSpPr>
          <p:spPr>
            <a:xfrm>
              <a:off x="2713315" y="2645955"/>
              <a:ext cx="918438" cy="3286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Graphic 42" descr="Toy Train with solid fill">
              <a:extLst>
                <a:ext uri="{FF2B5EF4-FFF2-40B4-BE49-F238E27FC236}">
                  <a16:creationId xmlns:a16="http://schemas.microsoft.com/office/drawing/2014/main" id="{D5703012-F70F-F242-70FD-490E41FC60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1139651">
              <a:off x="2958706" y="2296376"/>
              <a:ext cx="612059" cy="636456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987D809-3EEE-81E7-D438-A140838CB254}"/>
                </a:ext>
              </a:extLst>
            </p:cNvPr>
            <p:cNvSpPr txBox="1"/>
            <p:nvPr/>
          </p:nvSpPr>
          <p:spPr>
            <a:xfrm>
              <a:off x="4209186" y="4716883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C</a:t>
              </a:r>
              <a:endParaRPr lang="en-DE" sz="900" b="1">
                <a:latin typeface="+mn-lt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27C6287-86B6-B1FD-ADBD-F1B09C108D69}"/>
                </a:ext>
              </a:extLst>
            </p:cNvPr>
            <p:cNvSpPr txBox="1"/>
            <p:nvPr/>
          </p:nvSpPr>
          <p:spPr>
            <a:xfrm>
              <a:off x="7460444" y="4716883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D</a:t>
              </a:r>
              <a:endParaRPr lang="en-DE" sz="900" b="1">
                <a:latin typeface="+mn-lt"/>
              </a:endParaRPr>
            </a:p>
          </p:txBody>
        </p:sp>
        <p:pic>
          <p:nvPicPr>
            <p:cNvPr id="46" name="Graphic 45" descr="Toy Train with solid fill">
              <a:extLst>
                <a:ext uri="{FF2B5EF4-FFF2-40B4-BE49-F238E27FC236}">
                  <a16:creationId xmlns:a16="http://schemas.microsoft.com/office/drawing/2014/main" id="{8C0EC654-5CBF-85BB-3A0A-53B053DAA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20878014">
              <a:off x="4475857" y="2288575"/>
              <a:ext cx="612058" cy="636456"/>
            </a:xfrm>
            <a:prstGeom prst="rect">
              <a:avLst/>
            </a:prstGeom>
          </p:spPr>
        </p:pic>
        <p:pic>
          <p:nvPicPr>
            <p:cNvPr id="47" name="Graphic 46" descr="Toy Train with solid fill">
              <a:extLst>
                <a:ext uri="{FF2B5EF4-FFF2-40B4-BE49-F238E27FC236}">
                  <a16:creationId xmlns:a16="http://schemas.microsoft.com/office/drawing/2014/main" id="{BD8B430B-3077-C3CB-4444-87FBBF712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 rot="677191">
              <a:off x="6832499" y="2243695"/>
              <a:ext cx="612058" cy="6364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DF3729A-583B-C1CD-9EB2-90A5DD98DBC3}"/>
                    </a:ext>
                  </a:extLst>
                </p:cNvPr>
                <p:cNvSpPr txBox="1"/>
                <p:nvPr/>
              </p:nvSpPr>
              <p:spPr>
                <a:xfrm>
                  <a:off x="7444982" y="1808819"/>
                  <a:ext cx="4286121" cy="7755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1600" b="1"/>
                          <m:t>Delay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sz="1600"/>
                          <m:t>= 20 </m:t>
                        </m:r>
                        <m:r>
                          <m:rPr>
                            <m:nor/>
                          </m:rPr>
                          <a:rPr lang="de-DE" sz="1600"/>
                          <m:t>min</m:t>
                        </m:r>
                      </m:oMath>
                    </m:oMathPara>
                  </a14:m>
                  <a:endParaRPr lang="en-DE" sz="160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DF3729A-583B-C1CD-9EB2-90A5DD98D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982" y="1808819"/>
                  <a:ext cx="4286121" cy="775581"/>
                </a:xfrm>
                <a:prstGeom prst="rect">
                  <a:avLst/>
                </a:prstGeom>
                <a:blipFill>
                  <a:blip r:embed="rId10"/>
                  <a:stretch>
                    <a:fillRect b="-212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BA1E58F-2C90-6177-3AD3-A72BF46E8A6E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155"/>
              <a:ext cx="2299739" cy="42844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274311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D7F7502-6A35-F46D-F93E-0FFC4BA3A6E8}"/>
              </a:ext>
            </a:extLst>
          </p:cNvPr>
          <p:cNvSpPr/>
          <p:nvPr/>
        </p:nvSpPr>
        <p:spPr>
          <a:xfrm>
            <a:off x="876692" y="2726517"/>
            <a:ext cx="10048973" cy="355686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13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6D15F1-1C83-D7E1-9A21-29EDC4A72AC3}"/>
                  </a:ext>
                </a:extLst>
              </p:cNvPr>
              <p:cNvSpPr txBox="1"/>
              <p:nvPr/>
            </p:nvSpPr>
            <p:spPr>
              <a:xfrm>
                <a:off x="4597109" y="3272149"/>
                <a:ext cx="2608140" cy="12647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800">
                                  <a:latin typeface="+mn-lt"/>
                                </a:rPr>
                                <m:t>min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800" i="1">
                                  <a:latin typeface="+mn-lt"/>
                                </a:rPr>
                                <m:t> </m:t>
                              </m:r>
                            </m:sup>
                          </m:sSup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de-DE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  <m:brk m:alnAt="7"/>
                                </m:rPr>
                                <a:rPr lang="de-DE" sz="2800" i="1">
                                  <a:latin typeface="+mn-lt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de-DE" sz="2800">
                                  <a:latin typeface="+mn-lt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de-DE" sz="2800" i="1"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e-DE" sz="2800" i="1">
                                      <a:latin typeface="+mn-lt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e-DE" sz="2800" i="1">
                                      <a:latin typeface="+mn-lt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de-DE" sz="2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de-DE" sz="2800" i="1">
                                  <a:latin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2800" i="1">
                                      <a:latin typeface="+mn-lt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e-DE" sz="2800" i="1">
                                      <a:latin typeface="+mn-lt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DE" sz="2800" i="1">
                  <a:latin typeface="+mn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6D15F1-1C83-D7E1-9A21-29EDC4A72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09" y="3272149"/>
                <a:ext cx="2608140" cy="12647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FAF4D7-C7D0-D452-159E-0CB444275578}"/>
                  </a:ext>
                </a:extLst>
              </p:cNvPr>
              <p:cNvSpPr txBox="1"/>
              <p:nvPr/>
            </p:nvSpPr>
            <p:spPr>
              <a:xfrm>
                <a:off x="4025152" y="4992223"/>
                <a:ext cx="3752053" cy="745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latin typeface="+mn-lt"/>
                          </a:rPr>
                          <m:t>D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i="1">
                            <a:latin typeface="+mn-lt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DE" sz="2000">
                    <a:latin typeface="+mn-lt"/>
                  </a:rPr>
                  <a:t> </a:t>
                </a:r>
                <a:r>
                  <a:rPr lang="de-DE" sz="2000">
                    <a:latin typeface="+mn-lt"/>
                  </a:rPr>
                  <a:t>: </a:t>
                </a:r>
                <a:r>
                  <a:rPr lang="en-DE" sz="2000">
                    <a:latin typeface="+mn-lt"/>
                  </a:rPr>
                  <a:t>total delay of train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2000" i="1">
                        <a:latin typeface="+mn-lt"/>
                      </a:rPr>
                      <m:t>t</m:t>
                    </m:r>
                  </m:oMath>
                </a14:m>
                <a:endParaRPr lang="de-DE" sz="2000" i="1">
                  <a:latin typeface="+mn-lt"/>
                </a:endParaRPr>
              </a:p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D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latin typeface="+mn-lt"/>
                          </a:rPr>
                          <m:t>E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i="1">
                            <a:latin typeface="+mn-lt"/>
                          </a:rPr>
                          <m:t>t</m:t>
                        </m:r>
                      </m:sub>
                    </m:sSub>
                    <m:r>
                      <a:rPr lang="de-DE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e-DE" sz="2000">
                    <a:latin typeface="+mn-lt"/>
                  </a:rPr>
                  <a:t>:</a:t>
                </a:r>
                <a:r>
                  <a:rPr lang="en-DE" sz="2000">
                    <a:latin typeface="+mn-lt"/>
                  </a:rPr>
                  <a:t> energy consumption of train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2000" i="1">
                        <a:latin typeface="+mn-lt"/>
                      </a:rPr>
                      <m:t>t</m:t>
                    </m:r>
                  </m:oMath>
                </a14:m>
                <a:endParaRPr lang="en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FAF4D7-C7D0-D452-159E-0CB444275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152" y="4992223"/>
                <a:ext cx="3752053" cy="745525"/>
              </a:xfrm>
              <a:prstGeom prst="rect">
                <a:avLst/>
              </a:prstGeom>
              <a:blipFill>
                <a:blip r:embed="rId5"/>
                <a:stretch>
                  <a:fillRect l="-2435" t="-6557" r="-1623"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itle 15">
            <a:extLst>
              <a:ext uri="{FF2B5EF4-FFF2-40B4-BE49-F238E27FC236}">
                <a16:creationId xmlns:a16="http://schemas.microsoft.com/office/drawing/2014/main" id="{AC7C81FC-C0F8-7CEE-BE28-A50E2CA63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4DF2E-D399-2411-A02B-76BFF64FC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E1E8B8-9337-2034-BD40-9B9451BA62FA}"/>
              </a:ext>
            </a:extLst>
          </p:cNvPr>
          <p:cNvGrpSpPr/>
          <p:nvPr/>
        </p:nvGrpSpPr>
        <p:grpSpPr>
          <a:xfrm>
            <a:off x="741547" y="1905746"/>
            <a:ext cx="2066668" cy="630834"/>
            <a:chOff x="319090" y="4963595"/>
            <a:chExt cx="2687127" cy="82022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D08214C-F180-9E14-243C-8DDE935CCC19}"/>
                </a:ext>
              </a:extLst>
            </p:cNvPr>
            <p:cNvGrpSpPr/>
            <p:nvPr/>
          </p:nvGrpSpPr>
          <p:grpSpPr>
            <a:xfrm>
              <a:off x="319090" y="4963595"/>
              <a:ext cx="2687127" cy="820224"/>
              <a:chOff x="2006006" y="3269604"/>
              <a:chExt cx="1651153" cy="504001"/>
            </a:xfrm>
          </p:grpSpPr>
          <p:sp>
            <p:nvSpPr>
              <p:cNvPr id="17" name="Flowchart: Stored Data 92">
                <a:extLst>
                  <a:ext uri="{FF2B5EF4-FFF2-40B4-BE49-F238E27FC236}">
                    <a16:creationId xmlns:a16="http://schemas.microsoft.com/office/drawing/2014/main" id="{8CD1FC0D-6E60-83D0-6063-9FD727771004}"/>
                  </a:ext>
                </a:extLst>
              </p:cNvPr>
              <p:cNvSpPr/>
              <p:nvPr/>
            </p:nvSpPr>
            <p:spPr>
              <a:xfrm flipH="1">
                <a:off x="2258002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0528E7F-23C4-F372-FAC0-93DD722F4F79}"/>
                  </a:ext>
                </a:extLst>
              </p:cNvPr>
              <p:cNvSpPr txBox="1"/>
              <p:nvPr/>
            </p:nvSpPr>
            <p:spPr>
              <a:xfrm>
                <a:off x="2631890" y="3388317"/>
                <a:ext cx="906635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 err="1"/>
                  <a:t>Objective</a:t>
                </a:r>
                <a:endParaRPr lang="en-DE" sz="14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5CF86213-7485-9306-1B08-B8EE7324D867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E174063-BA9B-CA3D-BAED-6AF60D4A22B1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2768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769856" y="1536569"/>
            <a:ext cx="10652288" cy="47769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571BB4-EC38-2F25-BB29-76FB9CF175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8425542-F194-2724-14F0-423504740FED}"/>
              </a:ext>
            </a:extLst>
          </p:cNvPr>
          <p:cNvSpPr/>
          <p:nvPr/>
        </p:nvSpPr>
        <p:spPr>
          <a:xfrm>
            <a:off x="1595942" y="1640245"/>
            <a:ext cx="9000115" cy="63083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3200">
                <a:solidFill>
                  <a:schemeClr val="tx1"/>
                </a:solidFill>
              </a:rPr>
              <a:t>Optimization Problem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286517B-11C5-2C4C-2762-A63A36FBFEBE}"/>
              </a:ext>
            </a:extLst>
          </p:cNvPr>
          <p:cNvGrpSpPr/>
          <p:nvPr/>
        </p:nvGrpSpPr>
        <p:grpSpPr>
          <a:xfrm>
            <a:off x="1581339" y="2582736"/>
            <a:ext cx="2065737" cy="630834"/>
            <a:chOff x="319090" y="4963595"/>
            <a:chExt cx="2685917" cy="82022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73BB45D-ACF4-04E3-4D8C-AB8ED0426D33}"/>
                </a:ext>
              </a:extLst>
            </p:cNvPr>
            <p:cNvGrpSpPr/>
            <p:nvPr/>
          </p:nvGrpSpPr>
          <p:grpSpPr>
            <a:xfrm>
              <a:off x="319090" y="4963595"/>
              <a:ext cx="2685917" cy="820224"/>
              <a:chOff x="2006006" y="3269604"/>
              <a:chExt cx="1650409" cy="504001"/>
            </a:xfrm>
          </p:grpSpPr>
          <p:sp>
            <p:nvSpPr>
              <p:cNvPr id="60" name="Flowchart: Stored Data 92">
                <a:extLst>
                  <a:ext uri="{FF2B5EF4-FFF2-40B4-BE49-F238E27FC236}">
                    <a16:creationId xmlns:a16="http://schemas.microsoft.com/office/drawing/2014/main" id="{2B1C63F2-0B92-3CA9-C444-9A4785A6D35D}"/>
                  </a:ext>
                </a:extLst>
              </p:cNvPr>
              <p:cNvSpPr/>
              <p:nvPr/>
            </p:nvSpPr>
            <p:spPr>
              <a:xfrm flipH="1">
                <a:off x="2258001" y="3269604"/>
                <a:ext cx="1398414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EFF26DB-97CD-6F65-C40A-33451CB2CD45}"/>
                  </a:ext>
                </a:extLst>
              </p:cNvPr>
              <p:cNvSpPr txBox="1"/>
              <p:nvPr/>
            </p:nvSpPr>
            <p:spPr>
              <a:xfrm>
                <a:off x="2633153" y="3388475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Inputs</a:t>
                </a:r>
                <a:endParaRPr lang="en-DE" sz="1400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D03F01E3-DE5C-D81B-9705-85475FCFDF8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4B2F89-479D-E2F5-BA6C-BA1C387A170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1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1029511-CE6E-DA8E-F01D-5B3758E96917}"/>
              </a:ext>
            </a:extLst>
          </p:cNvPr>
          <p:cNvGrpSpPr/>
          <p:nvPr/>
        </p:nvGrpSpPr>
        <p:grpSpPr>
          <a:xfrm>
            <a:off x="1589957" y="3930744"/>
            <a:ext cx="2066670" cy="630834"/>
            <a:chOff x="319090" y="4963595"/>
            <a:chExt cx="2687129" cy="820224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126816A-715E-F78D-F416-9FDAD526469F}"/>
                </a:ext>
              </a:extLst>
            </p:cNvPr>
            <p:cNvGrpSpPr/>
            <p:nvPr/>
          </p:nvGrpSpPr>
          <p:grpSpPr>
            <a:xfrm>
              <a:off x="319090" y="4963595"/>
              <a:ext cx="2687129" cy="820224"/>
              <a:chOff x="2006006" y="3269604"/>
              <a:chExt cx="1651154" cy="504001"/>
            </a:xfrm>
          </p:grpSpPr>
          <p:sp>
            <p:nvSpPr>
              <p:cNvPr id="66" name="Flowchart: Stored Data 92">
                <a:extLst>
                  <a:ext uri="{FF2B5EF4-FFF2-40B4-BE49-F238E27FC236}">
                    <a16:creationId xmlns:a16="http://schemas.microsoft.com/office/drawing/2014/main" id="{93072F41-226F-198C-D08C-C8EDD708BA2D}"/>
                  </a:ext>
                </a:extLst>
              </p:cNvPr>
              <p:cNvSpPr/>
              <p:nvPr/>
            </p:nvSpPr>
            <p:spPr>
              <a:xfrm flipH="1">
                <a:off x="2258003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1EF6325-1628-8889-AF0D-4E2C7205C498}"/>
                  </a:ext>
                </a:extLst>
              </p:cNvPr>
              <p:cNvSpPr txBox="1"/>
              <p:nvPr/>
            </p:nvSpPr>
            <p:spPr>
              <a:xfrm>
                <a:off x="2633720" y="3388317"/>
                <a:ext cx="586459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Goal</a:t>
                </a:r>
                <a:endParaRPr lang="en-DE" sz="1400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A1F47D43-E3D7-A37D-627F-5D24A78EF82F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439818C-128A-E266-C876-5ABEB7EE6451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2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360CEDE-E4A3-611D-974A-1CC6497E747E}"/>
              </a:ext>
            </a:extLst>
          </p:cNvPr>
          <p:cNvGrpSpPr/>
          <p:nvPr/>
        </p:nvGrpSpPr>
        <p:grpSpPr>
          <a:xfrm>
            <a:off x="1589959" y="5278471"/>
            <a:ext cx="2066668" cy="630834"/>
            <a:chOff x="319090" y="4963595"/>
            <a:chExt cx="2687127" cy="82022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1B35CD1-91D4-6297-5C0C-FD0A093B4F30}"/>
                </a:ext>
              </a:extLst>
            </p:cNvPr>
            <p:cNvGrpSpPr/>
            <p:nvPr/>
          </p:nvGrpSpPr>
          <p:grpSpPr>
            <a:xfrm>
              <a:off x="319090" y="4963595"/>
              <a:ext cx="2687127" cy="820224"/>
              <a:chOff x="2006006" y="3269604"/>
              <a:chExt cx="1651153" cy="504001"/>
            </a:xfrm>
          </p:grpSpPr>
          <p:sp>
            <p:nvSpPr>
              <p:cNvPr id="72" name="Flowchart: Stored Data 92">
                <a:extLst>
                  <a:ext uri="{FF2B5EF4-FFF2-40B4-BE49-F238E27FC236}">
                    <a16:creationId xmlns:a16="http://schemas.microsoft.com/office/drawing/2014/main" id="{48E52B81-5941-26F1-28DB-0AFFF41A21C2}"/>
                  </a:ext>
                </a:extLst>
              </p:cNvPr>
              <p:cNvSpPr/>
              <p:nvPr/>
            </p:nvSpPr>
            <p:spPr>
              <a:xfrm flipH="1">
                <a:off x="2258002" y="3269604"/>
                <a:ext cx="1399157" cy="504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48F33CD9-0DA2-2703-C4F7-1649A115427D}"/>
                  </a:ext>
                </a:extLst>
              </p:cNvPr>
              <p:cNvSpPr txBox="1"/>
              <p:nvPr/>
            </p:nvSpPr>
            <p:spPr>
              <a:xfrm>
                <a:off x="2631890" y="3388317"/>
                <a:ext cx="906635" cy="2568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 err="1"/>
                  <a:t>Objective</a:t>
                </a:r>
                <a:endParaRPr lang="en-DE" sz="1400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750CECA6-1EC6-727E-590E-FD3DE283DF33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38C0E0A-08FF-D271-0609-4CD7E0C18D40}"/>
                </a:ext>
              </a:extLst>
            </p:cNvPr>
            <p:cNvSpPr txBox="1"/>
            <p:nvPr/>
          </p:nvSpPr>
          <p:spPr>
            <a:xfrm>
              <a:off x="643029" y="5180800"/>
              <a:ext cx="370702" cy="41801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>
                  <a:solidFill>
                    <a:schemeClr val="bg1"/>
                  </a:solidFill>
                  <a:latin typeface="+mn-lt"/>
                </a:rPr>
                <a:t>3</a:t>
              </a:r>
            </a:p>
          </p:txBody>
        </p:sp>
      </p:grpSp>
      <p:sp>
        <p:nvSpPr>
          <p:cNvPr id="75" name="Down Arrow 74">
            <a:extLst>
              <a:ext uri="{FF2B5EF4-FFF2-40B4-BE49-F238E27FC236}">
                <a16:creationId xmlns:a16="http://schemas.microsoft.com/office/drawing/2014/main" id="{F0A123B5-E184-EAF1-D2E5-CD7CED432D5D}"/>
              </a:ext>
            </a:extLst>
          </p:cNvPr>
          <p:cNvSpPr/>
          <p:nvPr/>
        </p:nvSpPr>
        <p:spPr>
          <a:xfrm>
            <a:off x="2561327" y="3468323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6" name="Down Arrow 75">
            <a:extLst>
              <a:ext uri="{FF2B5EF4-FFF2-40B4-BE49-F238E27FC236}">
                <a16:creationId xmlns:a16="http://schemas.microsoft.com/office/drawing/2014/main" id="{933A797A-F4F4-E57D-AF84-19376CDCC396}"/>
              </a:ext>
            </a:extLst>
          </p:cNvPr>
          <p:cNvSpPr/>
          <p:nvPr/>
        </p:nvSpPr>
        <p:spPr>
          <a:xfrm>
            <a:off x="2561327" y="4826170"/>
            <a:ext cx="308919" cy="20262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327C00-AD0D-B0BD-449A-0C13D41DC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Description</a:t>
            </a: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6B2537-8F3A-BAC5-D9E3-B36B96A14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5FE7BC9-70B7-E8B5-70CA-A8F248490B29}"/>
              </a:ext>
            </a:extLst>
          </p:cNvPr>
          <p:cNvGrpSpPr/>
          <p:nvPr/>
        </p:nvGrpSpPr>
        <p:grpSpPr>
          <a:xfrm>
            <a:off x="8285465" y="2604004"/>
            <a:ext cx="2052372" cy="863071"/>
            <a:chOff x="1232185" y="4491632"/>
            <a:chExt cx="2195813" cy="92338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9A7C2C5-711D-BDA5-51D0-C3E6196FD53D}"/>
                </a:ext>
              </a:extLst>
            </p:cNvPr>
            <p:cNvCxnSpPr/>
            <p:nvPr/>
          </p:nvCxnSpPr>
          <p:spPr>
            <a:xfrm flipV="1">
              <a:off x="1636421" y="4856748"/>
              <a:ext cx="282757" cy="127739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0D03BA1-5D40-4B49-09CD-2FBE6E3B35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174" y="5011154"/>
              <a:ext cx="0" cy="25716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960B03D-40FF-793E-11CA-2A615A70E389}"/>
                </a:ext>
              </a:extLst>
            </p:cNvPr>
            <p:cNvCxnSpPr>
              <a:cxnSpLocks/>
            </p:cNvCxnSpPr>
            <p:nvPr/>
          </p:nvCxnSpPr>
          <p:spPr>
            <a:xfrm>
              <a:off x="2644392" y="4871659"/>
              <a:ext cx="327775" cy="13949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8" name="Graphic 77" descr="Toy Train with solid fill">
              <a:extLst>
                <a:ext uri="{FF2B5EF4-FFF2-40B4-BE49-F238E27FC236}">
                  <a16:creationId xmlns:a16="http://schemas.microsoft.com/office/drawing/2014/main" id="{93E5E9AA-98AC-16BA-4C36-97000DBD9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2038051" y="4491632"/>
              <a:ext cx="528245" cy="5282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7D3B35-EB9E-AAFF-871E-1864AEA09A6C}"/>
                    </a:ext>
                  </a:extLst>
                </p:cNvPr>
                <p:cNvSpPr txBox="1"/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907D3B35-EB9E-AAFF-871E-1864AEA09A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185" y="4932958"/>
                  <a:ext cx="389277" cy="193226"/>
                </a:xfrm>
                <a:prstGeom prst="rect">
                  <a:avLst/>
                </a:prstGeom>
                <a:blipFill>
                  <a:blip r:embed="rId5"/>
                  <a:stretch>
                    <a:fillRect l="-13333" r="-30000" b="-5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BA3169A-12F2-3113-05F4-44CE609498FB}"/>
                    </a:ext>
                  </a:extLst>
                </p:cNvPr>
                <p:cNvSpPr txBox="1"/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4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6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1BA3169A-12F2-3113-05F4-44CE60949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7800" y="5221794"/>
                  <a:ext cx="381710" cy="193226"/>
                </a:xfrm>
                <a:prstGeom prst="rect">
                  <a:avLst/>
                </a:prstGeom>
                <a:blipFill>
                  <a:blip r:embed="rId6"/>
                  <a:stretch>
                    <a:fillRect l="-13559" r="-30508" b="-4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4DC47274-A50A-6901-BD0F-2E15AE1C2AFC}"/>
                </a:ext>
              </a:extLst>
            </p:cNvPr>
            <p:cNvSpPr txBox="1"/>
            <p:nvPr/>
          </p:nvSpPr>
          <p:spPr>
            <a:xfrm>
              <a:off x="3020609" y="4988614"/>
              <a:ext cx="407389" cy="17708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400">
                  <a:latin typeface="+mn-lt"/>
                </a:rPr>
                <a:t>weight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A4E343-0C02-5C03-F0BF-AC7C78D1C5B6}"/>
              </a:ext>
            </a:extLst>
          </p:cNvPr>
          <p:cNvGrpSpPr/>
          <p:nvPr/>
        </p:nvGrpSpPr>
        <p:grpSpPr>
          <a:xfrm>
            <a:off x="4489083" y="3873853"/>
            <a:ext cx="2667514" cy="1115447"/>
            <a:chOff x="1766898" y="3825959"/>
            <a:chExt cx="7138230" cy="2984925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5912DCB6-E5EA-F146-7304-FBC4E43679BE}"/>
                </a:ext>
              </a:extLst>
            </p:cNvPr>
            <p:cNvGrpSpPr/>
            <p:nvPr/>
          </p:nvGrpSpPr>
          <p:grpSpPr>
            <a:xfrm>
              <a:off x="1766898" y="3825959"/>
              <a:ext cx="7138230" cy="2984925"/>
              <a:chOff x="2526885" y="2243696"/>
              <a:chExt cx="7138230" cy="2984925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9D976686-C8D1-B431-C915-65190B11D1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90861" y="3985495"/>
                <a:ext cx="935165" cy="45277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54E1B553-3D3E-D63B-F82A-10E1A23A58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38990" y="4013953"/>
                <a:ext cx="934265" cy="4049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15DD354-9423-DEB6-B0D8-798DD2DA2A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2435" y="3171710"/>
                <a:ext cx="1214534" cy="12033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B36D9C5-DDBB-F300-29F7-E86CCC0F42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03274" y="3814377"/>
                <a:ext cx="665003" cy="8914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A066E909-8E55-C270-5C8D-5C98291336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852078" y="3131609"/>
                <a:ext cx="1102919" cy="595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8C4FC63D-4811-67AE-FB03-6F5EEFCF20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136" y="2622104"/>
                <a:ext cx="2038769" cy="42079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8CFD5A20-BD01-A37E-563A-2C600B7BD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059346"/>
                <a:ext cx="75085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14B20E85-A050-0839-3D6F-F82E353C01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2874" y="3118678"/>
                <a:ext cx="1230608" cy="59188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BCB0773-E48A-0A1A-0EE5-5C860E0C02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1335" y="2699762"/>
                <a:ext cx="860764" cy="98282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4" name="Graphic 113" descr="Toy Train with solid fill">
                <a:extLst>
                  <a:ext uri="{FF2B5EF4-FFF2-40B4-BE49-F238E27FC236}">
                    <a16:creationId xmlns:a16="http://schemas.microsoft.com/office/drawing/2014/main" id="{EB222957-D2F4-CB9A-5567-38FCA24394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20878014">
                <a:off x="4475857" y="2288576"/>
                <a:ext cx="612058" cy="636456"/>
              </a:xfrm>
              <a:prstGeom prst="rect">
                <a:avLst/>
              </a:prstGeom>
            </p:spPr>
          </p:pic>
          <p:cxnSp>
            <p:nvCxnSpPr>
              <p:cNvPr id="115" name="Straight Connector 69">
                <a:extLst>
                  <a:ext uri="{FF2B5EF4-FFF2-40B4-BE49-F238E27FC236}">
                    <a16:creationId xmlns:a16="http://schemas.microsoft.com/office/drawing/2014/main" id="{13623861-382E-0AB1-B3E2-DECCDB1C35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109953"/>
                <a:ext cx="750580" cy="0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63">
                <a:extLst>
                  <a:ext uri="{FF2B5EF4-FFF2-40B4-BE49-F238E27FC236}">
                    <a16:creationId xmlns:a16="http://schemas.microsoft.com/office/drawing/2014/main" id="{21A8C6E4-D556-D19B-C248-93EFD659E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1642" y="3008739"/>
                <a:ext cx="750580" cy="0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C246CD57-D2E9-9AFF-40CB-897293538F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52078" y="3135240"/>
                <a:ext cx="1102919" cy="592248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46AC86A-18BD-F5A6-DB6E-3D9D1716C3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03274" y="3814377"/>
                <a:ext cx="665003" cy="89146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3DAAC609-B0EC-1BA9-719F-7CDE0E1410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40155" y="3113841"/>
                <a:ext cx="1251276" cy="605639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50451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ECA12499-CB6F-BA9D-6BF6-BC7C13E4B9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2727" y="2699762"/>
                <a:ext cx="859372" cy="982826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FF5DA2DD-02D9-E429-5800-F785DF151C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52438" y="3161451"/>
                <a:ext cx="1219020" cy="1213652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69">
                <a:extLst>
                  <a:ext uri="{FF2B5EF4-FFF2-40B4-BE49-F238E27FC236}">
                    <a16:creationId xmlns:a16="http://schemas.microsoft.com/office/drawing/2014/main" id="{964B4CBA-86F7-388B-8EAA-BCBE13EC21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7810" y="2756477"/>
                <a:ext cx="926024" cy="316417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550C9392-11FA-AD1D-F8C9-1BA45026D5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66136" y="2622104"/>
                <a:ext cx="2038769" cy="42079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3F03BD0A-0231-233E-2D02-2BD7BD2656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9289" y="2611313"/>
                <a:ext cx="2299739" cy="431585"/>
              </a:xfrm>
              <a:prstGeom prst="line">
                <a:avLst/>
              </a:prstGeom>
              <a:ln w="12700"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B15E0923-657B-4FAC-65D8-B57B0EA573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9328" y="2699762"/>
                <a:ext cx="925828" cy="31932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542EC716-6F22-FBE3-153A-6CC11A3C04E5}"/>
                  </a:ext>
                </a:extLst>
              </p:cNvPr>
              <p:cNvSpPr/>
              <p:nvPr/>
            </p:nvSpPr>
            <p:spPr>
              <a:xfrm>
                <a:off x="8507281" y="2992631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60B5A637-5FDD-E96D-5B26-D643F6717E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19950" y="3781152"/>
                <a:ext cx="783118" cy="1256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D9108E25-9FB3-6114-850F-6C88ABA0D0A7}"/>
                  </a:ext>
                </a:extLst>
              </p:cNvPr>
              <p:cNvSpPr/>
              <p:nvPr/>
            </p:nvSpPr>
            <p:spPr>
              <a:xfrm>
                <a:off x="5038184" y="3710563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8F0742-DFDD-D073-6A4D-13341232F0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04191" y="3130630"/>
                <a:ext cx="886404" cy="37184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D6DB8DFC-D180-E6BE-D154-28341DF97D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4841" y="3191006"/>
                <a:ext cx="896799" cy="11840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05AFD43F-208E-5FB6-1E14-225DC3953C75}"/>
                  </a:ext>
                </a:extLst>
              </p:cNvPr>
              <p:cNvSpPr txBox="1"/>
              <p:nvPr/>
            </p:nvSpPr>
            <p:spPr>
              <a:xfrm>
                <a:off x="2815027" y="2907911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DE" sz="1200" b="1">
                    <a:latin typeface="+mn-lt"/>
                  </a:rPr>
                  <a:t>A</a:t>
                </a:r>
                <a:endParaRPr lang="en-DE" sz="900" b="1">
                  <a:latin typeface="+mn-lt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6AA2FA6-61E7-DECD-6C84-2B8922BCF5FB}"/>
                  </a:ext>
                </a:extLst>
              </p:cNvPr>
              <p:cNvSpPr txBox="1"/>
              <p:nvPr/>
            </p:nvSpPr>
            <p:spPr>
              <a:xfrm>
                <a:off x="8979893" y="3142937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DE" sz="1200" b="1">
                    <a:latin typeface="+mn-lt"/>
                  </a:rPr>
                  <a:t>B</a:t>
                </a:r>
                <a:endParaRPr lang="en-DE" sz="1050" b="1">
                  <a:latin typeface="+mn-lt"/>
                </a:endParaRPr>
              </a:p>
            </p:txBody>
          </p: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E3113185-61E4-9C51-D3C1-40E67BB0E9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84837" y="4551092"/>
                <a:ext cx="850285" cy="28884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59B90B82-0ACB-D14F-3330-CE5D1ABC7C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39801" y="3917500"/>
                <a:ext cx="198384" cy="465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5B8BC84-43A0-E39B-C9EB-34D24E8D6A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98823" y="4503487"/>
                <a:ext cx="2109616" cy="599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83F31D7-8984-F756-64AA-418A86CF9D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7022360" y="3886759"/>
                <a:ext cx="83195" cy="46074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ED5962C7-D2DC-7000-0803-654F8B032372}"/>
                  </a:ext>
                </a:extLst>
              </p:cNvPr>
              <p:cNvSpPr/>
              <p:nvPr/>
            </p:nvSpPr>
            <p:spPr>
              <a:xfrm>
                <a:off x="5954150" y="2534743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40FA5620-9F22-5557-282F-43F75084876F}"/>
                  </a:ext>
                </a:extLst>
              </p:cNvPr>
              <p:cNvSpPr/>
              <p:nvPr/>
            </p:nvSpPr>
            <p:spPr>
              <a:xfrm>
                <a:off x="4709139" y="4440402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2A9164D0-AADB-45F8-8538-8AA847757C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87758" y="3990828"/>
                <a:ext cx="948168" cy="455414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EB61071-32F0-0948-566E-5EC047003DD5}"/>
                  </a:ext>
                </a:extLst>
              </p:cNvPr>
              <p:cNvSpPr/>
              <p:nvPr/>
            </p:nvSpPr>
            <p:spPr>
              <a:xfrm>
                <a:off x="5923171" y="385078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E624E1A-F06F-EBCD-C232-6A661D3F9C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42623" y="4561809"/>
                <a:ext cx="905174" cy="33116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8BBBFAD9-0D1A-8AC8-23F0-8635842D00E0}"/>
                  </a:ext>
                </a:extLst>
              </p:cNvPr>
              <p:cNvSpPr/>
              <p:nvPr/>
            </p:nvSpPr>
            <p:spPr>
              <a:xfrm>
                <a:off x="3651005" y="300873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20BF6398-9D40-832F-A961-E6EBDB1FBC9F}"/>
                  </a:ext>
                </a:extLst>
              </p:cNvPr>
              <p:cNvSpPr/>
              <p:nvPr/>
            </p:nvSpPr>
            <p:spPr>
              <a:xfrm>
                <a:off x="6952099" y="369661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4" name="Oval 64">
                <a:extLst>
                  <a:ext uri="{FF2B5EF4-FFF2-40B4-BE49-F238E27FC236}">
                    <a16:creationId xmlns:a16="http://schemas.microsoft.com/office/drawing/2014/main" id="{95447011-949E-2C49-E384-9A8458938747}"/>
                  </a:ext>
                </a:extLst>
              </p:cNvPr>
              <p:cNvSpPr/>
              <p:nvPr/>
            </p:nvSpPr>
            <p:spPr>
              <a:xfrm>
                <a:off x="2526885" y="2623041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5" name="Oval 64">
                <a:extLst>
                  <a:ext uri="{FF2B5EF4-FFF2-40B4-BE49-F238E27FC236}">
                    <a16:creationId xmlns:a16="http://schemas.microsoft.com/office/drawing/2014/main" id="{60800FD5-7BE6-9112-2F6F-57017DC4AB12}"/>
                  </a:ext>
                </a:extLst>
              </p:cNvPr>
              <p:cNvSpPr/>
              <p:nvPr/>
            </p:nvSpPr>
            <p:spPr>
              <a:xfrm>
                <a:off x="2539493" y="3499128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6" name="Oval 64">
                <a:extLst>
                  <a:ext uri="{FF2B5EF4-FFF2-40B4-BE49-F238E27FC236}">
                    <a16:creationId xmlns:a16="http://schemas.microsoft.com/office/drawing/2014/main" id="{D70137C9-18D9-B368-5543-43C1E886E18A}"/>
                  </a:ext>
                </a:extLst>
              </p:cNvPr>
              <p:cNvSpPr/>
              <p:nvPr/>
            </p:nvSpPr>
            <p:spPr>
              <a:xfrm>
                <a:off x="3590592" y="4826229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7" name="Oval 64">
                <a:extLst>
                  <a:ext uri="{FF2B5EF4-FFF2-40B4-BE49-F238E27FC236}">
                    <a16:creationId xmlns:a16="http://schemas.microsoft.com/office/drawing/2014/main" id="{2BF63270-3AAE-A850-6E61-8B1F85E55A51}"/>
                  </a:ext>
                </a:extLst>
              </p:cNvPr>
              <p:cNvSpPr/>
              <p:nvPr/>
            </p:nvSpPr>
            <p:spPr>
              <a:xfrm>
                <a:off x="8193771" y="4860677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48" name="Oval 64">
                <a:extLst>
                  <a:ext uri="{FF2B5EF4-FFF2-40B4-BE49-F238E27FC236}">
                    <a16:creationId xmlns:a16="http://schemas.microsoft.com/office/drawing/2014/main" id="{ACA0B27C-8473-CE21-0CCF-F4D6929BCA9C}"/>
                  </a:ext>
                </a:extLst>
              </p:cNvPr>
              <p:cNvSpPr/>
              <p:nvPr/>
            </p:nvSpPr>
            <p:spPr>
              <a:xfrm>
                <a:off x="9527930" y="2985390"/>
                <a:ext cx="137185" cy="133432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pic>
            <p:nvPicPr>
              <p:cNvPr id="149" name="Graphic 148" descr="Toy Train with solid fill">
                <a:extLst>
                  <a:ext uri="{FF2B5EF4-FFF2-40B4-BE49-F238E27FC236}">
                    <a16:creationId xmlns:a16="http://schemas.microsoft.com/office/drawing/2014/main" id="{8C652CF6-D8A6-1277-E0CE-022203B61E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1139651">
                <a:off x="2958706" y="2296377"/>
                <a:ext cx="612059" cy="636457"/>
              </a:xfrm>
              <a:prstGeom prst="rect">
                <a:avLst/>
              </a:prstGeom>
            </p:spPr>
          </p:pic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7825427C-B212-B940-3936-E1E39522F14F}"/>
                  </a:ext>
                </a:extLst>
              </p:cNvPr>
              <p:cNvSpPr txBox="1"/>
              <p:nvPr/>
            </p:nvSpPr>
            <p:spPr>
              <a:xfrm>
                <a:off x="4209187" y="4716884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b="1">
                    <a:latin typeface="+mn-lt"/>
                  </a:rPr>
                  <a:t>C</a:t>
                </a:r>
                <a:endParaRPr lang="en-DE" sz="900" b="1">
                  <a:latin typeface="+mn-lt"/>
                </a:endParaRP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F8C38E48-148D-0343-086F-6DDEB7E21375}"/>
                  </a:ext>
                </a:extLst>
              </p:cNvPr>
              <p:cNvSpPr txBox="1"/>
              <p:nvPr/>
            </p:nvSpPr>
            <p:spPr>
              <a:xfrm>
                <a:off x="7460441" y="4716884"/>
                <a:ext cx="194355" cy="5117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b="1">
                    <a:latin typeface="+mn-lt"/>
                  </a:rPr>
                  <a:t>D</a:t>
                </a:r>
                <a:endParaRPr lang="en-DE" sz="900" b="1">
                  <a:latin typeface="+mn-lt"/>
                </a:endParaRPr>
              </a:p>
            </p:txBody>
          </p:sp>
          <p:cxnSp>
            <p:nvCxnSpPr>
              <p:cNvPr id="152" name="Straight Connector 68">
                <a:extLst>
                  <a:ext uri="{FF2B5EF4-FFF2-40B4-BE49-F238E27FC236}">
                    <a16:creationId xmlns:a16="http://schemas.microsoft.com/office/drawing/2014/main" id="{400F5770-6B21-B99C-93DE-60A2C5CB53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67294" y="4503487"/>
                <a:ext cx="846929" cy="287351"/>
              </a:xfrm>
              <a:prstGeom prst="line">
                <a:avLst/>
              </a:prstGeom>
              <a:ln w="5715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3" name="Graphic 152" descr="Toy Train with solid fill">
                <a:extLst>
                  <a:ext uri="{FF2B5EF4-FFF2-40B4-BE49-F238E27FC236}">
                    <a16:creationId xmlns:a16="http://schemas.microsoft.com/office/drawing/2014/main" id="{C7B09BAB-B059-2CAD-E669-BB8B59F7F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 rot="20504347">
                <a:off x="3763085" y="4124562"/>
                <a:ext cx="612059" cy="636457"/>
              </a:xfrm>
              <a:prstGeom prst="rect">
                <a:avLst/>
              </a:prstGeom>
            </p:spPr>
          </p:pic>
          <p:cxnSp>
            <p:nvCxnSpPr>
              <p:cNvPr id="154" name="Straight Connector 68">
                <a:extLst>
                  <a:ext uri="{FF2B5EF4-FFF2-40B4-BE49-F238E27FC236}">
                    <a16:creationId xmlns:a16="http://schemas.microsoft.com/office/drawing/2014/main" id="{2CE477EA-A1F1-3024-7538-B72A03862B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65420" y="4515361"/>
                <a:ext cx="901067" cy="323359"/>
              </a:xfrm>
              <a:prstGeom prst="line">
                <a:avLst/>
              </a:prstGeom>
              <a:ln w="57150">
                <a:solidFill>
                  <a:srgbClr val="00B05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5" name="Graphic 154" descr="Toy Train with solid fill">
                <a:extLst>
                  <a:ext uri="{FF2B5EF4-FFF2-40B4-BE49-F238E27FC236}">
                    <a16:creationId xmlns:a16="http://schemas.microsoft.com/office/drawing/2014/main" id="{1A8226A7-259C-D74D-8802-9C9B3049FE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>
              <a:xfrm rot="677191">
                <a:off x="6832499" y="2243696"/>
                <a:ext cx="612058" cy="636456"/>
              </a:xfrm>
              <a:prstGeom prst="rect">
                <a:avLst/>
              </a:prstGeom>
            </p:spPr>
          </p:pic>
        </p:grpSp>
        <p:cxnSp>
          <p:nvCxnSpPr>
            <p:cNvPr id="103" name="Straight Connector 68">
              <a:extLst>
                <a:ext uri="{FF2B5EF4-FFF2-40B4-BE49-F238E27FC236}">
                  <a16:creationId xmlns:a16="http://schemas.microsoft.com/office/drawing/2014/main" id="{7206105B-F13F-A689-8685-6D027965D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8836" y="6091749"/>
              <a:ext cx="2121868" cy="3669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60740054-BA0D-4B19-4466-3FA3435BA299}"/>
                </a:ext>
              </a:extLst>
            </p:cNvPr>
            <p:cNvSpPr/>
            <p:nvPr/>
          </p:nvSpPr>
          <p:spPr>
            <a:xfrm>
              <a:off x="6308346" y="602203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873815C-CE95-DAED-0D1A-DB552F707EBA}"/>
              </a:ext>
            </a:extLst>
          </p:cNvPr>
          <p:cNvGrpSpPr/>
          <p:nvPr/>
        </p:nvGrpSpPr>
        <p:grpSpPr>
          <a:xfrm>
            <a:off x="4427706" y="2386516"/>
            <a:ext cx="3610913" cy="1245563"/>
            <a:chOff x="2526885" y="1808819"/>
            <a:chExt cx="9204218" cy="3441301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DE2A84B-9D15-9793-0842-BCAE03C40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990" y="4013952"/>
              <a:ext cx="934265" cy="4049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6379D19-1466-43F9-C683-D0F642A4D7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416C72C-FF37-B390-D9D3-2A23EFABAC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2874" y="3118677"/>
              <a:ext cx="1230608" cy="5918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4125E026-9586-97DF-4799-905D5C7BD634}"/>
                </a:ext>
              </a:extLst>
            </p:cNvPr>
            <p:cNvCxnSpPr>
              <a:cxnSpLocks/>
            </p:cNvCxnSpPr>
            <p:nvPr/>
          </p:nvCxnSpPr>
          <p:spPr>
            <a:xfrm>
              <a:off x="6091335" y="2699760"/>
              <a:ext cx="860764" cy="9828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4ABAE894-1991-1661-7670-21DAEFC176E5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59345"/>
              <a:ext cx="750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CC4DD22-84E4-47A6-AA5F-3E3BC316F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52435" y="3171708"/>
              <a:ext cx="1214534" cy="12033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4E4DDA2-C6E3-2870-BEC9-0F9158695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2078" y="3131607"/>
              <a:ext cx="1102919" cy="5958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0BC22961-6C0F-1F5E-F230-1265CDDF5AB0}"/>
                </a:ext>
              </a:extLst>
            </p:cNvPr>
            <p:cNvCxnSpPr>
              <a:cxnSpLocks/>
            </p:cNvCxnSpPr>
            <p:nvPr/>
          </p:nvCxnSpPr>
          <p:spPr>
            <a:xfrm>
              <a:off x="5203274" y="3814376"/>
              <a:ext cx="665003" cy="891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63">
              <a:extLst>
                <a:ext uri="{FF2B5EF4-FFF2-40B4-BE49-F238E27FC236}">
                  <a16:creationId xmlns:a16="http://schemas.microsoft.com/office/drawing/2014/main" id="{8AD10158-D331-B6AF-CF9E-2E89DF7E57DD}"/>
                </a:ext>
              </a:extLst>
            </p:cNvPr>
            <p:cNvCxnSpPr>
              <a:cxnSpLocks/>
            </p:cNvCxnSpPr>
            <p:nvPr/>
          </p:nvCxnSpPr>
          <p:spPr>
            <a:xfrm>
              <a:off x="8701642" y="3008738"/>
              <a:ext cx="750580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BDFC1FBF-2657-4626-611D-0DF96724D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136" y="2622103"/>
              <a:ext cx="2038769" cy="420794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B1BA6095-DDEC-CEEA-DB07-5D23586A3687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312"/>
              <a:ext cx="2299739" cy="4315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86301E5-6206-CA7E-54D8-5733FB3C9179}"/>
                </a:ext>
              </a:extLst>
            </p:cNvPr>
            <p:cNvCxnSpPr>
              <a:cxnSpLocks/>
            </p:cNvCxnSpPr>
            <p:nvPr/>
          </p:nvCxnSpPr>
          <p:spPr>
            <a:xfrm>
              <a:off x="2689328" y="2699760"/>
              <a:ext cx="925828" cy="31932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E1AE0E1-BE83-D871-8D10-4DF16C1F8474}"/>
                </a:ext>
              </a:extLst>
            </p:cNvPr>
            <p:cNvSpPr/>
            <p:nvPr/>
          </p:nvSpPr>
          <p:spPr>
            <a:xfrm>
              <a:off x="8507281" y="299263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F7DF2DD-B098-6F08-A181-13414A6784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950" y="3781151"/>
              <a:ext cx="783118" cy="1256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D9C10A1-0FF1-6E4D-00AA-B2BD6A0DB850}"/>
                </a:ext>
              </a:extLst>
            </p:cNvPr>
            <p:cNvSpPr/>
            <p:nvPr/>
          </p:nvSpPr>
          <p:spPr>
            <a:xfrm>
              <a:off x="5038184" y="371056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A1A5E02-D242-653D-2720-7EF8B1CCC3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191" y="3130629"/>
              <a:ext cx="886404" cy="37184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4B9822E-42ED-5AE6-DB2B-D9E52188CF9C}"/>
                </a:ext>
              </a:extLst>
            </p:cNvPr>
            <p:cNvCxnSpPr>
              <a:cxnSpLocks/>
            </p:cNvCxnSpPr>
            <p:nvPr/>
          </p:nvCxnSpPr>
          <p:spPr>
            <a:xfrm>
              <a:off x="3784841" y="3191005"/>
              <a:ext cx="896799" cy="11840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D5AF38E6-703F-6DF8-BB15-A34B931CE875}"/>
                </a:ext>
              </a:extLst>
            </p:cNvPr>
            <p:cNvSpPr txBox="1"/>
            <p:nvPr/>
          </p:nvSpPr>
          <p:spPr>
            <a:xfrm>
              <a:off x="2815026" y="2907911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A</a:t>
              </a:r>
              <a:endParaRPr lang="en-DE" sz="900" b="1">
                <a:latin typeface="+mn-lt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8A96938-DC51-7D9F-AE7D-53FDE41CFD45}"/>
                </a:ext>
              </a:extLst>
            </p:cNvPr>
            <p:cNvSpPr txBox="1"/>
            <p:nvPr/>
          </p:nvSpPr>
          <p:spPr>
            <a:xfrm>
              <a:off x="8979892" y="3142936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B</a:t>
              </a:r>
              <a:endParaRPr lang="en-DE" sz="1050" b="1">
                <a:latin typeface="+mn-lt"/>
              </a:endParaRPr>
            </a:p>
          </p:txBody>
        </p: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720A165B-AA10-EBB9-1D00-4A28266E3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4837" y="4551090"/>
              <a:ext cx="850285" cy="2888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AD7771C-6BE8-094A-21E4-1EBE1ED9E7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9801" y="3917498"/>
              <a:ext cx="198384" cy="464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18CE6B4E-A662-BC02-9473-773BAF74F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98823" y="4503486"/>
              <a:ext cx="2109616" cy="59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789B9705-2614-AB2F-C874-9FA16E5C0B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22360" y="3886758"/>
              <a:ext cx="83195" cy="4607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0BEBACD8-797D-6638-620F-832B636C9657}"/>
                </a:ext>
              </a:extLst>
            </p:cNvPr>
            <p:cNvSpPr/>
            <p:nvPr/>
          </p:nvSpPr>
          <p:spPr>
            <a:xfrm>
              <a:off x="5954150" y="2534742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4F2358EA-62FE-2E6A-0418-77DD241B5333}"/>
                </a:ext>
              </a:extLst>
            </p:cNvPr>
            <p:cNvSpPr/>
            <p:nvPr/>
          </p:nvSpPr>
          <p:spPr>
            <a:xfrm>
              <a:off x="4709139" y="444040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4A485654-195D-951C-7D6D-0DE415B69E69}"/>
                </a:ext>
              </a:extLst>
            </p:cNvPr>
            <p:cNvGrpSpPr/>
            <p:nvPr/>
          </p:nvGrpSpPr>
          <p:grpSpPr>
            <a:xfrm>
              <a:off x="5923196" y="3850755"/>
              <a:ext cx="1282347" cy="722415"/>
              <a:chOff x="4503293" y="4189137"/>
              <a:chExt cx="1009536" cy="587019"/>
            </a:xfrm>
          </p:grpSpPr>
          <p:cxnSp>
            <p:nvCxnSpPr>
              <p:cNvPr id="179" name="Straight Connector 178">
                <a:extLst>
                  <a:ext uri="{FF2B5EF4-FFF2-40B4-BE49-F238E27FC236}">
                    <a16:creationId xmlns:a16="http://schemas.microsoft.com/office/drawing/2014/main" id="{1FBACC41-7531-E6DC-FCD0-359ACD10D95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13558" y="4320579"/>
                <a:ext cx="784297" cy="3302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75DF2158-4BEC-3381-EA0C-8FB0B93E8BF6}"/>
                  </a:ext>
                </a:extLst>
              </p:cNvPr>
              <p:cNvSpPr/>
              <p:nvPr/>
            </p:nvSpPr>
            <p:spPr>
              <a:xfrm>
                <a:off x="4503293" y="4189137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D31DA4A7-A3EB-517D-8DC3-15A4A6604A74}"/>
                  </a:ext>
                </a:extLst>
              </p:cNvPr>
              <p:cNvSpPr/>
              <p:nvPr/>
            </p:nvSpPr>
            <p:spPr>
              <a:xfrm>
                <a:off x="5404829" y="4667732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</p:grp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2C9A6A3B-648B-9487-A3C3-12AC1D61ED2F}"/>
                </a:ext>
              </a:extLst>
            </p:cNvPr>
            <p:cNvCxnSpPr>
              <a:cxnSpLocks/>
            </p:cNvCxnSpPr>
            <p:nvPr/>
          </p:nvCxnSpPr>
          <p:spPr>
            <a:xfrm>
              <a:off x="7242623" y="4561807"/>
              <a:ext cx="905174" cy="33116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DE0C086B-71AB-C7F7-579B-3372B03592D7}"/>
                </a:ext>
              </a:extLst>
            </p:cNvPr>
            <p:cNvSpPr/>
            <p:nvPr/>
          </p:nvSpPr>
          <p:spPr>
            <a:xfrm>
              <a:off x="3651005" y="3008738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CBF23488-852E-1F8D-4C34-8A5244590CB1}"/>
                </a:ext>
              </a:extLst>
            </p:cNvPr>
            <p:cNvSpPr/>
            <p:nvPr/>
          </p:nvSpPr>
          <p:spPr>
            <a:xfrm>
              <a:off x="6952099" y="369661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66" name="Oval 64">
              <a:extLst>
                <a:ext uri="{FF2B5EF4-FFF2-40B4-BE49-F238E27FC236}">
                  <a16:creationId xmlns:a16="http://schemas.microsoft.com/office/drawing/2014/main" id="{A0776B7F-0955-952B-2493-D46E506ED97B}"/>
                </a:ext>
              </a:extLst>
            </p:cNvPr>
            <p:cNvSpPr/>
            <p:nvPr/>
          </p:nvSpPr>
          <p:spPr>
            <a:xfrm>
              <a:off x="2526885" y="2623040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67" name="Oval 64">
              <a:extLst>
                <a:ext uri="{FF2B5EF4-FFF2-40B4-BE49-F238E27FC236}">
                  <a16:creationId xmlns:a16="http://schemas.microsoft.com/office/drawing/2014/main" id="{48FFC798-D662-39A2-B268-E720E5CC4FB6}"/>
                </a:ext>
              </a:extLst>
            </p:cNvPr>
            <p:cNvSpPr/>
            <p:nvPr/>
          </p:nvSpPr>
          <p:spPr>
            <a:xfrm>
              <a:off x="2539493" y="34991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68" name="Oval 64">
              <a:extLst>
                <a:ext uri="{FF2B5EF4-FFF2-40B4-BE49-F238E27FC236}">
                  <a16:creationId xmlns:a16="http://schemas.microsoft.com/office/drawing/2014/main" id="{D2C71A8D-C66D-167D-6E8B-CF9620012AE1}"/>
                </a:ext>
              </a:extLst>
            </p:cNvPr>
            <p:cNvSpPr/>
            <p:nvPr/>
          </p:nvSpPr>
          <p:spPr>
            <a:xfrm>
              <a:off x="3590592" y="4826227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69" name="Oval 64">
              <a:extLst>
                <a:ext uri="{FF2B5EF4-FFF2-40B4-BE49-F238E27FC236}">
                  <a16:creationId xmlns:a16="http://schemas.microsoft.com/office/drawing/2014/main" id="{724EEB40-2F6E-DD8A-2A88-04226B728E21}"/>
                </a:ext>
              </a:extLst>
            </p:cNvPr>
            <p:cNvSpPr/>
            <p:nvPr/>
          </p:nvSpPr>
          <p:spPr>
            <a:xfrm>
              <a:off x="8193771" y="4860675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70" name="Oval 64">
              <a:extLst>
                <a:ext uri="{FF2B5EF4-FFF2-40B4-BE49-F238E27FC236}">
                  <a16:creationId xmlns:a16="http://schemas.microsoft.com/office/drawing/2014/main" id="{D827F6D2-E603-108D-DE3C-A6A84B86E052}"/>
                </a:ext>
              </a:extLst>
            </p:cNvPr>
            <p:cNvSpPr/>
            <p:nvPr/>
          </p:nvSpPr>
          <p:spPr>
            <a:xfrm>
              <a:off x="9527930" y="2985389"/>
              <a:ext cx="137185" cy="133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171" name="Straight Connector 63">
              <a:extLst>
                <a:ext uri="{FF2B5EF4-FFF2-40B4-BE49-F238E27FC236}">
                  <a16:creationId xmlns:a16="http://schemas.microsoft.com/office/drawing/2014/main" id="{B0F07732-8512-5610-1700-0586E54BB34C}"/>
                </a:ext>
              </a:extLst>
            </p:cNvPr>
            <p:cNvCxnSpPr>
              <a:cxnSpLocks/>
            </p:cNvCxnSpPr>
            <p:nvPr/>
          </p:nvCxnSpPr>
          <p:spPr>
            <a:xfrm>
              <a:off x="2713315" y="2645955"/>
              <a:ext cx="918438" cy="3286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2" name="Graphic 171" descr="Toy Train with solid fill">
              <a:extLst>
                <a:ext uri="{FF2B5EF4-FFF2-40B4-BE49-F238E27FC236}">
                  <a16:creationId xmlns:a16="http://schemas.microsoft.com/office/drawing/2014/main" id="{449911F0-338D-DAD6-5B6E-C615D0D94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1139651">
              <a:off x="2958706" y="2296376"/>
              <a:ext cx="612059" cy="636456"/>
            </a:xfrm>
            <a:prstGeom prst="rect">
              <a:avLst/>
            </a:prstGeom>
          </p:spPr>
        </p:pic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751B1009-8CAE-90BC-0468-97089D98B3B6}"/>
                </a:ext>
              </a:extLst>
            </p:cNvPr>
            <p:cNvSpPr txBox="1"/>
            <p:nvPr/>
          </p:nvSpPr>
          <p:spPr>
            <a:xfrm>
              <a:off x="4209186" y="4716883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C</a:t>
              </a:r>
              <a:endParaRPr lang="en-DE" sz="900" b="1">
                <a:latin typeface="+mn-lt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81A808DF-5C52-C66A-2394-D61F2F2E4A6F}"/>
                </a:ext>
              </a:extLst>
            </p:cNvPr>
            <p:cNvSpPr txBox="1"/>
            <p:nvPr/>
          </p:nvSpPr>
          <p:spPr>
            <a:xfrm>
              <a:off x="7460444" y="4716883"/>
              <a:ext cx="194356" cy="53323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D</a:t>
              </a:r>
              <a:endParaRPr lang="en-DE" sz="900" b="1">
                <a:latin typeface="+mn-lt"/>
              </a:endParaRPr>
            </a:p>
          </p:txBody>
        </p:sp>
        <p:pic>
          <p:nvPicPr>
            <p:cNvPr id="175" name="Graphic 174" descr="Toy Train with solid fill">
              <a:extLst>
                <a:ext uri="{FF2B5EF4-FFF2-40B4-BE49-F238E27FC236}">
                  <a16:creationId xmlns:a16="http://schemas.microsoft.com/office/drawing/2014/main" id="{288079CB-398A-6EDB-FA95-AFD30C09E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 rot="20878014">
              <a:off x="4475857" y="2288575"/>
              <a:ext cx="612058" cy="636456"/>
            </a:xfrm>
            <a:prstGeom prst="rect">
              <a:avLst/>
            </a:prstGeom>
          </p:spPr>
        </p:pic>
        <p:pic>
          <p:nvPicPr>
            <p:cNvPr id="176" name="Graphic 175" descr="Toy Train with solid fill">
              <a:extLst>
                <a:ext uri="{FF2B5EF4-FFF2-40B4-BE49-F238E27FC236}">
                  <a16:creationId xmlns:a16="http://schemas.microsoft.com/office/drawing/2014/main" id="{7E9EAD2A-5A75-83F7-CD2E-8528B9968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 rot="677191">
              <a:off x="6832499" y="2243695"/>
              <a:ext cx="612058" cy="6364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5C03166-9F03-C750-48BE-3369576BF4B2}"/>
                    </a:ext>
                  </a:extLst>
                </p:cNvPr>
                <p:cNvSpPr txBox="1"/>
                <p:nvPr/>
              </p:nvSpPr>
              <p:spPr>
                <a:xfrm>
                  <a:off x="7444982" y="1808819"/>
                  <a:ext cx="4286121" cy="77558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1600" b="1"/>
                          <m:t>Delay</m:t>
                        </m:r>
                        <m:r>
                          <a:rPr lang="de-DE" sz="16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de-DE" sz="1600"/>
                          <m:t>= 20 </m:t>
                        </m:r>
                        <m:r>
                          <m:rPr>
                            <m:nor/>
                          </m:rPr>
                          <a:rPr lang="de-DE" sz="1600"/>
                          <m:t>min</m:t>
                        </m:r>
                      </m:oMath>
                    </m:oMathPara>
                  </a14:m>
                  <a:endParaRPr lang="en-DE" sz="1600"/>
                </a:p>
              </p:txBody>
            </p:sp>
          </mc:Choice>
          <mc:Fallback xmlns=""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45C03166-9F03-C750-48BE-3369576BF4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4982" y="1808819"/>
                  <a:ext cx="4286121" cy="775581"/>
                </a:xfrm>
                <a:prstGeom prst="rect">
                  <a:avLst/>
                </a:prstGeom>
                <a:blipFill>
                  <a:blip r:embed="rId9"/>
                  <a:stretch>
                    <a:fillRect b="-212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E2ADB3A-5826-AEEF-273D-6B4F72D3C87E}"/>
                </a:ext>
              </a:extLst>
            </p:cNvPr>
            <p:cNvCxnSpPr>
              <a:cxnSpLocks/>
            </p:cNvCxnSpPr>
            <p:nvPr/>
          </p:nvCxnSpPr>
          <p:spPr>
            <a:xfrm>
              <a:off x="6139289" y="2611155"/>
              <a:ext cx="2299739" cy="42844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C866BFE-E4C8-7AF9-0157-73340AC308EA}"/>
                  </a:ext>
                </a:extLst>
              </p:cNvPr>
              <p:cNvSpPr txBox="1"/>
              <p:nvPr/>
            </p:nvSpPr>
            <p:spPr>
              <a:xfrm>
                <a:off x="4731804" y="5163050"/>
                <a:ext cx="1752598" cy="9028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>
                                  <a:latin typeface="+mn-lt"/>
                                </a:rPr>
                                <m:t>min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>
                                  <a:latin typeface="+mn-lt"/>
                                </a:rPr>
                                <m:t> </m:t>
                              </m:r>
                            </m:sup>
                          </m:sSup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  <m:brk m:alnAt="7"/>
                                </m:rPr>
                                <a:rPr lang="de-DE" sz="2000" i="1">
                                  <a:latin typeface="+mn-lt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de-DE" sz="2000">
                                  <a:latin typeface="+mn-lt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de-DE" sz="2000" i="1"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e-DE" sz="2000" i="1">
                                      <a:latin typeface="+mn-lt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e-DE" sz="2000" i="1">
                                      <a:latin typeface="+mn-lt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de-DE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de-DE" sz="2000" i="1">
                                  <a:latin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2000" i="1">
                                      <a:latin typeface="+mn-lt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e-DE" sz="2000" i="1">
                                      <a:latin typeface="+mn-lt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5C866BFE-E4C8-7AF9-0157-73340AC30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804" y="5163050"/>
                <a:ext cx="1752598" cy="90281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E4FB1EE-0C87-78C0-9593-7C2B0260FD8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9685" y="3635305"/>
            <a:ext cx="25527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40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268F3F-F166-6CB7-844F-C512F29471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8" name="Title 112">
            <a:extLst>
              <a:ext uri="{FF2B5EF4-FFF2-40B4-BE49-F238E27FC236}">
                <a16:creationId xmlns:a16="http://schemas.microsoft.com/office/drawing/2014/main" id="{24DCE498-93D3-6CCE-A8B3-C052ED0B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12" y="769111"/>
            <a:ext cx="11345332" cy="410369"/>
          </a:xfrm>
        </p:spPr>
        <p:txBody>
          <a:bodyPr/>
          <a:lstStyle/>
          <a:p>
            <a:r>
              <a:rPr lang="en-US"/>
              <a:t>Desired Output</a:t>
            </a:r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B20E62E-84BC-9291-9E23-D744A9014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pic>
        <p:nvPicPr>
          <p:cNvPr id="4" name="Screen Recording 2023-07-09 at 10.51.17.mov">
            <a:hlinkClick r:id="" action="ppaction://media"/>
            <a:extLst>
              <a:ext uri="{FF2B5EF4-FFF2-40B4-BE49-F238E27FC236}">
                <a16:creationId xmlns:a16="http://schemas.microsoft.com/office/drawing/2014/main" id="{63B6209E-A15C-3F8D-23E5-D5DE606376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2086" y="1360418"/>
            <a:ext cx="10067827" cy="472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896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4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737F23-AF35-BC0A-52A9-3E8E85BCA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16</a:t>
            </a:fld>
            <a:endParaRPr lang="de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4A1B81-764E-5D53-BB7F-622EAFD25951}"/>
              </a:ext>
            </a:extLst>
          </p:cNvPr>
          <p:cNvGrpSpPr/>
          <p:nvPr/>
        </p:nvGrpSpPr>
        <p:grpSpPr>
          <a:xfrm>
            <a:off x="425451" y="1730716"/>
            <a:ext cx="9058103" cy="432000"/>
            <a:chOff x="425451" y="1730716"/>
            <a:chExt cx="9058103" cy="432000"/>
          </a:xfrm>
        </p:grpSpPr>
        <p:sp>
          <p:nvSpPr>
            <p:cNvPr id="5" name="Symbol zastępczy tekstu 23">
              <a:extLst>
                <a:ext uri="{FF2B5EF4-FFF2-40B4-BE49-F238E27FC236}">
                  <a16:creationId xmlns:a16="http://schemas.microsoft.com/office/drawing/2014/main" id="{92ACA924-F654-129F-30A4-E6AC38633EA6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425451" y="1730716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01</a:t>
              </a:r>
            </a:p>
          </p:txBody>
        </p:sp>
        <p:sp>
          <p:nvSpPr>
            <p:cNvPr id="14" name="Symbol zastępczy tekstu 32">
              <a:extLst>
                <a:ext uri="{FF2B5EF4-FFF2-40B4-BE49-F238E27FC236}">
                  <a16:creationId xmlns:a16="http://schemas.microsoft.com/office/drawing/2014/main" id="{8E529EEA-0535-9A7D-86C2-7876638BAC0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1795516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Problem Description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EA386430-C085-9BD0-B7DE-D747AABA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E693B2-B7EA-A8ED-5270-2AB1AE73340A}"/>
              </a:ext>
            </a:extLst>
          </p:cNvPr>
          <p:cNvGrpSpPr/>
          <p:nvPr/>
        </p:nvGrpSpPr>
        <p:grpSpPr>
          <a:xfrm>
            <a:off x="425451" y="2365003"/>
            <a:ext cx="9058103" cy="432000"/>
            <a:chOff x="425451" y="2302130"/>
            <a:chExt cx="9058103" cy="432000"/>
          </a:xfrm>
        </p:grpSpPr>
        <p:sp>
          <p:nvSpPr>
            <p:cNvPr id="21" name="Symbol zastępczy tekstu 23">
              <a:extLst>
                <a:ext uri="{FF2B5EF4-FFF2-40B4-BE49-F238E27FC236}">
                  <a16:creationId xmlns:a16="http://schemas.microsoft.com/office/drawing/2014/main" id="{7DCA2B47-C54D-BE17-3572-876C62CBE633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425451" y="2302130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02</a:t>
              </a:r>
            </a:p>
          </p:txBody>
        </p:sp>
        <p:sp>
          <p:nvSpPr>
            <p:cNvPr id="22" name="Symbol zastępczy tekstu 32">
              <a:extLst>
                <a:ext uri="{FF2B5EF4-FFF2-40B4-BE49-F238E27FC236}">
                  <a16:creationId xmlns:a16="http://schemas.microsoft.com/office/drawing/2014/main" id="{10264CC8-DAC8-EC57-9E7E-2CA02391D67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2366930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b="1" err="1">
                  <a:latin typeface="+mn-lt"/>
                </a:rPr>
                <a:t>Combined</a:t>
              </a:r>
              <a:r>
                <a:rPr lang="de-DE" b="1">
                  <a:latin typeface="+mn-lt"/>
                </a:rPr>
                <a:t> Approach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05FE4E-B733-E02F-F1D0-603EDE5C57D0}"/>
              </a:ext>
            </a:extLst>
          </p:cNvPr>
          <p:cNvGrpSpPr/>
          <p:nvPr/>
        </p:nvGrpSpPr>
        <p:grpSpPr>
          <a:xfrm>
            <a:off x="425451" y="2999289"/>
            <a:ext cx="9058103" cy="432000"/>
            <a:chOff x="414883" y="3024067"/>
            <a:chExt cx="9058103" cy="432000"/>
          </a:xfrm>
        </p:grpSpPr>
        <p:sp>
          <p:nvSpPr>
            <p:cNvPr id="28" name="Symbol zastępczy tekstu 23">
              <a:extLst>
                <a:ext uri="{FF2B5EF4-FFF2-40B4-BE49-F238E27FC236}">
                  <a16:creationId xmlns:a16="http://schemas.microsoft.com/office/drawing/2014/main" id="{D720CF5E-FDA2-1C5D-38DE-39BBA1E2DEF2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 bwMode="gray">
            <a:xfrm>
              <a:off x="414883" y="3024067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03</a:t>
              </a:r>
            </a:p>
          </p:txBody>
        </p:sp>
        <p:sp>
          <p:nvSpPr>
            <p:cNvPr id="29" name="Symbol zastępczy tekstu 32">
              <a:extLst>
                <a:ext uri="{FF2B5EF4-FFF2-40B4-BE49-F238E27FC236}">
                  <a16:creationId xmlns:a16="http://schemas.microsoft.com/office/drawing/2014/main" id="{FA72EB01-738B-7CCC-980D-06139E9AC6D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088867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sz="2400" err="1">
                  <a:latin typeface="+mn-lt"/>
                </a:rPr>
                <a:t>Decoupled</a:t>
              </a:r>
              <a:r>
                <a:rPr lang="de-DE" sz="2400">
                  <a:latin typeface="+mn-lt"/>
                </a:rPr>
                <a:t> Approach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7EAD94-3138-9D1F-F35C-D6504C79E4A8}"/>
              </a:ext>
            </a:extLst>
          </p:cNvPr>
          <p:cNvGrpSpPr/>
          <p:nvPr/>
        </p:nvGrpSpPr>
        <p:grpSpPr>
          <a:xfrm>
            <a:off x="425451" y="3633576"/>
            <a:ext cx="9058103" cy="432000"/>
            <a:chOff x="414883" y="3595481"/>
            <a:chExt cx="9058103" cy="432000"/>
          </a:xfrm>
        </p:grpSpPr>
        <p:sp>
          <p:nvSpPr>
            <p:cNvPr id="30" name="Symbol zastępczy tekstu 23">
              <a:extLst>
                <a:ext uri="{FF2B5EF4-FFF2-40B4-BE49-F238E27FC236}">
                  <a16:creationId xmlns:a16="http://schemas.microsoft.com/office/drawing/2014/main" id="{C3928531-532D-C2CF-CF37-2AA870874CD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04</a:t>
              </a:r>
            </a:p>
          </p:txBody>
        </p:sp>
        <p:sp>
          <p:nvSpPr>
            <p:cNvPr id="31" name="Symbol zastępczy tekstu 32">
              <a:extLst>
                <a:ext uri="{FF2B5EF4-FFF2-40B4-BE49-F238E27FC236}">
                  <a16:creationId xmlns:a16="http://schemas.microsoft.com/office/drawing/2014/main" id="{49C1A316-6797-48F9-929B-30544324700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Experiments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7A1342-6839-F824-F73E-F5FE35FBEE13}"/>
              </a:ext>
            </a:extLst>
          </p:cNvPr>
          <p:cNvGrpSpPr/>
          <p:nvPr/>
        </p:nvGrpSpPr>
        <p:grpSpPr>
          <a:xfrm>
            <a:off x="425451" y="4267862"/>
            <a:ext cx="9058103" cy="432000"/>
            <a:chOff x="414883" y="3595481"/>
            <a:chExt cx="9058103" cy="432000"/>
          </a:xfrm>
        </p:grpSpPr>
        <p:sp>
          <p:nvSpPr>
            <p:cNvPr id="37" name="Symbol zastępczy tekstu 23">
              <a:extLst>
                <a:ext uri="{FF2B5EF4-FFF2-40B4-BE49-F238E27FC236}">
                  <a16:creationId xmlns:a16="http://schemas.microsoft.com/office/drawing/2014/main" id="{102D37CF-0904-A649-17BF-716C80D2279F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05</a:t>
              </a:r>
            </a:p>
          </p:txBody>
        </p:sp>
        <p:sp>
          <p:nvSpPr>
            <p:cNvPr id="38" name="Symbol zastępczy tekstu 32">
              <a:extLst>
                <a:ext uri="{FF2B5EF4-FFF2-40B4-BE49-F238E27FC236}">
                  <a16:creationId xmlns:a16="http://schemas.microsoft.com/office/drawing/2014/main" id="{19C24D9E-4416-65CE-489F-5646D2ED271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Summary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7A0232-2CFD-F898-9BCB-3614C4668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16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6666EB-F5EB-7756-4D09-9464AFC0CA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9B17A4E-5339-7461-AD5E-2AFB7F6CA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17" name="Title 19">
            <a:extLst>
              <a:ext uri="{FF2B5EF4-FFF2-40B4-BE49-F238E27FC236}">
                <a16:creationId xmlns:a16="http://schemas.microsoft.com/office/drawing/2014/main" id="{33692229-FC0F-E5B0-D662-645715CA1956}"/>
              </a:ext>
            </a:extLst>
          </p:cNvPr>
          <p:cNvSpPr txBox="1">
            <a:spLocks/>
          </p:cNvSpPr>
          <p:nvPr/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30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>
                <a:cs typeface="Arial"/>
              </a:rPr>
              <a:t>Dynamics: One Train, One Segment</a:t>
            </a:r>
            <a:endParaRPr lang="de-DE"/>
          </a:p>
        </p:txBody>
      </p:sp>
      <p:pic>
        <p:nvPicPr>
          <p:cNvPr id="40" name="Graphic 166" descr="Toy Train with solid fill">
            <a:extLst>
              <a:ext uri="{FF2B5EF4-FFF2-40B4-BE49-F238E27FC236}">
                <a16:creationId xmlns:a16="http://schemas.microsoft.com/office/drawing/2014/main" id="{1C85AC3A-6163-7482-31F9-3B8969859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16230" y="2869425"/>
            <a:ext cx="508872" cy="508871"/>
          </a:xfrm>
          <a:prstGeom prst="rect">
            <a:avLst/>
          </a:prstGeom>
        </p:spPr>
      </p:pic>
      <p:grpSp>
        <p:nvGrpSpPr>
          <p:cNvPr id="4" name="Gruppieren 4">
            <a:extLst>
              <a:ext uri="{FF2B5EF4-FFF2-40B4-BE49-F238E27FC236}">
                <a16:creationId xmlns:a16="http://schemas.microsoft.com/office/drawing/2014/main" id="{D1C04DB7-A04C-90E1-A629-896DEEAC1806}"/>
              </a:ext>
            </a:extLst>
          </p:cNvPr>
          <p:cNvGrpSpPr/>
          <p:nvPr/>
        </p:nvGrpSpPr>
        <p:grpSpPr>
          <a:xfrm>
            <a:off x="4122461" y="3269269"/>
            <a:ext cx="4197152" cy="420872"/>
            <a:chOff x="4082211" y="3281145"/>
            <a:chExt cx="4197152" cy="420872"/>
          </a:xfrm>
        </p:grpSpPr>
        <p:cxnSp>
          <p:nvCxnSpPr>
            <p:cNvPr id="5" name="Straight Connector 89">
              <a:extLst>
                <a:ext uri="{FF2B5EF4-FFF2-40B4-BE49-F238E27FC236}">
                  <a16:creationId xmlns:a16="http://schemas.microsoft.com/office/drawing/2014/main" id="{A73CDB47-5FBC-CEDE-9305-6615DD8F0ACC}"/>
                </a:ext>
              </a:extLst>
            </p:cNvPr>
            <p:cNvCxnSpPr>
              <a:cxnSpLocks/>
            </p:cNvCxnSpPr>
            <p:nvPr/>
          </p:nvCxnSpPr>
          <p:spPr>
            <a:xfrm>
              <a:off x="5025185" y="3329721"/>
              <a:ext cx="2090962" cy="21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105">
              <a:extLst>
                <a:ext uri="{FF2B5EF4-FFF2-40B4-BE49-F238E27FC236}">
                  <a16:creationId xmlns:a16="http://schemas.microsoft.com/office/drawing/2014/main" id="{1337A570-BF22-CF25-155F-B1AEAB3206E9}"/>
                </a:ext>
              </a:extLst>
            </p:cNvPr>
            <p:cNvSpPr/>
            <p:nvPr/>
          </p:nvSpPr>
          <p:spPr>
            <a:xfrm>
              <a:off x="7181751" y="3281145"/>
              <a:ext cx="93306" cy="971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7" name="Oval 112">
              <a:extLst>
                <a:ext uri="{FF2B5EF4-FFF2-40B4-BE49-F238E27FC236}">
                  <a16:creationId xmlns:a16="http://schemas.microsoft.com/office/drawing/2014/main" id="{3A7FEC1C-0E74-B295-C32F-72C2DD030F4E}"/>
                </a:ext>
              </a:extLst>
            </p:cNvPr>
            <p:cNvSpPr/>
            <p:nvPr/>
          </p:nvSpPr>
          <p:spPr>
            <a:xfrm>
              <a:off x="4866275" y="3283303"/>
              <a:ext cx="93306" cy="971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8" name="Textfeld 55">
              <a:extLst>
                <a:ext uri="{FF2B5EF4-FFF2-40B4-BE49-F238E27FC236}">
                  <a16:creationId xmlns:a16="http://schemas.microsoft.com/office/drawing/2014/main" id="{A1144ACC-7921-3785-C38E-17F1E0D71B40}"/>
                </a:ext>
              </a:extLst>
            </p:cNvPr>
            <p:cNvSpPr txBox="1"/>
            <p:nvPr/>
          </p:nvSpPr>
          <p:spPr>
            <a:xfrm>
              <a:off x="5280674" y="3380454"/>
              <a:ext cx="1579984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 err="1">
                  <a:latin typeface="+mn-lt"/>
                </a:rPr>
                <a:t>segment</a:t>
              </a:r>
              <a:endParaRPr lang="de-DE" sz="2000">
                <a:latin typeface="+mn-lt"/>
              </a:endParaRPr>
            </a:p>
          </p:txBody>
        </p:sp>
        <p:cxnSp>
          <p:nvCxnSpPr>
            <p:cNvPr id="9" name="Straight Connector 89">
              <a:extLst>
                <a:ext uri="{FF2B5EF4-FFF2-40B4-BE49-F238E27FC236}">
                  <a16:creationId xmlns:a16="http://schemas.microsoft.com/office/drawing/2014/main" id="{D18AFF14-1FB1-2BDE-5492-4390F6863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211" y="3378296"/>
              <a:ext cx="718460" cy="32372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89">
              <a:extLst>
                <a:ext uri="{FF2B5EF4-FFF2-40B4-BE49-F238E27FC236}">
                  <a16:creationId xmlns:a16="http://schemas.microsoft.com/office/drawing/2014/main" id="{F6B16E97-4E3E-C349-179F-2259A78365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0661" y="3329720"/>
              <a:ext cx="938702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89">
              <a:extLst>
                <a:ext uri="{FF2B5EF4-FFF2-40B4-BE49-F238E27FC236}">
                  <a16:creationId xmlns:a16="http://schemas.microsoft.com/office/drawing/2014/main" id="{06A12D8E-4581-6FD1-D20C-69E6A9E4BEA8}"/>
                </a:ext>
              </a:extLst>
            </p:cNvPr>
            <p:cNvCxnSpPr>
              <a:cxnSpLocks/>
            </p:cNvCxnSpPr>
            <p:nvPr/>
          </p:nvCxnSpPr>
          <p:spPr>
            <a:xfrm>
              <a:off x="7340661" y="3378298"/>
              <a:ext cx="851617" cy="32371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96040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DEA8599-6C1B-98B3-163F-52598C49B36C}"/>
              </a:ext>
            </a:extLst>
          </p:cNvPr>
          <p:cNvSpPr/>
          <p:nvPr/>
        </p:nvSpPr>
        <p:spPr>
          <a:xfrm>
            <a:off x="3855720" y="3266550"/>
            <a:ext cx="4236720" cy="1155128"/>
          </a:xfrm>
          <a:custGeom>
            <a:avLst/>
            <a:gdLst>
              <a:gd name="connsiteX0" fmla="*/ 0 w 3992880"/>
              <a:gd name="connsiteY0" fmla="*/ 0 h 1203960"/>
              <a:gd name="connsiteX1" fmla="*/ 220980 w 3992880"/>
              <a:gd name="connsiteY1" fmla="*/ 0 h 1203960"/>
              <a:gd name="connsiteX2" fmla="*/ 1623060 w 3992880"/>
              <a:gd name="connsiteY2" fmla="*/ 701040 h 1203960"/>
              <a:gd name="connsiteX3" fmla="*/ 2895600 w 3992880"/>
              <a:gd name="connsiteY3" fmla="*/ 701040 h 1203960"/>
              <a:gd name="connsiteX4" fmla="*/ 3992880 w 3992880"/>
              <a:gd name="connsiteY4" fmla="*/ 1203960 h 1203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92880" h="1203960">
                <a:moveTo>
                  <a:pt x="0" y="0"/>
                </a:moveTo>
                <a:lnTo>
                  <a:pt x="220980" y="0"/>
                </a:lnTo>
                <a:lnTo>
                  <a:pt x="1623060" y="701040"/>
                </a:lnTo>
                <a:lnTo>
                  <a:pt x="2895600" y="701040"/>
                </a:lnTo>
                <a:lnTo>
                  <a:pt x="3992880" y="1203960"/>
                </a:lnTo>
              </a:path>
            </a:pathLst>
          </a:cu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69DFD3E-EB0E-B431-8697-6751DCAB3299}"/>
              </a:ext>
            </a:extLst>
          </p:cNvPr>
          <p:cNvGrpSpPr/>
          <p:nvPr/>
        </p:nvGrpSpPr>
        <p:grpSpPr>
          <a:xfrm>
            <a:off x="2895600" y="1914698"/>
            <a:ext cx="6400800" cy="2796540"/>
            <a:chOff x="1371600" y="1914698"/>
            <a:chExt cx="6400800" cy="279654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403E46C-791A-B161-77EF-3A7FDC5051BD}"/>
                </a:ext>
              </a:extLst>
            </p:cNvPr>
            <p:cNvGrpSpPr/>
            <p:nvPr/>
          </p:nvGrpSpPr>
          <p:grpSpPr>
            <a:xfrm>
              <a:off x="1371600" y="1914698"/>
              <a:ext cx="6400800" cy="2796540"/>
              <a:chOff x="1371600" y="1914698"/>
              <a:chExt cx="6400800" cy="2796540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FC45035-4E82-55D5-BBC2-3A70B4A351D0}"/>
                  </a:ext>
                </a:extLst>
              </p:cNvPr>
              <p:cNvGrpSpPr/>
              <p:nvPr/>
            </p:nvGrpSpPr>
            <p:grpSpPr>
              <a:xfrm>
                <a:off x="1371600" y="1914698"/>
                <a:ext cx="6400800" cy="2796540"/>
                <a:chOff x="1371600" y="1914698"/>
                <a:chExt cx="6400800" cy="2796540"/>
              </a:xfrm>
            </p:grpSpPr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4DD0A20A-8603-418D-4DEE-2198776F0DB6}"/>
                    </a:ext>
                  </a:extLst>
                </p:cNvPr>
                <p:cNvSpPr/>
                <p:nvPr/>
              </p:nvSpPr>
              <p:spPr>
                <a:xfrm>
                  <a:off x="1371600" y="1914698"/>
                  <a:ext cx="1207294" cy="279654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0E78C03-D96B-314F-4260-460C7212236B}"/>
                    </a:ext>
                  </a:extLst>
                </p:cNvPr>
                <p:cNvSpPr/>
                <p:nvPr/>
              </p:nvSpPr>
              <p:spPr>
                <a:xfrm>
                  <a:off x="6565106" y="1914698"/>
                  <a:ext cx="1207294" cy="279654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4AA8BB3-4A3F-B4A2-27DB-78EFFF9B43B4}"/>
                    </a:ext>
                  </a:extLst>
                </p:cNvPr>
                <p:cNvSpPr/>
                <p:nvPr/>
              </p:nvSpPr>
              <p:spPr>
                <a:xfrm>
                  <a:off x="1371600" y="1914698"/>
                  <a:ext cx="6400800" cy="2794580"/>
                </a:xfrm>
                <a:prstGeom prst="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/>
                </a:p>
              </p:txBody>
            </p:sp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B0C109D3-4275-30C6-E43D-EE6D409D38BB}"/>
                  </a:ext>
                </a:extLst>
              </p:cNvPr>
              <p:cNvGrpSpPr/>
              <p:nvPr/>
            </p:nvGrpSpPr>
            <p:grpSpPr>
              <a:xfrm>
                <a:off x="1371600" y="1914698"/>
                <a:ext cx="6400800" cy="2388651"/>
                <a:chOff x="1371600" y="1914698"/>
                <a:chExt cx="6400800" cy="2388651"/>
              </a:xfrm>
            </p:grpSpPr>
            <p:cxnSp>
              <p:nvCxnSpPr>
                <p:cNvPr id="38" name="Straight Arrow Connector 37">
                  <a:extLst>
                    <a:ext uri="{FF2B5EF4-FFF2-40B4-BE49-F238E27FC236}">
                      <a16:creationId xmlns:a16="http://schemas.microsoft.com/office/drawing/2014/main" id="{B2DE57D6-66A1-70D6-B43A-CAFAE1E01E49}"/>
                    </a:ext>
                  </a:extLst>
                </p:cNvPr>
                <p:cNvCxnSpPr/>
                <p:nvPr/>
              </p:nvCxnSpPr>
              <p:spPr>
                <a:xfrm flipV="1">
                  <a:off x="2570506" y="1914698"/>
                  <a:ext cx="0" cy="2388651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68AA9E8E-5B91-605B-A2EC-4CC4B625BEC9}"/>
                    </a:ext>
                  </a:extLst>
                </p:cNvPr>
                <p:cNvGrpSpPr/>
                <p:nvPr/>
              </p:nvGrpSpPr>
              <p:grpSpPr>
                <a:xfrm>
                  <a:off x="1371600" y="3929983"/>
                  <a:ext cx="6400800" cy="0"/>
                  <a:chOff x="1371600" y="3929983"/>
                  <a:chExt cx="6400800" cy="0"/>
                </a:xfrm>
              </p:grpSpPr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692ACB43-3346-F9E5-9847-E581A709FFD9}"/>
                      </a:ext>
                    </a:extLst>
                  </p:cNvPr>
                  <p:cNvCxnSpPr/>
                  <p:nvPr/>
                </p:nvCxnSpPr>
                <p:spPr>
                  <a:xfrm>
                    <a:off x="2575560" y="3929983"/>
                    <a:ext cx="3989546" cy="0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>
                    <a:extLst>
                      <a:ext uri="{FF2B5EF4-FFF2-40B4-BE49-F238E27FC236}">
                        <a16:creationId xmlns:a16="http://schemas.microsoft.com/office/drawing/2014/main" id="{88550A10-B474-F916-460D-441BC8B087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71600" y="3929983"/>
                    <a:ext cx="1203960" cy="0"/>
                  </a:xfrm>
                  <a:prstGeom prst="line">
                    <a:avLst/>
                  </a:prstGeom>
                  <a:ln w="19050">
                    <a:prstDash val="dash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Arrow Connector 34">
                    <a:extLst>
                      <a:ext uri="{FF2B5EF4-FFF2-40B4-BE49-F238E27FC236}">
                        <a16:creationId xmlns:a16="http://schemas.microsoft.com/office/drawing/2014/main" id="{529F0977-8F22-F700-0CAD-8151169F89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65106" y="3929983"/>
                    <a:ext cx="1207294" cy="0"/>
                  </a:xfrm>
                  <a:prstGeom prst="straightConnector1">
                    <a:avLst/>
                  </a:prstGeom>
                  <a:ln w="19050">
                    <a:prstDash val="dash"/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1921B3F-1F2E-7AF8-15EC-6EFF0A7FD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5106" y="1914698"/>
              <a:ext cx="0" cy="238865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1903B8E-AB7E-7BA8-6B1B-BF98597E3778}"/>
              </a:ext>
            </a:extLst>
          </p:cNvPr>
          <p:cNvGrpSpPr/>
          <p:nvPr/>
        </p:nvGrpSpPr>
        <p:grpSpPr>
          <a:xfrm>
            <a:off x="4099560" y="4709284"/>
            <a:ext cx="3989546" cy="794393"/>
            <a:chOff x="2575560" y="4709281"/>
            <a:chExt cx="3989546" cy="794393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E2E5256-BDB8-6408-99F1-71DC04CA71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5560" y="4712543"/>
              <a:ext cx="766715" cy="791131"/>
            </a:xfrm>
            <a:prstGeom prst="lin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F2AB12D-0D49-486F-0E26-A94552BEC7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7394" y="4709281"/>
              <a:ext cx="747712" cy="774848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35D40-6042-A16C-601E-65E7364012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18</a:t>
            </a:fld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1236F8C-8CBC-8A8A-76FA-20E65A5A7C54}"/>
                  </a:ext>
                </a:extLst>
              </p:cNvPr>
              <p:cNvSpPr/>
              <p:nvPr/>
            </p:nvSpPr>
            <p:spPr>
              <a:xfrm>
                <a:off x="2971108" y="2005210"/>
                <a:ext cx="1059872" cy="10598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</a:rPr>
                            <m:t> </m:t>
                          </m:r>
                        </m:e>
                      </m:acc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ffectLst/>
                        </a:rPr>
                        <m:t>= 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bg2"/>
                          </a:solidFill>
                          <a:effectLst/>
                        </a:rPr>
                        <m:t>V</m:t>
                      </m:r>
                    </m:oMath>
                  </m:oMathPara>
                </a14:m>
                <a:endParaRPr lang="en-US" sz="2000" i="1">
                  <a:solidFill>
                    <a:srgbClr val="FF0000"/>
                  </a:solidFill>
                  <a:effectLst/>
                  <a:cs typeface="Aharoni" panose="02010803020104030203" pitchFamily="2" charset="-79"/>
                </a:endParaRPr>
              </a:p>
              <a:p>
                <a:pPr algn="ctr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</a:rPr>
                            <m:t>V</m:t>
                          </m:r>
                        </m:e>
                      </m:acc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ffectLst/>
                        </a:rPr>
                        <m:t> = 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rgbClr val="00B050"/>
                          </a:solidFill>
                          <a:effectLst/>
                        </a:rPr>
                        <m:t>A</m:t>
                      </m:r>
                    </m:oMath>
                  </m:oMathPara>
                </a14:m>
                <a:endParaRPr lang="de-DE" sz="2000" i="1">
                  <a:solidFill>
                    <a:srgbClr val="00B050"/>
                  </a:solidFill>
                  <a:effectLst/>
                  <a:cs typeface="Aharoni" panose="02010803020104030203" pitchFamily="2" charset="-79"/>
                </a:endParaRPr>
              </a:p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rgbClr val="FF0000"/>
                  </a:solidFill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1236F8C-8CBC-8A8A-76FA-20E65A5A7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108" y="2005210"/>
                <a:ext cx="1059872" cy="10598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33FD0535-CD67-6B95-0A48-0D335F49BF77}"/>
              </a:ext>
            </a:extLst>
          </p:cNvPr>
          <p:cNvGrpSpPr/>
          <p:nvPr/>
        </p:nvGrpSpPr>
        <p:grpSpPr>
          <a:xfrm>
            <a:off x="3627499" y="1914698"/>
            <a:ext cx="5053070" cy="1987272"/>
            <a:chOff x="2103499" y="1914698"/>
            <a:chExt cx="5053070" cy="19872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BD1579F9-B1E9-3CBC-0D43-B495D2F2CDEF}"/>
                    </a:ext>
                  </a:extLst>
                </p:cNvPr>
                <p:cNvSpPr/>
                <p:nvPr/>
              </p:nvSpPr>
              <p:spPr>
                <a:xfrm>
                  <a:off x="2103499" y="3494083"/>
                  <a:ext cx="463197" cy="40788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b="0" i="1" smtClean="0">
                                <a:solidFill>
                                  <a:schemeClr val="bg2"/>
                                </a:solidFill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b="0" i="1" smtClean="0">
                                <a:solidFill>
                                  <a:schemeClr val="bg2"/>
                                </a:solidFill>
                              </a:rPr>
                              <m:t>in</m:t>
                            </m:r>
                          </m:sub>
                        </m:sSub>
                      </m:oMath>
                    </m:oMathPara>
                  </a14:m>
                  <a:endParaRPr lang="en-US" sz="2000" i="1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BD1579F9-B1E9-3CBC-0D43-B495D2F2CDE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3499" y="3494083"/>
                  <a:ext cx="463197" cy="407887"/>
                </a:xfrm>
                <a:prstGeom prst="rect">
                  <a:avLst/>
                </a:prstGeom>
                <a:blipFill>
                  <a:blip r:embed="rId4"/>
                  <a:stretch>
                    <a:fillRect l="-18421" r="-1316" b="-2238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63987C81-3F73-A72D-4ED2-743A427E40C3}"/>
                </a:ext>
              </a:extLst>
            </p:cNvPr>
            <p:cNvGrpSpPr/>
            <p:nvPr/>
          </p:nvGrpSpPr>
          <p:grpSpPr>
            <a:xfrm>
              <a:off x="2549327" y="1914698"/>
              <a:ext cx="4046813" cy="1837515"/>
              <a:chOff x="2549327" y="1832841"/>
              <a:chExt cx="4046813" cy="1837515"/>
            </a:xfrm>
          </p:grpSpPr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5350F788-7646-381F-F462-66C26EDFBEBE}"/>
                  </a:ext>
                </a:extLst>
              </p:cNvPr>
              <p:cNvSpPr/>
              <p:nvPr/>
            </p:nvSpPr>
            <p:spPr>
              <a:xfrm>
                <a:off x="2575560" y="1832841"/>
                <a:ext cx="3992880" cy="1801900"/>
              </a:xfrm>
              <a:custGeom>
                <a:avLst/>
                <a:gdLst>
                  <a:gd name="connsiteX0" fmla="*/ 0 w 3992880"/>
                  <a:gd name="connsiteY0" fmla="*/ 1806055 h 1806055"/>
                  <a:gd name="connsiteX1" fmla="*/ 472440 w 3992880"/>
                  <a:gd name="connsiteY1" fmla="*/ 868795 h 1806055"/>
                  <a:gd name="connsiteX2" fmla="*/ 822960 w 3992880"/>
                  <a:gd name="connsiteY2" fmla="*/ 396355 h 1806055"/>
                  <a:gd name="connsiteX3" fmla="*/ 1257300 w 3992880"/>
                  <a:gd name="connsiteY3" fmla="*/ 83935 h 1806055"/>
                  <a:gd name="connsiteX4" fmla="*/ 1546860 w 3992880"/>
                  <a:gd name="connsiteY4" fmla="*/ 7735 h 1806055"/>
                  <a:gd name="connsiteX5" fmla="*/ 2827020 w 3992880"/>
                  <a:gd name="connsiteY5" fmla="*/ 7735 h 1806055"/>
                  <a:gd name="connsiteX6" fmla="*/ 3078480 w 3992880"/>
                  <a:gd name="connsiteY6" fmla="*/ 53455 h 1806055"/>
                  <a:gd name="connsiteX7" fmla="*/ 3307080 w 3992880"/>
                  <a:gd name="connsiteY7" fmla="*/ 160135 h 1806055"/>
                  <a:gd name="connsiteX8" fmla="*/ 3589020 w 3992880"/>
                  <a:gd name="connsiteY8" fmla="*/ 396355 h 1806055"/>
                  <a:gd name="connsiteX9" fmla="*/ 3840480 w 3992880"/>
                  <a:gd name="connsiteY9" fmla="*/ 739255 h 1806055"/>
                  <a:gd name="connsiteX10" fmla="*/ 3992880 w 3992880"/>
                  <a:gd name="connsiteY10" fmla="*/ 1013575 h 1806055"/>
                  <a:gd name="connsiteX0" fmla="*/ 0 w 3992880"/>
                  <a:gd name="connsiteY0" fmla="*/ 1805405 h 1805405"/>
                  <a:gd name="connsiteX1" fmla="*/ 472440 w 3992880"/>
                  <a:gd name="connsiteY1" fmla="*/ 868145 h 1805405"/>
                  <a:gd name="connsiteX2" fmla="*/ 822960 w 3992880"/>
                  <a:gd name="connsiteY2" fmla="*/ 395705 h 1805405"/>
                  <a:gd name="connsiteX3" fmla="*/ 1244600 w 3992880"/>
                  <a:gd name="connsiteY3" fmla="*/ 73760 h 1805405"/>
                  <a:gd name="connsiteX4" fmla="*/ 1546860 w 3992880"/>
                  <a:gd name="connsiteY4" fmla="*/ 7085 h 1805405"/>
                  <a:gd name="connsiteX5" fmla="*/ 2827020 w 3992880"/>
                  <a:gd name="connsiteY5" fmla="*/ 7085 h 1805405"/>
                  <a:gd name="connsiteX6" fmla="*/ 3078480 w 3992880"/>
                  <a:gd name="connsiteY6" fmla="*/ 52805 h 1805405"/>
                  <a:gd name="connsiteX7" fmla="*/ 3307080 w 3992880"/>
                  <a:gd name="connsiteY7" fmla="*/ 159485 h 1805405"/>
                  <a:gd name="connsiteX8" fmla="*/ 3589020 w 3992880"/>
                  <a:gd name="connsiteY8" fmla="*/ 395705 h 1805405"/>
                  <a:gd name="connsiteX9" fmla="*/ 3840480 w 3992880"/>
                  <a:gd name="connsiteY9" fmla="*/ 738605 h 1805405"/>
                  <a:gd name="connsiteX10" fmla="*/ 3992880 w 3992880"/>
                  <a:gd name="connsiteY10" fmla="*/ 1012925 h 1805405"/>
                  <a:gd name="connsiteX0" fmla="*/ 0 w 3992880"/>
                  <a:gd name="connsiteY0" fmla="*/ 1803858 h 1803858"/>
                  <a:gd name="connsiteX1" fmla="*/ 472440 w 3992880"/>
                  <a:gd name="connsiteY1" fmla="*/ 866598 h 1803858"/>
                  <a:gd name="connsiteX2" fmla="*/ 822960 w 3992880"/>
                  <a:gd name="connsiteY2" fmla="*/ 394158 h 1803858"/>
                  <a:gd name="connsiteX3" fmla="*/ 1239838 w 3992880"/>
                  <a:gd name="connsiteY3" fmla="*/ 48400 h 1803858"/>
                  <a:gd name="connsiteX4" fmla="*/ 1546860 w 3992880"/>
                  <a:gd name="connsiteY4" fmla="*/ 5538 h 1803858"/>
                  <a:gd name="connsiteX5" fmla="*/ 2827020 w 3992880"/>
                  <a:gd name="connsiteY5" fmla="*/ 5538 h 1803858"/>
                  <a:gd name="connsiteX6" fmla="*/ 3078480 w 3992880"/>
                  <a:gd name="connsiteY6" fmla="*/ 51258 h 1803858"/>
                  <a:gd name="connsiteX7" fmla="*/ 3307080 w 3992880"/>
                  <a:gd name="connsiteY7" fmla="*/ 157938 h 1803858"/>
                  <a:gd name="connsiteX8" fmla="*/ 3589020 w 3992880"/>
                  <a:gd name="connsiteY8" fmla="*/ 394158 h 1803858"/>
                  <a:gd name="connsiteX9" fmla="*/ 3840480 w 3992880"/>
                  <a:gd name="connsiteY9" fmla="*/ 737058 h 1803858"/>
                  <a:gd name="connsiteX10" fmla="*/ 3992880 w 3992880"/>
                  <a:gd name="connsiteY10" fmla="*/ 1011378 h 1803858"/>
                  <a:gd name="connsiteX0" fmla="*/ 0 w 3992880"/>
                  <a:gd name="connsiteY0" fmla="*/ 1803858 h 1803858"/>
                  <a:gd name="connsiteX1" fmla="*/ 472440 w 3992880"/>
                  <a:gd name="connsiteY1" fmla="*/ 866598 h 1803858"/>
                  <a:gd name="connsiteX2" fmla="*/ 822960 w 3992880"/>
                  <a:gd name="connsiteY2" fmla="*/ 394158 h 1803858"/>
                  <a:gd name="connsiteX3" fmla="*/ 1239838 w 3992880"/>
                  <a:gd name="connsiteY3" fmla="*/ 48400 h 1803858"/>
                  <a:gd name="connsiteX4" fmla="*/ 1546860 w 3992880"/>
                  <a:gd name="connsiteY4" fmla="*/ 5538 h 1803858"/>
                  <a:gd name="connsiteX5" fmla="*/ 2827020 w 3992880"/>
                  <a:gd name="connsiteY5" fmla="*/ 5538 h 1803858"/>
                  <a:gd name="connsiteX6" fmla="*/ 3078480 w 3992880"/>
                  <a:gd name="connsiteY6" fmla="*/ 51258 h 1803858"/>
                  <a:gd name="connsiteX7" fmla="*/ 3307080 w 3992880"/>
                  <a:gd name="connsiteY7" fmla="*/ 157938 h 1803858"/>
                  <a:gd name="connsiteX8" fmla="*/ 3589020 w 3992880"/>
                  <a:gd name="connsiteY8" fmla="*/ 394158 h 1803858"/>
                  <a:gd name="connsiteX9" fmla="*/ 3840480 w 3992880"/>
                  <a:gd name="connsiteY9" fmla="*/ 737058 h 1803858"/>
                  <a:gd name="connsiteX10" fmla="*/ 3992880 w 3992880"/>
                  <a:gd name="connsiteY10" fmla="*/ 1011378 h 1803858"/>
                  <a:gd name="connsiteX0" fmla="*/ 0 w 3992880"/>
                  <a:gd name="connsiteY0" fmla="*/ 1802724 h 1802724"/>
                  <a:gd name="connsiteX1" fmla="*/ 472440 w 3992880"/>
                  <a:gd name="connsiteY1" fmla="*/ 865464 h 1802724"/>
                  <a:gd name="connsiteX2" fmla="*/ 822960 w 3992880"/>
                  <a:gd name="connsiteY2" fmla="*/ 393024 h 1802724"/>
                  <a:gd name="connsiteX3" fmla="*/ 1239838 w 3992880"/>
                  <a:gd name="connsiteY3" fmla="*/ 47266 h 1802724"/>
                  <a:gd name="connsiteX4" fmla="*/ 1546860 w 3992880"/>
                  <a:gd name="connsiteY4" fmla="*/ 4404 h 1802724"/>
                  <a:gd name="connsiteX5" fmla="*/ 2827020 w 3992880"/>
                  <a:gd name="connsiteY5" fmla="*/ 4404 h 1802724"/>
                  <a:gd name="connsiteX6" fmla="*/ 3092767 w 3992880"/>
                  <a:gd name="connsiteY6" fmla="*/ 31074 h 1802724"/>
                  <a:gd name="connsiteX7" fmla="*/ 3307080 w 3992880"/>
                  <a:gd name="connsiteY7" fmla="*/ 156804 h 1802724"/>
                  <a:gd name="connsiteX8" fmla="*/ 3589020 w 3992880"/>
                  <a:gd name="connsiteY8" fmla="*/ 393024 h 1802724"/>
                  <a:gd name="connsiteX9" fmla="*/ 3840480 w 3992880"/>
                  <a:gd name="connsiteY9" fmla="*/ 735924 h 1802724"/>
                  <a:gd name="connsiteX10" fmla="*/ 3992880 w 3992880"/>
                  <a:gd name="connsiteY10" fmla="*/ 1010244 h 1802724"/>
                  <a:gd name="connsiteX0" fmla="*/ 0 w 3992880"/>
                  <a:gd name="connsiteY0" fmla="*/ 1802724 h 1802724"/>
                  <a:gd name="connsiteX1" fmla="*/ 472440 w 3992880"/>
                  <a:gd name="connsiteY1" fmla="*/ 865464 h 1802724"/>
                  <a:gd name="connsiteX2" fmla="*/ 822960 w 3992880"/>
                  <a:gd name="connsiteY2" fmla="*/ 393024 h 1802724"/>
                  <a:gd name="connsiteX3" fmla="*/ 1239838 w 3992880"/>
                  <a:gd name="connsiteY3" fmla="*/ 47266 h 1802724"/>
                  <a:gd name="connsiteX4" fmla="*/ 1546860 w 3992880"/>
                  <a:gd name="connsiteY4" fmla="*/ 4404 h 1802724"/>
                  <a:gd name="connsiteX5" fmla="*/ 2827020 w 3992880"/>
                  <a:gd name="connsiteY5" fmla="*/ 4404 h 1802724"/>
                  <a:gd name="connsiteX6" fmla="*/ 3092767 w 3992880"/>
                  <a:gd name="connsiteY6" fmla="*/ 31074 h 1802724"/>
                  <a:gd name="connsiteX7" fmla="*/ 3307080 w 3992880"/>
                  <a:gd name="connsiteY7" fmla="*/ 156804 h 1802724"/>
                  <a:gd name="connsiteX8" fmla="*/ 3589020 w 3992880"/>
                  <a:gd name="connsiteY8" fmla="*/ 393024 h 1802724"/>
                  <a:gd name="connsiteX9" fmla="*/ 3840480 w 3992880"/>
                  <a:gd name="connsiteY9" fmla="*/ 735924 h 1802724"/>
                  <a:gd name="connsiteX10" fmla="*/ 3992880 w 3992880"/>
                  <a:gd name="connsiteY10" fmla="*/ 1010244 h 1802724"/>
                  <a:gd name="connsiteX0" fmla="*/ 0 w 3992880"/>
                  <a:gd name="connsiteY0" fmla="*/ 1802724 h 1802724"/>
                  <a:gd name="connsiteX1" fmla="*/ 472440 w 3992880"/>
                  <a:gd name="connsiteY1" fmla="*/ 865464 h 1802724"/>
                  <a:gd name="connsiteX2" fmla="*/ 822960 w 3992880"/>
                  <a:gd name="connsiteY2" fmla="*/ 393024 h 1802724"/>
                  <a:gd name="connsiteX3" fmla="*/ 1239838 w 3992880"/>
                  <a:gd name="connsiteY3" fmla="*/ 47266 h 1802724"/>
                  <a:gd name="connsiteX4" fmla="*/ 1546860 w 3992880"/>
                  <a:gd name="connsiteY4" fmla="*/ 4404 h 1802724"/>
                  <a:gd name="connsiteX5" fmla="*/ 2827020 w 3992880"/>
                  <a:gd name="connsiteY5" fmla="*/ 4404 h 1802724"/>
                  <a:gd name="connsiteX6" fmla="*/ 3092767 w 3992880"/>
                  <a:gd name="connsiteY6" fmla="*/ 31074 h 1802724"/>
                  <a:gd name="connsiteX7" fmla="*/ 3307080 w 3992880"/>
                  <a:gd name="connsiteY7" fmla="*/ 156804 h 1802724"/>
                  <a:gd name="connsiteX8" fmla="*/ 3589020 w 3992880"/>
                  <a:gd name="connsiteY8" fmla="*/ 393024 h 1802724"/>
                  <a:gd name="connsiteX9" fmla="*/ 3840480 w 3992880"/>
                  <a:gd name="connsiteY9" fmla="*/ 735924 h 1802724"/>
                  <a:gd name="connsiteX10" fmla="*/ 3992880 w 3992880"/>
                  <a:gd name="connsiteY10" fmla="*/ 1010244 h 1802724"/>
                  <a:gd name="connsiteX0" fmla="*/ 0 w 3992880"/>
                  <a:gd name="connsiteY0" fmla="*/ 1802724 h 1802724"/>
                  <a:gd name="connsiteX1" fmla="*/ 472440 w 3992880"/>
                  <a:gd name="connsiteY1" fmla="*/ 865464 h 1802724"/>
                  <a:gd name="connsiteX2" fmla="*/ 822960 w 3992880"/>
                  <a:gd name="connsiteY2" fmla="*/ 393024 h 1802724"/>
                  <a:gd name="connsiteX3" fmla="*/ 1239838 w 3992880"/>
                  <a:gd name="connsiteY3" fmla="*/ 47266 h 1802724"/>
                  <a:gd name="connsiteX4" fmla="*/ 1546860 w 3992880"/>
                  <a:gd name="connsiteY4" fmla="*/ 4404 h 1802724"/>
                  <a:gd name="connsiteX5" fmla="*/ 2827020 w 3992880"/>
                  <a:gd name="connsiteY5" fmla="*/ 4404 h 1802724"/>
                  <a:gd name="connsiteX6" fmla="*/ 3092767 w 3992880"/>
                  <a:gd name="connsiteY6" fmla="*/ 31074 h 1802724"/>
                  <a:gd name="connsiteX7" fmla="*/ 3307080 w 3992880"/>
                  <a:gd name="connsiteY7" fmla="*/ 156804 h 1802724"/>
                  <a:gd name="connsiteX8" fmla="*/ 3589020 w 3992880"/>
                  <a:gd name="connsiteY8" fmla="*/ 393024 h 1802724"/>
                  <a:gd name="connsiteX9" fmla="*/ 3840480 w 3992880"/>
                  <a:gd name="connsiteY9" fmla="*/ 735924 h 1802724"/>
                  <a:gd name="connsiteX10" fmla="*/ 3992880 w 3992880"/>
                  <a:gd name="connsiteY10" fmla="*/ 1010244 h 1802724"/>
                  <a:gd name="connsiteX0" fmla="*/ 0 w 3992880"/>
                  <a:gd name="connsiteY0" fmla="*/ 1802348 h 1802348"/>
                  <a:gd name="connsiteX1" fmla="*/ 472440 w 3992880"/>
                  <a:gd name="connsiteY1" fmla="*/ 865088 h 1802348"/>
                  <a:gd name="connsiteX2" fmla="*/ 822960 w 3992880"/>
                  <a:gd name="connsiteY2" fmla="*/ 392648 h 1802348"/>
                  <a:gd name="connsiteX3" fmla="*/ 1239838 w 3992880"/>
                  <a:gd name="connsiteY3" fmla="*/ 46890 h 1802348"/>
                  <a:gd name="connsiteX4" fmla="*/ 1546860 w 3992880"/>
                  <a:gd name="connsiteY4" fmla="*/ 4028 h 1802348"/>
                  <a:gd name="connsiteX5" fmla="*/ 2827020 w 3992880"/>
                  <a:gd name="connsiteY5" fmla="*/ 4028 h 1802348"/>
                  <a:gd name="connsiteX6" fmla="*/ 3102292 w 3992880"/>
                  <a:gd name="connsiteY6" fmla="*/ 23555 h 1802348"/>
                  <a:gd name="connsiteX7" fmla="*/ 3307080 w 3992880"/>
                  <a:gd name="connsiteY7" fmla="*/ 156428 h 1802348"/>
                  <a:gd name="connsiteX8" fmla="*/ 3589020 w 3992880"/>
                  <a:gd name="connsiteY8" fmla="*/ 392648 h 1802348"/>
                  <a:gd name="connsiteX9" fmla="*/ 3840480 w 3992880"/>
                  <a:gd name="connsiteY9" fmla="*/ 735548 h 1802348"/>
                  <a:gd name="connsiteX10" fmla="*/ 3992880 w 3992880"/>
                  <a:gd name="connsiteY10" fmla="*/ 1009868 h 1802348"/>
                  <a:gd name="connsiteX0" fmla="*/ 0 w 3992880"/>
                  <a:gd name="connsiteY0" fmla="*/ 1802348 h 1802348"/>
                  <a:gd name="connsiteX1" fmla="*/ 472440 w 3992880"/>
                  <a:gd name="connsiteY1" fmla="*/ 865088 h 1802348"/>
                  <a:gd name="connsiteX2" fmla="*/ 822960 w 3992880"/>
                  <a:gd name="connsiteY2" fmla="*/ 392648 h 1802348"/>
                  <a:gd name="connsiteX3" fmla="*/ 1239838 w 3992880"/>
                  <a:gd name="connsiteY3" fmla="*/ 46890 h 1802348"/>
                  <a:gd name="connsiteX4" fmla="*/ 1546860 w 3992880"/>
                  <a:gd name="connsiteY4" fmla="*/ 4028 h 1802348"/>
                  <a:gd name="connsiteX5" fmla="*/ 2827020 w 3992880"/>
                  <a:gd name="connsiteY5" fmla="*/ 4028 h 1802348"/>
                  <a:gd name="connsiteX6" fmla="*/ 3102292 w 3992880"/>
                  <a:gd name="connsiteY6" fmla="*/ 23555 h 1802348"/>
                  <a:gd name="connsiteX7" fmla="*/ 3307080 w 3992880"/>
                  <a:gd name="connsiteY7" fmla="*/ 156428 h 1802348"/>
                  <a:gd name="connsiteX8" fmla="*/ 3589020 w 3992880"/>
                  <a:gd name="connsiteY8" fmla="*/ 392648 h 1802348"/>
                  <a:gd name="connsiteX9" fmla="*/ 3840480 w 3992880"/>
                  <a:gd name="connsiteY9" fmla="*/ 735548 h 1802348"/>
                  <a:gd name="connsiteX10" fmla="*/ 3992880 w 3992880"/>
                  <a:gd name="connsiteY10" fmla="*/ 1009868 h 1802348"/>
                  <a:gd name="connsiteX0" fmla="*/ 0 w 3992880"/>
                  <a:gd name="connsiteY0" fmla="*/ 1802348 h 1802348"/>
                  <a:gd name="connsiteX1" fmla="*/ 472440 w 3992880"/>
                  <a:gd name="connsiteY1" fmla="*/ 865088 h 1802348"/>
                  <a:gd name="connsiteX2" fmla="*/ 822960 w 3992880"/>
                  <a:gd name="connsiteY2" fmla="*/ 392648 h 1802348"/>
                  <a:gd name="connsiteX3" fmla="*/ 1239838 w 3992880"/>
                  <a:gd name="connsiteY3" fmla="*/ 46890 h 1802348"/>
                  <a:gd name="connsiteX4" fmla="*/ 1546860 w 3992880"/>
                  <a:gd name="connsiteY4" fmla="*/ 4028 h 1802348"/>
                  <a:gd name="connsiteX5" fmla="*/ 2827020 w 3992880"/>
                  <a:gd name="connsiteY5" fmla="*/ 4028 h 1802348"/>
                  <a:gd name="connsiteX6" fmla="*/ 3102292 w 3992880"/>
                  <a:gd name="connsiteY6" fmla="*/ 23555 h 1802348"/>
                  <a:gd name="connsiteX7" fmla="*/ 3332480 w 3992880"/>
                  <a:gd name="connsiteY7" fmla="*/ 127853 h 1802348"/>
                  <a:gd name="connsiteX8" fmla="*/ 3589020 w 3992880"/>
                  <a:gd name="connsiteY8" fmla="*/ 392648 h 1802348"/>
                  <a:gd name="connsiteX9" fmla="*/ 3840480 w 3992880"/>
                  <a:gd name="connsiteY9" fmla="*/ 735548 h 1802348"/>
                  <a:gd name="connsiteX10" fmla="*/ 3992880 w 3992880"/>
                  <a:gd name="connsiteY10" fmla="*/ 1009868 h 1802348"/>
                  <a:gd name="connsiteX0" fmla="*/ 0 w 3992880"/>
                  <a:gd name="connsiteY0" fmla="*/ 1801900 h 1801900"/>
                  <a:gd name="connsiteX1" fmla="*/ 472440 w 3992880"/>
                  <a:gd name="connsiteY1" fmla="*/ 864640 h 1801900"/>
                  <a:gd name="connsiteX2" fmla="*/ 822960 w 3992880"/>
                  <a:gd name="connsiteY2" fmla="*/ 392200 h 1801900"/>
                  <a:gd name="connsiteX3" fmla="*/ 1239838 w 3992880"/>
                  <a:gd name="connsiteY3" fmla="*/ 46442 h 1801900"/>
                  <a:gd name="connsiteX4" fmla="*/ 1546860 w 3992880"/>
                  <a:gd name="connsiteY4" fmla="*/ 3580 h 1801900"/>
                  <a:gd name="connsiteX5" fmla="*/ 2827020 w 3992880"/>
                  <a:gd name="connsiteY5" fmla="*/ 3580 h 1801900"/>
                  <a:gd name="connsiteX6" fmla="*/ 3111817 w 3992880"/>
                  <a:gd name="connsiteY6" fmla="*/ 13582 h 1801900"/>
                  <a:gd name="connsiteX7" fmla="*/ 3332480 w 3992880"/>
                  <a:gd name="connsiteY7" fmla="*/ 127405 h 1801900"/>
                  <a:gd name="connsiteX8" fmla="*/ 3589020 w 3992880"/>
                  <a:gd name="connsiteY8" fmla="*/ 392200 h 1801900"/>
                  <a:gd name="connsiteX9" fmla="*/ 3840480 w 3992880"/>
                  <a:gd name="connsiteY9" fmla="*/ 735100 h 1801900"/>
                  <a:gd name="connsiteX10" fmla="*/ 3992880 w 3992880"/>
                  <a:gd name="connsiteY10" fmla="*/ 1009420 h 1801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92880" h="1801900">
                    <a:moveTo>
                      <a:pt x="0" y="1801900"/>
                    </a:moveTo>
                    <a:cubicBezTo>
                      <a:pt x="167640" y="1450745"/>
                      <a:pt x="335280" y="1099590"/>
                      <a:pt x="472440" y="864640"/>
                    </a:cubicBezTo>
                    <a:cubicBezTo>
                      <a:pt x="609600" y="629690"/>
                      <a:pt x="695060" y="528566"/>
                      <a:pt x="822960" y="392200"/>
                    </a:cubicBezTo>
                    <a:cubicBezTo>
                      <a:pt x="950860" y="255834"/>
                      <a:pt x="1109663" y="92162"/>
                      <a:pt x="1239838" y="46442"/>
                    </a:cubicBezTo>
                    <a:cubicBezTo>
                      <a:pt x="1370013" y="722"/>
                      <a:pt x="1282330" y="10724"/>
                      <a:pt x="1546860" y="3580"/>
                    </a:cubicBezTo>
                    <a:cubicBezTo>
                      <a:pt x="1811390" y="-3564"/>
                      <a:pt x="2566194" y="1913"/>
                      <a:pt x="2827020" y="3580"/>
                    </a:cubicBezTo>
                    <a:cubicBezTo>
                      <a:pt x="3087846" y="5247"/>
                      <a:pt x="3027574" y="-7055"/>
                      <a:pt x="3111817" y="13582"/>
                    </a:cubicBezTo>
                    <a:cubicBezTo>
                      <a:pt x="3196060" y="34219"/>
                      <a:pt x="3252946" y="64302"/>
                      <a:pt x="3332480" y="127405"/>
                    </a:cubicBezTo>
                    <a:cubicBezTo>
                      <a:pt x="3412014" y="190508"/>
                      <a:pt x="3504353" y="290918"/>
                      <a:pt x="3589020" y="392200"/>
                    </a:cubicBezTo>
                    <a:cubicBezTo>
                      <a:pt x="3673687" y="493482"/>
                      <a:pt x="3773170" y="632230"/>
                      <a:pt x="3840480" y="735100"/>
                    </a:cubicBezTo>
                    <a:cubicBezTo>
                      <a:pt x="3907790" y="837970"/>
                      <a:pt x="3950335" y="923695"/>
                      <a:pt x="3992880" y="1009420"/>
                    </a:cubicBezTo>
                  </a:path>
                </a:pathLst>
              </a:cu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06D6C34-27E7-AA52-17B0-D608D9BFD771}"/>
                  </a:ext>
                </a:extLst>
              </p:cNvPr>
              <p:cNvSpPr/>
              <p:nvPr/>
            </p:nvSpPr>
            <p:spPr>
              <a:xfrm>
                <a:off x="2549327" y="3617891"/>
                <a:ext cx="52465" cy="52465"/>
              </a:xfrm>
              <a:prstGeom prst="ellipse">
                <a:avLst/>
              </a:prstGeom>
              <a:solidFill>
                <a:srgbClr val="005293"/>
              </a:solidFill>
              <a:ln w="19050">
                <a:solidFill>
                  <a:srgbClr val="0052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C4C7C8A-A9BF-9209-DC69-FB462053F132}"/>
                  </a:ext>
                </a:extLst>
              </p:cNvPr>
              <p:cNvSpPr/>
              <p:nvPr/>
            </p:nvSpPr>
            <p:spPr>
              <a:xfrm>
                <a:off x="6543675" y="2823385"/>
                <a:ext cx="52465" cy="52465"/>
              </a:xfrm>
              <a:prstGeom prst="ellipse">
                <a:avLst/>
              </a:prstGeom>
              <a:solidFill>
                <a:srgbClr val="005293"/>
              </a:solidFill>
              <a:ln w="19050">
                <a:solidFill>
                  <a:srgbClr val="0052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B235928-34DC-AC26-F748-5E5644E7FF26}"/>
                    </a:ext>
                  </a:extLst>
                </p:cNvPr>
                <p:cNvSpPr/>
                <p:nvPr/>
              </p:nvSpPr>
              <p:spPr>
                <a:xfrm>
                  <a:off x="6693372" y="2925520"/>
                  <a:ext cx="463197" cy="40788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b="0" i="1" smtClean="0">
                                <a:solidFill>
                                  <a:schemeClr val="bg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b="0" i="1" smtClean="0">
                                <a:solidFill>
                                  <a:schemeClr val="bg2"/>
                                </a:solidFill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b="0" i="1" smtClean="0">
                                <a:solidFill>
                                  <a:schemeClr val="bg2"/>
                                </a:solidFill>
                              </a:rPr>
                              <m:t>out</m:t>
                            </m:r>
                          </m:sub>
                        </m:sSub>
                      </m:oMath>
                    </m:oMathPara>
                  </a14:m>
                  <a:endParaRPr lang="en-US" sz="2000" i="1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9B235928-34DC-AC26-F748-5E5644E7FF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3372" y="2925520"/>
                  <a:ext cx="463197" cy="407887"/>
                </a:xfrm>
                <a:prstGeom prst="rect">
                  <a:avLst/>
                </a:prstGeom>
                <a:blipFill>
                  <a:blip r:embed="rId5"/>
                  <a:stretch>
                    <a:fillRect l="-35526" r="-18421" b="-2238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9FD996-F772-9D10-995C-1010381FA385}"/>
              </a:ext>
            </a:extLst>
          </p:cNvPr>
          <p:cNvGrpSpPr/>
          <p:nvPr/>
        </p:nvGrpSpPr>
        <p:grpSpPr>
          <a:xfrm>
            <a:off x="3627502" y="3899585"/>
            <a:ext cx="5050471" cy="621156"/>
            <a:chOff x="2103499" y="3899582"/>
            <a:chExt cx="5050471" cy="62115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08EA8BBD-BE66-D692-22EE-2E69076A0990}"/>
                </a:ext>
              </a:extLst>
            </p:cNvPr>
            <p:cNvGrpSpPr/>
            <p:nvPr/>
          </p:nvGrpSpPr>
          <p:grpSpPr>
            <a:xfrm>
              <a:off x="2103499" y="3899582"/>
              <a:ext cx="5050471" cy="621156"/>
              <a:chOff x="2103499" y="3899582"/>
              <a:chExt cx="5050471" cy="621156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4F955FFD-1E1A-4636-C247-C443349DAE4A}"/>
                  </a:ext>
                </a:extLst>
              </p:cNvPr>
              <p:cNvGrpSpPr/>
              <p:nvPr/>
            </p:nvGrpSpPr>
            <p:grpSpPr>
              <a:xfrm>
                <a:off x="2103499" y="3899582"/>
                <a:ext cx="5050471" cy="403767"/>
                <a:chOff x="2103499" y="3899582"/>
                <a:chExt cx="5050471" cy="40376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26C0E8FD-71F9-C9A1-009E-05F8C2EDE8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03499" y="3899582"/>
                      <a:ext cx="472062" cy="40376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14000"/>
                        </a:lnSpc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e-DE" sz="2000" b="0" i="1" smtClean="0">
                                    <a:solidFill>
                                      <a:srgbClr val="C00000"/>
                                    </a:solidFill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e-DE" sz="2000" b="0" i="1" smtClean="0">
                                    <a:solidFill>
                                      <a:srgbClr val="C00000"/>
                                    </a:solidFill>
                                  </a:rPr>
                                  <m:t>in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2000" b="0" i="1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5" name="Rectangle 74">
                      <a:extLst>
                        <a:ext uri="{FF2B5EF4-FFF2-40B4-BE49-F238E27FC236}">
                          <a16:creationId xmlns:a16="http://schemas.microsoft.com/office/drawing/2014/main" id="{26C0E8FD-71F9-C9A1-009E-05F8C2EDE86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03499" y="3899582"/>
                      <a:ext cx="472062" cy="40376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5385" b="-24242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5D9828C4-917D-B126-E700-A11EA96EAB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81908" y="3899582"/>
                      <a:ext cx="472062" cy="40376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>
                        <a:lnSpc>
                          <a:spcPct val="114000"/>
                        </a:lnSpc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e-DE" sz="2000" b="0" i="1" smtClean="0">
                                    <a:solidFill>
                                      <a:srgbClr val="C00000"/>
                                    </a:solidFill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e-DE" sz="2000" b="0" i="1" smtClean="0">
                                    <a:solidFill>
                                      <a:srgbClr val="C00000"/>
                                    </a:solidFill>
                                  </a:rPr>
                                  <m:t>out</m:t>
                                </m:r>
                              </m:sub>
                            </m:sSub>
                          </m:oMath>
                        </m:oMathPara>
                      </a14:m>
                      <a:endParaRPr lang="de-DE" sz="2000" b="0" i="1">
                        <a:solidFill>
                          <a:srgbClr val="00B05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6" name="Rectangle 75">
                      <a:extLst>
                        <a:ext uri="{FF2B5EF4-FFF2-40B4-BE49-F238E27FC236}">
                          <a16:creationId xmlns:a16="http://schemas.microsoft.com/office/drawing/2014/main" id="{5D9828C4-917D-B126-E700-A11EA96EAB3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81908" y="3899582"/>
                      <a:ext cx="472062" cy="40376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32051" r="-15385" b="-24242"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41CD46C-3DE8-6FDD-3727-88FF44663A6E}"/>
                  </a:ext>
                </a:extLst>
              </p:cNvPr>
              <p:cNvGrpSpPr/>
              <p:nvPr/>
            </p:nvGrpSpPr>
            <p:grpSpPr>
              <a:xfrm>
                <a:off x="2575560" y="4082244"/>
                <a:ext cx="3989546" cy="438494"/>
                <a:chOff x="2575560" y="4082244"/>
                <a:chExt cx="3989546" cy="438494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298001AE-BFCE-E673-1A46-B086D419D2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75560" y="4520738"/>
                  <a:ext cx="3989546" cy="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FDEA7E36-E434-58CB-511A-43FA884DBBFA}"/>
                    </a:ext>
                  </a:extLst>
                </p:cNvPr>
                <p:cNvSpPr/>
                <p:nvPr/>
              </p:nvSpPr>
              <p:spPr>
                <a:xfrm>
                  <a:off x="4334302" y="4082244"/>
                  <a:ext cx="472062" cy="403767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r>
                    <a:rPr lang="de-DE" sz="2000" b="0" i="1">
                      <a:solidFill>
                        <a:srgbClr val="C01B1A"/>
                      </a:solidFill>
                    </a:rPr>
                    <a:t>T</a:t>
                  </a:r>
                </a:p>
              </p:txBody>
            </p: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B68F31-23DD-B7FE-6CF4-A9DAA8852D9F}"/>
                </a:ext>
              </a:extLst>
            </p:cNvPr>
            <p:cNvGrpSpPr/>
            <p:nvPr/>
          </p:nvGrpSpPr>
          <p:grpSpPr>
            <a:xfrm>
              <a:off x="2545993" y="3900887"/>
              <a:ext cx="4048679" cy="52465"/>
              <a:chOff x="2545993" y="3900887"/>
              <a:chExt cx="4048679" cy="52465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C844CEA-DD0F-33A5-0C71-D257971EC5B2}"/>
                  </a:ext>
                </a:extLst>
              </p:cNvPr>
              <p:cNvSpPr/>
              <p:nvPr/>
            </p:nvSpPr>
            <p:spPr>
              <a:xfrm>
                <a:off x="2545993" y="3900887"/>
                <a:ext cx="52465" cy="52465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29DB0FC-04BD-4A5E-A323-56D0266CCAC2}"/>
                  </a:ext>
                </a:extLst>
              </p:cNvPr>
              <p:cNvSpPr/>
              <p:nvPr/>
            </p:nvSpPr>
            <p:spPr>
              <a:xfrm>
                <a:off x="6542207" y="3900887"/>
                <a:ext cx="52465" cy="52465"/>
              </a:xfrm>
              <a:prstGeom prst="ellipse">
                <a:avLst/>
              </a:prstGeom>
              <a:solidFill>
                <a:srgbClr val="C00000"/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9E3B4D3-DA64-9D00-F76C-79271794374B}"/>
                  </a:ext>
                </a:extLst>
              </p:cNvPr>
              <p:cNvSpPr/>
              <p:nvPr/>
            </p:nvSpPr>
            <p:spPr>
              <a:xfrm>
                <a:off x="2971108" y="2005210"/>
                <a:ext cx="1059872" cy="1059872"/>
              </a:xfrm>
              <a:prstGeom prst="rect">
                <a:avLst/>
              </a:prstGeom>
              <a:solidFill>
                <a:srgbClr val="C0DAD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0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</a:rPr>
                            <m:t> </m:t>
                          </m:r>
                        </m:e>
                      </m:acc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ffectLst/>
                        </a:rPr>
                        <m:t>= 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rgbClr val="C00000"/>
                          </a:solidFill>
                          <a:effectLst/>
                        </a:rPr>
                        <m:t>T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bg2"/>
                          </a:solidFill>
                          <a:effectLst/>
                        </a:rPr>
                        <m:t>V</m:t>
                      </m:r>
                    </m:oMath>
                  </m:oMathPara>
                </a14:m>
                <a:endParaRPr lang="en-US" sz="2000" i="1">
                  <a:solidFill>
                    <a:srgbClr val="FF0000"/>
                  </a:solidFill>
                  <a:effectLst/>
                  <a:cs typeface="Aharoni" panose="02010803020104030203" pitchFamily="2" charset="-79"/>
                </a:endParaRPr>
              </a:p>
              <a:p>
                <a:pPr algn="ctr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effectLst/>
                            </a:rPr>
                            <m:t>V</m:t>
                          </m:r>
                        </m:e>
                      </m:acc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ffectLst/>
                        </a:rPr>
                        <m:t>= 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rgbClr val="C00000"/>
                          </a:solidFill>
                          <a:effectLst/>
                        </a:rPr>
                        <m:t>T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rgbClr val="00B050"/>
                          </a:solidFill>
                          <a:effectLst/>
                        </a:rPr>
                        <m:t>A</m:t>
                      </m:r>
                    </m:oMath>
                  </m:oMathPara>
                </a14:m>
                <a:endParaRPr lang="de-DE" sz="2000" i="1">
                  <a:solidFill>
                    <a:srgbClr val="00B050"/>
                  </a:solidFill>
                  <a:effectLst/>
                  <a:cs typeface="Aharoni" panose="02010803020104030203" pitchFamily="2" charset="-79"/>
                </a:endParaRPr>
              </a:p>
              <a:p>
                <a:pPr algn="ctr"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DE" sz="2000" i="1" smtClean="0">
                              <a:solidFill>
                                <a:srgbClr val="C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de-DE" sz="2000" b="0" i="1">
                              <a:solidFill>
                                <a:srgbClr val="C00000"/>
                              </a:solidFill>
                              <a:effectLst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rgbClr val="C00000"/>
                              </a:solidFill>
                              <a:effectLst/>
                            </a:rPr>
                            <m:t> </m:t>
                          </m:r>
                        </m:e>
                      </m:acc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ffectLst/>
                        </a:rPr>
                        <m:t>=</m:t>
                      </m:r>
                      <m:r>
                        <m:rPr>
                          <m:nor/>
                        </m:rPr>
                        <a:rPr lang="de-DE" sz="2000" b="0" i="0" smtClean="0">
                          <a:solidFill>
                            <a:schemeClr val="tx1"/>
                          </a:solidFill>
                          <a:effectLst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smtClean="0">
                          <a:solidFill>
                            <a:schemeClr val="tx1"/>
                          </a:solidFill>
                          <a:effectLst/>
                        </a:rPr>
                        <m:t>0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  <a:cs typeface="Aharoni" panose="02010803020104030203" pitchFamily="2" charset="-79"/>
                </a:endParaRPr>
              </a:p>
            </p:txBody>
          </p:sp>
        </mc:Choice>
        <mc:Fallback xmlns=""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9E3B4D3-DA64-9D00-F76C-792717943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108" y="2005210"/>
                <a:ext cx="1059872" cy="1059872"/>
              </a:xfrm>
              <a:prstGeom prst="rect">
                <a:avLst/>
              </a:prstGeom>
              <a:blipFill>
                <a:blip r:embed="rId8"/>
                <a:stretch>
                  <a:fillRect b="-17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A085C75-14F5-BD3F-7DAA-7BA110DE6B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15" name="Title 19">
            <a:extLst>
              <a:ext uri="{FF2B5EF4-FFF2-40B4-BE49-F238E27FC236}">
                <a16:creationId xmlns:a16="http://schemas.microsoft.com/office/drawing/2014/main" id="{55B89BF3-3CF0-42FD-0B35-56D47A6A40E8}"/>
              </a:ext>
            </a:extLst>
          </p:cNvPr>
          <p:cNvSpPr txBox="1">
            <a:spLocks/>
          </p:cNvSpPr>
          <p:nvPr/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30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>
                <a:cs typeface="Arial"/>
              </a:rPr>
              <a:t>Dynamics: One Train, One Segment</a:t>
            </a:r>
            <a:endParaRPr lang="de-DE"/>
          </a:p>
        </p:txBody>
      </p:sp>
      <p:grpSp>
        <p:nvGrpSpPr>
          <p:cNvPr id="5" name="Gruppieren 4"/>
          <p:cNvGrpSpPr/>
          <p:nvPr/>
        </p:nvGrpSpPr>
        <p:grpSpPr>
          <a:xfrm>
            <a:off x="4122461" y="5540814"/>
            <a:ext cx="4197152" cy="420872"/>
            <a:chOff x="4082211" y="3281145"/>
            <a:chExt cx="4197152" cy="420872"/>
          </a:xfrm>
        </p:grpSpPr>
        <p:cxnSp>
          <p:nvCxnSpPr>
            <p:cNvPr id="53" name="Straight Connector 89">
              <a:extLst>
                <a:ext uri="{FF2B5EF4-FFF2-40B4-BE49-F238E27FC236}">
                  <a16:creationId xmlns:a16="http://schemas.microsoft.com/office/drawing/2014/main" id="{1500092B-8185-C3B7-C264-FC13F7A427DF}"/>
                </a:ext>
              </a:extLst>
            </p:cNvPr>
            <p:cNvCxnSpPr>
              <a:cxnSpLocks/>
            </p:cNvCxnSpPr>
            <p:nvPr/>
          </p:nvCxnSpPr>
          <p:spPr>
            <a:xfrm>
              <a:off x="5025185" y="3329721"/>
              <a:ext cx="2090962" cy="215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Oval 105">
              <a:extLst>
                <a:ext uri="{FF2B5EF4-FFF2-40B4-BE49-F238E27FC236}">
                  <a16:creationId xmlns:a16="http://schemas.microsoft.com/office/drawing/2014/main" id="{EFB3FD8C-BA6A-914B-8540-AA18E8CFCD35}"/>
                </a:ext>
              </a:extLst>
            </p:cNvPr>
            <p:cNvSpPr/>
            <p:nvPr/>
          </p:nvSpPr>
          <p:spPr>
            <a:xfrm>
              <a:off x="7181751" y="3281145"/>
              <a:ext cx="93306" cy="971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5" name="Oval 112">
              <a:extLst>
                <a:ext uri="{FF2B5EF4-FFF2-40B4-BE49-F238E27FC236}">
                  <a16:creationId xmlns:a16="http://schemas.microsoft.com/office/drawing/2014/main" id="{40AB121B-F9CD-452D-D4A3-8B2121807336}"/>
                </a:ext>
              </a:extLst>
            </p:cNvPr>
            <p:cNvSpPr/>
            <p:nvPr/>
          </p:nvSpPr>
          <p:spPr>
            <a:xfrm>
              <a:off x="4866275" y="3283303"/>
              <a:ext cx="93306" cy="9715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6" name="Textfeld 55"/>
            <p:cNvSpPr txBox="1"/>
            <p:nvPr/>
          </p:nvSpPr>
          <p:spPr>
            <a:xfrm>
              <a:off x="5280674" y="3380454"/>
              <a:ext cx="1579984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 err="1">
                  <a:latin typeface="+mn-lt"/>
                </a:rPr>
                <a:t>segment</a:t>
              </a:r>
              <a:endParaRPr lang="de-DE" sz="2000">
                <a:latin typeface="+mn-lt"/>
              </a:endParaRPr>
            </a:p>
          </p:txBody>
        </p:sp>
        <p:cxnSp>
          <p:nvCxnSpPr>
            <p:cNvPr id="57" name="Straight Connector 89">
              <a:extLst>
                <a:ext uri="{FF2B5EF4-FFF2-40B4-BE49-F238E27FC236}">
                  <a16:creationId xmlns:a16="http://schemas.microsoft.com/office/drawing/2014/main" id="{1500092B-8185-C3B7-C264-FC13F7A42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2211" y="3378296"/>
              <a:ext cx="718460" cy="32372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89">
              <a:extLst>
                <a:ext uri="{FF2B5EF4-FFF2-40B4-BE49-F238E27FC236}">
                  <a16:creationId xmlns:a16="http://schemas.microsoft.com/office/drawing/2014/main" id="{1500092B-8185-C3B7-C264-FC13F7A42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0661" y="3329720"/>
              <a:ext cx="938702" cy="1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Connector 89">
              <a:extLst>
                <a:ext uri="{FF2B5EF4-FFF2-40B4-BE49-F238E27FC236}">
                  <a16:creationId xmlns:a16="http://schemas.microsoft.com/office/drawing/2014/main" id="{1500092B-8185-C3B7-C264-FC13F7A427DF}"/>
                </a:ext>
              </a:extLst>
            </p:cNvPr>
            <p:cNvCxnSpPr>
              <a:cxnSpLocks/>
            </p:cNvCxnSpPr>
            <p:nvPr/>
          </p:nvCxnSpPr>
          <p:spPr>
            <a:xfrm>
              <a:off x="7340661" y="3378298"/>
              <a:ext cx="851617" cy="323719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61" name="Graphic 166" descr="Toy Train with solid fill">
            <a:extLst>
              <a:ext uri="{FF2B5EF4-FFF2-40B4-BE49-F238E27FC236}">
                <a16:creationId xmlns:a16="http://schemas.microsoft.com/office/drawing/2014/main" id="{1C85AC3A-6163-7482-31F9-3B89698592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856480" y="5136881"/>
            <a:ext cx="508872" cy="50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92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8" grpId="0"/>
      <p:bldP spid="69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bgerundetes Rechteck 6"/>
          <p:cNvSpPr/>
          <p:nvPr/>
        </p:nvSpPr>
        <p:spPr>
          <a:xfrm>
            <a:off x="2914367" y="1393371"/>
            <a:ext cx="6363267" cy="444759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D24E34-DF94-D0AA-F0A8-824F78A2A7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3660196" y="1689154"/>
            <a:ext cx="4871608" cy="118023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B037B-167C-4409-5601-C92E436A2B24}"/>
                  </a:ext>
                </a:extLst>
              </p:cNvPr>
              <p:cNvSpPr txBox="1"/>
              <p:nvPr/>
            </p:nvSpPr>
            <p:spPr>
              <a:xfrm>
                <a:off x="4051305" y="1594956"/>
                <a:ext cx="4089390" cy="118615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nor/>
                            </m:rPr>
                            <a:rPr lang="de-DE" sz="2000">
                              <a:latin typeface="+mn-lt"/>
                            </a:rPr>
                            <m:t>min</m:t>
                          </m:r>
                          <m:sSup>
                            <m:sSupPr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de-DE" sz="2000" i="1"/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2000" i="1"/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de-DE" sz="2000" i="1"/>
                                        <m:t>T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de-DE" sz="2000" i="1"/>
                                        <m:t>plan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/>
                                <m:t>2</m:t>
                              </m:r>
                            </m:sup>
                          </m:sSup>
                          <m:r>
                            <a:rPr lang="de-DE" sz="20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de-DE" sz="2000">
                              <a:latin typeface="+mn-lt"/>
                            </a:rPr>
                            <m:t>α</m:t>
                          </m:r>
                          <m:nary>
                            <m:naryPr>
                              <m:limLoc m:val="undOvr"/>
                              <m:ctrlPr>
                                <a:rPr lang="de-DE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  <m:brk m:alnAt="24"/>
                                </m:rPr>
                                <a:rPr lang="de-DE" sz="2000">
                                  <a:latin typeface="+mn-lt"/>
                                </a:rPr>
                                <m:t>0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de-DE" sz="2000">
                                  <a:latin typeface="+mn-lt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nor/>
                                    </m:rPr>
                                    <a:rPr lang="de-DE" sz="2000" b="0" i="1" smtClean="0">
                                      <a:latin typeface="+mn-lt"/>
                                    </a:rPr>
                                    <m:t>T</m:t>
                                  </m:r>
                                  <m:r>
                                    <m:rPr>
                                      <m:nor/>
                                    </m:rPr>
                                    <a:rPr lang="de-DE" sz="2000" i="1">
                                      <a:latin typeface="+mn-lt"/>
                                    </a:rPr>
                                    <m:t>A</m:t>
                                  </m:r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de-DE" sz="2000" i="1">
                                      <a:latin typeface="+mn-lt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de-DE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de-DE" sz="2000" b="0" i="1" smtClean="0">
                                      <a:latin typeface="+mn-lt"/>
                                    </a:rPr>
                                    <m:t>x</m:t>
                                  </m:r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de-DE" sz="2000" i="1">
                                  <a:latin typeface="+mn-lt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latin typeface="+mn-lt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de-DE" sz="2000">
                                  <a:latin typeface="+mn-lt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000">
                  <a:latin typeface="+mn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EB037B-167C-4409-5601-C92E436A2B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1305" y="1594956"/>
                <a:ext cx="4089390" cy="11861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16D4342-A017-DFD2-CE58-B4B93CC83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9" name="Title 19">
            <a:extLst>
              <a:ext uri="{FF2B5EF4-FFF2-40B4-BE49-F238E27FC236}">
                <a16:creationId xmlns:a16="http://schemas.microsoft.com/office/drawing/2014/main" id="{43B2A6A6-144E-0E3A-7C0F-3D2E83BE93D7}"/>
              </a:ext>
            </a:extLst>
          </p:cNvPr>
          <p:cNvSpPr txBox="1">
            <a:spLocks/>
          </p:cNvSpPr>
          <p:nvPr/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30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>
                <a:cs typeface="Arial"/>
              </a:rPr>
              <a:t>Optimal Control Problem </a:t>
            </a:r>
            <a:endParaRPr lang="de-DE"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3660196" y="3185256"/>
            <a:ext cx="4871608" cy="24281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82782-7D75-7916-02CF-FC118E9F4B53}"/>
                  </a:ext>
                </a:extLst>
              </p:cNvPr>
              <p:cNvSpPr txBox="1"/>
              <p:nvPr/>
            </p:nvSpPr>
            <p:spPr>
              <a:xfrm>
                <a:off x="3956536" y="3096987"/>
                <a:ext cx="4278928" cy="23963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000">
                    <a:latin typeface="+mn-lt"/>
                  </a:rPr>
                  <a:t>such that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̇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eqArr>
                                  <m:eqArr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latin typeface="+mn-lt"/>
                                      </a:rPr>
                                      <m:t>S</m:t>
                                    </m:r>
                                  </m:e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</m:acc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eqArr>
                                  <m:eqArr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latin typeface="+mn-lt"/>
                                      </a:rPr>
                                      <m:t>V</m:t>
                                    </m:r>
                                  </m:e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eqArr>
                              </m:e>
                            </m:acc>
                          </m:e>
                          <m:e>
                            <m:acc>
                              <m:accPr>
                                <m:chr m:val="̇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latin typeface="+mn-lt"/>
                                  </a:rPr>
                                  <m:t>T</m:t>
                                </m:r>
                              </m:e>
                            </m:acc>
                          </m:e>
                        </m:eqArr>
                      </m:e>
                    </m:d>
                    <m:r>
                      <m:rPr>
                        <m:nor/>
                      </m:rPr>
                      <a:rPr lang="de-DE" sz="2000">
                        <a:latin typeface="+mn-lt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</a:rPr>
                              <m:t>TV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sz="2000" dirty="0">
                                <a:latin typeface="+mn-lt"/>
                                <a:cs typeface="Aharoni" panose="02010803020104030203" pitchFamily="2" charset="-79"/>
                              </a:rPr>
                              <m:t>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</a:rPr>
                              <m:t>TA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de-DE" sz="2000" dirty="0">
                                <a:latin typeface="+mn-lt"/>
                                <a:cs typeface="Aharoni" panose="02010803020104030203" pitchFamily="2" charset="-79"/>
                              </a:rPr>
                              <m:t>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m:rPr>
                        <m:nor/>
                      </m:rPr>
                      <a:rPr lang="de-DE" sz="2000">
                        <a:latin typeface="+mn-lt"/>
                      </a:rPr>
                      <m:t>   </m:t>
                    </m:r>
                    <m:r>
                      <m:rPr>
                        <m:nor/>
                      </m:rPr>
                      <a:rPr lang="en-US" sz="2000">
                        <a:latin typeface="+mn-lt"/>
                        <a:ea typeface="Cambria Math" panose="02040503050406030204" pitchFamily="18" charset="0"/>
                      </a:rPr>
                      <m:t>∀</m:t>
                    </m:r>
                    <m:r>
                      <m:rPr>
                        <m:nor/>
                      </m:rPr>
                      <a:rPr lang="de-DE" sz="2000" b="0" i="1" smtClean="0">
                        <a:latin typeface="+mn-lt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de-DE" sz="2000">
                        <a:latin typeface="+mn-lt"/>
                        <a:ea typeface="Cambria Math" panose="02040503050406030204" pitchFamily="18" charset="0"/>
                      </a:rPr>
                      <m:t> ∈ </m:t>
                    </m:r>
                    <m:d>
                      <m:dPr>
                        <m:begChr m:val="["/>
                        <m:endChr m:val="]"/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de-DE" sz="2000">
                            <a:latin typeface="+mn-lt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de-DE" sz="2000">
                  <a:latin typeface="+mn-lt"/>
                  <a:ea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:endParaRPr lang="en-US" sz="2000">
                  <a:latin typeface="+mn-lt"/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2000">
                    <a:latin typeface="+mn-lt"/>
                  </a:rPr>
                  <a:t>	       + boundary conditions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E82782-7D75-7916-02CF-FC118E9F4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536" y="3096987"/>
                <a:ext cx="4278928" cy="2396362"/>
              </a:xfrm>
              <a:prstGeom prst="rect">
                <a:avLst/>
              </a:prstGeom>
              <a:blipFill>
                <a:blip r:embed="rId4"/>
                <a:stretch>
                  <a:fillRect l="-3561" b="-5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554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F4A8B-06A5-1372-376B-6BB3B7DB5C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20</a:t>
            </a:fld>
            <a:endParaRPr lang="de-DE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B685D32-FC8E-33C8-C0B7-0AFF9D2A533E}"/>
              </a:ext>
            </a:extLst>
          </p:cNvPr>
          <p:cNvGrpSpPr/>
          <p:nvPr/>
        </p:nvGrpSpPr>
        <p:grpSpPr>
          <a:xfrm>
            <a:off x="4730507" y="1878109"/>
            <a:ext cx="2730986" cy="828002"/>
            <a:chOff x="4282753" y="2992759"/>
            <a:chExt cx="2730986" cy="82800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E83715B-0975-3CA8-74B4-A08382743C72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27" name="Flowchart: Stored Data 92">
                <a:extLst>
                  <a:ext uri="{FF2B5EF4-FFF2-40B4-BE49-F238E27FC236}">
                    <a16:creationId xmlns:a16="http://schemas.microsoft.com/office/drawing/2014/main" id="{582A7552-CC8D-FDF3-3F05-BED85ADFBE94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823F997-FD43-0226-B8E5-1701827325E3}"/>
                  </a:ext>
                </a:extLst>
              </p:cNvPr>
              <p:cNvSpPr txBox="1"/>
              <p:nvPr/>
            </p:nvSpPr>
            <p:spPr>
              <a:xfrm>
                <a:off x="5224143" y="3262040"/>
                <a:ext cx="1474366" cy="289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err="1"/>
                  <a:t>Preprocessing</a:t>
                </a:r>
                <a:endParaRPr lang="en-DE" sz="1200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DFAF0B3-538E-080C-C3AA-1984D958B921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24E0D3A-C134-855F-FD36-AD54A5B9243B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75642A3-BA93-0EBA-9224-46D342F2681F}"/>
                  </a:ext>
                </a:extLst>
              </p:cNvPr>
              <p:cNvSpPr txBox="1"/>
              <p:nvPr/>
            </p:nvSpPr>
            <p:spPr>
              <a:xfrm>
                <a:off x="4511542" y="3245980"/>
                <a:ext cx="370423" cy="3215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2000">
                    <a:solidFill>
                      <a:schemeClr val="bg1"/>
                    </a:solidFill>
                    <a:latin typeface="+mn-lt"/>
                  </a:rPr>
                  <a:t>1</a:t>
                </a:r>
              </a:p>
            </p:txBody>
          </p:sp>
        </p:grpSp>
      </p:grpSp>
      <p:sp>
        <p:nvSpPr>
          <p:cNvPr id="44" name="Down Arrow 66">
            <a:extLst>
              <a:ext uri="{FF2B5EF4-FFF2-40B4-BE49-F238E27FC236}">
                <a16:creationId xmlns:a16="http://schemas.microsoft.com/office/drawing/2014/main" id="{620B28CB-9D67-F998-2726-66F880DAC9EB}"/>
              </a:ext>
            </a:extLst>
          </p:cNvPr>
          <p:cNvSpPr/>
          <p:nvPr/>
        </p:nvSpPr>
        <p:spPr>
          <a:xfrm>
            <a:off x="5780584" y="2822475"/>
            <a:ext cx="630832" cy="413763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E458305-A0BE-7BC5-A60A-998E62038743}"/>
              </a:ext>
            </a:extLst>
          </p:cNvPr>
          <p:cNvGrpSpPr/>
          <p:nvPr/>
        </p:nvGrpSpPr>
        <p:grpSpPr>
          <a:xfrm>
            <a:off x="4730507" y="3332821"/>
            <a:ext cx="2730986" cy="828002"/>
            <a:chOff x="4282753" y="2992759"/>
            <a:chExt cx="2730986" cy="82800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88ED8FF-A0F6-152B-A91D-77B3C9DF43E7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55" name="Flowchart: Stored Data 92">
                <a:extLst>
                  <a:ext uri="{FF2B5EF4-FFF2-40B4-BE49-F238E27FC236}">
                    <a16:creationId xmlns:a16="http://schemas.microsoft.com/office/drawing/2014/main" id="{F15B357B-986C-4C2F-ABC4-6BF91B3A9AD8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D525239-C90D-3F9C-86C9-B1D6DB566BAB}"/>
                  </a:ext>
                </a:extLst>
              </p:cNvPr>
              <p:cNvSpPr txBox="1"/>
              <p:nvPr/>
            </p:nvSpPr>
            <p:spPr>
              <a:xfrm>
                <a:off x="5224143" y="3262040"/>
                <a:ext cx="1474366" cy="289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/>
                  <a:t>Modeling</a:t>
                </a:r>
                <a:endParaRPr lang="en-DE" sz="120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3D08AF5-B57B-AC74-8973-11F08F323F7E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1DC5F83-AA7A-AB47-ACAC-BF034CDEC3D7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C2D7524-3EE9-FCC1-A569-4AD1F4E2F69A}"/>
                  </a:ext>
                </a:extLst>
              </p:cNvPr>
              <p:cNvSpPr txBox="1"/>
              <p:nvPr/>
            </p:nvSpPr>
            <p:spPr>
              <a:xfrm>
                <a:off x="4511542" y="3245980"/>
                <a:ext cx="370423" cy="3215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2000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57" name="Down Arrow 66">
            <a:extLst>
              <a:ext uri="{FF2B5EF4-FFF2-40B4-BE49-F238E27FC236}">
                <a16:creationId xmlns:a16="http://schemas.microsoft.com/office/drawing/2014/main" id="{BD2D9904-0F0C-6D5C-26DE-AC23A5FE47FC}"/>
              </a:ext>
            </a:extLst>
          </p:cNvPr>
          <p:cNvSpPr/>
          <p:nvPr/>
        </p:nvSpPr>
        <p:spPr>
          <a:xfrm>
            <a:off x="5780584" y="4267301"/>
            <a:ext cx="630832" cy="413763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F797BAA-51E7-A05B-D890-4CFA0F2F3946}"/>
              </a:ext>
            </a:extLst>
          </p:cNvPr>
          <p:cNvGrpSpPr/>
          <p:nvPr/>
        </p:nvGrpSpPr>
        <p:grpSpPr>
          <a:xfrm>
            <a:off x="4730507" y="4794177"/>
            <a:ext cx="2730986" cy="828002"/>
            <a:chOff x="4282753" y="2992759"/>
            <a:chExt cx="2730986" cy="828002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46A0010-86EB-72F3-02C0-3AC6E56568AF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63" name="Flowchart: Stored Data 92">
                <a:extLst>
                  <a:ext uri="{FF2B5EF4-FFF2-40B4-BE49-F238E27FC236}">
                    <a16:creationId xmlns:a16="http://schemas.microsoft.com/office/drawing/2014/main" id="{7C433483-063D-8BC1-012F-52616CB51BBD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A9426D6-5F53-DF55-D793-47510A348960}"/>
                  </a:ext>
                </a:extLst>
              </p:cNvPr>
              <p:cNvSpPr txBox="1"/>
              <p:nvPr/>
            </p:nvSpPr>
            <p:spPr>
              <a:xfrm>
                <a:off x="5224143" y="3262040"/>
                <a:ext cx="1474366" cy="289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err="1"/>
                  <a:t>Solving</a:t>
                </a:r>
                <a:endParaRPr lang="en-DE" sz="1200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6C4A8A87-44FC-B7B8-9525-14425D3A5B41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B1BB8AB8-CFA6-028A-A05E-3C755C164D43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3F5C76-7D67-CA05-54F6-C4628979A3F4}"/>
                  </a:ext>
                </a:extLst>
              </p:cNvPr>
              <p:cNvSpPr txBox="1"/>
              <p:nvPr/>
            </p:nvSpPr>
            <p:spPr>
              <a:xfrm>
                <a:off x="4511542" y="3245980"/>
                <a:ext cx="370423" cy="32156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2000">
                    <a:solidFill>
                      <a:schemeClr val="bg1"/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B1264BE-6903-5E8E-0682-754673CD0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8" name="Title 19">
            <a:extLst>
              <a:ext uri="{FF2B5EF4-FFF2-40B4-BE49-F238E27FC236}">
                <a16:creationId xmlns:a16="http://schemas.microsoft.com/office/drawing/2014/main" id="{1282C427-3EA2-5434-9190-2D57EBEF9234}"/>
              </a:ext>
            </a:extLst>
          </p:cNvPr>
          <p:cNvSpPr txBox="1">
            <a:spLocks/>
          </p:cNvSpPr>
          <p:nvPr/>
        </p:nvSpPr>
        <p:spPr>
          <a:xfrm>
            <a:off x="425451" y="772664"/>
            <a:ext cx="11345332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defRPr lang="de-DE" sz="3000" b="0" kern="1200" noProof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de-DE" err="1">
                <a:cs typeface="Arial"/>
              </a:rPr>
              <a:t>How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to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Merge</a:t>
            </a:r>
            <a:r>
              <a:rPr lang="de-DE">
                <a:cs typeface="Arial"/>
              </a:rPr>
              <a:t> </a:t>
            </a:r>
            <a:r>
              <a:rPr lang="de-DE" err="1">
                <a:cs typeface="Arial"/>
              </a:rPr>
              <a:t>the</a:t>
            </a:r>
            <a:r>
              <a:rPr lang="de-DE">
                <a:cs typeface="Arial"/>
              </a:rPr>
              <a:t> Segment Dynamics?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15316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9398CF8-7914-9C79-A04C-70D5BED6AC27}"/>
              </a:ext>
            </a:extLst>
          </p:cNvPr>
          <p:cNvCxnSpPr>
            <a:cxnSpLocks/>
          </p:cNvCxnSpPr>
          <p:nvPr/>
        </p:nvCxnSpPr>
        <p:spPr>
          <a:xfrm flipV="1">
            <a:off x="7073764" y="3637336"/>
            <a:ext cx="956150" cy="9778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FE62D8-9C47-231C-5DE1-98CC70FE4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83" y="1551172"/>
            <a:ext cx="11345332" cy="585312"/>
          </a:xfrm>
        </p:spPr>
        <p:txBody>
          <a:bodyPr/>
          <a:lstStyle/>
          <a:p>
            <a:r>
              <a:rPr lang="en-US" sz="2000">
                <a:cs typeface="Arial"/>
              </a:rPr>
              <a:t>Compute set of routes for each train</a:t>
            </a:r>
            <a:endParaRPr 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21</a:t>
            </a:fld>
            <a:endParaRPr lang="de-DE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CE0427E-0D1B-A19B-7C49-6131233FDB3E}"/>
              </a:ext>
            </a:extLst>
          </p:cNvPr>
          <p:cNvGrpSpPr/>
          <p:nvPr/>
        </p:nvGrpSpPr>
        <p:grpSpPr>
          <a:xfrm>
            <a:off x="10019814" y="304811"/>
            <a:ext cx="1740401" cy="527668"/>
            <a:chOff x="4282753" y="2992759"/>
            <a:chExt cx="2730986" cy="8280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CF7F2C8-0B9F-D401-592C-9EE1E90172E4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9" name="Flowchart: Stored Data 92">
                <a:extLst>
                  <a:ext uri="{FF2B5EF4-FFF2-40B4-BE49-F238E27FC236}">
                    <a16:creationId xmlns:a16="http://schemas.microsoft.com/office/drawing/2014/main" id="{89D79AE2-FA67-5518-D5D9-BFF2427FACF5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7E1C78E-0299-5A25-3FEB-3CDC7699BA0E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/>
                  <a:t>Preprocessing</a:t>
                </a:r>
                <a:endParaRPr lang="en-DE" sz="10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E5BBD2-06DE-291C-F3A5-5C0D6414F868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D884506-9E14-5813-5D1E-7DF033C5FBD5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17EE65-AA20-93BB-E982-ABB2579BA5E5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/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21" name="Down Arrow 66">
            <a:extLst>
              <a:ext uri="{FF2B5EF4-FFF2-40B4-BE49-F238E27FC236}">
                <a16:creationId xmlns:a16="http://schemas.microsoft.com/office/drawing/2014/main" id="{792D0355-362E-F934-4FFA-8657C688320B}"/>
              </a:ext>
            </a:extLst>
          </p:cNvPr>
          <p:cNvSpPr/>
          <p:nvPr/>
        </p:nvSpPr>
        <p:spPr>
          <a:xfrm>
            <a:off x="1075780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E9643C0-C0E0-D8F1-1AE2-F3ADFA8A919F}"/>
              </a:ext>
            </a:extLst>
          </p:cNvPr>
          <p:cNvGrpSpPr/>
          <p:nvPr/>
        </p:nvGrpSpPr>
        <p:grpSpPr>
          <a:xfrm>
            <a:off x="10019814" y="1039520"/>
            <a:ext cx="1740401" cy="527668"/>
            <a:chOff x="4282753" y="2992759"/>
            <a:chExt cx="2730986" cy="82800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36E8EF2-D621-3170-7416-08947A263BA1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27" name="Flowchart: Stored Data 92">
                <a:extLst>
                  <a:ext uri="{FF2B5EF4-FFF2-40B4-BE49-F238E27FC236}">
                    <a16:creationId xmlns:a16="http://schemas.microsoft.com/office/drawing/2014/main" id="{0EDAC94C-1214-167F-612C-969EB6873A33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49E8B3-2F0D-5A19-8A2D-5EBA5968CCC1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>
                    <a:solidFill>
                      <a:schemeClr val="tx1">
                        <a:alpha val="25000"/>
                      </a:schemeClr>
                    </a:solidFill>
                  </a:rPr>
                  <a:t>Modeling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CFB6D40-EFBD-2AEC-FDF1-436A2D7E2168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D943E7B9-3141-E0C1-B955-8871D825AB7C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1E3E0C2-5360-B59E-957D-30110FCF08BE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29" name="Down Arrow 66">
            <a:extLst>
              <a:ext uri="{FF2B5EF4-FFF2-40B4-BE49-F238E27FC236}">
                <a16:creationId xmlns:a16="http://schemas.microsoft.com/office/drawing/2014/main" id="{399E984C-5F76-7279-60BD-0875AE307E9A}"/>
              </a:ext>
            </a:extLst>
          </p:cNvPr>
          <p:cNvSpPr/>
          <p:nvPr/>
        </p:nvSpPr>
        <p:spPr>
          <a:xfrm>
            <a:off x="1075780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4365746-C9A3-7759-FF06-0D94B5585331}"/>
              </a:ext>
            </a:extLst>
          </p:cNvPr>
          <p:cNvGrpSpPr/>
          <p:nvPr/>
        </p:nvGrpSpPr>
        <p:grpSpPr>
          <a:xfrm>
            <a:off x="10019814" y="1774229"/>
            <a:ext cx="1740401" cy="527668"/>
            <a:chOff x="4282753" y="2992759"/>
            <a:chExt cx="2730986" cy="82800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398447E-A60C-8D22-E289-E77561623857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54" name="Flowchart: Stored Data 92">
                <a:extLst>
                  <a:ext uri="{FF2B5EF4-FFF2-40B4-BE49-F238E27FC236}">
                    <a16:creationId xmlns:a16="http://schemas.microsoft.com/office/drawing/2014/main" id="{4123D0CC-45E8-FCF1-4D02-56A980797D85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5AD3B60-0831-E6CE-BD29-E63E68E4616B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Solving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83F5E64-A827-C673-E4DC-9EE1D7268B48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8A12A826-7A42-2A95-211F-F932E004C2B3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FA741F-5643-9A6A-E4C3-A88E1FC01CFA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7181EA-D164-79AC-DACD-E7548CEA9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13AC7D6-BA24-9984-03B0-32BF6788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Preprocessing</a:t>
            </a:r>
            <a:endParaRPr lang="de-DE"/>
          </a:p>
        </p:txBody>
      </p:sp>
      <p:cxnSp>
        <p:nvCxnSpPr>
          <p:cNvPr id="4" name="Straight Connector 69">
            <a:extLst>
              <a:ext uri="{FF2B5EF4-FFF2-40B4-BE49-F238E27FC236}">
                <a16:creationId xmlns:a16="http://schemas.microsoft.com/office/drawing/2014/main" id="{059E124E-EDE5-C021-D3CB-EEE9C7CBCB83}"/>
              </a:ext>
            </a:extLst>
          </p:cNvPr>
          <p:cNvCxnSpPr>
            <a:cxnSpLocks/>
          </p:cNvCxnSpPr>
          <p:nvPr/>
        </p:nvCxnSpPr>
        <p:spPr>
          <a:xfrm>
            <a:off x="8214662" y="3587154"/>
            <a:ext cx="590899" cy="0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87D692C-EB9C-91D2-4D01-9209BA1B0C02}"/>
              </a:ext>
            </a:extLst>
          </p:cNvPr>
          <p:cNvCxnSpPr>
            <a:cxnSpLocks/>
          </p:cNvCxnSpPr>
          <p:nvPr/>
        </p:nvCxnSpPr>
        <p:spPr>
          <a:xfrm>
            <a:off x="4396812" y="3607702"/>
            <a:ext cx="868280" cy="481247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4FF14EA-6F8F-300F-C9F4-BDA9F357B041}"/>
              </a:ext>
            </a:extLst>
          </p:cNvPr>
          <p:cNvCxnSpPr>
            <a:cxnSpLocks/>
          </p:cNvCxnSpPr>
          <p:nvPr/>
        </p:nvCxnSpPr>
        <p:spPr>
          <a:xfrm flipH="1" flipV="1">
            <a:off x="5460549" y="4159553"/>
            <a:ext cx="523528" cy="72438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3A5A5E4-674C-625C-0870-FC706C73249E}"/>
              </a:ext>
            </a:extLst>
          </p:cNvPr>
          <p:cNvCxnSpPr>
            <a:cxnSpLocks/>
          </p:cNvCxnSpPr>
          <p:nvPr/>
        </p:nvCxnSpPr>
        <p:spPr>
          <a:xfrm flipV="1">
            <a:off x="7073767" y="3629000"/>
            <a:ext cx="959681" cy="986186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69">
            <a:extLst>
              <a:ext uri="{FF2B5EF4-FFF2-40B4-BE49-F238E27FC236}">
                <a16:creationId xmlns:a16="http://schemas.microsoft.com/office/drawing/2014/main" id="{791A82C2-8CF2-8D12-BDD7-9E0BE23DFAD7}"/>
              </a:ext>
            </a:extLst>
          </p:cNvPr>
          <p:cNvCxnSpPr>
            <a:cxnSpLocks/>
          </p:cNvCxnSpPr>
          <p:nvPr/>
        </p:nvCxnSpPr>
        <p:spPr>
          <a:xfrm>
            <a:off x="3464489" y="3299928"/>
            <a:ext cx="729018" cy="257113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D1BB3C6-2539-C89E-52AB-E0F4A8FE59AA}"/>
              </a:ext>
            </a:extLst>
          </p:cNvPr>
          <p:cNvCxnSpPr>
            <a:cxnSpLocks/>
          </p:cNvCxnSpPr>
          <p:nvPr/>
        </p:nvCxnSpPr>
        <p:spPr>
          <a:xfrm>
            <a:off x="6197433" y="3181971"/>
            <a:ext cx="1810484" cy="350696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21061AA-7B8B-618C-82BF-3FE7EF94E1C7}"/>
              </a:ext>
            </a:extLst>
          </p:cNvPr>
          <p:cNvCxnSpPr>
            <a:cxnSpLocks/>
          </p:cNvCxnSpPr>
          <p:nvPr/>
        </p:nvCxnSpPr>
        <p:spPr>
          <a:xfrm flipV="1">
            <a:off x="6182208" y="4132555"/>
            <a:ext cx="616515" cy="102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63">
            <a:extLst>
              <a:ext uri="{FF2B5EF4-FFF2-40B4-BE49-F238E27FC236}">
                <a16:creationId xmlns:a16="http://schemas.microsoft.com/office/drawing/2014/main" id="{C2197C23-E630-0593-3D9B-046C3822A9AB}"/>
              </a:ext>
            </a:extLst>
          </p:cNvPr>
          <p:cNvCxnSpPr>
            <a:cxnSpLocks/>
          </p:cNvCxnSpPr>
          <p:nvPr/>
        </p:nvCxnSpPr>
        <p:spPr>
          <a:xfrm>
            <a:off x="8214662" y="3504910"/>
            <a:ext cx="590899" cy="0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6D61377-2ADA-C4C2-F6D2-2E8072D9179D}"/>
              </a:ext>
            </a:extLst>
          </p:cNvPr>
          <p:cNvCxnSpPr>
            <a:cxnSpLocks/>
          </p:cNvCxnSpPr>
          <p:nvPr/>
        </p:nvCxnSpPr>
        <p:spPr>
          <a:xfrm>
            <a:off x="3481429" y="3253842"/>
            <a:ext cx="728864" cy="25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C3B95B9-ABEE-5314-54A4-28DFFD9DCC0D}"/>
              </a:ext>
            </a:extLst>
          </p:cNvPr>
          <p:cNvCxnSpPr>
            <a:cxnSpLocks/>
          </p:cNvCxnSpPr>
          <p:nvPr/>
        </p:nvCxnSpPr>
        <p:spPr>
          <a:xfrm>
            <a:off x="8214662" y="3546032"/>
            <a:ext cx="5911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63">
            <a:extLst>
              <a:ext uri="{FF2B5EF4-FFF2-40B4-BE49-F238E27FC236}">
                <a16:creationId xmlns:a16="http://schemas.microsoft.com/office/drawing/2014/main" id="{1C19475D-B28C-AED6-6D05-7A91F2F9AB62}"/>
              </a:ext>
            </a:extLst>
          </p:cNvPr>
          <p:cNvCxnSpPr>
            <a:cxnSpLocks/>
          </p:cNvCxnSpPr>
          <p:nvPr/>
        </p:nvCxnSpPr>
        <p:spPr>
          <a:xfrm>
            <a:off x="3500313" y="3210121"/>
            <a:ext cx="723046" cy="267067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8769B5C-00A4-D28B-D6CB-01F406035995}"/>
              </a:ext>
            </a:extLst>
          </p:cNvPr>
          <p:cNvGrpSpPr/>
          <p:nvPr/>
        </p:nvGrpSpPr>
        <p:grpSpPr>
          <a:xfrm>
            <a:off x="3353545" y="3119752"/>
            <a:ext cx="5619617" cy="1052537"/>
            <a:chOff x="3353545" y="3119752"/>
            <a:chExt cx="5619617" cy="1052537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13FB954-FA1A-7320-D8B3-4A98EF381D7F}"/>
                </a:ext>
              </a:extLst>
            </p:cNvPr>
            <p:cNvSpPr/>
            <p:nvPr/>
          </p:nvSpPr>
          <p:spPr>
            <a:xfrm>
              <a:off x="8061650" y="349182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2981FC5C-BE54-B766-F9C7-2E4587FAB77E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F1F033BF-A872-36AC-9197-C659B4DA0F73}"/>
                </a:ext>
              </a:extLst>
            </p:cNvPr>
            <p:cNvSpPr/>
            <p:nvPr/>
          </p:nvSpPr>
          <p:spPr>
            <a:xfrm>
              <a:off x="6837323" y="40638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17" name="Oval 64">
              <a:extLst>
                <a:ext uri="{FF2B5EF4-FFF2-40B4-BE49-F238E27FC236}">
                  <a16:creationId xmlns:a16="http://schemas.microsoft.com/office/drawing/2014/main" id="{B6E7B78C-2D71-6877-254E-AE7D877AD3AE}"/>
                </a:ext>
              </a:extLst>
            </p:cNvPr>
            <p:cNvSpPr/>
            <p:nvPr/>
          </p:nvSpPr>
          <p:spPr>
            <a:xfrm>
              <a:off x="3353545" y="319150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21" name="Oval 64">
              <a:extLst>
                <a:ext uri="{FF2B5EF4-FFF2-40B4-BE49-F238E27FC236}">
                  <a16:creationId xmlns:a16="http://schemas.microsoft.com/office/drawing/2014/main" id="{68018D31-9E17-D08B-E2CE-E901383A67E5}"/>
                </a:ext>
              </a:extLst>
            </p:cNvPr>
            <p:cNvSpPr/>
            <p:nvPr/>
          </p:nvSpPr>
          <p:spPr>
            <a:xfrm>
              <a:off x="8865162" y="34859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CFF84E5-52C7-CE12-2261-0F99B69631A5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6D8AD46-2F4B-0A59-4CE1-D04B4E72D9CF}"/>
              </a:ext>
            </a:extLst>
          </p:cNvPr>
          <p:cNvGrpSpPr/>
          <p:nvPr/>
        </p:nvGrpSpPr>
        <p:grpSpPr>
          <a:xfrm>
            <a:off x="4407879" y="3190739"/>
            <a:ext cx="1605034" cy="341928"/>
            <a:chOff x="4407879" y="3190739"/>
            <a:chExt cx="1605034" cy="341928"/>
          </a:xfrm>
        </p:grpSpPr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51102BFC-11D6-F133-4D79-2BFC30C83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8B141B8-E256-42A0-9856-537CD325C8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65684C-BEE2-EA56-A715-14FA87A8DB76}"/>
              </a:ext>
            </a:extLst>
          </p:cNvPr>
          <p:cNvGrpSpPr/>
          <p:nvPr/>
        </p:nvGrpSpPr>
        <p:grpSpPr>
          <a:xfrm>
            <a:off x="6985371" y="3590313"/>
            <a:ext cx="985075" cy="492128"/>
            <a:chOff x="6985371" y="3590313"/>
            <a:chExt cx="985075" cy="492128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D81E510E-0EF8-BBE5-E886-CF44F87E7D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512" y="3594244"/>
              <a:ext cx="968804" cy="4809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9F68CF7-4482-4F5D-BE2B-EFD1D588EB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371" y="3590313"/>
              <a:ext cx="985075" cy="4921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50451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E813977-2848-5655-6CAB-D06D2E8B1B0A}"/>
              </a:ext>
            </a:extLst>
          </p:cNvPr>
          <p:cNvGrpSpPr/>
          <p:nvPr/>
        </p:nvGrpSpPr>
        <p:grpSpPr>
          <a:xfrm>
            <a:off x="6159681" y="3253842"/>
            <a:ext cx="677642" cy="798622"/>
            <a:chOff x="6159681" y="3253842"/>
            <a:chExt cx="677642" cy="798622"/>
          </a:xfrm>
        </p:grpSpPr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794FCCC9-BCC9-C843-7C16-50DB2B485EA2}"/>
                </a:ext>
              </a:extLst>
            </p:cNvPr>
            <p:cNvCxnSpPr>
              <a:cxnSpLocks/>
            </p:cNvCxnSpPr>
            <p:nvPr/>
          </p:nvCxnSpPr>
          <p:spPr>
            <a:xfrm>
              <a:off x="6159681" y="3253842"/>
              <a:ext cx="677642" cy="7986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48F8AD27-39F8-AA70-BE55-7BD5556CF845}"/>
                </a:ext>
              </a:extLst>
            </p:cNvPr>
            <p:cNvCxnSpPr>
              <a:cxnSpLocks/>
            </p:cNvCxnSpPr>
            <p:nvPr/>
          </p:nvCxnSpPr>
          <p:spPr>
            <a:xfrm>
              <a:off x="6160777" y="3253842"/>
              <a:ext cx="676546" cy="79862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Oval 91">
            <a:extLst>
              <a:ext uri="{FF2B5EF4-FFF2-40B4-BE49-F238E27FC236}">
                <a16:creationId xmlns:a16="http://schemas.microsoft.com/office/drawing/2014/main" id="{9D183B04-6E42-5B05-3AB7-77AD12E260B1}"/>
              </a:ext>
            </a:extLst>
          </p:cNvPr>
          <p:cNvSpPr/>
          <p:nvPr/>
        </p:nvSpPr>
        <p:spPr>
          <a:xfrm>
            <a:off x="5330581" y="4075196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B55E99D1-9050-ED2F-1912-C8C069D0E07F}"/>
              </a:ext>
            </a:extLst>
          </p:cNvPr>
          <p:cNvCxnSpPr>
            <a:cxnSpLocks/>
          </p:cNvCxnSpPr>
          <p:nvPr/>
        </p:nvCxnSpPr>
        <p:spPr>
          <a:xfrm flipV="1">
            <a:off x="3493130" y="3603956"/>
            <a:ext cx="697827" cy="302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4A8CD92-5486-5121-F11B-38FB570F7086}"/>
              </a:ext>
            </a:extLst>
          </p:cNvPr>
          <p:cNvCxnSpPr>
            <a:cxnSpLocks/>
          </p:cNvCxnSpPr>
          <p:nvPr/>
        </p:nvCxnSpPr>
        <p:spPr>
          <a:xfrm>
            <a:off x="4343879" y="3653016"/>
            <a:ext cx="706011" cy="9621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328994C4-A529-7FEE-B725-7B87C3377805}"/>
              </a:ext>
            </a:extLst>
          </p:cNvPr>
          <p:cNvSpPr txBox="1"/>
          <p:nvPr/>
        </p:nvSpPr>
        <p:spPr>
          <a:xfrm>
            <a:off x="3580386" y="3422980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 b="1">
                <a:latin typeface="+mn-lt"/>
              </a:rPr>
              <a:t>A</a:t>
            </a:r>
            <a:endParaRPr lang="en-DE" sz="1200" b="1">
              <a:latin typeface="+mn-lt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DA8E5C3-2277-9422-FCC3-933BD5A770FE}"/>
              </a:ext>
            </a:extLst>
          </p:cNvPr>
          <p:cNvSpPr txBox="1"/>
          <p:nvPr/>
        </p:nvSpPr>
        <p:spPr>
          <a:xfrm>
            <a:off x="8433716" y="3613956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2000" b="1">
                <a:latin typeface="+mn-lt"/>
              </a:rPr>
              <a:t>B</a:t>
            </a:r>
            <a:endParaRPr lang="en-DE" sz="1600" b="1">
              <a:latin typeface="+mn-lt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170F8F7-38FE-AD05-AF58-0CBDE280613E}"/>
              </a:ext>
            </a:extLst>
          </p:cNvPr>
          <p:cNvCxnSpPr>
            <a:cxnSpLocks/>
          </p:cNvCxnSpPr>
          <p:nvPr/>
        </p:nvCxnSpPr>
        <p:spPr>
          <a:xfrm flipV="1">
            <a:off x="4343876" y="4758190"/>
            <a:ext cx="669392" cy="2347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BD72E7D-0719-4E21-B92C-3C1A5E2F4285}"/>
              </a:ext>
            </a:extLst>
          </p:cNvPr>
          <p:cNvCxnSpPr>
            <a:cxnSpLocks/>
          </p:cNvCxnSpPr>
          <p:nvPr/>
        </p:nvCxnSpPr>
        <p:spPr>
          <a:xfrm flipV="1">
            <a:off x="5174403" y="4243348"/>
            <a:ext cx="156179" cy="3778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304622E-A9CF-63A8-A836-AC2116E20C32}"/>
              </a:ext>
            </a:extLst>
          </p:cNvPr>
          <p:cNvCxnSpPr>
            <a:cxnSpLocks/>
          </p:cNvCxnSpPr>
          <p:nvPr/>
        </p:nvCxnSpPr>
        <p:spPr>
          <a:xfrm flipV="1">
            <a:off x="5252490" y="4321724"/>
            <a:ext cx="735506" cy="329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8EF4512-1BAB-9ECD-8792-A7F43B7B56F0}"/>
              </a:ext>
            </a:extLst>
          </p:cNvPr>
          <p:cNvCxnSpPr>
            <a:cxnSpLocks/>
          </p:cNvCxnSpPr>
          <p:nvPr/>
        </p:nvCxnSpPr>
        <p:spPr>
          <a:xfrm flipH="1" flipV="1">
            <a:off x="4396812" y="3604751"/>
            <a:ext cx="868280" cy="4841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9FC7D22-0518-141F-5EDB-0507FE8D25C5}"/>
              </a:ext>
            </a:extLst>
          </p:cNvPr>
          <p:cNvCxnSpPr>
            <a:cxnSpLocks/>
          </p:cNvCxnSpPr>
          <p:nvPr/>
        </p:nvCxnSpPr>
        <p:spPr>
          <a:xfrm>
            <a:off x="5460549" y="4159553"/>
            <a:ext cx="523528" cy="724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89D88B0-9520-DD52-3527-6B4C00286001}"/>
              </a:ext>
            </a:extLst>
          </p:cNvPr>
          <p:cNvCxnSpPr>
            <a:cxnSpLocks/>
          </p:cNvCxnSpPr>
          <p:nvPr/>
        </p:nvCxnSpPr>
        <p:spPr>
          <a:xfrm flipV="1">
            <a:off x="5220868" y="4719508"/>
            <a:ext cx="1660809" cy="48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1B8AE973-BDAA-574A-E7A5-F367D555FFCE}"/>
              </a:ext>
            </a:extLst>
          </p:cNvPr>
          <p:cNvCxnSpPr>
            <a:cxnSpLocks/>
          </p:cNvCxnSpPr>
          <p:nvPr/>
        </p:nvCxnSpPr>
        <p:spPr>
          <a:xfrm flipH="1" flipV="1">
            <a:off x="6892636" y="4218369"/>
            <a:ext cx="65496" cy="3743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Oval 105">
            <a:extLst>
              <a:ext uri="{FF2B5EF4-FFF2-40B4-BE49-F238E27FC236}">
                <a16:creationId xmlns:a16="http://schemas.microsoft.com/office/drawing/2014/main" id="{E39D7C7C-10BD-7E78-40D5-FCA484854F5B}"/>
              </a:ext>
            </a:extLst>
          </p:cNvPr>
          <p:cNvSpPr/>
          <p:nvPr/>
        </p:nvSpPr>
        <p:spPr>
          <a:xfrm>
            <a:off x="5071538" y="4668246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3CADBEA-1ADA-54C9-13C5-313EDB53ABD3}"/>
              </a:ext>
            </a:extLst>
          </p:cNvPr>
          <p:cNvGrpSpPr/>
          <p:nvPr/>
        </p:nvGrpSpPr>
        <p:grpSpPr>
          <a:xfrm>
            <a:off x="6027293" y="4189140"/>
            <a:ext cx="1009536" cy="587019"/>
            <a:chOff x="4503293" y="4189137"/>
            <a:chExt cx="1009536" cy="587019"/>
          </a:xfrm>
        </p:grpSpPr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EE8AFFB-1499-67D0-0AFF-79C099CD460D}"/>
                </a:ext>
              </a:extLst>
            </p:cNvPr>
            <p:cNvCxnSpPr>
              <a:cxnSpLocks/>
            </p:cNvCxnSpPr>
            <p:nvPr/>
          </p:nvCxnSpPr>
          <p:spPr>
            <a:xfrm>
              <a:off x="4613517" y="4320579"/>
              <a:ext cx="784338" cy="330202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DE43422B-F3BC-78A2-BDBF-A0182FA297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558" y="4320579"/>
              <a:ext cx="784297" cy="3302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563F04F-3F72-A21D-B2D1-8F5359027582}"/>
                </a:ext>
              </a:extLst>
            </p:cNvPr>
            <p:cNvSpPr/>
            <p:nvPr/>
          </p:nvSpPr>
          <p:spPr>
            <a:xfrm>
              <a:off x="4503293" y="41891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3D377B4-7A35-85DA-AEC9-7403E52EAC73}"/>
                </a:ext>
              </a:extLst>
            </p:cNvPr>
            <p:cNvSpPr/>
            <p:nvPr/>
          </p:nvSpPr>
          <p:spPr>
            <a:xfrm>
              <a:off x="5404829" y="466773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FCD12E9-D31D-23FF-C548-127D7C7376E3}"/>
              </a:ext>
            </a:extLst>
          </p:cNvPr>
          <p:cNvCxnSpPr>
            <a:cxnSpLocks/>
          </p:cNvCxnSpPr>
          <p:nvPr/>
        </p:nvCxnSpPr>
        <p:spPr>
          <a:xfrm>
            <a:off x="7066040" y="4766899"/>
            <a:ext cx="712604" cy="269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Oval 64">
            <a:extLst>
              <a:ext uri="{FF2B5EF4-FFF2-40B4-BE49-F238E27FC236}">
                <a16:creationId xmlns:a16="http://schemas.microsoft.com/office/drawing/2014/main" id="{FDEAB551-220B-C556-A654-116353DA5382}"/>
              </a:ext>
            </a:extLst>
          </p:cNvPr>
          <p:cNvSpPr/>
          <p:nvPr/>
        </p:nvSpPr>
        <p:spPr>
          <a:xfrm>
            <a:off x="3363471" y="3903389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9" name="Oval 64">
            <a:extLst>
              <a:ext uri="{FF2B5EF4-FFF2-40B4-BE49-F238E27FC236}">
                <a16:creationId xmlns:a16="http://schemas.microsoft.com/office/drawing/2014/main" id="{D5E1A2C3-4014-CAD4-B30B-189469018855}"/>
              </a:ext>
            </a:extLst>
          </p:cNvPr>
          <p:cNvSpPr/>
          <p:nvPr/>
        </p:nvSpPr>
        <p:spPr>
          <a:xfrm>
            <a:off x="4190955" y="4981760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20" name="Oval 64">
            <a:extLst>
              <a:ext uri="{FF2B5EF4-FFF2-40B4-BE49-F238E27FC236}">
                <a16:creationId xmlns:a16="http://schemas.microsoft.com/office/drawing/2014/main" id="{7FABAC57-F9D0-630F-DBB3-D2E342E7D254}"/>
              </a:ext>
            </a:extLst>
          </p:cNvPr>
          <p:cNvSpPr/>
          <p:nvPr/>
        </p:nvSpPr>
        <p:spPr>
          <a:xfrm>
            <a:off x="7814837" y="5009752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pic>
        <p:nvPicPr>
          <p:cNvPr id="123" name="Graphic 122" descr="Toy Train with solid fill">
            <a:extLst>
              <a:ext uri="{FF2B5EF4-FFF2-40B4-BE49-F238E27FC236}">
                <a16:creationId xmlns:a16="http://schemas.microsoft.com/office/drawing/2014/main" id="{6CFA4BBE-B57E-444B-84CD-251ECC156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139651">
            <a:off x="3693499" y="2926061"/>
            <a:ext cx="481847" cy="517170"/>
          </a:xfrm>
          <a:prstGeom prst="rect">
            <a:avLst/>
          </a:prstGeom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EC52AEE4-CAA2-2E24-EC6D-A993EBD57A7C}"/>
              </a:ext>
            </a:extLst>
          </p:cNvPr>
          <p:cNvSpPr txBox="1"/>
          <p:nvPr/>
        </p:nvSpPr>
        <p:spPr>
          <a:xfrm>
            <a:off x="4668452" y="4956315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>
                <a:latin typeface="+mn-lt"/>
              </a:rPr>
              <a:t>C</a:t>
            </a:r>
            <a:endParaRPr lang="en-DE" sz="1200" b="1">
              <a:latin typeface="+mn-lt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F4C3FC7-AB04-9395-41D7-62FFEDD50A32}"/>
              </a:ext>
            </a:extLst>
          </p:cNvPr>
          <p:cNvSpPr txBox="1"/>
          <p:nvPr/>
        </p:nvSpPr>
        <p:spPr>
          <a:xfrm>
            <a:off x="7215829" y="4944107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>
                <a:latin typeface="+mn-lt"/>
              </a:rPr>
              <a:t>D</a:t>
            </a:r>
            <a:endParaRPr lang="en-DE" sz="1600" b="1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3281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60A9221-9866-AE79-2CBC-86409BF7E6AA}"/>
              </a:ext>
            </a:extLst>
          </p:cNvPr>
          <p:cNvGrpSpPr/>
          <p:nvPr/>
        </p:nvGrpSpPr>
        <p:grpSpPr>
          <a:xfrm>
            <a:off x="3353545" y="3119752"/>
            <a:ext cx="5619617" cy="1052537"/>
            <a:chOff x="3353545" y="3119752"/>
            <a:chExt cx="5619617" cy="1052537"/>
          </a:xfrm>
        </p:grpSpPr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DE2FD7BB-DF46-96AE-218A-31FAD6F27B4E}"/>
                </a:ext>
              </a:extLst>
            </p:cNvPr>
            <p:cNvSpPr/>
            <p:nvPr/>
          </p:nvSpPr>
          <p:spPr>
            <a:xfrm>
              <a:off x="8061650" y="349182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E4A2AA63-CC56-F7D5-0EA8-03F70C0C89AA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B18A074-6708-03F1-9F0F-433B7883E203}"/>
                </a:ext>
              </a:extLst>
            </p:cNvPr>
            <p:cNvSpPr/>
            <p:nvPr/>
          </p:nvSpPr>
          <p:spPr>
            <a:xfrm>
              <a:off x="6837323" y="40638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28" name="Oval 64">
              <a:extLst>
                <a:ext uri="{FF2B5EF4-FFF2-40B4-BE49-F238E27FC236}">
                  <a16:creationId xmlns:a16="http://schemas.microsoft.com/office/drawing/2014/main" id="{9C7BDBDB-C027-7E32-2E1E-150D4A96937C}"/>
                </a:ext>
              </a:extLst>
            </p:cNvPr>
            <p:cNvSpPr/>
            <p:nvPr/>
          </p:nvSpPr>
          <p:spPr>
            <a:xfrm>
              <a:off x="3353545" y="319150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29" name="Oval 64">
              <a:extLst>
                <a:ext uri="{FF2B5EF4-FFF2-40B4-BE49-F238E27FC236}">
                  <a16:creationId xmlns:a16="http://schemas.microsoft.com/office/drawing/2014/main" id="{BC49D798-EB05-7409-6036-FEA6D293BBAE}"/>
                </a:ext>
              </a:extLst>
            </p:cNvPr>
            <p:cNvSpPr/>
            <p:nvPr/>
          </p:nvSpPr>
          <p:spPr>
            <a:xfrm>
              <a:off x="8865162" y="34859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4483CF23-E459-6E87-9F3C-6ACDF7603A3E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904EA0F-D8AC-46E5-5789-120EB37838CC}"/>
              </a:ext>
            </a:extLst>
          </p:cNvPr>
          <p:cNvCxnSpPr>
            <a:cxnSpLocks/>
          </p:cNvCxnSpPr>
          <p:nvPr/>
        </p:nvCxnSpPr>
        <p:spPr>
          <a:xfrm flipV="1">
            <a:off x="7073764" y="3637336"/>
            <a:ext cx="956150" cy="9778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4FE62D8-9C47-231C-5DE1-98CC70FE4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4883" y="1551172"/>
                <a:ext cx="11345332" cy="605748"/>
              </a:xfrm>
            </p:spPr>
            <p:txBody>
              <a:bodyPr/>
              <a:lstStyle/>
              <a:p>
                <a:r>
                  <a:rPr lang="en-US" sz="2000">
                    <a:cs typeface="Arial"/>
                  </a:rPr>
                  <a:t>For each train</a:t>
                </a:r>
                <a:r>
                  <a:rPr lang="en-US" sz="2000" i="1">
                    <a:cs typeface="Arial"/>
                  </a:rPr>
                  <a:t> t </a:t>
                </a:r>
                <a:r>
                  <a:rPr lang="en-US" sz="2000">
                    <a:cs typeface="Arial"/>
                  </a:rPr>
                  <a:t>: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b="0" i="1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r>
                  <a:rPr lang="en-US" sz="2000" i="1">
                    <a:cs typeface="Arial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solidFill>
                              <a:srgbClr val="F67400"/>
                            </a:solidFill>
                            <a:latin typeface="Cambria Math" panose="02040503050406030204" pitchFamily="18" charset="0"/>
                            <a:cs typeface="Arial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rgbClr val="F67400"/>
                            </a:solidFill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b="0" i="1" smtClean="0">
                            <a:solidFill>
                              <a:srgbClr val="F67400"/>
                            </a:solidFill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sz="2000" b="0" i="1" smtClean="0">
                            <a:solidFill>
                              <a:srgbClr val="F67400"/>
                            </a:solidFill>
                            <a:ea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m:rPr>
                        <m:nor/>
                      </m:rPr>
                      <a:rPr lang="de-DE" sz="2000" b="0" i="0" smtClean="0">
                        <a:solidFill>
                          <a:srgbClr val="F674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z="2000" b="0" i="0" smtClean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∈ {0,1}</m:t>
                    </m:r>
                  </m:oMath>
                </a14:m>
                <a:endParaRPr lang="en-US" sz="2000" baseline="-25000">
                  <a:solidFill>
                    <a:srgbClr val="98C6EA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4FE62D8-9C47-231C-5DE1-98CC70FE4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883" y="1551172"/>
                <a:ext cx="11345332" cy="605748"/>
              </a:xfrm>
              <a:blipFill>
                <a:blip r:embed="rId2"/>
                <a:stretch>
                  <a:fillRect l="-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22</a:t>
            </a:fld>
            <a:endParaRPr lang="de-D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68E9D69-ADBA-8123-8050-F7E893A86166}"/>
              </a:ext>
            </a:extLst>
          </p:cNvPr>
          <p:cNvGrpSpPr/>
          <p:nvPr/>
        </p:nvGrpSpPr>
        <p:grpSpPr>
          <a:xfrm>
            <a:off x="10019814" y="304811"/>
            <a:ext cx="1740401" cy="527668"/>
            <a:chOff x="4282753" y="2992759"/>
            <a:chExt cx="2730986" cy="82800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F066991-2C61-BEC8-07B2-203D6AFCFA2B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25" name="Flowchart: Stored Data 92">
                <a:extLst>
                  <a:ext uri="{FF2B5EF4-FFF2-40B4-BE49-F238E27FC236}">
                    <a16:creationId xmlns:a16="http://schemas.microsoft.com/office/drawing/2014/main" id="{1BBEC63A-748F-7C95-4830-ABB52B37A51C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F94FCE-DAD5-A702-C121-B6DB341273EB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Preprocessing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AD344A3-B4A5-4583-F612-28D9CE550AC0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F56B665-46CF-4DDB-2D4E-31FB7BF5CFD5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2889CD-3108-56EE-03A1-F85D0A5F2C57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27" name="Down Arrow 66">
            <a:extLst>
              <a:ext uri="{FF2B5EF4-FFF2-40B4-BE49-F238E27FC236}">
                <a16:creationId xmlns:a16="http://schemas.microsoft.com/office/drawing/2014/main" id="{FB949E3D-ECA6-0286-B247-91F8F039F3AB}"/>
              </a:ext>
            </a:extLst>
          </p:cNvPr>
          <p:cNvSpPr/>
          <p:nvPr/>
        </p:nvSpPr>
        <p:spPr>
          <a:xfrm>
            <a:off x="1075780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0CC2AC2-904C-3CE4-CCFF-B8FB930371D4}"/>
              </a:ext>
            </a:extLst>
          </p:cNvPr>
          <p:cNvGrpSpPr/>
          <p:nvPr/>
        </p:nvGrpSpPr>
        <p:grpSpPr>
          <a:xfrm>
            <a:off x="10019814" y="1039520"/>
            <a:ext cx="1740401" cy="527668"/>
            <a:chOff x="4282753" y="2992759"/>
            <a:chExt cx="2730986" cy="82800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D71FF78-C5E9-2527-D6B5-3344613FC418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33" name="Flowchart: Stored Data 92">
                <a:extLst>
                  <a:ext uri="{FF2B5EF4-FFF2-40B4-BE49-F238E27FC236}">
                    <a16:creationId xmlns:a16="http://schemas.microsoft.com/office/drawing/2014/main" id="{4CA0376F-306B-1E97-32D4-3623ADD07F30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AB6F011-87C1-2E5F-1F54-7C390839B941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/>
                  <a:t>Modeling</a:t>
                </a:r>
                <a:endParaRPr lang="en-DE" sz="100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F3E4CB4-5B70-83D6-51E7-FFA5F5147CC5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D761D6D-6F14-6931-FE27-7B2FB3EC7520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9A7423B-9B71-D454-69B4-51B2C83587BF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35" name="Down Arrow 66">
            <a:extLst>
              <a:ext uri="{FF2B5EF4-FFF2-40B4-BE49-F238E27FC236}">
                <a16:creationId xmlns:a16="http://schemas.microsoft.com/office/drawing/2014/main" id="{8FB4BE91-ECD3-27B7-B7CF-B0B78ABDA895}"/>
              </a:ext>
            </a:extLst>
          </p:cNvPr>
          <p:cNvSpPr/>
          <p:nvPr/>
        </p:nvSpPr>
        <p:spPr>
          <a:xfrm>
            <a:off x="1075780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F6EE9-A448-9DAC-FE69-833CBC74DD47}"/>
              </a:ext>
            </a:extLst>
          </p:cNvPr>
          <p:cNvGrpSpPr/>
          <p:nvPr/>
        </p:nvGrpSpPr>
        <p:grpSpPr>
          <a:xfrm>
            <a:off x="10019814" y="1774229"/>
            <a:ext cx="1740401" cy="527668"/>
            <a:chOff x="4282753" y="2992759"/>
            <a:chExt cx="2730986" cy="828002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593CF1F-1494-E171-3E4A-82E54A6BA2E9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41" name="Flowchart: Stored Data 92">
                <a:extLst>
                  <a:ext uri="{FF2B5EF4-FFF2-40B4-BE49-F238E27FC236}">
                    <a16:creationId xmlns:a16="http://schemas.microsoft.com/office/drawing/2014/main" id="{6893F3BB-2E8B-061E-9957-8D3DCADD965F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0507BE0-3C05-492D-66BC-825252CF4D03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Solving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D0E2FA4-B244-9A2A-F87F-0486434EE37C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20121E9D-6FDB-88FC-0132-A30DDD93E11D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0D40115-D9DF-A2AD-103A-85CA3926275E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C4C5EB17-DB83-7D47-EEDB-EC501FF690F7}"/>
              </a:ext>
            </a:extLst>
          </p:cNvPr>
          <p:cNvCxnSpPr>
            <a:cxnSpLocks/>
          </p:cNvCxnSpPr>
          <p:nvPr/>
        </p:nvCxnSpPr>
        <p:spPr>
          <a:xfrm>
            <a:off x="8214662" y="3587154"/>
            <a:ext cx="590899" cy="0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C1D9EC-C0ED-CF41-BDC2-C8F50EB0B24A}"/>
              </a:ext>
            </a:extLst>
          </p:cNvPr>
          <p:cNvCxnSpPr>
            <a:cxnSpLocks/>
          </p:cNvCxnSpPr>
          <p:nvPr/>
        </p:nvCxnSpPr>
        <p:spPr>
          <a:xfrm>
            <a:off x="4396812" y="3607702"/>
            <a:ext cx="868280" cy="481247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7CCF71B-997D-DE6F-4E0B-4FC71105C357}"/>
              </a:ext>
            </a:extLst>
          </p:cNvPr>
          <p:cNvCxnSpPr>
            <a:cxnSpLocks/>
          </p:cNvCxnSpPr>
          <p:nvPr/>
        </p:nvCxnSpPr>
        <p:spPr>
          <a:xfrm flipH="1" flipV="1">
            <a:off x="5460549" y="4159553"/>
            <a:ext cx="523528" cy="72438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AF9961-5098-DA77-9E81-48F255D2920E}"/>
              </a:ext>
            </a:extLst>
          </p:cNvPr>
          <p:cNvCxnSpPr>
            <a:cxnSpLocks/>
          </p:cNvCxnSpPr>
          <p:nvPr/>
        </p:nvCxnSpPr>
        <p:spPr>
          <a:xfrm flipV="1">
            <a:off x="7073767" y="3629000"/>
            <a:ext cx="959681" cy="986186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D415FEE0-90BC-B13D-C72A-25BBF6850290}"/>
              </a:ext>
            </a:extLst>
          </p:cNvPr>
          <p:cNvCxnSpPr>
            <a:cxnSpLocks/>
          </p:cNvCxnSpPr>
          <p:nvPr/>
        </p:nvCxnSpPr>
        <p:spPr>
          <a:xfrm>
            <a:off x="3464489" y="3299928"/>
            <a:ext cx="729018" cy="257113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11F3580-2A69-689C-B59C-EC188DBFF724}"/>
              </a:ext>
            </a:extLst>
          </p:cNvPr>
          <p:cNvCxnSpPr>
            <a:cxnSpLocks/>
          </p:cNvCxnSpPr>
          <p:nvPr/>
        </p:nvCxnSpPr>
        <p:spPr>
          <a:xfrm>
            <a:off x="6197433" y="3181971"/>
            <a:ext cx="1810484" cy="350696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258F8D1-B1EC-BB81-D9A4-7744F0341C2D}"/>
              </a:ext>
            </a:extLst>
          </p:cNvPr>
          <p:cNvCxnSpPr>
            <a:cxnSpLocks/>
          </p:cNvCxnSpPr>
          <p:nvPr/>
        </p:nvCxnSpPr>
        <p:spPr>
          <a:xfrm flipV="1">
            <a:off x="6182208" y="4132555"/>
            <a:ext cx="616515" cy="102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CF66E0C7-7BD4-B2DC-06C8-643C7A2D2ACF}"/>
              </a:ext>
            </a:extLst>
          </p:cNvPr>
          <p:cNvSpPr/>
          <p:nvPr/>
        </p:nvSpPr>
        <p:spPr>
          <a:xfrm>
            <a:off x="5330581" y="4075196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580E6F-03E5-EE31-6621-68B4648D2C4A}"/>
              </a:ext>
            </a:extLst>
          </p:cNvPr>
          <p:cNvCxnSpPr>
            <a:cxnSpLocks/>
          </p:cNvCxnSpPr>
          <p:nvPr/>
        </p:nvCxnSpPr>
        <p:spPr>
          <a:xfrm flipV="1">
            <a:off x="3493130" y="3603956"/>
            <a:ext cx="697827" cy="302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F104301-376E-7FE1-CFDC-5ABDA35A00EA}"/>
              </a:ext>
            </a:extLst>
          </p:cNvPr>
          <p:cNvCxnSpPr>
            <a:cxnSpLocks/>
          </p:cNvCxnSpPr>
          <p:nvPr/>
        </p:nvCxnSpPr>
        <p:spPr>
          <a:xfrm>
            <a:off x="4343879" y="3653016"/>
            <a:ext cx="706011" cy="9621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04E3B67-BD95-9DF8-253D-B8554E5E0E97}"/>
              </a:ext>
            </a:extLst>
          </p:cNvPr>
          <p:cNvCxnSpPr>
            <a:cxnSpLocks/>
          </p:cNvCxnSpPr>
          <p:nvPr/>
        </p:nvCxnSpPr>
        <p:spPr>
          <a:xfrm flipV="1">
            <a:off x="4343876" y="4758190"/>
            <a:ext cx="669392" cy="2347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B05421C-BBC4-DDD1-CE23-5D13B808C656}"/>
              </a:ext>
            </a:extLst>
          </p:cNvPr>
          <p:cNvCxnSpPr>
            <a:cxnSpLocks/>
          </p:cNvCxnSpPr>
          <p:nvPr/>
        </p:nvCxnSpPr>
        <p:spPr>
          <a:xfrm flipV="1">
            <a:off x="5174403" y="4243348"/>
            <a:ext cx="156179" cy="3778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9C9327E-040F-4AF9-72A9-5B31D2D85B74}"/>
              </a:ext>
            </a:extLst>
          </p:cNvPr>
          <p:cNvCxnSpPr>
            <a:cxnSpLocks/>
          </p:cNvCxnSpPr>
          <p:nvPr/>
        </p:nvCxnSpPr>
        <p:spPr>
          <a:xfrm flipV="1">
            <a:off x="5252490" y="4321724"/>
            <a:ext cx="735506" cy="329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0663BA3-F262-2C04-8846-3DCE1E4D2B78}"/>
              </a:ext>
            </a:extLst>
          </p:cNvPr>
          <p:cNvCxnSpPr>
            <a:cxnSpLocks/>
          </p:cNvCxnSpPr>
          <p:nvPr/>
        </p:nvCxnSpPr>
        <p:spPr>
          <a:xfrm flipH="1" flipV="1">
            <a:off x="4396812" y="3604751"/>
            <a:ext cx="868280" cy="4841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B8B88D-A4DC-1066-93D1-D748AC1B8C64}"/>
              </a:ext>
            </a:extLst>
          </p:cNvPr>
          <p:cNvCxnSpPr>
            <a:cxnSpLocks/>
          </p:cNvCxnSpPr>
          <p:nvPr/>
        </p:nvCxnSpPr>
        <p:spPr>
          <a:xfrm>
            <a:off x="5460549" y="4159553"/>
            <a:ext cx="523528" cy="724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A276C0C-1762-3E16-EAB4-0B61AE0D3C28}"/>
              </a:ext>
            </a:extLst>
          </p:cNvPr>
          <p:cNvCxnSpPr>
            <a:cxnSpLocks/>
          </p:cNvCxnSpPr>
          <p:nvPr/>
        </p:nvCxnSpPr>
        <p:spPr>
          <a:xfrm flipV="1">
            <a:off x="5220868" y="4719508"/>
            <a:ext cx="1660809" cy="48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EDE082D-42E7-B55B-4B96-258F845C88F8}"/>
              </a:ext>
            </a:extLst>
          </p:cNvPr>
          <p:cNvCxnSpPr>
            <a:cxnSpLocks/>
          </p:cNvCxnSpPr>
          <p:nvPr/>
        </p:nvCxnSpPr>
        <p:spPr>
          <a:xfrm flipH="1" flipV="1">
            <a:off x="6892636" y="4218369"/>
            <a:ext cx="65496" cy="3743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BA0538C1-C811-4932-2458-61D34882E393}"/>
              </a:ext>
            </a:extLst>
          </p:cNvPr>
          <p:cNvSpPr/>
          <p:nvPr/>
        </p:nvSpPr>
        <p:spPr>
          <a:xfrm>
            <a:off x="5071538" y="4668246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7EE5BBB-A216-A1E7-8D0E-5A97F1C43F45}"/>
              </a:ext>
            </a:extLst>
          </p:cNvPr>
          <p:cNvGrpSpPr/>
          <p:nvPr/>
        </p:nvGrpSpPr>
        <p:grpSpPr>
          <a:xfrm>
            <a:off x="6027293" y="4189140"/>
            <a:ext cx="1009536" cy="587019"/>
            <a:chOff x="4503293" y="4189137"/>
            <a:chExt cx="1009536" cy="587019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6C73DD2-B6E9-6838-8F73-B90513CF77A2}"/>
                </a:ext>
              </a:extLst>
            </p:cNvPr>
            <p:cNvCxnSpPr>
              <a:cxnSpLocks/>
            </p:cNvCxnSpPr>
            <p:nvPr/>
          </p:nvCxnSpPr>
          <p:spPr>
            <a:xfrm>
              <a:off x="4613517" y="4320579"/>
              <a:ext cx="784338" cy="330202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CA808AD-E6EE-73FD-8FD0-3840550197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558" y="4320579"/>
              <a:ext cx="784297" cy="3302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DD80B33E-8A50-58DF-F34F-810700FF2E26}"/>
                </a:ext>
              </a:extLst>
            </p:cNvPr>
            <p:cNvSpPr/>
            <p:nvPr/>
          </p:nvSpPr>
          <p:spPr>
            <a:xfrm>
              <a:off x="4503293" y="41891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492E2CD6-130F-216D-8D0A-E293D53B8643}"/>
                </a:ext>
              </a:extLst>
            </p:cNvPr>
            <p:cNvSpPr/>
            <p:nvPr/>
          </p:nvSpPr>
          <p:spPr>
            <a:xfrm>
              <a:off x="5404829" y="466773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19AF1E4-AEAC-C339-9339-9B0E89152D2B}"/>
              </a:ext>
            </a:extLst>
          </p:cNvPr>
          <p:cNvCxnSpPr>
            <a:cxnSpLocks/>
          </p:cNvCxnSpPr>
          <p:nvPr/>
        </p:nvCxnSpPr>
        <p:spPr>
          <a:xfrm>
            <a:off x="7066040" y="4766899"/>
            <a:ext cx="712604" cy="269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>
            <a:extLst>
              <a:ext uri="{FF2B5EF4-FFF2-40B4-BE49-F238E27FC236}">
                <a16:creationId xmlns:a16="http://schemas.microsoft.com/office/drawing/2014/main" id="{CA6F3A6D-A3BC-B19E-2878-94DC59DFB32D}"/>
              </a:ext>
            </a:extLst>
          </p:cNvPr>
          <p:cNvSpPr/>
          <p:nvPr/>
        </p:nvSpPr>
        <p:spPr>
          <a:xfrm>
            <a:off x="6837323" y="4063865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7" name="Oval 64">
            <a:extLst>
              <a:ext uri="{FF2B5EF4-FFF2-40B4-BE49-F238E27FC236}">
                <a16:creationId xmlns:a16="http://schemas.microsoft.com/office/drawing/2014/main" id="{F1DF9E48-12FC-F5E3-3DAB-83468DC786AC}"/>
              </a:ext>
            </a:extLst>
          </p:cNvPr>
          <p:cNvSpPr/>
          <p:nvPr/>
        </p:nvSpPr>
        <p:spPr>
          <a:xfrm>
            <a:off x="3363471" y="3903389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78" name="Oval 64">
            <a:extLst>
              <a:ext uri="{FF2B5EF4-FFF2-40B4-BE49-F238E27FC236}">
                <a16:creationId xmlns:a16="http://schemas.microsoft.com/office/drawing/2014/main" id="{C1D58684-8C61-0448-7164-C3DADD1BD665}"/>
              </a:ext>
            </a:extLst>
          </p:cNvPr>
          <p:cNvSpPr/>
          <p:nvPr/>
        </p:nvSpPr>
        <p:spPr>
          <a:xfrm>
            <a:off x="4190955" y="4981760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32" name="Oval 64">
            <a:extLst>
              <a:ext uri="{FF2B5EF4-FFF2-40B4-BE49-F238E27FC236}">
                <a16:creationId xmlns:a16="http://schemas.microsoft.com/office/drawing/2014/main" id="{6B1554AD-AE0B-940A-2EB1-161BCD1DF4F7}"/>
              </a:ext>
            </a:extLst>
          </p:cNvPr>
          <p:cNvSpPr/>
          <p:nvPr/>
        </p:nvSpPr>
        <p:spPr>
          <a:xfrm>
            <a:off x="7814837" y="5009752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pic>
        <p:nvPicPr>
          <p:cNvPr id="66" name="Graphic 65" descr="Toy Train with solid fill">
            <a:extLst>
              <a:ext uri="{FF2B5EF4-FFF2-40B4-BE49-F238E27FC236}">
                <a16:creationId xmlns:a16="http://schemas.microsoft.com/office/drawing/2014/main" id="{A7CF9FB9-11CB-F758-EC6E-AC863B6E7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139651">
            <a:off x="3693499" y="2926061"/>
            <a:ext cx="481847" cy="517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feld 85">
                <a:extLst>
                  <a:ext uri="{FF2B5EF4-FFF2-40B4-BE49-F238E27FC236}">
                    <a16:creationId xmlns:a16="http://schemas.microsoft.com/office/drawing/2014/main" id="{F8B95A4C-6B17-DE0C-45DB-C5C98A0FDBF3}"/>
                  </a:ext>
                </a:extLst>
              </p:cNvPr>
              <p:cNvSpPr txBox="1"/>
              <p:nvPr/>
            </p:nvSpPr>
            <p:spPr>
              <a:xfrm>
                <a:off x="3150763" y="3314289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35" name="Textfeld 85">
                <a:extLst>
                  <a:ext uri="{FF2B5EF4-FFF2-40B4-BE49-F238E27FC236}">
                    <a16:creationId xmlns:a16="http://schemas.microsoft.com/office/drawing/2014/main" id="{F8B95A4C-6B17-DE0C-45DB-C5C98A0FD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763" y="3314289"/>
                <a:ext cx="493070" cy="383054"/>
              </a:xfrm>
              <a:prstGeom prst="rect">
                <a:avLst/>
              </a:prstGeom>
              <a:blipFill>
                <a:blip r:embed="rId5"/>
                <a:stretch>
                  <a:fillRect l="-1235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Textfeld 85">
                <a:extLst>
                  <a:ext uri="{FF2B5EF4-FFF2-40B4-BE49-F238E27FC236}">
                    <a16:creationId xmlns:a16="http://schemas.microsoft.com/office/drawing/2014/main" id="{346DE573-7931-75C1-511B-E46501F96739}"/>
                  </a:ext>
                </a:extLst>
              </p:cNvPr>
              <p:cNvSpPr txBox="1"/>
              <p:nvPr/>
            </p:nvSpPr>
            <p:spPr>
              <a:xfrm>
                <a:off x="4019312" y="3654585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53" name="Textfeld 85">
                <a:extLst>
                  <a:ext uri="{FF2B5EF4-FFF2-40B4-BE49-F238E27FC236}">
                    <a16:creationId xmlns:a16="http://schemas.microsoft.com/office/drawing/2014/main" id="{346DE573-7931-75C1-511B-E46501F96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312" y="3654585"/>
                <a:ext cx="493070" cy="379463"/>
              </a:xfrm>
              <a:prstGeom prst="rect">
                <a:avLst/>
              </a:prstGeom>
              <a:blipFill>
                <a:blip r:embed="rId6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Textfeld 85">
                <a:extLst>
                  <a:ext uri="{FF2B5EF4-FFF2-40B4-BE49-F238E27FC236}">
                    <a16:creationId xmlns:a16="http://schemas.microsoft.com/office/drawing/2014/main" id="{5E91AA7D-5B9A-9CC7-F7A9-BCE008940DC5}"/>
                  </a:ext>
                </a:extLst>
              </p:cNvPr>
              <p:cNvSpPr txBox="1"/>
              <p:nvPr/>
            </p:nvSpPr>
            <p:spPr>
              <a:xfrm>
                <a:off x="5174400" y="3662650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54" name="Textfeld 85">
                <a:extLst>
                  <a:ext uri="{FF2B5EF4-FFF2-40B4-BE49-F238E27FC236}">
                    <a16:creationId xmlns:a16="http://schemas.microsoft.com/office/drawing/2014/main" id="{5E91AA7D-5B9A-9CC7-F7A9-BCE008940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00" y="3662650"/>
                <a:ext cx="493070" cy="379463"/>
              </a:xfrm>
              <a:prstGeom prst="rect">
                <a:avLst/>
              </a:prstGeom>
              <a:blipFill>
                <a:blip r:embed="rId7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feld 85">
                <a:extLst>
                  <a:ext uri="{FF2B5EF4-FFF2-40B4-BE49-F238E27FC236}">
                    <a16:creationId xmlns:a16="http://schemas.microsoft.com/office/drawing/2014/main" id="{443AB6E0-10AB-E2CE-5FEE-B806031AC94F}"/>
                  </a:ext>
                </a:extLst>
              </p:cNvPr>
              <p:cNvSpPr txBox="1"/>
              <p:nvPr/>
            </p:nvSpPr>
            <p:spPr>
              <a:xfrm>
                <a:off x="5858298" y="3800785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55" name="Textfeld 85">
                <a:extLst>
                  <a:ext uri="{FF2B5EF4-FFF2-40B4-BE49-F238E27FC236}">
                    <a16:creationId xmlns:a16="http://schemas.microsoft.com/office/drawing/2014/main" id="{443AB6E0-10AB-E2CE-5FEE-B806031AC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298" y="3800785"/>
                <a:ext cx="493070" cy="383054"/>
              </a:xfrm>
              <a:prstGeom prst="rect">
                <a:avLst/>
              </a:prstGeom>
              <a:blipFill>
                <a:blip r:embed="rId8"/>
                <a:stretch>
                  <a:fillRect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feld 85">
                <a:extLst>
                  <a:ext uri="{FF2B5EF4-FFF2-40B4-BE49-F238E27FC236}">
                    <a16:creationId xmlns:a16="http://schemas.microsoft.com/office/drawing/2014/main" id="{79310954-CBDB-211A-48D8-E16D39977D9B}"/>
                  </a:ext>
                </a:extLst>
              </p:cNvPr>
              <p:cNvSpPr txBox="1"/>
              <p:nvPr/>
            </p:nvSpPr>
            <p:spPr>
              <a:xfrm>
                <a:off x="6663452" y="4283733"/>
                <a:ext cx="493070" cy="378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56" name="Textfeld 85">
                <a:extLst>
                  <a:ext uri="{FF2B5EF4-FFF2-40B4-BE49-F238E27FC236}">
                    <a16:creationId xmlns:a16="http://schemas.microsoft.com/office/drawing/2014/main" id="{79310954-CBDB-211A-48D8-E16D39977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52" y="4283733"/>
                <a:ext cx="493070" cy="378565"/>
              </a:xfrm>
              <a:prstGeom prst="rect">
                <a:avLst/>
              </a:prstGeom>
              <a:blipFill>
                <a:blip r:embed="rId9"/>
                <a:stretch>
                  <a:fillRect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feld 85">
                <a:extLst>
                  <a:ext uri="{FF2B5EF4-FFF2-40B4-BE49-F238E27FC236}">
                    <a16:creationId xmlns:a16="http://schemas.microsoft.com/office/drawing/2014/main" id="{C0678167-84F7-0853-A502-31CB6E41B47B}"/>
                  </a:ext>
                </a:extLst>
              </p:cNvPr>
              <p:cNvSpPr txBox="1"/>
              <p:nvPr/>
            </p:nvSpPr>
            <p:spPr>
              <a:xfrm>
                <a:off x="7922619" y="3645815"/>
                <a:ext cx="493070" cy="379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57" name="Textfeld 85">
                <a:extLst>
                  <a:ext uri="{FF2B5EF4-FFF2-40B4-BE49-F238E27FC236}">
                    <a16:creationId xmlns:a16="http://schemas.microsoft.com/office/drawing/2014/main" id="{C0678167-84F7-0853-A502-31CB6E41B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619" y="3645815"/>
                <a:ext cx="493070" cy="379271"/>
              </a:xfrm>
              <a:prstGeom prst="rect">
                <a:avLst/>
              </a:prstGeom>
              <a:blipFill>
                <a:blip r:embed="rId10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feld 85">
                <a:extLst>
                  <a:ext uri="{FF2B5EF4-FFF2-40B4-BE49-F238E27FC236}">
                    <a16:creationId xmlns:a16="http://schemas.microsoft.com/office/drawing/2014/main" id="{3E77907E-9775-FBB3-BF66-7D9AFC185B0A}"/>
                  </a:ext>
                </a:extLst>
              </p:cNvPr>
              <p:cNvSpPr txBox="1"/>
              <p:nvPr/>
            </p:nvSpPr>
            <p:spPr>
              <a:xfrm>
                <a:off x="8672627" y="3642032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158" name="Textfeld 85">
                <a:extLst>
                  <a:ext uri="{FF2B5EF4-FFF2-40B4-BE49-F238E27FC236}">
                    <a16:creationId xmlns:a16="http://schemas.microsoft.com/office/drawing/2014/main" id="{3E77907E-9775-FBB3-BF66-7D9AFC185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627" y="3642032"/>
                <a:ext cx="493070" cy="383054"/>
              </a:xfrm>
              <a:prstGeom prst="rect">
                <a:avLst/>
              </a:prstGeom>
              <a:blipFill>
                <a:blip r:embed="rId11"/>
                <a:stretch>
                  <a:fillRect l="-1235"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7C37FD3-4BEB-9854-DC6D-6ECC22442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55" name="Title 54">
            <a:extLst>
              <a:ext uri="{FF2B5EF4-FFF2-40B4-BE49-F238E27FC236}">
                <a16:creationId xmlns:a16="http://schemas.microsoft.com/office/drawing/2014/main" id="{85F24D6C-0A8B-7C91-AFD3-FC7FCEFF5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Optimization Model</a:t>
            </a:r>
            <a:endParaRPr lang="de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41B515-F714-2011-A209-30A3648936EE}"/>
              </a:ext>
            </a:extLst>
          </p:cNvPr>
          <p:cNvSpPr txBox="1"/>
          <p:nvPr/>
        </p:nvSpPr>
        <p:spPr>
          <a:xfrm>
            <a:off x="4668452" y="4956315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>
                <a:latin typeface="+mn-lt"/>
              </a:rPr>
              <a:t>C</a:t>
            </a:r>
            <a:endParaRPr lang="en-DE" sz="1200" b="1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5E366-8636-0C48-B7B1-A1515BE008AE}"/>
              </a:ext>
            </a:extLst>
          </p:cNvPr>
          <p:cNvSpPr txBox="1"/>
          <p:nvPr/>
        </p:nvSpPr>
        <p:spPr>
          <a:xfrm>
            <a:off x="7215829" y="4944107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>
                <a:latin typeface="+mn-lt"/>
              </a:rPr>
              <a:t>D</a:t>
            </a:r>
            <a:endParaRPr lang="en-DE" sz="1600" b="1">
              <a:latin typeface="+mn-lt"/>
            </a:endParaRP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982FAFC-05B6-73A8-F721-77A8869DD398}"/>
              </a:ext>
            </a:extLst>
          </p:cNvPr>
          <p:cNvCxnSpPr>
            <a:cxnSpLocks/>
          </p:cNvCxnSpPr>
          <p:nvPr/>
        </p:nvCxnSpPr>
        <p:spPr>
          <a:xfrm>
            <a:off x="3481429" y="3253842"/>
            <a:ext cx="728864" cy="25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FCCF61A-359A-B24B-DC1B-225421D545CB}"/>
              </a:ext>
            </a:extLst>
          </p:cNvPr>
          <p:cNvGrpSpPr/>
          <p:nvPr/>
        </p:nvGrpSpPr>
        <p:grpSpPr>
          <a:xfrm>
            <a:off x="8214662" y="3046430"/>
            <a:ext cx="928896" cy="458480"/>
            <a:chOff x="8214662" y="3046430"/>
            <a:chExt cx="928896" cy="4584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feld 67">
                  <a:extLst>
                    <a:ext uri="{FF2B5EF4-FFF2-40B4-BE49-F238E27FC236}">
                      <a16:creationId xmlns:a16="http://schemas.microsoft.com/office/drawing/2014/main" id="{27186767-DA8A-4764-857B-7567648207FF}"/>
                    </a:ext>
                  </a:extLst>
                </p:cNvPr>
                <p:cNvSpPr txBox="1"/>
                <p:nvPr/>
              </p:nvSpPr>
              <p:spPr>
                <a:xfrm>
                  <a:off x="8650488" y="3046430"/>
                  <a:ext cx="493070" cy="3792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2" name="Textfeld 67">
                  <a:extLst>
                    <a:ext uri="{FF2B5EF4-FFF2-40B4-BE49-F238E27FC236}">
                      <a16:creationId xmlns:a16="http://schemas.microsoft.com/office/drawing/2014/main" id="{27186767-DA8A-4764-857B-756764820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0488" y="3046430"/>
                  <a:ext cx="493070" cy="379271"/>
                </a:xfrm>
                <a:prstGeom prst="rect">
                  <a:avLst/>
                </a:prstGeom>
                <a:blipFill>
                  <a:blip r:embed="rId12"/>
                  <a:stretch>
                    <a:fillRect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Straight Connector 63">
              <a:extLst>
                <a:ext uri="{FF2B5EF4-FFF2-40B4-BE49-F238E27FC236}">
                  <a16:creationId xmlns:a16="http://schemas.microsoft.com/office/drawing/2014/main" id="{DE6DA3E0-93AA-0B58-A476-3F788791C5D8}"/>
                </a:ext>
              </a:extLst>
            </p:cNvPr>
            <p:cNvCxnSpPr>
              <a:cxnSpLocks/>
            </p:cNvCxnSpPr>
            <p:nvPr/>
          </p:nvCxnSpPr>
          <p:spPr>
            <a:xfrm>
              <a:off x="8214662" y="3504910"/>
              <a:ext cx="590899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F59B8F2-52AE-74AF-EDD4-F0E2EEDCB6A9}"/>
              </a:ext>
            </a:extLst>
          </p:cNvPr>
          <p:cNvCxnSpPr>
            <a:cxnSpLocks/>
          </p:cNvCxnSpPr>
          <p:nvPr/>
        </p:nvCxnSpPr>
        <p:spPr>
          <a:xfrm>
            <a:off x="8214662" y="3546032"/>
            <a:ext cx="5911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F20FC75-0C68-3724-ADBA-4F1F822E293B}"/>
              </a:ext>
            </a:extLst>
          </p:cNvPr>
          <p:cNvGrpSpPr/>
          <p:nvPr/>
        </p:nvGrpSpPr>
        <p:grpSpPr>
          <a:xfrm>
            <a:off x="4407879" y="3190739"/>
            <a:ext cx="1605034" cy="341928"/>
            <a:chOff x="4407879" y="3190739"/>
            <a:chExt cx="1605034" cy="341928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6E3364A-B182-B934-0830-0F9365E2AE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5552CAA8-1FB5-4F73-D265-2DADD6E1F9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701C2CA-5D4B-153D-5BD9-141DD730FE49}"/>
              </a:ext>
            </a:extLst>
          </p:cNvPr>
          <p:cNvGrpSpPr/>
          <p:nvPr/>
        </p:nvGrpSpPr>
        <p:grpSpPr>
          <a:xfrm>
            <a:off x="6985371" y="3590313"/>
            <a:ext cx="985075" cy="492128"/>
            <a:chOff x="6985371" y="3590313"/>
            <a:chExt cx="985075" cy="49212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317E1DB-6F2F-5DFB-4493-5B7219E3E9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512" y="3594244"/>
              <a:ext cx="968804" cy="4809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61D571B-609C-D669-C8EE-897428C12C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371" y="3590313"/>
              <a:ext cx="985075" cy="4921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50451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C980CD9-0DFF-70CF-CE67-DBC20D3765F6}"/>
              </a:ext>
            </a:extLst>
          </p:cNvPr>
          <p:cNvGrpSpPr/>
          <p:nvPr/>
        </p:nvGrpSpPr>
        <p:grpSpPr>
          <a:xfrm>
            <a:off x="3209313" y="2748853"/>
            <a:ext cx="1014046" cy="728335"/>
            <a:chOff x="3209313" y="2748853"/>
            <a:chExt cx="1014046" cy="728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Textfeld 67">
                  <a:extLst>
                    <a:ext uri="{FF2B5EF4-FFF2-40B4-BE49-F238E27FC236}">
                      <a16:creationId xmlns:a16="http://schemas.microsoft.com/office/drawing/2014/main" id="{86ADFB8A-67CC-87E7-2BD9-26D60FB52D86}"/>
                    </a:ext>
                  </a:extLst>
                </p:cNvPr>
                <p:cNvSpPr txBox="1"/>
                <p:nvPr/>
              </p:nvSpPr>
              <p:spPr>
                <a:xfrm>
                  <a:off x="3209313" y="2748853"/>
                  <a:ext cx="493070" cy="3830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6" name="Textfeld 67">
                  <a:extLst>
                    <a:ext uri="{FF2B5EF4-FFF2-40B4-BE49-F238E27FC236}">
                      <a16:creationId xmlns:a16="http://schemas.microsoft.com/office/drawing/2014/main" id="{86ADFB8A-67CC-87E7-2BD9-26D60FB52D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9313" y="2748853"/>
                  <a:ext cx="493070" cy="383054"/>
                </a:xfrm>
                <a:prstGeom prst="rect">
                  <a:avLst/>
                </a:prstGeom>
                <a:blipFill>
                  <a:blip r:embed="rId13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Straight Connector 63">
              <a:extLst>
                <a:ext uri="{FF2B5EF4-FFF2-40B4-BE49-F238E27FC236}">
                  <a16:creationId xmlns:a16="http://schemas.microsoft.com/office/drawing/2014/main" id="{D19181EC-AC5B-45E2-DE8A-86C96F6E174F}"/>
                </a:ext>
              </a:extLst>
            </p:cNvPr>
            <p:cNvCxnSpPr>
              <a:cxnSpLocks/>
            </p:cNvCxnSpPr>
            <p:nvPr/>
          </p:nvCxnSpPr>
          <p:spPr>
            <a:xfrm>
              <a:off x="3500313" y="3210121"/>
              <a:ext cx="723046" cy="2670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94F0E561-2B6E-1EDC-547E-7ADE70A01E94}"/>
              </a:ext>
            </a:extLst>
          </p:cNvPr>
          <p:cNvGrpSpPr/>
          <p:nvPr/>
        </p:nvGrpSpPr>
        <p:grpSpPr>
          <a:xfrm>
            <a:off x="6627095" y="3633749"/>
            <a:ext cx="493070" cy="538540"/>
            <a:chOff x="6627095" y="3633749"/>
            <a:chExt cx="493070" cy="538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feld 67">
                  <a:extLst>
                    <a:ext uri="{FF2B5EF4-FFF2-40B4-BE49-F238E27FC236}">
                      <a16:creationId xmlns:a16="http://schemas.microsoft.com/office/drawing/2014/main" id="{CDCD29B8-B0D2-FB90-FA1C-9C871903883B}"/>
                    </a:ext>
                  </a:extLst>
                </p:cNvPr>
                <p:cNvSpPr txBox="1"/>
                <p:nvPr/>
              </p:nvSpPr>
              <p:spPr>
                <a:xfrm>
                  <a:off x="6627095" y="3633749"/>
                  <a:ext cx="493070" cy="3830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0" name="Textfeld 67">
                  <a:extLst>
                    <a:ext uri="{FF2B5EF4-FFF2-40B4-BE49-F238E27FC236}">
                      <a16:creationId xmlns:a16="http://schemas.microsoft.com/office/drawing/2014/main" id="{CDCD29B8-B0D2-FB90-FA1C-9C8719038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95" y="3633749"/>
                  <a:ext cx="493070" cy="383054"/>
                </a:xfrm>
                <a:prstGeom prst="rect">
                  <a:avLst/>
                </a:prstGeom>
                <a:blipFill>
                  <a:blip r:embed="rId14"/>
                  <a:stretch>
                    <a:fillRect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1193558-E5B9-A301-F272-22E382717911}"/>
                </a:ext>
              </a:extLst>
            </p:cNvPr>
            <p:cNvSpPr/>
            <p:nvPr/>
          </p:nvSpPr>
          <p:spPr>
            <a:xfrm>
              <a:off x="6837323" y="40638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0982E5D-E9BD-FF40-3288-B3369AFE4203}"/>
              </a:ext>
            </a:extLst>
          </p:cNvPr>
          <p:cNvGrpSpPr/>
          <p:nvPr/>
        </p:nvGrpSpPr>
        <p:grpSpPr>
          <a:xfrm>
            <a:off x="4129059" y="3110726"/>
            <a:ext cx="493070" cy="502608"/>
            <a:chOff x="4129059" y="3110726"/>
            <a:chExt cx="493070" cy="502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feld 67">
                  <a:extLst>
                    <a:ext uri="{FF2B5EF4-FFF2-40B4-BE49-F238E27FC236}">
                      <a16:creationId xmlns:a16="http://schemas.microsoft.com/office/drawing/2014/main" id="{526A5927-8AD6-3650-7D71-56DE4466A79B}"/>
                    </a:ext>
                  </a:extLst>
                </p:cNvPr>
                <p:cNvSpPr txBox="1"/>
                <p:nvPr/>
              </p:nvSpPr>
              <p:spPr>
                <a:xfrm>
                  <a:off x="4129059" y="3110726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8" name="Textfeld 67">
                  <a:extLst>
                    <a:ext uri="{FF2B5EF4-FFF2-40B4-BE49-F238E27FC236}">
                      <a16:creationId xmlns:a16="http://schemas.microsoft.com/office/drawing/2014/main" id="{526A5927-8AD6-3650-7D71-56DE4466A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9059" y="3110726"/>
                  <a:ext cx="493070" cy="379463"/>
                </a:xfrm>
                <a:prstGeom prst="rect">
                  <a:avLst/>
                </a:prstGeom>
                <a:blipFill>
                  <a:blip r:embed="rId15"/>
                  <a:stretch>
                    <a:fillRect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B8E7CB33-2174-B926-138E-A0163D971223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091E627-5500-4E34-07DA-CFD9A39A8A96}"/>
              </a:ext>
            </a:extLst>
          </p:cNvPr>
          <p:cNvGrpSpPr/>
          <p:nvPr/>
        </p:nvGrpSpPr>
        <p:grpSpPr>
          <a:xfrm>
            <a:off x="3353545" y="3191501"/>
            <a:ext cx="379848" cy="553042"/>
            <a:chOff x="3353545" y="3191501"/>
            <a:chExt cx="379848" cy="553042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1DA5732-984E-1BD1-4AC8-D338EA13B5F9}"/>
                </a:ext>
              </a:extLst>
            </p:cNvPr>
            <p:cNvSpPr txBox="1"/>
            <p:nvPr/>
          </p:nvSpPr>
          <p:spPr>
            <a:xfrm>
              <a:off x="3580386" y="3422980"/>
              <a:ext cx="153007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 b="1">
                  <a:latin typeface="+mn-lt"/>
                </a:rPr>
                <a:t>A</a:t>
              </a:r>
              <a:endParaRPr lang="en-DE" sz="1200" b="1">
                <a:latin typeface="+mn-lt"/>
              </a:endParaRPr>
            </a:p>
          </p:txBody>
        </p:sp>
        <p:sp>
          <p:nvSpPr>
            <p:cNvPr id="89" name="Oval 64">
              <a:extLst>
                <a:ext uri="{FF2B5EF4-FFF2-40B4-BE49-F238E27FC236}">
                  <a16:creationId xmlns:a16="http://schemas.microsoft.com/office/drawing/2014/main" id="{8D380846-BFEB-C9B7-4B09-874D48458313}"/>
                </a:ext>
              </a:extLst>
            </p:cNvPr>
            <p:cNvSpPr/>
            <p:nvPr/>
          </p:nvSpPr>
          <p:spPr>
            <a:xfrm>
              <a:off x="3353545" y="319150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4C65F3A-300C-C962-7260-96091CB86C0C}"/>
              </a:ext>
            </a:extLst>
          </p:cNvPr>
          <p:cNvGrpSpPr/>
          <p:nvPr/>
        </p:nvGrpSpPr>
        <p:grpSpPr>
          <a:xfrm>
            <a:off x="7854242" y="3046430"/>
            <a:ext cx="493070" cy="553815"/>
            <a:chOff x="7854242" y="3046430"/>
            <a:chExt cx="493070" cy="553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feld 67">
                  <a:extLst>
                    <a:ext uri="{FF2B5EF4-FFF2-40B4-BE49-F238E27FC236}">
                      <a16:creationId xmlns:a16="http://schemas.microsoft.com/office/drawing/2014/main" id="{5430C9B9-8862-3989-457A-91D72F84D9C2}"/>
                    </a:ext>
                  </a:extLst>
                </p:cNvPr>
                <p:cNvSpPr txBox="1"/>
                <p:nvPr/>
              </p:nvSpPr>
              <p:spPr>
                <a:xfrm>
                  <a:off x="7854242" y="3046430"/>
                  <a:ext cx="493070" cy="3785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51" name="Textfeld 67">
                  <a:extLst>
                    <a:ext uri="{FF2B5EF4-FFF2-40B4-BE49-F238E27FC236}">
                      <a16:creationId xmlns:a16="http://schemas.microsoft.com/office/drawing/2014/main" id="{5430C9B9-8862-3989-457A-91D72F84D9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242" y="3046430"/>
                  <a:ext cx="493070" cy="378565"/>
                </a:xfrm>
                <a:prstGeom prst="rect">
                  <a:avLst/>
                </a:prstGeom>
                <a:blipFill>
                  <a:blip r:embed="rId16"/>
                  <a:stretch>
                    <a:fillRect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25EC28A8-6AB1-4494-58F1-F1F2CF061955}"/>
                </a:ext>
              </a:extLst>
            </p:cNvPr>
            <p:cNvSpPr/>
            <p:nvPr/>
          </p:nvSpPr>
          <p:spPr>
            <a:xfrm>
              <a:off x="8061650" y="349182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CA8C640-5DA4-DB30-2088-820B30915022}"/>
              </a:ext>
            </a:extLst>
          </p:cNvPr>
          <p:cNvGrpSpPr/>
          <p:nvPr/>
        </p:nvGrpSpPr>
        <p:grpSpPr>
          <a:xfrm>
            <a:off x="8433716" y="3485937"/>
            <a:ext cx="539446" cy="449582"/>
            <a:chOff x="8433716" y="3485937"/>
            <a:chExt cx="539446" cy="44958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596C8F6-8BEA-069E-86C3-E3AF13BE9A79}"/>
                </a:ext>
              </a:extLst>
            </p:cNvPr>
            <p:cNvSpPr txBox="1"/>
            <p:nvPr/>
          </p:nvSpPr>
          <p:spPr>
            <a:xfrm>
              <a:off x="8433716" y="3613956"/>
              <a:ext cx="153007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 b="1">
                  <a:latin typeface="+mn-lt"/>
                </a:rPr>
                <a:t>B</a:t>
              </a:r>
              <a:endParaRPr lang="en-DE" sz="1600" b="1">
                <a:latin typeface="+mn-lt"/>
              </a:endParaRPr>
            </a:p>
          </p:txBody>
        </p:sp>
        <p:sp>
          <p:nvSpPr>
            <p:cNvPr id="90" name="Oval 64">
              <a:extLst>
                <a:ext uri="{FF2B5EF4-FFF2-40B4-BE49-F238E27FC236}">
                  <a16:creationId xmlns:a16="http://schemas.microsoft.com/office/drawing/2014/main" id="{DBD689F2-0E77-07F6-C4C9-B3505195795A}"/>
                </a:ext>
              </a:extLst>
            </p:cNvPr>
            <p:cNvSpPr/>
            <p:nvPr/>
          </p:nvSpPr>
          <p:spPr>
            <a:xfrm>
              <a:off x="8865162" y="34859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DFC0AA8D-CB02-B0FC-971E-721191A457CA}"/>
              </a:ext>
            </a:extLst>
          </p:cNvPr>
          <p:cNvGrpSpPr/>
          <p:nvPr/>
        </p:nvGrpSpPr>
        <p:grpSpPr>
          <a:xfrm>
            <a:off x="5849465" y="2683405"/>
            <a:ext cx="493070" cy="544771"/>
            <a:chOff x="5849465" y="2683405"/>
            <a:chExt cx="493070" cy="544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feld 67">
                  <a:extLst>
                    <a:ext uri="{FF2B5EF4-FFF2-40B4-BE49-F238E27FC236}">
                      <a16:creationId xmlns:a16="http://schemas.microsoft.com/office/drawing/2014/main" id="{CE4D84CE-15B5-CC4F-AC9A-D40D0054D2C6}"/>
                    </a:ext>
                  </a:extLst>
                </p:cNvPr>
                <p:cNvSpPr txBox="1"/>
                <p:nvPr/>
              </p:nvSpPr>
              <p:spPr>
                <a:xfrm>
                  <a:off x="5849465" y="2683405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Arial (Body)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Arial (Body)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Arial (Body)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49" name="Textfeld 67">
                  <a:extLst>
                    <a:ext uri="{FF2B5EF4-FFF2-40B4-BE49-F238E27FC236}">
                      <a16:creationId xmlns:a16="http://schemas.microsoft.com/office/drawing/2014/main" id="{CE4D84CE-15B5-CC4F-AC9A-D40D0054D2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465" y="2683405"/>
                  <a:ext cx="493070" cy="379463"/>
                </a:xfrm>
                <a:prstGeom prst="rect">
                  <a:avLst/>
                </a:prstGeom>
                <a:blipFill>
                  <a:blip r:embed="rId17"/>
                  <a:stretch>
                    <a:fillRect l="-125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2FE3154F-8A39-8A8E-2229-E5778E51B9AB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B339291-FD99-2E56-606E-A2265C946EAE}"/>
              </a:ext>
            </a:extLst>
          </p:cNvPr>
          <p:cNvGrpSpPr/>
          <p:nvPr/>
        </p:nvGrpSpPr>
        <p:grpSpPr>
          <a:xfrm>
            <a:off x="6159681" y="3253842"/>
            <a:ext cx="677642" cy="798622"/>
            <a:chOff x="6159681" y="3253842"/>
            <a:chExt cx="677642" cy="798622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D785179-98EA-9F05-B5DF-F94D4AD756C5}"/>
                </a:ext>
              </a:extLst>
            </p:cNvPr>
            <p:cNvCxnSpPr>
              <a:cxnSpLocks/>
            </p:cNvCxnSpPr>
            <p:nvPr/>
          </p:nvCxnSpPr>
          <p:spPr>
            <a:xfrm>
              <a:off x="6159681" y="3253842"/>
              <a:ext cx="677642" cy="7986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3CA7FB4-83E7-69CD-1A67-379FEE8317CA}"/>
                </a:ext>
              </a:extLst>
            </p:cNvPr>
            <p:cNvCxnSpPr>
              <a:cxnSpLocks/>
            </p:cNvCxnSpPr>
            <p:nvPr/>
          </p:nvCxnSpPr>
          <p:spPr>
            <a:xfrm>
              <a:off x="6160777" y="3253842"/>
              <a:ext cx="676546" cy="79862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673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23</a:t>
            </a:fld>
            <a:endParaRPr lang="de-DE"/>
          </a:p>
        </p:txBody>
      </p:sp>
      <p:pic>
        <p:nvPicPr>
          <p:cNvPr id="89" name="Graphic 65" descr="Toy Train with solid fill">
            <a:extLst>
              <a:ext uri="{FF2B5EF4-FFF2-40B4-BE49-F238E27FC236}">
                <a16:creationId xmlns:a16="http://schemas.microsoft.com/office/drawing/2014/main" id="{A7CF9FB9-11CB-F758-EC6E-AC863B6E7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24489" y="4777212"/>
            <a:ext cx="481847" cy="517170"/>
          </a:xfrm>
          <a:prstGeom prst="rect">
            <a:avLst/>
          </a:prstGeom>
        </p:spPr>
      </p:pic>
      <p:cxnSp>
        <p:nvCxnSpPr>
          <p:cNvPr id="61" name="Straight Connector 48">
            <a:extLst>
              <a:ext uri="{FF2B5EF4-FFF2-40B4-BE49-F238E27FC236}">
                <a16:creationId xmlns:a16="http://schemas.microsoft.com/office/drawing/2014/main" id="{94F051B2-D61F-DADC-52A6-1E330E649C9C}"/>
              </a:ext>
            </a:extLst>
          </p:cNvPr>
          <p:cNvCxnSpPr>
            <a:cxnSpLocks/>
          </p:cNvCxnSpPr>
          <p:nvPr/>
        </p:nvCxnSpPr>
        <p:spPr>
          <a:xfrm>
            <a:off x="8689654" y="5313560"/>
            <a:ext cx="780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D26729F-E550-B309-7E76-A69B06F72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E0F46D4-FEE8-7E0B-0957-24387B600E55}"/>
              </a:ext>
            </a:extLst>
          </p:cNvPr>
          <p:cNvGrpSpPr/>
          <p:nvPr/>
        </p:nvGrpSpPr>
        <p:grpSpPr>
          <a:xfrm>
            <a:off x="10019814" y="304811"/>
            <a:ext cx="1740401" cy="527668"/>
            <a:chOff x="4282753" y="2992759"/>
            <a:chExt cx="2730986" cy="8280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E7FADAF-F49F-2352-BA33-8787B407D4C2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1" name="Flowchart: Stored Data 92">
                <a:extLst>
                  <a:ext uri="{FF2B5EF4-FFF2-40B4-BE49-F238E27FC236}">
                    <a16:creationId xmlns:a16="http://schemas.microsoft.com/office/drawing/2014/main" id="{EDEBD579-715A-10E5-71E9-FCD40D76EAC0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5BFBBF-2628-3884-C372-1A3C26B9D80D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Preprocessing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686904-F5E4-DA75-90E4-373AF6539287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D4A243A-F539-3291-F644-9EA77255B861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A1738B1-70F6-DA71-562D-5AB7C3BFB0B3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13" name="Down Arrow 66">
            <a:extLst>
              <a:ext uri="{FF2B5EF4-FFF2-40B4-BE49-F238E27FC236}">
                <a16:creationId xmlns:a16="http://schemas.microsoft.com/office/drawing/2014/main" id="{CD71FCDB-BCD0-C16A-8731-650462948A41}"/>
              </a:ext>
            </a:extLst>
          </p:cNvPr>
          <p:cNvSpPr/>
          <p:nvPr/>
        </p:nvSpPr>
        <p:spPr>
          <a:xfrm>
            <a:off x="1075780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8212A9-6158-B8DA-D024-D5BB81929596}"/>
              </a:ext>
            </a:extLst>
          </p:cNvPr>
          <p:cNvGrpSpPr/>
          <p:nvPr/>
        </p:nvGrpSpPr>
        <p:grpSpPr>
          <a:xfrm>
            <a:off x="10019814" y="1039520"/>
            <a:ext cx="1740401" cy="527668"/>
            <a:chOff x="4282753" y="2992759"/>
            <a:chExt cx="2730986" cy="8280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95A195F-EA7E-8B58-CBD9-9F869CBC34AF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9" name="Flowchart: Stored Data 92">
                <a:extLst>
                  <a:ext uri="{FF2B5EF4-FFF2-40B4-BE49-F238E27FC236}">
                    <a16:creationId xmlns:a16="http://schemas.microsoft.com/office/drawing/2014/main" id="{8A412E1E-A524-8CD2-ACEA-3D63570C1BB4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FD3C419-8D3F-B031-49DE-D1315AD941D7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/>
                  <a:t>Modeling</a:t>
                </a:r>
                <a:endParaRPr lang="en-DE" sz="10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E61B8EB-4800-5C35-61D9-F2E394FC56A0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F178D3A-7AD7-1969-3A10-9DC796CE24DE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BEC75B-F433-A442-7F6C-6106618998FF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45" name="Down Arrow 66">
            <a:extLst>
              <a:ext uri="{FF2B5EF4-FFF2-40B4-BE49-F238E27FC236}">
                <a16:creationId xmlns:a16="http://schemas.microsoft.com/office/drawing/2014/main" id="{FCD4A81B-F730-081E-A6CE-31BF85AE90F7}"/>
              </a:ext>
            </a:extLst>
          </p:cNvPr>
          <p:cNvSpPr/>
          <p:nvPr/>
        </p:nvSpPr>
        <p:spPr>
          <a:xfrm>
            <a:off x="1075780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B20E1A1-2AAC-A517-173A-118ACAEBF684}"/>
              </a:ext>
            </a:extLst>
          </p:cNvPr>
          <p:cNvGrpSpPr/>
          <p:nvPr/>
        </p:nvGrpSpPr>
        <p:grpSpPr>
          <a:xfrm>
            <a:off x="10019814" y="1774229"/>
            <a:ext cx="1740401" cy="527668"/>
            <a:chOff x="4282753" y="2992759"/>
            <a:chExt cx="2730986" cy="82800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A4117F6D-09DE-5607-A2F6-DDCF8CB6B441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58" name="Flowchart: Stored Data 92">
                <a:extLst>
                  <a:ext uri="{FF2B5EF4-FFF2-40B4-BE49-F238E27FC236}">
                    <a16:creationId xmlns:a16="http://schemas.microsoft.com/office/drawing/2014/main" id="{AC3686B8-582C-953D-A4FD-7F29173FCEDD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06D7BE9-71F2-E157-327F-9DF1173E93EC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Solving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AFA7BF7-95E9-6B3F-1B91-E9F5808030C8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62308D2-A8D9-8301-F40B-31169EA71717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3526201-41AD-B9AA-505A-8CBD869D7D51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64" name="Title 63">
            <a:extLst>
              <a:ext uri="{FF2B5EF4-FFF2-40B4-BE49-F238E27FC236}">
                <a16:creationId xmlns:a16="http://schemas.microsoft.com/office/drawing/2014/main" id="{6DA5BEEB-AB2F-1333-BC7E-20CDB7E3F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Optimization Model</a:t>
            </a:r>
            <a:endParaRPr lang="de-DE"/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2ABDE63-5AD2-33A8-D5AF-586218B7448B}"/>
              </a:ext>
            </a:extLst>
          </p:cNvPr>
          <p:cNvGrpSpPr/>
          <p:nvPr/>
        </p:nvGrpSpPr>
        <p:grpSpPr>
          <a:xfrm>
            <a:off x="1219786" y="2562636"/>
            <a:ext cx="1587500" cy="2681604"/>
            <a:chOff x="1097418" y="2513547"/>
            <a:chExt cx="1587500" cy="2681604"/>
          </a:xfrm>
        </p:grpSpPr>
        <p:cxnSp>
          <p:nvCxnSpPr>
            <p:cNvPr id="323" name="Gerade Verbindung mit Pfeil 322"/>
            <p:cNvCxnSpPr>
              <a:cxnSpLocks/>
              <a:stCxn id="223" idx="2"/>
            </p:cNvCxnSpPr>
            <p:nvPr/>
          </p:nvCxnSpPr>
          <p:spPr>
            <a:xfrm>
              <a:off x="1891169" y="3622910"/>
              <a:ext cx="96713" cy="1572241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EDCBE066-D06C-80A1-B997-5C73C0D707B5}"/>
                </a:ext>
              </a:extLst>
            </p:cNvPr>
            <p:cNvGrpSpPr/>
            <p:nvPr/>
          </p:nvGrpSpPr>
          <p:grpSpPr>
            <a:xfrm>
              <a:off x="1097418" y="2513547"/>
              <a:ext cx="1587500" cy="1109363"/>
              <a:chOff x="1097418" y="2513547"/>
              <a:chExt cx="1587500" cy="1109363"/>
            </a:xfrm>
          </p:grpSpPr>
          <p:sp>
            <p:nvSpPr>
              <p:cNvPr id="223" name="Abgerundetes Rechteck 251">
                <a:extLst>
                  <a:ext uri="{FF2B5EF4-FFF2-40B4-BE49-F238E27FC236}">
                    <a16:creationId xmlns:a16="http://schemas.microsoft.com/office/drawing/2014/main" id="{A3B633D8-B5CE-FB70-451A-42249E29D548}"/>
                  </a:ext>
                </a:extLst>
              </p:cNvPr>
              <p:cNvSpPr/>
              <p:nvPr/>
            </p:nvSpPr>
            <p:spPr>
              <a:xfrm>
                <a:off x="1118603" y="2513547"/>
                <a:ext cx="1545131" cy="110936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de-DE"/>
              </a:p>
            </p:txBody>
          </p:sp>
          <p:pic>
            <p:nvPicPr>
              <p:cNvPr id="239" name="Picture 238">
                <a:extLst>
                  <a:ext uri="{FF2B5EF4-FFF2-40B4-BE49-F238E27FC236}">
                    <a16:creationId xmlns:a16="http://schemas.microsoft.com/office/drawing/2014/main" id="{ED099920-FE1D-613B-FA93-F2DEDAF77E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7418" y="2579278"/>
                <a:ext cx="1587500" cy="977900"/>
              </a:xfrm>
              <a:prstGeom prst="rect">
                <a:avLst/>
              </a:prstGeom>
            </p:spPr>
          </p:pic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21423997-7D9E-D2E4-7448-2B819218BA3A}"/>
              </a:ext>
            </a:extLst>
          </p:cNvPr>
          <p:cNvGrpSpPr/>
          <p:nvPr/>
        </p:nvGrpSpPr>
        <p:grpSpPr>
          <a:xfrm>
            <a:off x="2941380" y="2562636"/>
            <a:ext cx="1587500" cy="2711821"/>
            <a:chOff x="1097418" y="2513547"/>
            <a:chExt cx="1587500" cy="2711821"/>
          </a:xfrm>
        </p:grpSpPr>
        <p:cxnSp>
          <p:nvCxnSpPr>
            <p:cNvPr id="244" name="Gerade Verbindung mit Pfeil 322">
              <a:extLst>
                <a:ext uri="{FF2B5EF4-FFF2-40B4-BE49-F238E27FC236}">
                  <a16:creationId xmlns:a16="http://schemas.microsoft.com/office/drawing/2014/main" id="{E5607064-3AD2-D14D-9CC7-C635CC373648}"/>
                </a:ext>
              </a:extLst>
            </p:cNvPr>
            <p:cNvCxnSpPr>
              <a:cxnSpLocks/>
              <a:stCxn id="246" idx="2"/>
            </p:cNvCxnSpPr>
            <p:nvPr/>
          </p:nvCxnSpPr>
          <p:spPr>
            <a:xfrm>
              <a:off x="1891169" y="3622910"/>
              <a:ext cx="186026" cy="1602458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052E90EC-A336-6F34-6BC5-53B050EB4990}"/>
                </a:ext>
              </a:extLst>
            </p:cNvPr>
            <p:cNvGrpSpPr/>
            <p:nvPr/>
          </p:nvGrpSpPr>
          <p:grpSpPr>
            <a:xfrm>
              <a:off x="1097418" y="2513547"/>
              <a:ext cx="1587500" cy="1109363"/>
              <a:chOff x="1097418" y="2513547"/>
              <a:chExt cx="1587500" cy="1109363"/>
            </a:xfrm>
          </p:grpSpPr>
          <p:sp>
            <p:nvSpPr>
              <p:cNvPr id="246" name="Abgerundetes Rechteck 251">
                <a:extLst>
                  <a:ext uri="{FF2B5EF4-FFF2-40B4-BE49-F238E27FC236}">
                    <a16:creationId xmlns:a16="http://schemas.microsoft.com/office/drawing/2014/main" id="{F3F8A1A2-7B4B-745E-34F1-95660A33607F}"/>
                  </a:ext>
                </a:extLst>
              </p:cNvPr>
              <p:cNvSpPr/>
              <p:nvPr/>
            </p:nvSpPr>
            <p:spPr>
              <a:xfrm>
                <a:off x="1118603" y="2513547"/>
                <a:ext cx="1545131" cy="110936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de-DE"/>
              </a:p>
            </p:txBody>
          </p:sp>
          <p:pic>
            <p:nvPicPr>
              <p:cNvPr id="247" name="Picture 246">
                <a:extLst>
                  <a:ext uri="{FF2B5EF4-FFF2-40B4-BE49-F238E27FC236}">
                    <a16:creationId xmlns:a16="http://schemas.microsoft.com/office/drawing/2014/main" id="{F08136C1-C414-44FF-B12E-1113AB4E03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7418" y="2579278"/>
                <a:ext cx="1587500" cy="977900"/>
              </a:xfrm>
              <a:prstGeom prst="rect">
                <a:avLst/>
              </a:prstGeom>
            </p:spPr>
          </p:pic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7B016A7-8640-D7EE-7471-D76DC2A0A1F4}"/>
              </a:ext>
            </a:extLst>
          </p:cNvPr>
          <p:cNvGrpSpPr/>
          <p:nvPr/>
        </p:nvGrpSpPr>
        <p:grpSpPr>
          <a:xfrm>
            <a:off x="4662974" y="2562636"/>
            <a:ext cx="1587500" cy="2681516"/>
            <a:chOff x="1097418" y="2513547"/>
            <a:chExt cx="1587500" cy="2681516"/>
          </a:xfrm>
        </p:grpSpPr>
        <p:cxnSp>
          <p:nvCxnSpPr>
            <p:cNvPr id="250" name="Gerade Verbindung mit Pfeil 322">
              <a:extLst>
                <a:ext uri="{FF2B5EF4-FFF2-40B4-BE49-F238E27FC236}">
                  <a16:creationId xmlns:a16="http://schemas.microsoft.com/office/drawing/2014/main" id="{899915BF-FD8D-F431-49A5-D67386EFA4D6}"/>
                </a:ext>
              </a:extLst>
            </p:cNvPr>
            <p:cNvCxnSpPr>
              <a:cxnSpLocks/>
              <a:stCxn id="253" idx="2"/>
            </p:cNvCxnSpPr>
            <p:nvPr/>
          </p:nvCxnSpPr>
          <p:spPr>
            <a:xfrm>
              <a:off x="1891169" y="3622910"/>
              <a:ext cx="541594" cy="1572153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4DD51CA4-4192-C7B6-6044-8A287F8FDC6A}"/>
                </a:ext>
              </a:extLst>
            </p:cNvPr>
            <p:cNvGrpSpPr/>
            <p:nvPr/>
          </p:nvGrpSpPr>
          <p:grpSpPr>
            <a:xfrm>
              <a:off x="1097418" y="2513547"/>
              <a:ext cx="1587500" cy="1109363"/>
              <a:chOff x="1097418" y="2513547"/>
              <a:chExt cx="1587500" cy="1109363"/>
            </a:xfrm>
          </p:grpSpPr>
          <p:sp>
            <p:nvSpPr>
              <p:cNvPr id="253" name="Abgerundetes Rechteck 251">
                <a:extLst>
                  <a:ext uri="{FF2B5EF4-FFF2-40B4-BE49-F238E27FC236}">
                    <a16:creationId xmlns:a16="http://schemas.microsoft.com/office/drawing/2014/main" id="{157B75CB-61E7-77C1-D59C-94955D163298}"/>
                  </a:ext>
                </a:extLst>
              </p:cNvPr>
              <p:cNvSpPr/>
              <p:nvPr/>
            </p:nvSpPr>
            <p:spPr>
              <a:xfrm>
                <a:off x="1118603" y="2513547"/>
                <a:ext cx="1545131" cy="110936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de-DE"/>
              </a:p>
            </p:txBody>
          </p:sp>
          <p:pic>
            <p:nvPicPr>
              <p:cNvPr id="254" name="Picture 253">
                <a:extLst>
                  <a:ext uri="{FF2B5EF4-FFF2-40B4-BE49-F238E27FC236}">
                    <a16:creationId xmlns:a16="http://schemas.microsoft.com/office/drawing/2014/main" id="{802083D6-39D2-E23E-4DB9-05FF82A5E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7418" y="2579278"/>
                <a:ext cx="1587500" cy="977900"/>
              </a:xfrm>
              <a:prstGeom prst="rect">
                <a:avLst/>
              </a:prstGeom>
            </p:spPr>
          </p:pic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5C0921B9-DD23-B5B9-EBB6-BCD72706741D}"/>
              </a:ext>
            </a:extLst>
          </p:cNvPr>
          <p:cNvGrpSpPr/>
          <p:nvPr/>
        </p:nvGrpSpPr>
        <p:grpSpPr>
          <a:xfrm>
            <a:off x="6384568" y="2562636"/>
            <a:ext cx="1587500" cy="2711821"/>
            <a:chOff x="1097418" y="2513547"/>
            <a:chExt cx="1587500" cy="2711821"/>
          </a:xfrm>
        </p:grpSpPr>
        <p:cxnSp>
          <p:nvCxnSpPr>
            <p:cNvPr id="320" name="Gerade Verbindung mit Pfeil 322">
              <a:extLst>
                <a:ext uri="{FF2B5EF4-FFF2-40B4-BE49-F238E27FC236}">
                  <a16:creationId xmlns:a16="http://schemas.microsoft.com/office/drawing/2014/main" id="{F306AF0E-BBF7-7BE2-C7E6-A0100BD17E27}"/>
                </a:ext>
              </a:extLst>
            </p:cNvPr>
            <p:cNvCxnSpPr>
              <a:cxnSpLocks/>
              <a:stCxn id="322" idx="2"/>
            </p:cNvCxnSpPr>
            <p:nvPr/>
          </p:nvCxnSpPr>
          <p:spPr>
            <a:xfrm>
              <a:off x="1891169" y="3622910"/>
              <a:ext cx="488222" cy="1602458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8BB3EBD5-382B-2048-AC44-8B44345E03BF}"/>
                </a:ext>
              </a:extLst>
            </p:cNvPr>
            <p:cNvGrpSpPr/>
            <p:nvPr/>
          </p:nvGrpSpPr>
          <p:grpSpPr>
            <a:xfrm>
              <a:off x="1097418" y="2513547"/>
              <a:ext cx="1587500" cy="1109363"/>
              <a:chOff x="1097418" y="2513547"/>
              <a:chExt cx="1587500" cy="1109363"/>
            </a:xfrm>
          </p:grpSpPr>
          <p:sp>
            <p:nvSpPr>
              <p:cNvPr id="322" name="Abgerundetes Rechteck 251">
                <a:extLst>
                  <a:ext uri="{FF2B5EF4-FFF2-40B4-BE49-F238E27FC236}">
                    <a16:creationId xmlns:a16="http://schemas.microsoft.com/office/drawing/2014/main" id="{768F4328-47E5-7DC9-2711-8EE7216A9927}"/>
                  </a:ext>
                </a:extLst>
              </p:cNvPr>
              <p:cNvSpPr/>
              <p:nvPr/>
            </p:nvSpPr>
            <p:spPr>
              <a:xfrm>
                <a:off x="1118603" y="2513547"/>
                <a:ext cx="1545131" cy="110936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de-DE"/>
              </a:p>
            </p:txBody>
          </p:sp>
          <p:pic>
            <p:nvPicPr>
              <p:cNvPr id="324" name="Picture 323">
                <a:extLst>
                  <a:ext uri="{FF2B5EF4-FFF2-40B4-BE49-F238E27FC236}">
                    <a16:creationId xmlns:a16="http://schemas.microsoft.com/office/drawing/2014/main" id="{F58FAD8E-260F-F7B7-C44F-DDAFC7C9B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7418" y="2579278"/>
                <a:ext cx="1587500" cy="977900"/>
              </a:xfrm>
              <a:prstGeom prst="rect">
                <a:avLst/>
              </a:prstGeom>
            </p:spPr>
          </p:pic>
        </p:grpSp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A4D7695F-7FC5-FBFB-18C4-86EEFE9A29BD}"/>
              </a:ext>
            </a:extLst>
          </p:cNvPr>
          <p:cNvGrpSpPr/>
          <p:nvPr/>
        </p:nvGrpSpPr>
        <p:grpSpPr>
          <a:xfrm>
            <a:off x="8106162" y="2562636"/>
            <a:ext cx="1587500" cy="2696176"/>
            <a:chOff x="1097418" y="2513547"/>
            <a:chExt cx="1587500" cy="2696176"/>
          </a:xfrm>
        </p:grpSpPr>
        <p:cxnSp>
          <p:nvCxnSpPr>
            <p:cNvPr id="330" name="Gerade Verbindung mit Pfeil 322">
              <a:extLst>
                <a:ext uri="{FF2B5EF4-FFF2-40B4-BE49-F238E27FC236}">
                  <a16:creationId xmlns:a16="http://schemas.microsoft.com/office/drawing/2014/main" id="{BF777B7D-E8BA-57F5-A84E-16856D40E1A8}"/>
                </a:ext>
              </a:extLst>
            </p:cNvPr>
            <p:cNvCxnSpPr>
              <a:cxnSpLocks/>
              <a:stCxn id="332" idx="2"/>
            </p:cNvCxnSpPr>
            <p:nvPr/>
          </p:nvCxnSpPr>
          <p:spPr>
            <a:xfrm>
              <a:off x="1891169" y="3622910"/>
              <a:ext cx="179842" cy="1586813"/>
            </a:xfrm>
            <a:prstGeom prst="straightConnector1">
              <a:avLst/>
            </a:prstGeom>
            <a:ln w="2540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triangle" w="lg" len="lg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grpSp>
          <p:nvGrpSpPr>
            <p:cNvPr id="331" name="Group 330">
              <a:extLst>
                <a:ext uri="{FF2B5EF4-FFF2-40B4-BE49-F238E27FC236}">
                  <a16:creationId xmlns:a16="http://schemas.microsoft.com/office/drawing/2014/main" id="{51104873-2D83-85A8-C3DD-AA8E3809E5D1}"/>
                </a:ext>
              </a:extLst>
            </p:cNvPr>
            <p:cNvGrpSpPr/>
            <p:nvPr/>
          </p:nvGrpSpPr>
          <p:grpSpPr>
            <a:xfrm>
              <a:off x="1097418" y="2513547"/>
              <a:ext cx="1587500" cy="1109363"/>
              <a:chOff x="1097418" y="2513547"/>
              <a:chExt cx="1587500" cy="1109363"/>
            </a:xfrm>
          </p:grpSpPr>
          <p:sp>
            <p:nvSpPr>
              <p:cNvPr id="332" name="Abgerundetes Rechteck 251">
                <a:extLst>
                  <a:ext uri="{FF2B5EF4-FFF2-40B4-BE49-F238E27FC236}">
                    <a16:creationId xmlns:a16="http://schemas.microsoft.com/office/drawing/2014/main" id="{74D900D0-6E6E-5E0D-80BB-2E1AEDC21AEA}"/>
                  </a:ext>
                </a:extLst>
              </p:cNvPr>
              <p:cNvSpPr/>
              <p:nvPr/>
            </p:nvSpPr>
            <p:spPr>
              <a:xfrm>
                <a:off x="1118603" y="2513547"/>
                <a:ext cx="1545131" cy="110936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de-DE"/>
              </a:p>
            </p:txBody>
          </p:sp>
          <p:pic>
            <p:nvPicPr>
              <p:cNvPr id="333" name="Picture 332">
                <a:extLst>
                  <a:ext uri="{FF2B5EF4-FFF2-40B4-BE49-F238E27FC236}">
                    <a16:creationId xmlns:a16="http://schemas.microsoft.com/office/drawing/2014/main" id="{5E51BE17-987D-1BB1-753F-C6AA518041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7418" y="2579278"/>
                <a:ext cx="1587500" cy="977900"/>
              </a:xfrm>
              <a:prstGeom prst="rect">
                <a:avLst/>
              </a:prstGeom>
            </p:spPr>
          </p:pic>
        </p:grpSp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69F4E4CE-B3EA-5E83-592D-AF5E19437B14}"/>
              </a:ext>
            </a:extLst>
          </p:cNvPr>
          <p:cNvGrpSpPr/>
          <p:nvPr/>
        </p:nvGrpSpPr>
        <p:grpSpPr>
          <a:xfrm>
            <a:off x="9005009" y="5259348"/>
            <a:ext cx="637715" cy="490064"/>
            <a:chOff x="9005009" y="5259348"/>
            <a:chExt cx="637715" cy="490064"/>
          </a:xfrm>
        </p:grpSpPr>
        <p:sp>
          <p:nvSpPr>
            <p:cNvPr id="63" name="TextBox 50">
              <a:extLst>
                <a:ext uri="{FF2B5EF4-FFF2-40B4-BE49-F238E27FC236}">
                  <a16:creationId xmlns:a16="http://schemas.microsoft.com/office/drawing/2014/main" id="{A596C8F6-8BEA-069E-86C3-E3AF13BE9A79}"/>
                </a:ext>
              </a:extLst>
            </p:cNvPr>
            <p:cNvSpPr txBox="1"/>
            <p:nvPr/>
          </p:nvSpPr>
          <p:spPr>
            <a:xfrm>
              <a:off x="9005009" y="5427849"/>
              <a:ext cx="153007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 b="1">
                  <a:latin typeface="+mn-lt"/>
                </a:rPr>
                <a:t>B</a:t>
              </a:r>
              <a:endParaRPr lang="en-DE" sz="1600" b="1">
                <a:latin typeface="+mn-lt"/>
              </a:endParaRPr>
            </a:p>
          </p:txBody>
        </p:sp>
        <p:sp>
          <p:nvSpPr>
            <p:cNvPr id="87" name="Oval 64">
              <a:extLst>
                <a:ext uri="{FF2B5EF4-FFF2-40B4-BE49-F238E27FC236}">
                  <a16:creationId xmlns:a16="http://schemas.microsoft.com/office/drawing/2014/main" id="{9D696A69-270A-C1A1-B709-09078A3C2389}"/>
                </a:ext>
              </a:extLst>
            </p:cNvPr>
            <p:cNvSpPr/>
            <p:nvPr/>
          </p:nvSpPr>
          <p:spPr>
            <a:xfrm>
              <a:off x="9534724" y="5259348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04E1E5A-E71A-414B-1B21-C232A76826AA}"/>
              </a:ext>
            </a:extLst>
          </p:cNvPr>
          <p:cNvGrpSpPr/>
          <p:nvPr/>
        </p:nvGrpSpPr>
        <p:grpSpPr>
          <a:xfrm>
            <a:off x="1665010" y="5259348"/>
            <a:ext cx="612486" cy="490064"/>
            <a:chOff x="1665010" y="5259348"/>
            <a:chExt cx="612486" cy="490064"/>
          </a:xfrm>
        </p:grpSpPr>
        <p:sp>
          <p:nvSpPr>
            <p:cNvPr id="62" name="TextBox 49">
              <a:extLst>
                <a:ext uri="{FF2B5EF4-FFF2-40B4-BE49-F238E27FC236}">
                  <a16:creationId xmlns:a16="http://schemas.microsoft.com/office/drawing/2014/main" id="{71DA5732-984E-1BD1-4AC8-D338EA13B5F9}"/>
                </a:ext>
              </a:extLst>
            </p:cNvPr>
            <p:cNvSpPr txBox="1"/>
            <p:nvPr/>
          </p:nvSpPr>
          <p:spPr>
            <a:xfrm>
              <a:off x="2124489" y="5427849"/>
              <a:ext cx="153007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 b="1">
                  <a:latin typeface="+mn-lt"/>
                </a:rPr>
                <a:t>A</a:t>
              </a:r>
              <a:endParaRPr lang="en-DE" sz="1200" b="1">
                <a:latin typeface="+mn-lt"/>
              </a:endParaRPr>
            </a:p>
          </p:txBody>
        </p:sp>
        <p:sp>
          <p:nvSpPr>
            <p:cNvPr id="83" name="Oval 64">
              <a:extLst>
                <a:ext uri="{FF2B5EF4-FFF2-40B4-BE49-F238E27FC236}">
                  <a16:creationId xmlns:a16="http://schemas.microsoft.com/office/drawing/2014/main" id="{E536AF46-79B3-FC40-FCA2-C29313AA26DB}"/>
                </a:ext>
              </a:extLst>
            </p:cNvPr>
            <p:cNvSpPr/>
            <p:nvPr/>
          </p:nvSpPr>
          <p:spPr>
            <a:xfrm>
              <a:off x="1665010" y="5259348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53" name="Straight Connector 17">
            <a:extLst>
              <a:ext uri="{FF2B5EF4-FFF2-40B4-BE49-F238E27FC236}">
                <a16:creationId xmlns:a16="http://schemas.microsoft.com/office/drawing/2014/main" id="{94FF4787-245D-9D90-F684-60778932A454}"/>
              </a:ext>
            </a:extLst>
          </p:cNvPr>
          <p:cNvCxnSpPr>
            <a:cxnSpLocks/>
          </p:cNvCxnSpPr>
          <p:nvPr/>
        </p:nvCxnSpPr>
        <p:spPr>
          <a:xfrm>
            <a:off x="1815724" y="5313560"/>
            <a:ext cx="8612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3991049-1B19-FE6C-E737-8AAEBDDF1C4A}"/>
              </a:ext>
            </a:extLst>
          </p:cNvPr>
          <p:cNvGrpSpPr/>
          <p:nvPr/>
        </p:nvGrpSpPr>
        <p:grpSpPr>
          <a:xfrm rot="653683">
            <a:off x="2927746" y="5103275"/>
            <a:ext cx="2114451" cy="417957"/>
            <a:chOff x="4407879" y="3190739"/>
            <a:chExt cx="1605034" cy="341928"/>
          </a:xfrm>
        </p:grpSpPr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33666900-48A6-9132-DFB2-422D1E8B06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773F1C9-1998-D169-4EDB-4E1387A7E8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8BB68B1-7201-B235-CC0F-9C764522B0AA}"/>
              </a:ext>
            </a:extLst>
          </p:cNvPr>
          <p:cNvGrpSpPr/>
          <p:nvPr/>
        </p:nvGrpSpPr>
        <p:grpSpPr>
          <a:xfrm rot="1638380">
            <a:off x="7055746" y="4964539"/>
            <a:ext cx="1315844" cy="685167"/>
            <a:chOff x="6985371" y="3590313"/>
            <a:chExt cx="985075" cy="49212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2AAECECE-EAEC-000F-8153-F4091EA8F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512" y="3594244"/>
              <a:ext cx="968804" cy="4809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2776620-3A7F-7096-9CF9-76F159EA3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371" y="3590313"/>
              <a:ext cx="985075" cy="4921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50451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97674C7-C977-5E3E-644A-16A8EC5019EE}"/>
              </a:ext>
            </a:extLst>
          </p:cNvPr>
          <p:cNvGrpSpPr/>
          <p:nvPr/>
        </p:nvGrpSpPr>
        <p:grpSpPr>
          <a:xfrm rot="18614233">
            <a:off x="5526725" y="4763231"/>
            <a:ext cx="941554" cy="1093304"/>
            <a:chOff x="6159681" y="3253842"/>
            <a:chExt cx="677642" cy="798622"/>
          </a:xfrm>
        </p:grpSpPr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50E767BB-A688-9A71-728C-E5E8D75EFC44}"/>
                </a:ext>
              </a:extLst>
            </p:cNvPr>
            <p:cNvCxnSpPr>
              <a:cxnSpLocks/>
            </p:cNvCxnSpPr>
            <p:nvPr/>
          </p:nvCxnSpPr>
          <p:spPr>
            <a:xfrm>
              <a:off x="6159681" y="3253842"/>
              <a:ext cx="677642" cy="7986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A320DED1-4622-9BB3-C10C-0C1F79D3F3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0777" y="3253842"/>
              <a:ext cx="676546" cy="79862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C41A26C-536E-BFB7-46F1-02B2A0550167}"/>
              </a:ext>
            </a:extLst>
          </p:cNvPr>
          <p:cNvGrpSpPr/>
          <p:nvPr/>
        </p:nvGrpSpPr>
        <p:grpSpPr>
          <a:xfrm>
            <a:off x="1452099" y="4867428"/>
            <a:ext cx="1220985" cy="399995"/>
            <a:chOff x="1452099" y="4867428"/>
            <a:chExt cx="1220985" cy="3999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Textfeld 67">
                  <a:extLst>
                    <a:ext uri="{FF2B5EF4-FFF2-40B4-BE49-F238E27FC236}">
                      <a16:creationId xmlns:a16="http://schemas.microsoft.com/office/drawing/2014/main" id="{9EC160C7-CD15-B871-9F97-AB556F51EADC}"/>
                    </a:ext>
                  </a:extLst>
                </p:cNvPr>
                <p:cNvSpPr txBox="1"/>
                <p:nvPr/>
              </p:nvSpPr>
              <p:spPr>
                <a:xfrm>
                  <a:off x="1452099" y="4867428"/>
                  <a:ext cx="493070" cy="3064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27" name="Textfeld 67">
                  <a:extLst>
                    <a:ext uri="{FF2B5EF4-FFF2-40B4-BE49-F238E27FC236}">
                      <a16:creationId xmlns:a16="http://schemas.microsoft.com/office/drawing/2014/main" id="{9EC160C7-CD15-B871-9F97-AB556F51EA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2099" y="4867428"/>
                  <a:ext cx="493070" cy="306431"/>
                </a:xfrm>
                <a:prstGeom prst="rect">
                  <a:avLst/>
                </a:prstGeom>
                <a:blipFill>
                  <a:blip r:embed="rId10"/>
                  <a:stretch>
                    <a:fillRect b="-196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8" name="Straight Connector 63">
              <a:extLst>
                <a:ext uri="{FF2B5EF4-FFF2-40B4-BE49-F238E27FC236}">
                  <a16:creationId xmlns:a16="http://schemas.microsoft.com/office/drawing/2014/main" id="{4CFBFC97-57A9-A4EA-7A42-21B706FA65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20580" y="5265821"/>
              <a:ext cx="852504" cy="160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98E12F6C-F268-4E67-26E1-022300B9712E}"/>
              </a:ext>
            </a:extLst>
          </p:cNvPr>
          <p:cNvGrpSpPr/>
          <p:nvPr/>
        </p:nvGrpSpPr>
        <p:grpSpPr>
          <a:xfrm>
            <a:off x="6588966" y="4858098"/>
            <a:ext cx="493070" cy="492348"/>
            <a:chOff x="6627095" y="3699841"/>
            <a:chExt cx="493070" cy="4923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Textfeld 67">
                  <a:extLst>
                    <a:ext uri="{FF2B5EF4-FFF2-40B4-BE49-F238E27FC236}">
                      <a16:creationId xmlns:a16="http://schemas.microsoft.com/office/drawing/2014/main" id="{F42EE7B3-25C0-B99C-296F-375F3685CB01}"/>
                    </a:ext>
                  </a:extLst>
                </p:cNvPr>
                <p:cNvSpPr txBox="1"/>
                <p:nvPr/>
              </p:nvSpPr>
              <p:spPr>
                <a:xfrm>
                  <a:off x="6627095" y="3699841"/>
                  <a:ext cx="493070" cy="30643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8" name="Textfeld 67">
                  <a:extLst>
                    <a:ext uri="{FF2B5EF4-FFF2-40B4-BE49-F238E27FC236}">
                      <a16:creationId xmlns:a16="http://schemas.microsoft.com/office/drawing/2014/main" id="{F42EE7B3-25C0-B99C-296F-375F3685CB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95" y="3699841"/>
                  <a:ext cx="493070" cy="306431"/>
                </a:xfrm>
                <a:prstGeom prst="rect">
                  <a:avLst/>
                </a:prstGeom>
                <a:blipFill>
                  <a:blip r:embed="rId11"/>
                  <a:stretch>
                    <a:fillRect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4B2BDA5A-0621-16BA-573C-DF6B9D577FA1}"/>
                </a:ext>
              </a:extLst>
            </p:cNvPr>
            <p:cNvSpPr/>
            <p:nvPr/>
          </p:nvSpPr>
          <p:spPr>
            <a:xfrm>
              <a:off x="6837323" y="40837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F00A07CE-8355-6AB0-48D6-434D2F032624}"/>
              </a:ext>
            </a:extLst>
          </p:cNvPr>
          <p:cNvGrpSpPr/>
          <p:nvPr/>
        </p:nvGrpSpPr>
        <p:grpSpPr>
          <a:xfrm>
            <a:off x="4907994" y="4859677"/>
            <a:ext cx="493070" cy="508095"/>
            <a:chOff x="5849465" y="2720081"/>
            <a:chExt cx="493070" cy="5080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7" name="Textfeld 67">
                  <a:extLst>
                    <a:ext uri="{FF2B5EF4-FFF2-40B4-BE49-F238E27FC236}">
                      <a16:creationId xmlns:a16="http://schemas.microsoft.com/office/drawing/2014/main" id="{CA52D002-B7B8-B196-998A-17FE3CF1446F}"/>
                    </a:ext>
                  </a:extLst>
                </p:cNvPr>
                <p:cNvSpPr txBox="1"/>
                <p:nvPr/>
              </p:nvSpPr>
              <p:spPr>
                <a:xfrm>
                  <a:off x="5849465" y="2720081"/>
                  <a:ext cx="493070" cy="3035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Arial (Body)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Arial (Body)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Arial (Body)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27" name="Textfeld 67">
                  <a:extLst>
                    <a:ext uri="{FF2B5EF4-FFF2-40B4-BE49-F238E27FC236}">
                      <a16:creationId xmlns:a16="http://schemas.microsoft.com/office/drawing/2014/main" id="{CA52D002-B7B8-B196-998A-17FE3CF14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465" y="2720081"/>
                  <a:ext cx="493070" cy="303545"/>
                </a:xfrm>
                <a:prstGeom prst="rect">
                  <a:avLst/>
                </a:prstGeom>
                <a:blipFill>
                  <a:blip r:embed="rId12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B61253A2-315B-8FB6-9442-F607D12F4ABD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C88BBDB2-C060-DE10-E2BC-0CC358BAA223}"/>
              </a:ext>
            </a:extLst>
          </p:cNvPr>
          <p:cNvGrpSpPr/>
          <p:nvPr/>
        </p:nvGrpSpPr>
        <p:grpSpPr>
          <a:xfrm>
            <a:off x="2624492" y="4854219"/>
            <a:ext cx="493070" cy="502608"/>
            <a:chOff x="4129059" y="3110726"/>
            <a:chExt cx="493070" cy="502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4" name="Textfeld 67">
                  <a:extLst>
                    <a:ext uri="{FF2B5EF4-FFF2-40B4-BE49-F238E27FC236}">
                      <a16:creationId xmlns:a16="http://schemas.microsoft.com/office/drawing/2014/main" id="{1E38D918-63EF-A2EC-EC63-02909759A68A}"/>
                    </a:ext>
                  </a:extLst>
                </p:cNvPr>
                <p:cNvSpPr txBox="1"/>
                <p:nvPr/>
              </p:nvSpPr>
              <p:spPr>
                <a:xfrm>
                  <a:off x="4129059" y="3110726"/>
                  <a:ext cx="493070" cy="30354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34" name="Textfeld 67">
                  <a:extLst>
                    <a:ext uri="{FF2B5EF4-FFF2-40B4-BE49-F238E27FC236}">
                      <a16:creationId xmlns:a16="http://schemas.microsoft.com/office/drawing/2014/main" id="{1E38D918-63EF-A2EC-EC63-02909759A6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9059" y="3110726"/>
                  <a:ext cx="493070" cy="303545"/>
                </a:xfrm>
                <a:prstGeom prst="rect">
                  <a:avLst/>
                </a:prstGeom>
                <a:blipFill>
                  <a:blip r:embed="rId13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9E792B8C-858D-8C6E-184B-21E8FC368F1E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FFD916FA-72D4-29CC-F407-977FC2A29666}"/>
              </a:ext>
            </a:extLst>
          </p:cNvPr>
          <p:cNvGrpSpPr/>
          <p:nvPr/>
        </p:nvGrpSpPr>
        <p:grpSpPr>
          <a:xfrm>
            <a:off x="8689654" y="4859806"/>
            <a:ext cx="1100395" cy="407617"/>
            <a:chOff x="8115704" y="3097293"/>
            <a:chExt cx="1100395" cy="4076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1" name="Textfeld 67">
                  <a:extLst>
                    <a:ext uri="{FF2B5EF4-FFF2-40B4-BE49-F238E27FC236}">
                      <a16:creationId xmlns:a16="http://schemas.microsoft.com/office/drawing/2014/main" id="{2466E034-2E0E-6776-2E6A-AB89E766F7E5}"/>
                    </a:ext>
                  </a:extLst>
                </p:cNvPr>
                <p:cNvSpPr txBox="1"/>
                <p:nvPr/>
              </p:nvSpPr>
              <p:spPr>
                <a:xfrm>
                  <a:off x="8723029" y="3097293"/>
                  <a:ext cx="493070" cy="3034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1" name="Textfeld 67">
                  <a:extLst>
                    <a:ext uri="{FF2B5EF4-FFF2-40B4-BE49-F238E27FC236}">
                      <a16:creationId xmlns:a16="http://schemas.microsoft.com/office/drawing/2014/main" id="{2466E034-2E0E-6776-2E6A-AB89E766F7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3029" y="3097293"/>
                  <a:ext cx="493070" cy="303416"/>
                </a:xfrm>
                <a:prstGeom prst="rect">
                  <a:avLst/>
                </a:prstGeom>
                <a:blipFill>
                  <a:blip r:embed="rId14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2" name="Straight Connector 63">
              <a:extLst>
                <a:ext uri="{FF2B5EF4-FFF2-40B4-BE49-F238E27FC236}">
                  <a16:creationId xmlns:a16="http://schemas.microsoft.com/office/drawing/2014/main" id="{C88F88EF-2B4B-0751-9ED5-95AF60121940}"/>
                </a:ext>
              </a:extLst>
            </p:cNvPr>
            <p:cNvCxnSpPr>
              <a:cxnSpLocks/>
            </p:cNvCxnSpPr>
            <p:nvPr/>
          </p:nvCxnSpPr>
          <p:spPr>
            <a:xfrm>
              <a:off x="8115704" y="3504910"/>
              <a:ext cx="780203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04BC1401-D9EF-2B8C-0E8A-5F9AFC3514D9}"/>
              </a:ext>
            </a:extLst>
          </p:cNvPr>
          <p:cNvGrpSpPr/>
          <p:nvPr/>
        </p:nvGrpSpPr>
        <p:grpSpPr>
          <a:xfrm>
            <a:off x="8285902" y="4864969"/>
            <a:ext cx="493070" cy="485477"/>
            <a:chOff x="7854242" y="2825922"/>
            <a:chExt cx="493070" cy="4854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8" name="Textfeld 67">
                  <a:extLst>
                    <a:ext uri="{FF2B5EF4-FFF2-40B4-BE49-F238E27FC236}">
                      <a16:creationId xmlns:a16="http://schemas.microsoft.com/office/drawing/2014/main" id="{ECF8F290-C9F4-7892-DD5B-7A7786CE85DA}"/>
                    </a:ext>
                  </a:extLst>
                </p:cNvPr>
                <p:cNvSpPr txBox="1"/>
                <p:nvPr/>
              </p:nvSpPr>
              <p:spPr>
                <a:xfrm>
                  <a:off x="7854242" y="2825922"/>
                  <a:ext cx="493070" cy="3029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6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8" name="Textfeld 67">
                  <a:extLst>
                    <a:ext uri="{FF2B5EF4-FFF2-40B4-BE49-F238E27FC236}">
                      <a16:creationId xmlns:a16="http://schemas.microsoft.com/office/drawing/2014/main" id="{ECF8F290-C9F4-7892-DD5B-7A7786CE85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242" y="2825922"/>
                  <a:ext cx="493070" cy="302903"/>
                </a:xfrm>
                <a:prstGeom prst="rect">
                  <a:avLst/>
                </a:prstGeom>
                <a:blipFill>
                  <a:blip r:embed="rId15"/>
                  <a:stretch>
                    <a:fillRect b="-2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571CD92F-7CC5-ACA7-F62C-F64C557590FB}"/>
                </a:ext>
              </a:extLst>
            </p:cNvPr>
            <p:cNvSpPr/>
            <p:nvPr/>
          </p:nvSpPr>
          <p:spPr>
            <a:xfrm>
              <a:off x="8068246" y="320297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3935774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A6CA815-3325-D089-9E6B-955DB948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316CA-C42B-DF38-5C5E-4B35CF76A5C1}"/>
              </a:ext>
            </a:extLst>
          </p:cNvPr>
          <p:cNvGrpSpPr/>
          <p:nvPr/>
        </p:nvGrpSpPr>
        <p:grpSpPr>
          <a:xfrm>
            <a:off x="10019814" y="304811"/>
            <a:ext cx="1740401" cy="527668"/>
            <a:chOff x="4282753" y="2992759"/>
            <a:chExt cx="2730986" cy="8280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870B94B-E56E-3EB4-DD1F-6941037211A2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1" name="Flowchart: Stored Data 92">
                <a:extLst>
                  <a:ext uri="{FF2B5EF4-FFF2-40B4-BE49-F238E27FC236}">
                    <a16:creationId xmlns:a16="http://schemas.microsoft.com/office/drawing/2014/main" id="{E817D100-8692-4344-6B4F-F982CEBB2253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9C4E64-22AF-7946-F7D9-A9B699263C52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Preprocessing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8D230FC-838C-9784-BCC9-ADCE68AE554D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AFFF5FF-2159-E22D-0658-E153E3E64FCB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CDA01D7-3EB1-5A97-A6A1-412D4F942185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13" name="Down Arrow 66">
            <a:extLst>
              <a:ext uri="{FF2B5EF4-FFF2-40B4-BE49-F238E27FC236}">
                <a16:creationId xmlns:a16="http://schemas.microsoft.com/office/drawing/2014/main" id="{1FF6921E-E5BC-037A-A21B-4D5F5AC72AD5}"/>
              </a:ext>
            </a:extLst>
          </p:cNvPr>
          <p:cNvSpPr/>
          <p:nvPr/>
        </p:nvSpPr>
        <p:spPr>
          <a:xfrm>
            <a:off x="1075780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651D59-ED47-094D-53A5-C0CD389DDACB}"/>
              </a:ext>
            </a:extLst>
          </p:cNvPr>
          <p:cNvGrpSpPr/>
          <p:nvPr/>
        </p:nvGrpSpPr>
        <p:grpSpPr>
          <a:xfrm>
            <a:off x="10019814" y="1039520"/>
            <a:ext cx="1740401" cy="527668"/>
            <a:chOff x="4282753" y="2992759"/>
            <a:chExt cx="2730986" cy="82800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D2C5CD8-CDC2-B988-53B1-4F3797B9A731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9" name="Flowchart: Stored Data 92">
                <a:extLst>
                  <a:ext uri="{FF2B5EF4-FFF2-40B4-BE49-F238E27FC236}">
                    <a16:creationId xmlns:a16="http://schemas.microsoft.com/office/drawing/2014/main" id="{C5845D14-3C12-6E98-2827-CAD815A9E5F5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E55EE60-49F1-B904-D9F7-B71ADCEFADB6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/>
                  <a:t>Modeling</a:t>
                </a:r>
                <a:endParaRPr lang="en-DE" sz="10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C280B71-65AE-E538-A7F5-83E11204EABB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35197C7-02DC-E5E8-A5C7-AC5BACE48D02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3C69FEE-FF89-49F7-35FA-60DDDA3F0BC4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44" name="Down Arrow 66">
            <a:extLst>
              <a:ext uri="{FF2B5EF4-FFF2-40B4-BE49-F238E27FC236}">
                <a16:creationId xmlns:a16="http://schemas.microsoft.com/office/drawing/2014/main" id="{120521EB-B56D-E9C9-07F3-71EC760902B3}"/>
              </a:ext>
            </a:extLst>
          </p:cNvPr>
          <p:cNvSpPr/>
          <p:nvPr/>
        </p:nvSpPr>
        <p:spPr>
          <a:xfrm>
            <a:off x="1075780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5A7DF5-EAA4-79DA-5E50-5A47A9B6BCE8}"/>
              </a:ext>
            </a:extLst>
          </p:cNvPr>
          <p:cNvGrpSpPr/>
          <p:nvPr/>
        </p:nvGrpSpPr>
        <p:grpSpPr>
          <a:xfrm>
            <a:off x="10019814" y="1774229"/>
            <a:ext cx="1740401" cy="527668"/>
            <a:chOff x="4282753" y="2992759"/>
            <a:chExt cx="2730986" cy="8280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013BD17-782E-D2D1-C28A-F536F2D4DB91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50" name="Flowchart: Stored Data 92">
                <a:extLst>
                  <a:ext uri="{FF2B5EF4-FFF2-40B4-BE49-F238E27FC236}">
                    <a16:creationId xmlns:a16="http://schemas.microsoft.com/office/drawing/2014/main" id="{8D4D2025-128B-E807-625D-DA9B87FDC90D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3C975D4-B475-E4F7-7736-72D36535D70D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Solving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B6F219A-B77F-F414-41C1-E4CD5712F788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9AB3FEA2-3DC0-4481-20DF-6CCFA624A4C7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81F7E0A-4C40-818F-9B81-A938E6044ACE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53" name="Title 52">
            <a:extLst>
              <a:ext uri="{FF2B5EF4-FFF2-40B4-BE49-F238E27FC236}">
                <a16:creationId xmlns:a16="http://schemas.microsoft.com/office/drawing/2014/main" id="{0B1DEC60-936A-DFA2-EE24-885D3232F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Conflict Constraints</a:t>
            </a:r>
            <a:endParaRPr lang="de-DE"/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E482DCA-27FD-F531-3720-648EB3A5B7FD}"/>
              </a:ext>
            </a:extLst>
          </p:cNvPr>
          <p:cNvGrpSpPr/>
          <p:nvPr/>
        </p:nvGrpSpPr>
        <p:grpSpPr>
          <a:xfrm>
            <a:off x="3353545" y="3119752"/>
            <a:ext cx="5619617" cy="1052537"/>
            <a:chOff x="3353545" y="3119752"/>
            <a:chExt cx="5619617" cy="1052537"/>
          </a:xfrm>
        </p:grpSpPr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A387B367-108F-3C1D-5111-DA9B464A4BE4}"/>
                </a:ext>
              </a:extLst>
            </p:cNvPr>
            <p:cNvSpPr/>
            <p:nvPr/>
          </p:nvSpPr>
          <p:spPr>
            <a:xfrm>
              <a:off x="8061650" y="349182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5D9AF57C-66A3-331C-1671-99318DE26030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8E3AA63F-C7D8-92FB-181A-41A0CC3DF5C7}"/>
                </a:ext>
              </a:extLst>
            </p:cNvPr>
            <p:cNvSpPr/>
            <p:nvPr/>
          </p:nvSpPr>
          <p:spPr>
            <a:xfrm>
              <a:off x="6837323" y="40638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203" name="Oval 64">
              <a:extLst>
                <a:ext uri="{FF2B5EF4-FFF2-40B4-BE49-F238E27FC236}">
                  <a16:creationId xmlns:a16="http://schemas.microsoft.com/office/drawing/2014/main" id="{2C2C7572-8943-62D4-C00D-9348EA218F56}"/>
                </a:ext>
              </a:extLst>
            </p:cNvPr>
            <p:cNvSpPr/>
            <p:nvPr/>
          </p:nvSpPr>
          <p:spPr>
            <a:xfrm>
              <a:off x="3353545" y="319150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204" name="Oval 64">
              <a:extLst>
                <a:ext uri="{FF2B5EF4-FFF2-40B4-BE49-F238E27FC236}">
                  <a16:creationId xmlns:a16="http://schemas.microsoft.com/office/drawing/2014/main" id="{CB957F4F-6B0E-149D-C359-80DE36617A90}"/>
                </a:ext>
              </a:extLst>
            </p:cNvPr>
            <p:cNvSpPr/>
            <p:nvPr/>
          </p:nvSpPr>
          <p:spPr>
            <a:xfrm>
              <a:off x="8865162" y="34859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07688810-0FB9-3CEC-FBA6-7D52C2409A29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61CD86F-C9F4-B047-8959-ADA44B0D3C77}"/>
              </a:ext>
            </a:extLst>
          </p:cNvPr>
          <p:cNvCxnSpPr>
            <a:cxnSpLocks/>
          </p:cNvCxnSpPr>
          <p:nvPr/>
        </p:nvCxnSpPr>
        <p:spPr>
          <a:xfrm flipV="1">
            <a:off x="7073764" y="3637336"/>
            <a:ext cx="956150" cy="9778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69">
            <a:extLst>
              <a:ext uri="{FF2B5EF4-FFF2-40B4-BE49-F238E27FC236}">
                <a16:creationId xmlns:a16="http://schemas.microsoft.com/office/drawing/2014/main" id="{E6ADD588-6F3B-28BE-5404-359AB6D2DB57}"/>
              </a:ext>
            </a:extLst>
          </p:cNvPr>
          <p:cNvCxnSpPr>
            <a:cxnSpLocks/>
          </p:cNvCxnSpPr>
          <p:nvPr/>
        </p:nvCxnSpPr>
        <p:spPr>
          <a:xfrm>
            <a:off x="8214662" y="3587154"/>
            <a:ext cx="590899" cy="0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E1CA8D8E-2246-FE35-83EC-AE507420ED55}"/>
              </a:ext>
            </a:extLst>
          </p:cNvPr>
          <p:cNvCxnSpPr>
            <a:cxnSpLocks/>
          </p:cNvCxnSpPr>
          <p:nvPr/>
        </p:nvCxnSpPr>
        <p:spPr>
          <a:xfrm>
            <a:off x="4396812" y="3607702"/>
            <a:ext cx="868280" cy="481247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EE1A5DD-22E3-3ECA-F08E-FF630DE6BB78}"/>
              </a:ext>
            </a:extLst>
          </p:cNvPr>
          <p:cNvCxnSpPr>
            <a:cxnSpLocks/>
          </p:cNvCxnSpPr>
          <p:nvPr/>
        </p:nvCxnSpPr>
        <p:spPr>
          <a:xfrm flipH="1" flipV="1">
            <a:off x="5460549" y="4159553"/>
            <a:ext cx="523528" cy="72438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65CC9BDD-9E97-89E8-A779-B8D216388B2B}"/>
              </a:ext>
            </a:extLst>
          </p:cNvPr>
          <p:cNvCxnSpPr>
            <a:cxnSpLocks/>
          </p:cNvCxnSpPr>
          <p:nvPr/>
        </p:nvCxnSpPr>
        <p:spPr>
          <a:xfrm flipV="1">
            <a:off x="7073767" y="3629000"/>
            <a:ext cx="959681" cy="986186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69">
            <a:extLst>
              <a:ext uri="{FF2B5EF4-FFF2-40B4-BE49-F238E27FC236}">
                <a16:creationId xmlns:a16="http://schemas.microsoft.com/office/drawing/2014/main" id="{5F02937A-FF63-A051-6945-68EAE009D835}"/>
              </a:ext>
            </a:extLst>
          </p:cNvPr>
          <p:cNvCxnSpPr>
            <a:cxnSpLocks/>
          </p:cNvCxnSpPr>
          <p:nvPr/>
        </p:nvCxnSpPr>
        <p:spPr>
          <a:xfrm>
            <a:off x="3464489" y="3299928"/>
            <a:ext cx="729018" cy="257113"/>
          </a:xfrm>
          <a:prstGeom prst="line">
            <a:avLst/>
          </a:prstGeom>
          <a:ln w="57150">
            <a:solidFill>
              <a:srgbClr val="F67400">
                <a:alpha val="5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C5560D8-C1C4-8391-A6B0-AC3EF491DB10}"/>
              </a:ext>
            </a:extLst>
          </p:cNvPr>
          <p:cNvCxnSpPr>
            <a:cxnSpLocks/>
          </p:cNvCxnSpPr>
          <p:nvPr/>
        </p:nvCxnSpPr>
        <p:spPr>
          <a:xfrm>
            <a:off x="6197433" y="3181971"/>
            <a:ext cx="1810484" cy="350696"/>
          </a:xfrm>
          <a:prstGeom prst="line">
            <a:avLst/>
          </a:prstGeom>
          <a:ln w="12700">
            <a:solidFill>
              <a:schemeClr val="tx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E1E584B2-C7CD-4D47-5C6F-746F6E80A0E5}"/>
              </a:ext>
            </a:extLst>
          </p:cNvPr>
          <p:cNvCxnSpPr>
            <a:cxnSpLocks/>
          </p:cNvCxnSpPr>
          <p:nvPr/>
        </p:nvCxnSpPr>
        <p:spPr>
          <a:xfrm flipV="1">
            <a:off x="6182208" y="4132555"/>
            <a:ext cx="616515" cy="1021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7402A58B-B301-A1A2-E4DB-8FEF820E0426}"/>
              </a:ext>
            </a:extLst>
          </p:cNvPr>
          <p:cNvSpPr/>
          <p:nvPr/>
        </p:nvSpPr>
        <p:spPr>
          <a:xfrm>
            <a:off x="5330581" y="4075196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E8D28047-9FBD-63F7-DCCA-9F42A83E508F}"/>
              </a:ext>
            </a:extLst>
          </p:cNvPr>
          <p:cNvCxnSpPr>
            <a:cxnSpLocks/>
          </p:cNvCxnSpPr>
          <p:nvPr/>
        </p:nvCxnSpPr>
        <p:spPr>
          <a:xfrm flipV="1">
            <a:off x="3493130" y="3603956"/>
            <a:ext cx="697827" cy="30215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158E83B7-AA67-E024-AC93-8644497F1739}"/>
              </a:ext>
            </a:extLst>
          </p:cNvPr>
          <p:cNvCxnSpPr>
            <a:cxnSpLocks/>
          </p:cNvCxnSpPr>
          <p:nvPr/>
        </p:nvCxnSpPr>
        <p:spPr>
          <a:xfrm>
            <a:off x="4343879" y="3653016"/>
            <a:ext cx="706011" cy="9621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929E6BC6-6F25-C158-D6D0-626ABF1C2914}"/>
              </a:ext>
            </a:extLst>
          </p:cNvPr>
          <p:cNvCxnSpPr>
            <a:cxnSpLocks/>
          </p:cNvCxnSpPr>
          <p:nvPr/>
        </p:nvCxnSpPr>
        <p:spPr>
          <a:xfrm flipV="1">
            <a:off x="4343876" y="4758190"/>
            <a:ext cx="669392" cy="2347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26C2A966-7AB5-7A09-D474-E8A19B564B19}"/>
              </a:ext>
            </a:extLst>
          </p:cNvPr>
          <p:cNvCxnSpPr>
            <a:cxnSpLocks/>
          </p:cNvCxnSpPr>
          <p:nvPr/>
        </p:nvCxnSpPr>
        <p:spPr>
          <a:xfrm flipV="1">
            <a:off x="5174403" y="4243348"/>
            <a:ext cx="156179" cy="3778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9528B38-F8B8-6671-A425-7BAFA7467631}"/>
              </a:ext>
            </a:extLst>
          </p:cNvPr>
          <p:cNvCxnSpPr>
            <a:cxnSpLocks/>
          </p:cNvCxnSpPr>
          <p:nvPr/>
        </p:nvCxnSpPr>
        <p:spPr>
          <a:xfrm flipV="1">
            <a:off x="5252490" y="4321724"/>
            <a:ext cx="735506" cy="3290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32544F2D-0B9E-0D9C-FEEA-C1FDCC5C6A02}"/>
              </a:ext>
            </a:extLst>
          </p:cNvPr>
          <p:cNvCxnSpPr>
            <a:cxnSpLocks/>
          </p:cNvCxnSpPr>
          <p:nvPr/>
        </p:nvCxnSpPr>
        <p:spPr>
          <a:xfrm flipH="1" flipV="1">
            <a:off x="4396812" y="3604751"/>
            <a:ext cx="868280" cy="4841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C74BA7D0-4150-D164-B9E8-5E92F30AACD0}"/>
              </a:ext>
            </a:extLst>
          </p:cNvPr>
          <p:cNvCxnSpPr>
            <a:cxnSpLocks/>
          </p:cNvCxnSpPr>
          <p:nvPr/>
        </p:nvCxnSpPr>
        <p:spPr>
          <a:xfrm>
            <a:off x="5460549" y="4159553"/>
            <a:ext cx="523528" cy="724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5F5D6004-EEAE-21B2-F038-569691ACC279}"/>
              </a:ext>
            </a:extLst>
          </p:cNvPr>
          <p:cNvCxnSpPr>
            <a:cxnSpLocks/>
          </p:cNvCxnSpPr>
          <p:nvPr/>
        </p:nvCxnSpPr>
        <p:spPr>
          <a:xfrm flipV="1">
            <a:off x="5220868" y="4719508"/>
            <a:ext cx="1660809" cy="48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A1FBD281-625C-2E93-95D9-48BF201D3FFC}"/>
              </a:ext>
            </a:extLst>
          </p:cNvPr>
          <p:cNvCxnSpPr>
            <a:cxnSpLocks/>
          </p:cNvCxnSpPr>
          <p:nvPr/>
        </p:nvCxnSpPr>
        <p:spPr>
          <a:xfrm flipH="1" flipV="1">
            <a:off x="6892636" y="4218369"/>
            <a:ext cx="65496" cy="3743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Oval 223">
            <a:extLst>
              <a:ext uri="{FF2B5EF4-FFF2-40B4-BE49-F238E27FC236}">
                <a16:creationId xmlns:a16="http://schemas.microsoft.com/office/drawing/2014/main" id="{9AB52D85-E449-8847-8A08-6F150122E8B4}"/>
              </a:ext>
            </a:extLst>
          </p:cNvPr>
          <p:cNvSpPr/>
          <p:nvPr/>
        </p:nvSpPr>
        <p:spPr>
          <a:xfrm>
            <a:off x="5071538" y="4668246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AAE67E1B-68B1-9C41-2173-C982B2B0C7DE}"/>
              </a:ext>
            </a:extLst>
          </p:cNvPr>
          <p:cNvGrpSpPr/>
          <p:nvPr/>
        </p:nvGrpSpPr>
        <p:grpSpPr>
          <a:xfrm>
            <a:off x="6027293" y="4189140"/>
            <a:ext cx="1009536" cy="587019"/>
            <a:chOff x="4503293" y="4189137"/>
            <a:chExt cx="1009536" cy="587019"/>
          </a:xfrm>
        </p:grpSpPr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B4E00474-21BF-EBF0-0991-0EBF481EC61F}"/>
                </a:ext>
              </a:extLst>
            </p:cNvPr>
            <p:cNvCxnSpPr>
              <a:cxnSpLocks/>
            </p:cNvCxnSpPr>
            <p:nvPr/>
          </p:nvCxnSpPr>
          <p:spPr>
            <a:xfrm>
              <a:off x="4613517" y="4320579"/>
              <a:ext cx="784338" cy="330202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BFD94DE2-BFD9-D087-8D57-36BA459361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13558" y="4320579"/>
              <a:ext cx="784297" cy="3302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6F8A9C35-FD1E-51D6-F414-047C5FBBAAB6}"/>
                </a:ext>
              </a:extLst>
            </p:cNvPr>
            <p:cNvSpPr/>
            <p:nvPr/>
          </p:nvSpPr>
          <p:spPr>
            <a:xfrm>
              <a:off x="4503293" y="41891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65D2B6AA-743E-A487-6126-E3E27145C3FA}"/>
                </a:ext>
              </a:extLst>
            </p:cNvPr>
            <p:cNvSpPr/>
            <p:nvPr/>
          </p:nvSpPr>
          <p:spPr>
            <a:xfrm>
              <a:off x="5404829" y="466773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3FAB2AB6-51DE-AD4D-BB8E-00B38289341E}"/>
              </a:ext>
            </a:extLst>
          </p:cNvPr>
          <p:cNvCxnSpPr>
            <a:cxnSpLocks/>
          </p:cNvCxnSpPr>
          <p:nvPr/>
        </p:nvCxnSpPr>
        <p:spPr>
          <a:xfrm>
            <a:off x="7066040" y="4766899"/>
            <a:ext cx="712604" cy="2691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Oval 230">
            <a:extLst>
              <a:ext uri="{FF2B5EF4-FFF2-40B4-BE49-F238E27FC236}">
                <a16:creationId xmlns:a16="http://schemas.microsoft.com/office/drawing/2014/main" id="{62EB68FD-8D9D-1248-2423-8C34230C8273}"/>
              </a:ext>
            </a:extLst>
          </p:cNvPr>
          <p:cNvSpPr/>
          <p:nvPr/>
        </p:nvSpPr>
        <p:spPr>
          <a:xfrm>
            <a:off x="6837323" y="4063865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232" name="Oval 64">
            <a:extLst>
              <a:ext uri="{FF2B5EF4-FFF2-40B4-BE49-F238E27FC236}">
                <a16:creationId xmlns:a16="http://schemas.microsoft.com/office/drawing/2014/main" id="{2CB4CE46-F861-914B-FB21-3C72B3CF3546}"/>
              </a:ext>
            </a:extLst>
          </p:cNvPr>
          <p:cNvSpPr/>
          <p:nvPr/>
        </p:nvSpPr>
        <p:spPr>
          <a:xfrm>
            <a:off x="3363471" y="3903389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233" name="Oval 64">
            <a:extLst>
              <a:ext uri="{FF2B5EF4-FFF2-40B4-BE49-F238E27FC236}">
                <a16:creationId xmlns:a16="http://schemas.microsoft.com/office/drawing/2014/main" id="{93683C1B-E72E-C762-AE13-99D50EFC83D8}"/>
              </a:ext>
            </a:extLst>
          </p:cNvPr>
          <p:cNvSpPr/>
          <p:nvPr/>
        </p:nvSpPr>
        <p:spPr>
          <a:xfrm>
            <a:off x="4190955" y="4981760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234" name="Oval 64">
            <a:extLst>
              <a:ext uri="{FF2B5EF4-FFF2-40B4-BE49-F238E27FC236}">
                <a16:creationId xmlns:a16="http://schemas.microsoft.com/office/drawing/2014/main" id="{D8607D55-CD13-8B49-0325-10CFEDC8A997}"/>
              </a:ext>
            </a:extLst>
          </p:cNvPr>
          <p:cNvSpPr/>
          <p:nvPr/>
        </p:nvSpPr>
        <p:spPr>
          <a:xfrm>
            <a:off x="7814837" y="5009752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pic>
        <p:nvPicPr>
          <p:cNvPr id="235" name="Graphic 234" descr="Toy Train with solid fill">
            <a:extLst>
              <a:ext uri="{FF2B5EF4-FFF2-40B4-BE49-F238E27FC236}">
                <a16:creationId xmlns:a16="http://schemas.microsoft.com/office/drawing/2014/main" id="{E09D2A01-752A-98E6-52E6-FC0A2BCC1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139651">
            <a:off x="3693499" y="2926061"/>
            <a:ext cx="481847" cy="517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6" name="Textfeld 85">
                <a:extLst>
                  <a:ext uri="{FF2B5EF4-FFF2-40B4-BE49-F238E27FC236}">
                    <a16:creationId xmlns:a16="http://schemas.microsoft.com/office/drawing/2014/main" id="{571577B7-6328-8FDD-8483-5A40F0224777}"/>
                  </a:ext>
                </a:extLst>
              </p:cNvPr>
              <p:cNvSpPr txBox="1"/>
              <p:nvPr/>
            </p:nvSpPr>
            <p:spPr>
              <a:xfrm>
                <a:off x="3150763" y="3314289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36" name="Textfeld 85">
                <a:extLst>
                  <a:ext uri="{FF2B5EF4-FFF2-40B4-BE49-F238E27FC236}">
                    <a16:creationId xmlns:a16="http://schemas.microsoft.com/office/drawing/2014/main" id="{571577B7-6328-8FDD-8483-5A40F0224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0763" y="3314289"/>
                <a:ext cx="493070" cy="383054"/>
              </a:xfrm>
              <a:prstGeom prst="rect">
                <a:avLst/>
              </a:prstGeom>
              <a:blipFill>
                <a:blip r:embed="rId4"/>
                <a:stretch>
                  <a:fillRect l="-1235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7" name="Textfeld 85">
                <a:extLst>
                  <a:ext uri="{FF2B5EF4-FFF2-40B4-BE49-F238E27FC236}">
                    <a16:creationId xmlns:a16="http://schemas.microsoft.com/office/drawing/2014/main" id="{B431F3EF-6653-5D47-2A97-ECBB436F4A4D}"/>
                  </a:ext>
                </a:extLst>
              </p:cNvPr>
              <p:cNvSpPr txBox="1"/>
              <p:nvPr/>
            </p:nvSpPr>
            <p:spPr>
              <a:xfrm>
                <a:off x="4019312" y="3654585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37" name="Textfeld 85">
                <a:extLst>
                  <a:ext uri="{FF2B5EF4-FFF2-40B4-BE49-F238E27FC236}">
                    <a16:creationId xmlns:a16="http://schemas.microsoft.com/office/drawing/2014/main" id="{B431F3EF-6653-5D47-2A97-ECBB436F4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312" y="3654585"/>
                <a:ext cx="493070" cy="379463"/>
              </a:xfrm>
              <a:prstGeom prst="rect">
                <a:avLst/>
              </a:prstGeom>
              <a:blipFill>
                <a:blip r:embed="rId5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Textfeld 85">
                <a:extLst>
                  <a:ext uri="{FF2B5EF4-FFF2-40B4-BE49-F238E27FC236}">
                    <a16:creationId xmlns:a16="http://schemas.microsoft.com/office/drawing/2014/main" id="{60DBA0CE-05C2-CDCB-6406-80DE171264BC}"/>
                  </a:ext>
                </a:extLst>
              </p:cNvPr>
              <p:cNvSpPr txBox="1"/>
              <p:nvPr/>
            </p:nvSpPr>
            <p:spPr>
              <a:xfrm>
                <a:off x="5174400" y="3662650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38" name="Textfeld 85">
                <a:extLst>
                  <a:ext uri="{FF2B5EF4-FFF2-40B4-BE49-F238E27FC236}">
                    <a16:creationId xmlns:a16="http://schemas.microsoft.com/office/drawing/2014/main" id="{60DBA0CE-05C2-CDCB-6406-80DE17126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00" y="3662650"/>
                <a:ext cx="493070" cy="379463"/>
              </a:xfrm>
              <a:prstGeom prst="rect">
                <a:avLst/>
              </a:prstGeom>
              <a:blipFill>
                <a:blip r:embed="rId6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9" name="Textfeld 85">
                <a:extLst>
                  <a:ext uri="{FF2B5EF4-FFF2-40B4-BE49-F238E27FC236}">
                    <a16:creationId xmlns:a16="http://schemas.microsoft.com/office/drawing/2014/main" id="{0D9E9530-1ABF-B122-B2AF-C35FABA4F1A0}"/>
                  </a:ext>
                </a:extLst>
              </p:cNvPr>
              <p:cNvSpPr txBox="1"/>
              <p:nvPr/>
            </p:nvSpPr>
            <p:spPr>
              <a:xfrm>
                <a:off x="5858298" y="3800785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39" name="Textfeld 85">
                <a:extLst>
                  <a:ext uri="{FF2B5EF4-FFF2-40B4-BE49-F238E27FC236}">
                    <a16:creationId xmlns:a16="http://schemas.microsoft.com/office/drawing/2014/main" id="{0D9E9530-1ABF-B122-B2AF-C35FABA4F1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298" y="3800785"/>
                <a:ext cx="493070" cy="383054"/>
              </a:xfrm>
              <a:prstGeom prst="rect">
                <a:avLst/>
              </a:prstGeom>
              <a:blipFill>
                <a:blip r:embed="rId7"/>
                <a:stretch>
                  <a:fillRect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0" name="Textfeld 85">
                <a:extLst>
                  <a:ext uri="{FF2B5EF4-FFF2-40B4-BE49-F238E27FC236}">
                    <a16:creationId xmlns:a16="http://schemas.microsoft.com/office/drawing/2014/main" id="{252730E4-6B90-216D-2E86-826ED7D3F18D}"/>
                  </a:ext>
                </a:extLst>
              </p:cNvPr>
              <p:cNvSpPr txBox="1"/>
              <p:nvPr/>
            </p:nvSpPr>
            <p:spPr>
              <a:xfrm>
                <a:off x="6663452" y="4283733"/>
                <a:ext cx="493070" cy="378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40" name="Textfeld 85">
                <a:extLst>
                  <a:ext uri="{FF2B5EF4-FFF2-40B4-BE49-F238E27FC236}">
                    <a16:creationId xmlns:a16="http://schemas.microsoft.com/office/drawing/2014/main" id="{252730E4-6B90-216D-2E86-826ED7D3F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52" y="4283733"/>
                <a:ext cx="493070" cy="378565"/>
              </a:xfrm>
              <a:prstGeom prst="rect">
                <a:avLst/>
              </a:prstGeom>
              <a:blipFill>
                <a:blip r:embed="rId8"/>
                <a:stretch>
                  <a:fillRect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Textfeld 85">
                <a:extLst>
                  <a:ext uri="{FF2B5EF4-FFF2-40B4-BE49-F238E27FC236}">
                    <a16:creationId xmlns:a16="http://schemas.microsoft.com/office/drawing/2014/main" id="{CF10040B-F31E-92DE-B432-362258EB6E99}"/>
                  </a:ext>
                </a:extLst>
              </p:cNvPr>
              <p:cNvSpPr txBox="1"/>
              <p:nvPr/>
            </p:nvSpPr>
            <p:spPr>
              <a:xfrm>
                <a:off x="7922619" y="3645815"/>
                <a:ext cx="493070" cy="3792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41" name="Textfeld 85">
                <a:extLst>
                  <a:ext uri="{FF2B5EF4-FFF2-40B4-BE49-F238E27FC236}">
                    <a16:creationId xmlns:a16="http://schemas.microsoft.com/office/drawing/2014/main" id="{CF10040B-F31E-92DE-B432-362258EB6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619" y="3645815"/>
                <a:ext cx="493070" cy="379271"/>
              </a:xfrm>
              <a:prstGeom prst="rect">
                <a:avLst/>
              </a:prstGeom>
              <a:blipFill>
                <a:blip r:embed="rId9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Textfeld 85">
                <a:extLst>
                  <a:ext uri="{FF2B5EF4-FFF2-40B4-BE49-F238E27FC236}">
                    <a16:creationId xmlns:a16="http://schemas.microsoft.com/office/drawing/2014/main" id="{54FDA91C-0567-5DC7-9AF8-EE611688F6A9}"/>
                  </a:ext>
                </a:extLst>
              </p:cNvPr>
              <p:cNvSpPr txBox="1"/>
              <p:nvPr/>
            </p:nvSpPr>
            <p:spPr>
              <a:xfrm>
                <a:off x="8672627" y="3642032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rgbClr val="F67400"/>
                              </a:solidFill>
                              <a:latin typeface="+mn-lt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</a:endParaRPr>
              </a:p>
            </p:txBody>
          </p:sp>
        </mc:Choice>
        <mc:Fallback xmlns="">
          <p:sp>
            <p:nvSpPr>
              <p:cNvPr id="242" name="Textfeld 85">
                <a:extLst>
                  <a:ext uri="{FF2B5EF4-FFF2-40B4-BE49-F238E27FC236}">
                    <a16:creationId xmlns:a16="http://schemas.microsoft.com/office/drawing/2014/main" id="{54FDA91C-0567-5DC7-9AF8-EE611688F6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627" y="3642032"/>
                <a:ext cx="493070" cy="383054"/>
              </a:xfrm>
              <a:prstGeom prst="rect">
                <a:avLst/>
              </a:prstGeom>
              <a:blipFill>
                <a:blip r:embed="rId10"/>
                <a:stretch>
                  <a:fillRect l="-1235"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3" name="TextBox 242">
            <a:extLst>
              <a:ext uri="{FF2B5EF4-FFF2-40B4-BE49-F238E27FC236}">
                <a16:creationId xmlns:a16="http://schemas.microsoft.com/office/drawing/2014/main" id="{C01CFF01-1A61-066E-B003-82A08C25626D}"/>
              </a:ext>
            </a:extLst>
          </p:cNvPr>
          <p:cNvSpPr txBox="1"/>
          <p:nvPr/>
        </p:nvSpPr>
        <p:spPr>
          <a:xfrm>
            <a:off x="4668452" y="4956315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>
                <a:latin typeface="+mn-lt"/>
              </a:rPr>
              <a:t>C</a:t>
            </a:r>
            <a:endParaRPr lang="en-DE" sz="1200" b="1">
              <a:latin typeface="+mn-lt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786693D6-4446-AEE3-8CD5-E1A17B5D114F}"/>
              </a:ext>
            </a:extLst>
          </p:cNvPr>
          <p:cNvSpPr txBox="1"/>
          <p:nvPr/>
        </p:nvSpPr>
        <p:spPr>
          <a:xfrm>
            <a:off x="7215829" y="4944107"/>
            <a:ext cx="153007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>
                <a:latin typeface="+mn-lt"/>
              </a:rPr>
              <a:t>D</a:t>
            </a:r>
            <a:endParaRPr lang="en-DE" sz="1600" b="1">
              <a:latin typeface="+mn-lt"/>
            </a:endParaRPr>
          </a:p>
        </p:txBody>
      </p: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2C8A1BBE-2013-0873-4838-0FB78EE182AF}"/>
              </a:ext>
            </a:extLst>
          </p:cNvPr>
          <p:cNvCxnSpPr>
            <a:cxnSpLocks/>
          </p:cNvCxnSpPr>
          <p:nvPr/>
        </p:nvCxnSpPr>
        <p:spPr>
          <a:xfrm>
            <a:off x="3481429" y="3253842"/>
            <a:ext cx="728864" cy="259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F3418423-2D6E-9887-0E84-7179C08661B9}"/>
              </a:ext>
            </a:extLst>
          </p:cNvPr>
          <p:cNvGrpSpPr/>
          <p:nvPr/>
        </p:nvGrpSpPr>
        <p:grpSpPr>
          <a:xfrm>
            <a:off x="8214662" y="3046430"/>
            <a:ext cx="928896" cy="458480"/>
            <a:chOff x="8214662" y="3046430"/>
            <a:chExt cx="928896" cy="4584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7" name="Textfeld 67">
                  <a:extLst>
                    <a:ext uri="{FF2B5EF4-FFF2-40B4-BE49-F238E27FC236}">
                      <a16:creationId xmlns:a16="http://schemas.microsoft.com/office/drawing/2014/main" id="{2BC441B3-476D-C0B7-6DAA-638FB82540CF}"/>
                    </a:ext>
                  </a:extLst>
                </p:cNvPr>
                <p:cNvSpPr txBox="1"/>
                <p:nvPr/>
              </p:nvSpPr>
              <p:spPr>
                <a:xfrm>
                  <a:off x="8650488" y="3046430"/>
                  <a:ext cx="493070" cy="37927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7" name="Textfeld 67">
                  <a:extLst>
                    <a:ext uri="{FF2B5EF4-FFF2-40B4-BE49-F238E27FC236}">
                      <a16:creationId xmlns:a16="http://schemas.microsoft.com/office/drawing/2014/main" id="{2BC441B3-476D-C0B7-6DAA-638FB82540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0488" y="3046430"/>
                  <a:ext cx="493070" cy="379271"/>
                </a:xfrm>
                <a:prstGeom prst="rect">
                  <a:avLst/>
                </a:prstGeom>
                <a:blipFill>
                  <a:blip r:embed="rId11"/>
                  <a:stretch>
                    <a:fillRect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8" name="Straight Connector 63">
              <a:extLst>
                <a:ext uri="{FF2B5EF4-FFF2-40B4-BE49-F238E27FC236}">
                  <a16:creationId xmlns:a16="http://schemas.microsoft.com/office/drawing/2014/main" id="{758F51B9-B702-AA7A-C8F7-D92E41146168}"/>
                </a:ext>
              </a:extLst>
            </p:cNvPr>
            <p:cNvCxnSpPr>
              <a:cxnSpLocks/>
            </p:cNvCxnSpPr>
            <p:nvPr/>
          </p:nvCxnSpPr>
          <p:spPr>
            <a:xfrm>
              <a:off x="8214662" y="3504910"/>
              <a:ext cx="590899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0ECC7AF6-3A74-92ED-8B90-345B2DD8CB13}"/>
              </a:ext>
            </a:extLst>
          </p:cNvPr>
          <p:cNvCxnSpPr>
            <a:cxnSpLocks/>
          </p:cNvCxnSpPr>
          <p:nvPr/>
        </p:nvCxnSpPr>
        <p:spPr>
          <a:xfrm>
            <a:off x="8214662" y="3546032"/>
            <a:ext cx="59111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697C91C6-956E-2DBA-D2AC-5A1A7872DED9}"/>
              </a:ext>
            </a:extLst>
          </p:cNvPr>
          <p:cNvGrpSpPr/>
          <p:nvPr/>
        </p:nvGrpSpPr>
        <p:grpSpPr>
          <a:xfrm>
            <a:off x="4407879" y="3190739"/>
            <a:ext cx="1605034" cy="341928"/>
            <a:chOff x="4407879" y="3190739"/>
            <a:chExt cx="1605034" cy="341928"/>
          </a:xfrm>
        </p:grpSpPr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E6A1DD20-BAF9-92BF-190E-BFB57820C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A7688F42-FA68-E7B7-566E-2DB6D90D2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D1D934D8-090D-B742-B440-3EA8009BE22D}"/>
              </a:ext>
            </a:extLst>
          </p:cNvPr>
          <p:cNvGrpSpPr/>
          <p:nvPr/>
        </p:nvGrpSpPr>
        <p:grpSpPr>
          <a:xfrm>
            <a:off x="6985371" y="3590313"/>
            <a:ext cx="985075" cy="492128"/>
            <a:chOff x="6985371" y="3590313"/>
            <a:chExt cx="985075" cy="492128"/>
          </a:xfrm>
        </p:grpSpPr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9613183F-35A6-7FC1-0409-3840FF3D5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512" y="3594244"/>
              <a:ext cx="968804" cy="4809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2987ADAC-ED17-EB5F-8616-220198B79C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371" y="3590313"/>
              <a:ext cx="985075" cy="4921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50451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5C21F986-6BB6-95C8-7E06-8E6B895B79EB}"/>
              </a:ext>
            </a:extLst>
          </p:cNvPr>
          <p:cNvGrpSpPr/>
          <p:nvPr/>
        </p:nvGrpSpPr>
        <p:grpSpPr>
          <a:xfrm>
            <a:off x="3209313" y="2748853"/>
            <a:ext cx="1014046" cy="728335"/>
            <a:chOff x="3209313" y="2748853"/>
            <a:chExt cx="1014046" cy="728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feld 67">
                  <a:extLst>
                    <a:ext uri="{FF2B5EF4-FFF2-40B4-BE49-F238E27FC236}">
                      <a16:creationId xmlns:a16="http://schemas.microsoft.com/office/drawing/2014/main" id="{361BFDAC-6205-8A8F-53A7-1F6D3F9C6CDF}"/>
                    </a:ext>
                  </a:extLst>
                </p:cNvPr>
                <p:cNvSpPr txBox="1"/>
                <p:nvPr/>
              </p:nvSpPr>
              <p:spPr>
                <a:xfrm>
                  <a:off x="3209313" y="2748853"/>
                  <a:ext cx="493070" cy="3830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 smtClean="0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57" name="Textfeld 67">
                  <a:extLst>
                    <a:ext uri="{FF2B5EF4-FFF2-40B4-BE49-F238E27FC236}">
                      <a16:creationId xmlns:a16="http://schemas.microsoft.com/office/drawing/2014/main" id="{361BFDAC-6205-8A8F-53A7-1F6D3F9C6C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9313" y="2748853"/>
                  <a:ext cx="493070" cy="383054"/>
                </a:xfrm>
                <a:prstGeom prst="rect">
                  <a:avLst/>
                </a:prstGeom>
                <a:blipFill>
                  <a:blip r:embed="rId12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8" name="Straight Connector 63">
              <a:extLst>
                <a:ext uri="{FF2B5EF4-FFF2-40B4-BE49-F238E27FC236}">
                  <a16:creationId xmlns:a16="http://schemas.microsoft.com/office/drawing/2014/main" id="{57A196E1-781A-7EC0-BD35-94683675BE3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313" y="3210121"/>
              <a:ext cx="723046" cy="2670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AE487DE9-011E-325F-249E-4E81ACA44402}"/>
              </a:ext>
            </a:extLst>
          </p:cNvPr>
          <p:cNvGrpSpPr/>
          <p:nvPr/>
        </p:nvGrpSpPr>
        <p:grpSpPr>
          <a:xfrm>
            <a:off x="6627095" y="3633749"/>
            <a:ext cx="493070" cy="538540"/>
            <a:chOff x="6627095" y="3633749"/>
            <a:chExt cx="493070" cy="5385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0" name="Textfeld 67">
                  <a:extLst>
                    <a:ext uri="{FF2B5EF4-FFF2-40B4-BE49-F238E27FC236}">
                      <a16:creationId xmlns:a16="http://schemas.microsoft.com/office/drawing/2014/main" id="{44BF7B34-375E-1034-B917-51A0A1BBCB31}"/>
                    </a:ext>
                  </a:extLst>
                </p:cNvPr>
                <p:cNvSpPr txBox="1"/>
                <p:nvPr/>
              </p:nvSpPr>
              <p:spPr>
                <a:xfrm>
                  <a:off x="6627095" y="3633749"/>
                  <a:ext cx="493070" cy="3830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0" name="Textfeld 67">
                  <a:extLst>
                    <a:ext uri="{FF2B5EF4-FFF2-40B4-BE49-F238E27FC236}">
                      <a16:creationId xmlns:a16="http://schemas.microsoft.com/office/drawing/2014/main" id="{44BF7B34-375E-1034-B917-51A0A1BBCB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95" y="3633749"/>
                  <a:ext cx="493070" cy="383054"/>
                </a:xfrm>
                <a:prstGeom prst="rect">
                  <a:avLst/>
                </a:prstGeom>
                <a:blipFill>
                  <a:blip r:embed="rId13"/>
                  <a:stretch>
                    <a:fillRect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4F1D1551-4987-30F5-69D0-33C7D4C5CFF4}"/>
                </a:ext>
              </a:extLst>
            </p:cNvPr>
            <p:cNvSpPr/>
            <p:nvPr/>
          </p:nvSpPr>
          <p:spPr>
            <a:xfrm>
              <a:off x="6837323" y="40638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9B3CBD8F-A327-D9E2-C164-93A8A2E0C0A6}"/>
              </a:ext>
            </a:extLst>
          </p:cNvPr>
          <p:cNvGrpSpPr/>
          <p:nvPr/>
        </p:nvGrpSpPr>
        <p:grpSpPr>
          <a:xfrm>
            <a:off x="4129059" y="3110726"/>
            <a:ext cx="493070" cy="502608"/>
            <a:chOff x="4129059" y="3110726"/>
            <a:chExt cx="493070" cy="5026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3" name="Textfeld 67">
                  <a:extLst>
                    <a:ext uri="{FF2B5EF4-FFF2-40B4-BE49-F238E27FC236}">
                      <a16:creationId xmlns:a16="http://schemas.microsoft.com/office/drawing/2014/main" id="{03FC0690-44EA-56A8-CDBF-BD801A655B75}"/>
                    </a:ext>
                  </a:extLst>
                </p:cNvPr>
                <p:cNvSpPr txBox="1"/>
                <p:nvPr/>
              </p:nvSpPr>
              <p:spPr>
                <a:xfrm>
                  <a:off x="4129059" y="3110726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3" name="Textfeld 67">
                  <a:extLst>
                    <a:ext uri="{FF2B5EF4-FFF2-40B4-BE49-F238E27FC236}">
                      <a16:creationId xmlns:a16="http://schemas.microsoft.com/office/drawing/2014/main" id="{03FC0690-44EA-56A8-CDBF-BD801A655B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9059" y="3110726"/>
                  <a:ext cx="493070" cy="379463"/>
                </a:xfrm>
                <a:prstGeom prst="rect">
                  <a:avLst/>
                </a:prstGeom>
                <a:blipFill>
                  <a:blip r:embed="rId14"/>
                  <a:stretch>
                    <a:fillRect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51ABB6AC-8554-48F5-8976-AC3D7E42B210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89774EBE-679F-EC6F-70CA-06C197CC7BE6}"/>
              </a:ext>
            </a:extLst>
          </p:cNvPr>
          <p:cNvGrpSpPr/>
          <p:nvPr/>
        </p:nvGrpSpPr>
        <p:grpSpPr>
          <a:xfrm>
            <a:off x="3353545" y="3191501"/>
            <a:ext cx="379848" cy="553042"/>
            <a:chOff x="3353545" y="3191501"/>
            <a:chExt cx="379848" cy="553042"/>
          </a:xfrm>
        </p:grpSpPr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C4784387-FE28-2CA4-BAF6-5DE1F6F81DEE}"/>
                </a:ext>
              </a:extLst>
            </p:cNvPr>
            <p:cNvSpPr txBox="1"/>
            <p:nvPr/>
          </p:nvSpPr>
          <p:spPr>
            <a:xfrm>
              <a:off x="3580386" y="3422980"/>
              <a:ext cx="153007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 b="1">
                  <a:latin typeface="+mn-lt"/>
                </a:rPr>
                <a:t>A</a:t>
              </a:r>
              <a:endParaRPr lang="en-DE" sz="1200" b="1">
                <a:latin typeface="+mn-lt"/>
              </a:endParaRPr>
            </a:p>
          </p:txBody>
        </p:sp>
        <p:sp>
          <p:nvSpPr>
            <p:cNvPr id="267" name="Oval 64">
              <a:extLst>
                <a:ext uri="{FF2B5EF4-FFF2-40B4-BE49-F238E27FC236}">
                  <a16:creationId xmlns:a16="http://schemas.microsoft.com/office/drawing/2014/main" id="{22B0CF54-29CB-154C-860A-5D34B4B6C612}"/>
                </a:ext>
              </a:extLst>
            </p:cNvPr>
            <p:cNvSpPr/>
            <p:nvPr/>
          </p:nvSpPr>
          <p:spPr>
            <a:xfrm>
              <a:off x="3353545" y="319150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8C0F9C9-4847-B4E9-FF1B-D423D022CFF5}"/>
              </a:ext>
            </a:extLst>
          </p:cNvPr>
          <p:cNvGrpSpPr/>
          <p:nvPr/>
        </p:nvGrpSpPr>
        <p:grpSpPr>
          <a:xfrm>
            <a:off x="7854242" y="3046430"/>
            <a:ext cx="493070" cy="553815"/>
            <a:chOff x="7854242" y="3046430"/>
            <a:chExt cx="493070" cy="5538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Textfeld 67">
                  <a:extLst>
                    <a:ext uri="{FF2B5EF4-FFF2-40B4-BE49-F238E27FC236}">
                      <a16:creationId xmlns:a16="http://schemas.microsoft.com/office/drawing/2014/main" id="{0F880AD4-432A-16C4-C653-F86FDB937075}"/>
                    </a:ext>
                  </a:extLst>
                </p:cNvPr>
                <p:cNvSpPr txBox="1"/>
                <p:nvPr/>
              </p:nvSpPr>
              <p:spPr>
                <a:xfrm>
                  <a:off x="7854242" y="3046430"/>
                  <a:ext cx="493070" cy="3785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69" name="Textfeld 67">
                  <a:extLst>
                    <a:ext uri="{FF2B5EF4-FFF2-40B4-BE49-F238E27FC236}">
                      <a16:creationId xmlns:a16="http://schemas.microsoft.com/office/drawing/2014/main" id="{0F880AD4-432A-16C4-C653-F86FDB9370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242" y="3046430"/>
                  <a:ext cx="493070" cy="378565"/>
                </a:xfrm>
                <a:prstGeom prst="rect">
                  <a:avLst/>
                </a:prstGeom>
                <a:blipFill>
                  <a:blip r:embed="rId15"/>
                  <a:stretch>
                    <a:fillRect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8A00CAF2-7DF8-573F-1902-2A659C31254E}"/>
                </a:ext>
              </a:extLst>
            </p:cNvPr>
            <p:cNvSpPr/>
            <p:nvPr/>
          </p:nvSpPr>
          <p:spPr>
            <a:xfrm>
              <a:off x="8061650" y="349182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D239FC3E-60BA-2A26-1CE9-DF752F69D86A}"/>
              </a:ext>
            </a:extLst>
          </p:cNvPr>
          <p:cNvGrpSpPr/>
          <p:nvPr/>
        </p:nvGrpSpPr>
        <p:grpSpPr>
          <a:xfrm>
            <a:off x="8433716" y="3485937"/>
            <a:ext cx="539446" cy="449582"/>
            <a:chOff x="8433716" y="3485937"/>
            <a:chExt cx="539446" cy="449582"/>
          </a:xfrm>
        </p:grpSpPr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809D1D23-4560-B841-4513-E5FF45451A5D}"/>
                </a:ext>
              </a:extLst>
            </p:cNvPr>
            <p:cNvSpPr txBox="1"/>
            <p:nvPr/>
          </p:nvSpPr>
          <p:spPr>
            <a:xfrm>
              <a:off x="8433716" y="3613956"/>
              <a:ext cx="153007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2000" b="1">
                  <a:latin typeface="+mn-lt"/>
                </a:rPr>
                <a:t>B</a:t>
              </a:r>
              <a:endParaRPr lang="en-DE" sz="1600" b="1">
                <a:latin typeface="+mn-lt"/>
              </a:endParaRPr>
            </a:p>
          </p:txBody>
        </p:sp>
        <p:sp>
          <p:nvSpPr>
            <p:cNvPr id="273" name="Oval 64">
              <a:extLst>
                <a:ext uri="{FF2B5EF4-FFF2-40B4-BE49-F238E27FC236}">
                  <a16:creationId xmlns:a16="http://schemas.microsoft.com/office/drawing/2014/main" id="{611CAEF4-8322-6211-FD3A-E1272C823C41}"/>
                </a:ext>
              </a:extLst>
            </p:cNvPr>
            <p:cNvSpPr/>
            <p:nvPr/>
          </p:nvSpPr>
          <p:spPr>
            <a:xfrm>
              <a:off x="8865162" y="34859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8D0F176E-67E3-40CE-E46F-6E86C3C947E3}"/>
              </a:ext>
            </a:extLst>
          </p:cNvPr>
          <p:cNvGrpSpPr/>
          <p:nvPr/>
        </p:nvGrpSpPr>
        <p:grpSpPr>
          <a:xfrm>
            <a:off x="5849465" y="2683405"/>
            <a:ext cx="493070" cy="544771"/>
            <a:chOff x="5849465" y="2683405"/>
            <a:chExt cx="493070" cy="544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5" name="Textfeld 67">
                  <a:extLst>
                    <a:ext uri="{FF2B5EF4-FFF2-40B4-BE49-F238E27FC236}">
                      <a16:creationId xmlns:a16="http://schemas.microsoft.com/office/drawing/2014/main" id="{96E1A3B5-EAE1-819F-A8F6-1009F3B2A6DD}"/>
                    </a:ext>
                  </a:extLst>
                </p:cNvPr>
                <p:cNvSpPr txBox="1"/>
                <p:nvPr/>
              </p:nvSpPr>
              <p:spPr>
                <a:xfrm>
                  <a:off x="5849465" y="2683405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Arial (Body)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Arial (Body)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Arial (Body)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75" name="Textfeld 67">
                  <a:extLst>
                    <a:ext uri="{FF2B5EF4-FFF2-40B4-BE49-F238E27FC236}">
                      <a16:creationId xmlns:a16="http://schemas.microsoft.com/office/drawing/2014/main" id="{96E1A3B5-EAE1-819F-A8F6-1009F3B2A6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465" y="2683405"/>
                  <a:ext cx="493070" cy="379463"/>
                </a:xfrm>
                <a:prstGeom prst="rect">
                  <a:avLst/>
                </a:prstGeom>
                <a:blipFill>
                  <a:blip r:embed="rId16"/>
                  <a:stretch>
                    <a:fillRect l="-1250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5560B99E-682B-DDF3-005D-3C864092A6E8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7B1237B-E2AC-8825-8A65-7FDE76BEF691}"/>
              </a:ext>
            </a:extLst>
          </p:cNvPr>
          <p:cNvGrpSpPr/>
          <p:nvPr/>
        </p:nvGrpSpPr>
        <p:grpSpPr>
          <a:xfrm>
            <a:off x="6159681" y="3253842"/>
            <a:ext cx="677642" cy="798622"/>
            <a:chOff x="6159681" y="3253842"/>
            <a:chExt cx="677642" cy="798622"/>
          </a:xfrm>
        </p:grpSpPr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75069554-1A31-0E5F-3BAC-30A04E3F8814}"/>
                </a:ext>
              </a:extLst>
            </p:cNvPr>
            <p:cNvCxnSpPr>
              <a:cxnSpLocks/>
            </p:cNvCxnSpPr>
            <p:nvPr/>
          </p:nvCxnSpPr>
          <p:spPr>
            <a:xfrm>
              <a:off x="6159681" y="3253842"/>
              <a:ext cx="677642" cy="7986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953B93C0-2CB7-50A6-5842-3295045DC025}"/>
                </a:ext>
              </a:extLst>
            </p:cNvPr>
            <p:cNvCxnSpPr>
              <a:cxnSpLocks/>
            </p:cNvCxnSpPr>
            <p:nvPr/>
          </p:nvCxnSpPr>
          <p:spPr>
            <a:xfrm>
              <a:off x="6160777" y="3253842"/>
              <a:ext cx="676546" cy="79862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9C9938A-AC72-E2F1-B155-E005237597DB}"/>
              </a:ext>
            </a:extLst>
          </p:cNvPr>
          <p:cNvGrpSpPr/>
          <p:nvPr/>
        </p:nvGrpSpPr>
        <p:grpSpPr>
          <a:xfrm>
            <a:off x="4007096" y="4320088"/>
            <a:ext cx="4093681" cy="1159618"/>
            <a:chOff x="4007096" y="4320088"/>
            <a:chExt cx="4093681" cy="1159618"/>
          </a:xfrm>
        </p:grpSpPr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67E232B4-320A-76B7-3972-0D5D1A3E4CE2}"/>
                </a:ext>
              </a:extLst>
            </p:cNvPr>
            <p:cNvCxnSpPr>
              <a:cxnSpLocks/>
            </p:cNvCxnSpPr>
            <p:nvPr/>
          </p:nvCxnSpPr>
          <p:spPr>
            <a:xfrm>
              <a:off x="6123239" y="4349182"/>
              <a:ext cx="784338" cy="330202"/>
            </a:xfrm>
            <a:prstGeom prst="line">
              <a:avLst/>
            </a:prstGeom>
            <a:ln w="57150">
              <a:solidFill>
                <a:srgbClr val="7FD7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68">
              <a:extLst>
                <a:ext uri="{FF2B5EF4-FFF2-40B4-BE49-F238E27FC236}">
                  <a16:creationId xmlns:a16="http://schemas.microsoft.com/office/drawing/2014/main" id="{818C1AC8-8E91-F621-B770-A57CE6A24B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662" y="4320088"/>
              <a:ext cx="741167" cy="331182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68">
              <a:extLst>
                <a:ext uri="{FF2B5EF4-FFF2-40B4-BE49-F238E27FC236}">
                  <a16:creationId xmlns:a16="http://schemas.microsoft.com/office/drawing/2014/main" id="{ACA8435C-89C0-7C8E-FF07-EA717EFB4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0065" y="4719508"/>
              <a:ext cx="666750" cy="233495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4" name="Graphic 283" descr="Toy Train with solid fill">
              <a:extLst>
                <a:ext uri="{FF2B5EF4-FFF2-40B4-BE49-F238E27FC236}">
                  <a16:creationId xmlns:a16="http://schemas.microsoft.com/office/drawing/2014/main" id="{041F7FFF-7323-CCBC-B9E5-B873DF36C9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 rot="20428331">
              <a:off x="4326751" y="4411602"/>
              <a:ext cx="481847" cy="517170"/>
            </a:xfrm>
            <a:prstGeom prst="rect">
              <a:avLst/>
            </a:prstGeom>
          </p:spPr>
        </p:pic>
        <p:cxnSp>
          <p:nvCxnSpPr>
            <p:cNvPr id="285" name="Straight Connector 68">
              <a:extLst>
                <a:ext uri="{FF2B5EF4-FFF2-40B4-BE49-F238E27FC236}">
                  <a16:creationId xmlns:a16="http://schemas.microsoft.com/office/drawing/2014/main" id="{60AD3A7E-E686-5974-4C44-DD458A007BBF}"/>
                </a:ext>
              </a:extLst>
            </p:cNvPr>
            <p:cNvCxnSpPr>
              <a:cxnSpLocks/>
            </p:cNvCxnSpPr>
            <p:nvPr/>
          </p:nvCxnSpPr>
          <p:spPr>
            <a:xfrm>
              <a:off x="7083987" y="4729156"/>
              <a:ext cx="709371" cy="262754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" name="Textfeld 85">
                  <a:extLst>
                    <a:ext uri="{FF2B5EF4-FFF2-40B4-BE49-F238E27FC236}">
                      <a16:creationId xmlns:a16="http://schemas.microsoft.com/office/drawing/2014/main" id="{74BAC1CC-3BD6-1C01-F549-AA704A866293}"/>
                    </a:ext>
                  </a:extLst>
                </p:cNvPr>
                <p:cNvSpPr txBox="1"/>
                <p:nvPr/>
              </p:nvSpPr>
              <p:spPr>
                <a:xfrm>
                  <a:off x="4007096" y="5064286"/>
                  <a:ext cx="493070" cy="3830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6" name="Textfeld 85">
                  <a:extLst>
                    <a:ext uri="{FF2B5EF4-FFF2-40B4-BE49-F238E27FC236}">
                      <a16:creationId xmlns:a16="http://schemas.microsoft.com/office/drawing/2014/main" id="{74BAC1CC-3BD6-1C01-F549-AA704A8662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096" y="5064286"/>
                  <a:ext cx="493070" cy="383054"/>
                </a:xfrm>
                <a:prstGeom prst="rect">
                  <a:avLst/>
                </a:prstGeom>
                <a:blipFill>
                  <a:blip r:embed="rId17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7" name="Textfeld 85">
                  <a:extLst>
                    <a:ext uri="{FF2B5EF4-FFF2-40B4-BE49-F238E27FC236}">
                      <a16:creationId xmlns:a16="http://schemas.microsoft.com/office/drawing/2014/main" id="{96201635-4BED-7E3A-671B-B216D27C4BFE}"/>
                    </a:ext>
                  </a:extLst>
                </p:cNvPr>
                <p:cNvSpPr txBox="1"/>
                <p:nvPr/>
              </p:nvSpPr>
              <p:spPr>
                <a:xfrm>
                  <a:off x="4879003" y="4797547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7" name="Textfeld 85">
                  <a:extLst>
                    <a:ext uri="{FF2B5EF4-FFF2-40B4-BE49-F238E27FC236}">
                      <a16:creationId xmlns:a16="http://schemas.microsoft.com/office/drawing/2014/main" id="{96201635-4BED-7E3A-671B-B216D27C4B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03" y="4797547"/>
                  <a:ext cx="493070" cy="379463"/>
                </a:xfrm>
                <a:prstGeom prst="rect">
                  <a:avLst/>
                </a:prstGeom>
                <a:blipFill>
                  <a:blip r:embed="rId18"/>
                  <a:stretch>
                    <a:fillRect b="-209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feld 85">
                  <a:extLst>
                    <a:ext uri="{FF2B5EF4-FFF2-40B4-BE49-F238E27FC236}">
                      <a16:creationId xmlns:a16="http://schemas.microsoft.com/office/drawing/2014/main" id="{AAB6C4BB-364F-A60C-21A3-70BDA25DEB82}"/>
                    </a:ext>
                  </a:extLst>
                </p:cNvPr>
                <p:cNvSpPr txBox="1"/>
                <p:nvPr/>
              </p:nvSpPr>
              <p:spPr>
                <a:xfrm>
                  <a:off x="6720869" y="4774868"/>
                  <a:ext cx="493070" cy="38305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8" name="Textfeld 85">
                  <a:extLst>
                    <a:ext uri="{FF2B5EF4-FFF2-40B4-BE49-F238E27FC236}">
                      <a16:creationId xmlns:a16="http://schemas.microsoft.com/office/drawing/2014/main" id="{AAB6C4BB-364F-A60C-21A3-70BDA25DE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869" y="4774868"/>
                  <a:ext cx="493070" cy="383054"/>
                </a:xfrm>
                <a:prstGeom prst="rect">
                  <a:avLst/>
                </a:prstGeom>
                <a:blipFill>
                  <a:blip r:embed="rId19"/>
                  <a:stretch>
                    <a:fillRect l="-1250"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9" name="Textfeld 85">
                  <a:extLst>
                    <a:ext uri="{FF2B5EF4-FFF2-40B4-BE49-F238E27FC236}">
                      <a16:creationId xmlns:a16="http://schemas.microsoft.com/office/drawing/2014/main" id="{1586A782-E255-810F-98B9-0B070D3EDF75}"/>
                    </a:ext>
                  </a:extLst>
                </p:cNvPr>
                <p:cNvSpPr txBox="1"/>
                <p:nvPr/>
              </p:nvSpPr>
              <p:spPr>
                <a:xfrm>
                  <a:off x="7607707" y="5101141"/>
                  <a:ext cx="493070" cy="3785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89" name="Textfeld 85">
                  <a:extLst>
                    <a:ext uri="{FF2B5EF4-FFF2-40B4-BE49-F238E27FC236}">
                      <a16:creationId xmlns:a16="http://schemas.microsoft.com/office/drawing/2014/main" id="{1586A782-E255-810F-98B9-0B070D3EDF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7707" y="5101141"/>
                  <a:ext cx="493070" cy="378565"/>
                </a:xfrm>
                <a:prstGeom prst="rect">
                  <a:avLst/>
                </a:prstGeom>
                <a:blipFill>
                  <a:blip r:embed="rId20"/>
                  <a:stretch>
                    <a:fillRect l="-1235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0" name="Textfeld 85">
                  <a:extLst>
                    <a:ext uri="{FF2B5EF4-FFF2-40B4-BE49-F238E27FC236}">
                      <a16:creationId xmlns:a16="http://schemas.microsoft.com/office/drawing/2014/main" id="{FE04BD82-EFED-8351-2800-9F9B0ED21E6E}"/>
                    </a:ext>
                  </a:extLst>
                </p:cNvPr>
                <p:cNvSpPr txBox="1"/>
                <p:nvPr/>
              </p:nvSpPr>
              <p:spPr>
                <a:xfrm>
                  <a:off x="5849572" y="4330303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90" name="Textfeld 85">
                  <a:extLst>
                    <a:ext uri="{FF2B5EF4-FFF2-40B4-BE49-F238E27FC236}">
                      <a16:creationId xmlns:a16="http://schemas.microsoft.com/office/drawing/2014/main" id="{FE04BD82-EFED-8351-2800-9F9B0ED21E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572" y="4330303"/>
                  <a:ext cx="493070" cy="379463"/>
                </a:xfrm>
                <a:prstGeom prst="rect">
                  <a:avLst/>
                </a:prstGeom>
                <a:blipFill>
                  <a:blip r:embed="rId21"/>
                  <a:stretch>
                    <a:fillRect l="-1250"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555A00DD-8254-E8C1-DE33-288F38FA7659}"/>
              </a:ext>
            </a:extLst>
          </p:cNvPr>
          <p:cNvCxnSpPr>
            <a:cxnSpLocks/>
          </p:cNvCxnSpPr>
          <p:nvPr/>
        </p:nvCxnSpPr>
        <p:spPr>
          <a:xfrm>
            <a:off x="6137517" y="4316971"/>
            <a:ext cx="784338" cy="330202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804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25</a:t>
            </a:fld>
            <a:endParaRPr lang="de-DE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4F756A2-FEF3-D060-96A5-CD5A96DC308C}"/>
              </a:ext>
            </a:extLst>
          </p:cNvPr>
          <p:cNvGrpSpPr/>
          <p:nvPr/>
        </p:nvGrpSpPr>
        <p:grpSpPr>
          <a:xfrm>
            <a:off x="2756457" y="3958733"/>
            <a:ext cx="6679087" cy="1470517"/>
            <a:chOff x="2464913" y="3958733"/>
            <a:chExt cx="6679087" cy="1470517"/>
          </a:xfrm>
        </p:grpSpPr>
        <p:sp>
          <p:nvSpPr>
            <p:cNvPr id="19" name="Abgerundetes Rechteck 6">
              <a:extLst>
                <a:ext uri="{FF2B5EF4-FFF2-40B4-BE49-F238E27FC236}">
                  <a16:creationId xmlns:a16="http://schemas.microsoft.com/office/drawing/2014/main" id="{316DEEC9-E5A1-D493-84C1-CCE2486C7774}"/>
                </a:ext>
              </a:extLst>
            </p:cNvPr>
            <p:cNvSpPr/>
            <p:nvPr/>
          </p:nvSpPr>
          <p:spPr>
            <a:xfrm>
              <a:off x="2464913" y="3958733"/>
              <a:ext cx="6679087" cy="1470517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52A0706-C8FF-42B8-3FDF-9BDCC1504325}"/>
                </a:ext>
              </a:extLst>
            </p:cNvPr>
            <p:cNvGrpSpPr/>
            <p:nvPr/>
          </p:nvGrpSpPr>
          <p:grpSpPr>
            <a:xfrm>
              <a:off x="2739516" y="4021599"/>
              <a:ext cx="6293729" cy="1226916"/>
              <a:chOff x="2739516" y="4021599"/>
              <a:chExt cx="6293729" cy="122691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4BB4FE18-3053-E6BB-B231-5BEEFE885B48}"/>
                  </a:ext>
                </a:extLst>
              </p:cNvPr>
              <p:cNvGrpSpPr/>
              <p:nvPr/>
            </p:nvGrpSpPr>
            <p:grpSpPr>
              <a:xfrm>
                <a:off x="2739516" y="4021599"/>
                <a:ext cx="6293728" cy="542777"/>
                <a:chOff x="2739516" y="4021599"/>
                <a:chExt cx="6293728" cy="54277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feld 14"/>
                    <p:cNvSpPr txBox="1"/>
                    <p:nvPr/>
                  </p:nvSpPr>
                  <p:spPr>
                    <a:xfrm>
                      <a:off x="4614217" y="4021599"/>
                      <a:ext cx="4419027" cy="542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>
                        <a:lnSpc>
                          <a:spcPct val="114000"/>
                        </a:lnSpc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  <a:ea typeface="Cambria Math" panose="02040503050406030204" pitchFamily="18" charset="0"/>
                              </a:rPr>
                              <m:t>≤ </m:t>
                            </m:r>
                            <m:sSub>
                              <m:sSubPr>
                                <m:ctrl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  <a:ea typeface="Cambria Math" panose="02040503050406030204" pitchFamily="18" charset="0"/>
                              </a:rPr>
                              <m:t>+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en-US" sz="2000" i="1" dirty="0"/>
                              <m:t>⋅</m:t>
                            </m:r>
                            <m:r>
                              <m:rPr>
                                <m:nor/>
                              </m:rPr>
                              <a:rPr lang="de-DE" sz="2000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(3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  <a:ea typeface="Cambria Math" panose="02040503050406030204" pitchFamily="18" charset="0"/>
                              </a:rPr>
                              <m:t> − </m:t>
                            </m:r>
                            <m:sSup>
                              <m:sSupPr>
                                <m:ctrl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  <a:ea typeface="Cambria Math" panose="02040503050406030204" pitchFamily="18" charset="0"/>
                              </a:rPr>
                              <m:t> − </m:t>
                            </m:r>
                            <m:sSup>
                              <m:sSupPr>
                                <m:ctrl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+mn-lt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+mn-lt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de-DE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latin typeface="+mn-lt"/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latin typeface="+mn-lt"/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+mn-lt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+mn-lt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de-DE" sz="200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feld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14217" y="4021599"/>
                      <a:ext cx="4419027" cy="542777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6" name="Textfeld 15"/>
                <p:cNvSpPr txBox="1"/>
                <p:nvPr/>
              </p:nvSpPr>
              <p:spPr>
                <a:xfrm>
                  <a:off x="2739516" y="4192742"/>
                  <a:ext cx="1330455" cy="3215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de-DE" sz="2000">
                      <a:latin typeface="+mn-lt"/>
                    </a:rPr>
                    <a:t>Green </a:t>
                  </a:r>
                  <a:r>
                    <a:rPr lang="de-DE" sz="2000" err="1">
                      <a:latin typeface="+mn-lt"/>
                    </a:rPr>
                    <a:t>first</a:t>
                  </a:r>
                  <a:endParaRPr lang="de-DE" sz="2000">
                    <a:latin typeface="+mn-lt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1D81F3F1-F608-CEAF-D65C-C665A8EABCBB}"/>
                  </a:ext>
                </a:extLst>
              </p:cNvPr>
              <p:cNvGrpSpPr/>
              <p:nvPr/>
            </p:nvGrpSpPr>
            <p:grpSpPr>
              <a:xfrm>
                <a:off x="2739516" y="4709521"/>
                <a:ext cx="6293729" cy="538994"/>
                <a:chOff x="2739516" y="4709521"/>
                <a:chExt cx="6293729" cy="538994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2" name="Textfeld 121"/>
                    <p:cNvSpPr txBox="1"/>
                    <p:nvPr/>
                  </p:nvSpPr>
                  <p:spPr>
                    <a:xfrm>
                      <a:off x="4614218" y="4709521"/>
                      <a:ext cx="4419027" cy="53899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>
                        <a:lnSpc>
                          <a:spcPct val="114000"/>
                        </a:lnSpc>
                      </a:pPr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de-DE" sz="2000" i="1" smtClean="0">
                                    <a:solidFill>
                                      <a:srgbClr val="F674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+mn-lt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+mn-lt"/>
                                  </a:rPr>
                                  <m:t>4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≤ </m:t>
                            </m:r>
                            <m:sSub>
                              <m:sSubPr>
                                <m:ctrl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de-DE" sz="2000" b="0" i="1" smtClean="0">
                                <a:solidFill>
                                  <a:srgbClr val="7EC49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de-DE" sz="2000" b="0" i="0" smtClean="0">
                                <a:latin typeface="+mn-lt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nor/>
                              </m:rPr>
                              <a:rPr lang="en-US" sz="2000" i="1" dirty="0"/>
                              <m:t>⋅</m:t>
                            </m:r>
                            <m:r>
                              <m:rPr>
                                <m:nor/>
                              </m:rPr>
                              <a:rPr lang="de-DE" sz="2000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(3 −</m:t>
                            </m:r>
                            <m:sSup>
                              <m:sSupPr>
                                <m:ctrl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de-DE" sz="2000" b="0" i="1" smtClean="0">
                                    <a:solidFill>
                                      <a:srgbClr val="7EC492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p>
                            </m:sSup>
                            <m:r>
                              <a:rPr lang="de-DE" sz="2000" b="0" i="1" smtClean="0">
                                <a:solidFill>
                                  <a:srgbClr val="7EC49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latin typeface="+mn-lt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2000" b="0" i="1" smtClean="0">
                                <a:latin typeface="+mn-lt"/>
                                <a:ea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F67400"/>
                                    </a:solidFill>
                                    <a:latin typeface="+mn-lt"/>
                                    <a:ea typeface="Cambria Math" panose="02040503050406030204" pitchFamily="18" charset="0"/>
                                  </a:rPr>
                                  <m:t>R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+mn-lt"/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+mn-lt"/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de-DE" sz="2000" b="0" i="0" smtClean="0">
                                <a:latin typeface="+mn-lt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(1 − </m:t>
                            </m:r>
                            <m:sSup>
                              <m:sSup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ea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solidFill>
                                      <a:srgbClr val="7EC492"/>
                                    </a:solidFill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m:rPr>
                                    <m:nor/>
                                  </m:rPr>
                                  <a:rPr lang="de-DE" sz="2000" i="1">
                                    <a:ea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t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de-DE" sz="2000" i="1">
                                        <a:solidFill>
                                          <a:srgbClr val="F67400"/>
                                        </a:solidFill>
                                        <a:ea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p>
                            </m:sSup>
                            <m:r>
                              <m:rPr>
                                <m:nor/>
                              </m:rPr>
                              <a:rPr lang="de-DE" sz="2000"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latin typeface="+mn-lt"/>
                                <a:ea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de-DE" sz="2800">
                        <a:latin typeface="+mn-lt"/>
                      </a:endParaRPr>
                    </a:p>
                  </p:txBody>
                </p:sp>
              </mc:Choice>
              <mc:Fallback xmlns="">
                <p:sp>
                  <p:nvSpPr>
                    <p:cNvPr id="122" name="Textfeld 12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614218" y="4709521"/>
                      <a:ext cx="4419027" cy="538994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93" name="Textfeld 192"/>
                <p:cNvSpPr txBox="1"/>
                <p:nvPr/>
              </p:nvSpPr>
              <p:spPr>
                <a:xfrm>
                  <a:off x="2739516" y="4876948"/>
                  <a:ext cx="1330455" cy="3215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de-DE" sz="2000">
                      <a:latin typeface="+mn-lt"/>
                    </a:rPr>
                    <a:t>Orange </a:t>
                  </a:r>
                  <a:r>
                    <a:rPr lang="de-DE" sz="2000" err="1">
                      <a:latin typeface="+mn-lt"/>
                    </a:rPr>
                    <a:t>first</a:t>
                  </a:r>
                  <a:endParaRPr lang="de-DE" sz="2000">
                    <a:latin typeface="+mn-lt"/>
                  </a:endParaRPr>
                </a:p>
              </p:txBody>
            </p:sp>
          </p:grp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E066D83-051C-DCE8-FA4B-3942A9354A2B}"/>
              </a:ext>
            </a:extLst>
          </p:cNvPr>
          <p:cNvGrpSpPr/>
          <p:nvPr/>
        </p:nvGrpSpPr>
        <p:grpSpPr>
          <a:xfrm>
            <a:off x="4808504" y="2053516"/>
            <a:ext cx="2574992" cy="1373203"/>
            <a:chOff x="3284504" y="2053513"/>
            <a:chExt cx="2574992" cy="1373203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6830D5F-42A9-504C-B645-21DF872CEA99}"/>
                </a:ext>
              </a:extLst>
            </p:cNvPr>
            <p:cNvCxnSpPr>
              <a:cxnSpLocks/>
            </p:cNvCxnSpPr>
            <p:nvPr/>
          </p:nvCxnSpPr>
          <p:spPr>
            <a:xfrm>
              <a:off x="3713527" y="2706990"/>
              <a:ext cx="1708785" cy="0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3F0CDDAF-880A-8F42-ADCF-B2774025766C}"/>
                </a:ext>
              </a:extLst>
            </p:cNvPr>
            <p:cNvCxnSpPr>
              <a:cxnSpLocks/>
            </p:cNvCxnSpPr>
            <p:nvPr/>
          </p:nvCxnSpPr>
          <p:spPr>
            <a:xfrm>
              <a:off x="3713527" y="2769855"/>
              <a:ext cx="1708785" cy="0"/>
            </a:xfrm>
            <a:prstGeom prst="line">
              <a:avLst/>
            </a:prstGeom>
            <a:ln w="57150">
              <a:solidFill>
                <a:schemeClr val="accent4">
                  <a:alpha val="50196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feil nach links 7"/>
            <p:cNvSpPr/>
            <p:nvPr/>
          </p:nvSpPr>
          <p:spPr>
            <a:xfrm rot="10800000">
              <a:off x="4290739" y="2914905"/>
              <a:ext cx="562521" cy="203012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sp>
          <p:nvSpPr>
            <p:cNvPr id="9" name="Pfeil nach rechts 8"/>
            <p:cNvSpPr/>
            <p:nvPr/>
          </p:nvSpPr>
          <p:spPr>
            <a:xfrm>
              <a:off x="4290740" y="2354510"/>
              <a:ext cx="562521" cy="222030"/>
            </a:xfrm>
            <a:prstGeom prst="rightArrow">
              <a:avLst/>
            </a:prstGeom>
            <a:solidFill>
              <a:srgbClr val="F67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5C106DD-9F80-60D3-C74A-B3CBC2560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3527" y="2738422"/>
              <a:ext cx="170878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D229876-6EE2-55BC-F57E-6DEA978F184A}"/>
                </a:ext>
              </a:extLst>
            </p:cNvPr>
            <p:cNvSpPr/>
            <p:nvPr/>
          </p:nvSpPr>
          <p:spPr>
            <a:xfrm>
              <a:off x="5542290" y="2662646"/>
              <a:ext cx="150289" cy="15087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feld 85">
                  <a:extLst>
                    <a:ext uri="{FF2B5EF4-FFF2-40B4-BE49-F238E27FC236}">
                      <a16:creationId xmlns:a16="http://schemas.microsoft.com/office/drawing/2014/main" id="{1C8A3FA5-776B-4B4B-3D36-165F09660C76}"/>
                    </a:ext>
                  </a:extLst>
                </p:cNvPr>
                <p:cNvSpPr txBox="1"/>
                <p:nvPr/>
              </p:nvSpPr>
              <p:spPr>
                <a:xfrm>
                  <a:off x="5366426" y="2053513"/>
                  <a:ext cx="493070" cy="37856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3" name="Textfeld 85">
                  <a:extLst>
                    <a:ext uri="{FF2B5EF4-FFF2-40B4-BE49-F238E27FC236}">
                      <a16:creationId xmlns:a16="http://schemas.microsoft.com/office/drawing/2014/main" id="{1C8A3FA5-776B-4B4B-3D36-165F09660C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6426" y="2053513"/>
                  <a:ext cx="493070" cy="378565"/>
                </a:xfrm>
                <a:prstGeom prst="rect">
                  <a:avLst/>
                </a:prstGeom>
                <a:blipFill>
                  <a:blip r:embed="rId4"/>
                  <a:stretch>
                    <a:fillRect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feld 85">
                  <a:extLst>
                    <a:ext uri="{FF2B5EF4-FFF2-40B4-BE49-F238E27FC236}">
                      <a16:creationId xmlns:a16="http://schemas.microsoft.com/office/drawing/2014/main" id="{C7FDD29C-39DA-4E6D-56B8-B8AC4EE63058}"/>
                    </a:ext>
                  </a:extLst>
                </p:cNvPr>
                <p:cNvSpPr txBox="1"/>
                <p:nvPr/>
              </p:nvSpPr>
              <p:spPr>
                <a:xfrm>
                  <a:off x="5366426" y="3043534"/>
                  <a:ext cx="493070" cy="3831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4" name="Textfeld 85">
                  <a:extLst>
                    <a:ext uri="{FF2B5EF4-FFF2-40B4-BE49-F238E27FC236}">
                      <a16:creationId xmlns:a16="http://schemas.microsoft.com/office/drawing/2014/main" id="{C7FDD29C-39DA-4E6D-56B8-B8AC4EE630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6426" y="3043534"/>
                  <a:ext cx="493070" cy="383182"/>
                </a:xfrm>
                <a:prstGeom prst="rect">
                  <a:avLst/>
                </a:prstGeom>
                <a:blipFill>
                  <a:blip r:embed="rId5"/>
                  <a:stretch>
                    <a:fillRect b="-206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0062AF9F-A76F-6375-A8CD-EDAE3E3B728E}"/>
                </a:ext>
              </a:extLst>
            </p:cNvPr>
            <p:cNvSpPr/>
            <p:nvPr/>
          </p:nvSpPr>
          <p:spPr>
            <a:xfrm>
              <a:off x="3460368" y="2662646"/>
              <a:ext cx="150289" cy="15087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feld 85">
                  <a:extLst>
                    <a:ext uri="{FF2B5EF4-FFF2-40B4-BE49-F238E27FC236}">
                      <a16:creationId xmlns:a16="http://schemas.microsoft.com/office/drawing/2014/main" id="{9FE4B761-B311-7B62-8830-FBD575CCEA7B}"/>
                    </a:ext>
                  </a:extLst>
                </p:cNvPr>
                <p:cNvSpPr txBox="1"/>
                <p:nvPr/>
              </p:nvSpPr>
              <p:spPr>
                <a:xfrm>
                  <a:off x="3284504" y="2053513"/>
                  <a:ext cx="493070" cy="38318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2" name="Textfeld 85">
                  <a:extLst>
                    <a:ext uri="{FF2B5EF4-FFF2-40B4-BE49-F238E27FC236}">
                      <a16:creationId xmlns:a16="http://schemas.microsoft.com/office/drawing/2014/main" id="{9FE4B761-B311-7B62-8830-FBD575CCEA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504" y="2053513"/>
                  <a:ext cx="493070" cy="383182"/>
                </a:xfrm>
                <a:prstGeom prst="rect">
                  <a:avLst/>
                </a:prstGeom>
                <a:blipFill>
                  <a:blip r:embed="rId6"/>
                  <a:stretch>
                    <a:fillRect l="-1235" b="-190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feld 85">
                  <a:extLst>
                    <a:ext uri="{FF2B5EF4-FFF2-40B4-BE49-F238E27FC236}">
                      <a16:creationId xmlns:a16="http://schemas.microsoft.com/office/drawing/2014/main" id="{51433B63-1EEF-D03A-E2FC-6D10EC977CB8}"/>
                    </a:ext>
                  </a:extLst>
                </p:cNvPr>
                <p:cNvSpPr txBox="1"/>
                <p:nvPr/>
              </p:nvSpPr>
              <p:spPr>
                <a:xfrm>
                  <a:off x="3284504" y="3047253"/>
                  <a:ext cx="493070" cy="37946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0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55" name="Textfeld 85">
                  <a:extLst>
                    <a:ext uri="{FF2B5EF4-FFF2-40B4-BE49-F238E27FC236}">
                      <a16:creationId xmlns:a16="http://schemas.microsoft.com/office/drawing/2014/main" id="{51433B63-1EEF-D03A-E2FC-6D10EC977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504" y="3047253"/>
                  <a:ext cx="493070" cy="379463"/>
                </a:xfrm>
                <a:prstGeom prst="rect">
                  <a:avLst/>
                </a:prstGeom>
                <a:blipFill>
                  <a:blip r:embed="rId7"/>
                  <a:stretch>
                    <a:fillRect l="-1235" b="-2096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9AFCCC8-5803-17ED-B21C-086A56A27A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5438BD-B5B3-DCB9-BD37-3C9BF7F54F71}"/>
              </a:ext>
            </a:extLst>
          </p:cNvPr>
          <p:cNvGrpSpPr/>
          <p:nvPr/>
        </p:nvGrpSpPr>
        <p:grpSpPr>
          <a:xfrm>
            <a:off x="10019814" y="304811"/>
            <a:ext cx="1740401" cy="527668"/>
            <a:chOff x="4282753" y="2992759"/>
            <a:chExt cx="2730986" cy="82800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3866ECC-6DCC-2146-A346-7AC2465CB3D3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3" name="Flowchart: Stored Data 92">
                <a:extLst>
                  <a:ext uri="{FF2B5EF4-FFF2-40B4-BE49-F238E27FC236}">
                    <a16:creationId xmlns:a16="http://schemas.microsoft.com/office/drawing/2014/main" id="{BF561CFA-0A16-F0F9-7B8D-FCE5AF0A2617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B593102-6496-06DD-96D5-1C8811086C4F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Preprocessing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5972FB1-4D74-1846-721F-626546C04146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0E9761E5-9461-429E-4F18-963455935F69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31D0737-0FCF-9560-6A12-F7E3A4935305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40" name="Down Arrow 66">
            <a:extLst>
              <a:ext uri="{FF2B5EF4-FFF2-40B4-BE49-F238E27FC236}">
                <a16:creationId xmlns:a16="http://schemas.microsoft.com/office/drawing/2014/main" id="{041B6EBC-9234-B60B-4639-2827980658F2}"/>
              </a:ext>
            </a:extLst>
          </p:cNvPr>
          <p:cNvSpPr/>
          <p:nvPr/>
        </p:nvSpPr>
        <p:spPr>
          <a:xfrm>
            <a:off x="1075780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7780FA8-97FE-96C6-D4C1-F34325081C15}"/>
              </a:ext>
            </a:extLst>
          </p:cNvPr>
          <p:cNvGrpSpPr/>
          <p:nvPr/>
        </p:nvGrpSpPr>
        <p:grpSpPr>
          <a:xfrm>
            <a:off x="10019814" y="1039520"/>
            <a:ext cx="1740401" cy="527668"/>
            <a:chOff x="4282753" y="2992759"/>
            <a:chExt cx="2730986" cy="82800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FFD0960-9A95-AD97-5B7A-0136CE658074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46" name="Flowchart: Stored Data 92">
                <a:extLst>
                  <a:ext uri="{FF2B5EF4-FFF2-40B4-BE49-F238E27FC236}">
                    <a16:creationId xmlns:a16="http://schemas.microsoft.com/office/drawing/2014/main" id="{4219BF3D-2D25-FFF7-1497-C4B9F137BA52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780093F-FFFA-80FD-ED93-EC8D6E74CD15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/>
                  <a:t>Modeling</a:t>
                </a:r>
                <a:endParaRPr lang="en-DE" sz="1000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0E1713C-A832-9A9D-B778-0DD15094257A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DA09D6F-E1DA-4008-C8D2-42032E087B7B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350668-ABD4-A7B9-2683-C75DBC7AC156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56" name="Down Arrow 66">
            <a:extLst>
              <a:ext uri="{FF2B5EF4-FFF2-40B4-BE49-F238E27FC236}">
                <a16:creationId xmlns:a16="http://schemas.microsoft.com/office/drawing/2014/main" id="{E29BC81D-B623-14B8-70BD-0AAE81F6253E}"/>
              </a:ext>
            </a:extLst>
          </p:cNvPr>
          <p:cNvSpPr/>
          <p:nvPr/>
        </p:nvSpPr>
        <p:spPr>
          <a:xfrm>
            <a:off x="1075780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8DBD729-2050-48EF-FBA6-1F073CEF43E8}"/>
              </a:ext>
            </a:extLst>
          </p:cNvPr>
          <p:cNvGrpSpPr/>
          <p:nvPr/>
        </p:nvGrpSpPr>
        <p:grpSpPr>
          <a:xfrm>
            <a:off x="10019814" y="1774229"/>
            <a:ext cx="1740401" cy="527668"/>
            <a:chOff x="4282753" y="2992759"/>
            <a:chExt cx="2730986" cy="828002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7CE71FFF-1846-574C-5165-02D8EA4CA911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62" name="Flowchart: Stored Data 92">
                <a:extLst>
                  <a:ext uri="{FF2B5EF4-FFF2-40B4-BE49-F238E27FC236}">
                    <a16:creationId xmlns:a16="http://schemas.microsoft.com/office/drawing/2014/main" id="{DF77A53D-578A-DD36-8C2A-FF91AED0ADFE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EAE4B90-4CD2-855F-DF87-39DAEBE5BC69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Solving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79AF64E-5200-345A-9EF1-CA436683A89D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ED2BE31D-DB84-88B5-4460-5E9EE898FE89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30CE413-DCA0-619F-ECAB-F1E006BA14D6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65" name="Title 64">
            <a:extLst>
              <a:ext uri="{FF2B5EF4-FFF2-40B4-BE49-F238E27FC236}">
                <a16:creationId xmlns:a16="http://schemas.microsoft.com/office/drawing/2014/main" id="{C1881811-34E8-255D-892A-419BBFF7A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Conflict Constraints</a:t>
            </a:r>
            <a:endParaRPr lang="de-DE"/>
          </a:p>
        </p:txBody>
      </p:sp>
      <p:sp>
        <p:nvSpPr>
          <p:cNvPr id="4" name="Textfeld 3"/>
          <p:cNvSpPr txBox="1"/>
          <p:nvPr/>
        </p:nvSpPr>
        <p:spPr>
          <a:xfrm>
            <a:off x="656729" y="2817700"/>
            <a:ext cx="4444192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>
                <a:latin typeface="+mn-lt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Content Placeholder 1">
                <a:extLst>
                  <a:ext uri="{FF2B5EF4-FFF2-40B4-BE49-F238E27FC236}">
                    <a16:creationId xmlns:a16="http://schemas.microsoft.com/office/drawing/2014/main" id="{44FE62D8-9C47-231C-5DE1-98CC70FE48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4883" y="1551172"/>
                <a:ext cx="11345332" cy="4140000"/>
              </a:xfrm>
            </p:spPr>
            <p:txBody>
              <a:bodyPr/>
              <a:lstStyle/>
              <a:p>
                <a:r>
                  <a:rPr lang="de-DE" sz="2000"/>
                  <a:t>Order </a:t>
                </a:r>
                <a:r>
                  <a:rPr lang="de-DE" sz="2000" err="1"/>
                  <a:t>of</a:t>
                </a:r>
                <a:r>
                  <a:rPr lang="de-DE" sz="2000"/>
                  <a:t> </a:t>
                </a:r>
                <a:r>
                  <a:rPr lang="de-DE" sz="2000" err="1"/>
                  <a:t>trains</a:t>
                </a:r>
                <a:r>
                  <a:rPr lang="de-DE" sz="200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de-DE" sz="2000" i="1">
                            <a:ea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m:rPr>
                            <m:nor/>
                          </m:rPr>
                          <a:rPr lang="de-DE" sz="2000" i="1">
                            <a:solidFill>
                              <a:srgbClr val="7EC492"/>
                            </a:solidFill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de-DE" sz="2000" i="1"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de-DE" sz="20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rgbClr val="F67400"/>
                                </a:solidFill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p>
                    </m:sSup>
                    <m:r>
                      <m:rPr>
                        <m:nor/>
                      </m:rPr>
                      <a:rPr lang="de-DE" sz="2000">
                        <a:solidFill>
                          <a:srgbClr val="F674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DE" sz="2000">
                        <a:ea typeface="Cambria Math" panose="02040503050406030204" pitchFamily="18" charset="0"/>
                      </a:rPr>
                      <m:t>∈ {0,1}</m:t>
                    </m:r>
                  </m:oMath>
                </a14:m>
                <a:endParaRPr lang="en-US" sz="2000" baseline="-25000">
                  <a:solidFill>
                    <a:srgbClr val="98C6EA"/>
                  </a:solidFill>
                  <a:cs typeface="Arial"/>
                </a:endParaRPr>
              </a:p>
            </p:txBody>
          </p:sp>
        </mc:Choice>
        <mc:Fallback xmlns="">
          <p:sp>
            <p:nvSpPr>
              <p:cNvPr id="64" name="Content Placeholder 1">
                <a:extLst>
                  <a:ext uri="{FF2B5EF4-FFF2-40B4-BE49-F238E27FC236}">
                    <a16:creationId xmlns:a16="http://schemas.microsoft.com/office/drawing/2014/main" id="{44FE62D8-9C47-231C-5DE1-98CC70FE48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883" y="1551172"/>
                <a:ext cx="11345332" cy="4140000"/>
              </a:xfrm>
              <a:blipFill>
                <a:blip r:embed="rId8"/>
                <a:stretch>
                  <a:fillRect l="-13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32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/>
          <p:cNvSpPr/>
          <p:nvPr/>
        </p:nvSpPr>
        <p:spPr>
          <a:xfrm>
            <a:off x="425455" y="1673976"/>
            <a:ext cx="9394662" cy="32383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54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572809" y="2325358"/>
            <a:ext cx="4320000" cy="242816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72" name="Rounded Rectangle 5">
            <a:extLst>
              <a:ext uri="{FF2B5EF4-FFF2-40B4-BE49-F238E27FC236}">
                <a16:creationId xmlns:a16="http://schemas.microsoft.com/office/drawing/2014/main" id="{CF579336-00FE-6C08-5105-4539E6B0F12B}"/>
              </a:ext>
            </a:extLst>
          </p:cNvPr>
          <p:cNvSpPr/>
          <p:nvPr/>
        </p:nvSpPr>
        <p:spPr>
          <a:xfrm>
            <a:off x="5386272" y="2323519"/>
            <a:ext cx="4320000" cy="2430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10" name="Textfeld 9"/>
          <p:cNvSpPr txBox="1"/>
          <p:nvPr/>
        </p:nvSpPr>
        <p:spPr>
          <a:xfrm>
            <a:off x="6646272" y="1835399"/>
            <a:ext cx="1800000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latin typeface="+mn-lt"/>
              </a:rPr>
              <a:t>Train </a:t>
            </a:r>
            <a:r>
              <a:rPr lang="de-DE" sz="2000" err="1">
                <a:latin typeface="+mn-lt"/>
              </a:rPr>
              <a:t>rides</a:t>
            </a:r>
            <a:endParaRPr lang="de-DE" sz="2000">
              <a:latin typeface="+mn-lt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1832809" y="1835399"/>
            <a:ext cx="1800000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latin typeface="+mn-lt"/>
              </a:rPr>
              <a:t>Framework</a:t>
            </a:r>
            <a:endParaRPr lang="de-DE" sz="2400">
              <a:latin typeface="+mn-lt"/>
            </a:endParaRPr>
          </a:p>
        </p:txBody>
      </p:sp>
      <p:sp>
        <p:nvSpPr>
          <p:cNvPr id="6" name="Pfeil nach unten 5"/>
          <p:cNvSpPr/>
          <p:nvPr/>
        </p:nvSpPr>
        <p:spPr>
          <a:xfrm>
            <a:off x="4475864" y="5047020"/>
            <a:ext cx="1293845" cy="463945"/>
          </a:xfrm>
          <a:prstGeom prst="downArrow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0D14E0-A6D9-6FD2-7375-C2A149559454}"/>
              </a:ext>
            </a:extLst>
          </p:cNvPr>
          <p:cNvGrpSpPr/>
          <p:nvPr/>
        </p:nvGrpSpPr>
        <p:grpSpPr>
          <a:xfrm>
            <a:off x="2534965" y="5638019"/>
            <a:ext cx="5175642" cy="676540"/>
            <a:chOff x="2684349" y="5638019"/>
            <a:chExt cx="5175642" cy="676540"/>
          </a:xfrm>
        </p:grpSpPr>
        <p:sp>
          <p:nvSpPr>
            <p:cNvPr id="53" name="Abgerundetes Rechteck 52"/>
            <p:cNvSpPr/>
            <p:nvPr/>
          </p:nvSpPr>
          <p:spPr>
            <a:xfrm>
              <a:off x="2684349" y="5638019"/>
              <a:ext cx="5175642" cy="6765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sp>
          <p:nvSpPr>
            <p:cNvPr id="58" name="Textfeld 57"/>
            <p:cNvSpPr txBox="1"/>
            <p:nvPr/>
          </p:nvSpPr>
          <p:spPr>
            <a:xfrm>
              <a:off x="2858669" y="5815508"/>
              <a:ext cx="4827002" cy="32156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>
                  <a:latin typeface="+mn-lt"/>
                </a:rPr>
                <a:t>Mixed Integer Optimal Control Problem</a:t>
              </a:r>
            </a:p>
          </p:txBody>
        </p:sp>
      </p:grpSp>
      <p:sp>
        <p:nvSpPr>
          <p:cNvPr id="63" name="Footer Placeholder 4">
            <a:extLst>
              <a:ext uri="{FF2B5EF4-FFF2-40B4-BE49-F238E27FC236}">
                <a16:creationId xmlns:a16="http://schemas.microsoft.com/office/drawing/2014/main" id="{EE0ADFC7-BBB1-68F9-89E4-0092439F2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9A46E6D-A0FE-B07C-D1F7-A4C7E652561F}"/>
              </a:ext>
            </a:extLst>
          </p:cNvPr>
          <p:cNvGrpSpPr/>
          <p:nvPr/>
        </p:nvGrpSpPr>
        <p:grpSpPr>
          <a:xfrm>
            <a:off x="10019814" y="304811"/>
            <a:ext cx="1740401" cy="527668"/>
            <a:chOff x="4282753" y="2992759"/>
            <a:chExt cx="2730986" cy="828002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73247B3-38AC-E71A-F313-24DE4B844230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70" name="Flowchart: Stored Data 92">
                <a:extLst>
                  <a:ext uri="{FF2B5EF4-FFF2-40B4-BE49-F238E27FC236}">
                    <a16:creationId xmlns:a16="http://schemas.microsoft.com/office/drawing/2014/main" id="{EFC7D73C-733E-20AF-03E3-2A6DF74DC966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AB7E55F-3E5E-1EDB-A8C4-AA10F66F5138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Preprocessing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17FDCA2C-507A-BCA8-F80D-BC88310E3270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BFABCF3-19BB-A989-71D8-80ECE2EF18E1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AC00242F-380F-A804-1E67-3A851C89DDE3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73" name="Down Arrow 66">
            <a:extLst>
              <a:ext uri="{FF2B5EF4-FFF2-40B4-BE49-F238E27FC236}">
                <a16:creationId xmlns:a16="http://schemas.microsoft.com/office/drawing/2014/main" id="{EC70679F-D392-7C31-C25F-FD48136CBCFD}"/>
              </a:ext>
            </a:extLst>
          </p:cNvPr>
          <p:cNvSpPr/>
          <p:nvPr/>
        </p:nvSpPr>
        <p:spPr>
          <a:xfrm>
            <a:off x="1075780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B772760-9EFE-DC5E-469C-E50620A4EC09}"/>
              </a:ext>
            </a:extLst>
          </p:cNvPr>
          <p:cNvGrpSpPr/>
          <p:nvPr/>
        </p:nvGrpSpPr>
        <p:grpSpPr>
          <a:xfrm>
            <a:off x="10019814" y="1039520"/>
            <a:ext cx="1740401" cy="527668"/>
            <a:chOff x="4282753" y="2992759"/>
            <a:chExt cx="2730986" cy="828002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1E9CC0CC-27E6-C8E7-46E8-F7042A9726C0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80" name="Flowchart: Stored Data 92">
                <a:extLst>
                  <a:ext uri="{FF2B5EF4-FFF2-40B4-BE49-F238E27FC236}">
                    <a16:creationId xmlns:a16="http://schemas.microsoft.com/office/drawing/2014/main" id="{A3A169E0-2B9E-F362-A839-E6690DC928D3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BD08EA41-CE41-7D05-DFB9-8C3D58D61035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/>
                  <a:t>Modeling</a:t>
                </a:r>
                <a:endParaRPr lang="en-DE" sz="1000"/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9DCDF63-54FF-393F-FCF9-D9163A214E08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5DA5B61-7E05-E614-3D9C-144C1F3DABEE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1182EBD7-FED1-DFD2-99E6-0396CE5866FC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/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82" name="Down Arrow 66">
            <a:extLst>
              <a:ext uri="{FF2B5EF4-FFF2-40B4-BE49-F238E27FC236}">
                <a16:creationId xmlns:a16="http://schemas.microsoft.com/office/drawing/2014/main" id="{C7CC7A23-DF05-CC6C-B340-0F127EFC6A62}"/>
              </a:ext>
            </a:extLst>
          </p:cNvPr>
          <p:cNvSpPr/>
          <p:nvPr/>
        </p:nvSpPr>
        <p:spPr>
          <a:xfrm>
            <a:off x="1075780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7231C672-EA78-3447-FEC7-04DFA39894C1}"/>
              </a:ext>
            </a:extLst>
          </p:cNvPr>
          <p:cNvGrpSpPr/>
          <p:nvPr/>
        </p:nvGrpSpPr>
        <p:grpSpPr>
          <a:xfrm>
            <a:off x="10019814" y="1774229"/>
            <a:ext cx="1740401" cy="527668"/>
            <a:chOff x="4282753" y="2992759"/>
            <a:chExt cx="2730986" cy="828002"/>
          </a:xfrm>
        </p:grpSpPr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57AC921F-EE80-7504-F9C9-35C78988540E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88" name="Flowchart: Stored Data 92">
                <a:extLst>
                  <a:ext uri="{FF2B5EF4-FFF2-40B4-BE49-F238E27FC236}">
                    <a16:creationId xmlns:a16="http://schemas.microsoft.com/office/drawing/2014/main" id="{506CC2DF-62D6-AC26-BFAA-B91CE780E0FC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5E174C2E-198B-FEE3-6087-705CBE2A2154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Solving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7BAA814-CCCC-7683-B071-9447CFF428B9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36E07B32-50E9-9B51-C559-B3067B4B50D9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395D1CD-3FDD-227A-42EC-489A4C284190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96" name="Title 95">
            <a:extLst>
              <a:ext uri="{FF2B5EF4-FFF2-40B4-BE49-F238E27FC236}">
                <a16:creationId xmlns:a16="http://schemas.microsoft.com/office/drawing/2014/main" id="{DA4962AA-3464-7F51-3197-91861122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Optimization Model Overview</a:t>
            </a:r>
            <a:endParaRPr lang="de-DE"/>
          </a:p>
        </p:txBody>
      </p:sp>
      <p:sp>
        <p:nvSpPr>
          <p:cNvPr id="20" name="Textfeld 19"/>
          <p:cNvSpPr txBox="1"/>
          <p:nvPr/>
        </p:nvSpPr>
        <p:spPr>
          <a:xfrm>
            <a:off x="9224003" y="2758525"/>
            <a:ext cx="521156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>
                <a:latin typeface="+mn-lt"/>
              </a:rPr>
              <a:t>…</a:t>
            </a:r>
          </a:p>
        </p:txBody>
      </p:sp>
      <p:sp>
        <p:nvSpPr>
          <p:cNvPr id="336" name="Textfeld 335"/>
          <p:cNvSpPr txBox="1"/>
          <p:nvPr/>
        </p:nvSpPr>
        <p:spPr>
          <a:xfrm>
            <a:off x="9231043" y="3515094"/>
            <a:ext cx="521156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>
                <a:latin typeface="+mn-lt"/>
              </a:rPr>
              <a:t>…</a:t>
            </a:r>
          </a:p>
        </p:txBody>
      </p:sp>
      <p:sp>
        <p:nvSpPr>
          <p:cNvPr id="373" name="Textfeld 372"/>
          <p:cNvSpPr txBox="1"/>
          <p:nvPr/>
        </p:nvSpPr>
        <p:spPr>
          <a:xfrm>
            <a:off x="9223558" y="4278480"/>
            <a:ext cx="521156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>
                <a:latin typeface="+mn-lt"/>
              </a:rPr>
              <a:t>…</a:t>
            </a:r>
          </a:p>
        </p:txBody>
      </p: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FA69AFEA-ED5C-71CD-8155-FA4AF65B2859}"/>
              </a:ext>
            </a:extLst>
          </p:cNvPr>
          <p:cNvGrpSpPr/>
          <p:nvPr/>
        </p:nvGrpSpPr>
        <p:grpSpPr>
          <a:xfrm>
            <a:off x="5767899" y="2434037"/>
            <a:ext cx="1057317" cy="684919"/>
            <a:chOff x="10432674" y="2974968"/>
            <a:chExt cx="1057317" cy="684919"/>
          </a:xfrm>
        </p:grpSpPr>
        <p:sp>
          <p:nvSpPr>
            <p:cNvPr id="384" name="Abgerundetes Rechteck 268">
              <a:extLst>
                <a:ext uri="{FF2B5EF4-FFF2-40B4-BE49-F238E27FC236}">
                  <a16:creationId xmlns:a16="http://schemas.microsoft.com/office/drawing/2014/main" id="{49759AA9-4D41-97EF-7F15-C26189951449}"/>
                </a:ext>
              </a:extLst>
            </p:cNvPr>
            <p:cNvSpPr/>
            <p:nvPr/>
          </p:nvSpPr>
          <p:spPr>
            <a:xfrm>
              <a:off x="10445208" y="2974968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386" name="Picture 385">
              <a:extLst>
                <a:ext uri="{FF2B5EF4-FFF2-40B4-BE49-F238E27FC236}">
                  <a16:creationId xmlns:a16="http://schemas.microsoft.com/office/drawing/2014/main" id="{7501AA12-9394-292B-0CB0-2CA696E4C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2674" y="3009043"/>
              <a:ext cx="1057317" cy="616768"/>
            </a:xfrm>
            <a:prstGeom prst="rect">
              <a:avLst/>
            </a:prstGeom>
          </p:spPr>
        </p:pic>
      </p:grpSp>
      <p:grpSp>
        <p:nvGrpSpPr>
          <p:cNvPr id="398" name="Group 397">
            <a:extLst>
              <a:ext uri="{FF2B5EF4-FFF2-40B4-BE49-F238E27FC236}">
                <a16:creationId xmlns:a16="http://schemas.microsoft.com/office/drawing/2014/main" id="{C22EC437-B69B-FDDF-2C20-783A16D75081}"/>
              </a:ext>
            </a:extLst>
          </p:cNvPr>
          <p:cNvGrpSpPr/>
          <p:nvPr/>
        </p:nvGrpSpPr>
        <p:grpSpPr>
          <a:xfrm>
            <a:off x="5780433" y="3206747"/>
            <a:ext cx="1057318" cy="684919"/>
            <a:chOff x="10433813" y="3937428"/>
            <a:chExt cx="1057318" cy="684919"/>
          </a:xfrm>
        </p:grpSpPr>
        <p:sp>
          <p:nvSpPr>
            <p:cNvPr id="389" name="Abgerundetes Rechteck 268">
              <a:extLst>
                <a:ext uri="{FF2B5EF4-FFF2-40B4-BE49-F238E27FC236}">
                  <a16:creationId xmlns:a16="http://schemas.microsoft.com/office/drawing/2014/main" id="{8FFA0774-68A5-E137-21E3-4C3E68F48982}"/>
                </a:ext>
              </a:extLst>
            </p:cNvPr>
            <p:cNvSpPr/>
            <p:nvPr/>
          </p:nvSpPr>
          <p:spPr>
            <a:xfrm>
              <a:off x="10446348" y="3937428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391" name="Picture 390">
              <a:extLst>
                <a:ext uri="{FF2B5EF4-FFF2-40B4-BE49-F238E27FC236}">
                  <a16:creationId xmlns:a16="http://schemas.microsoft.com/office/drawing/2014/main" id="{50349133-3234-5056-D2AB-7A55145D0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33813" y="3971503"/>
              <a:ext cx="1057318" cy="616769"/>
            </a:xfrm>
            <a:prstGeom prst="rect">
              <a:avLst/>
            </a:prstGeom>
          </p:spPr>
        </p:pic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84FFA586-E8AF-CC33-2E56-7EC59699D566}"/>
              </a:ext>
            </a:extLst>
          </p:cNvPr>
          <p:cNvGrpSpPr/>
          <p:nvPr/>
        </p:nvGrpSpPr>
        <p:grpSpPr>
          <a:xfrm>
            <a:off x="5755364" y="3971475"/>
            <a:ext cx="1057318" cy="684919"/>
            <a:chOff x="10445208" y="4851673"/>
            <a:chExt cx="1057318" cy="684919"/>
          </a:xfrm>
        </p:grpSpPr>
        <p:sp>
          <p:nvSpPr>
            <p:cNvPr id="392" name="Abgerundetes Rechteck 268">
              <a:extLst>
                <a:ext uri="{FF2B5EF4-FFF2-40B4-BE49-F238E27FC236}">
                  <a16:creationId xmlns:a16="http://schemas.microsoft.com/office/drawing/2014/main" id="{7501DC57-B769-D985-1692-5ADB2D86BBA8}"/>
                </a:ext>
              </a:extLst>
            </p:cNvPr>
            <p:cNvSpPr/>
            <p:nvPr/>
          </p:nvSpPr>
          <p:spPr>
            <a:xfrm>
              <a:off x="10457743" y="4851673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395" name="Picture 394">
              <a:extLst>
                <a:ext uri="{FF2B5EF4-FFF2-40B4-BE49-F238E27FC236}">
                  <a16:creationId xmlns:a16="http://schemas.microsoft.com/office/drawing/2014/main" id="{D950D5AF-46B2-4A0B-EEC2-0ACDF93F0B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45208" y="4885748"/>
              <a:ext cx="1057318" cy="616769"/>
            </a:xfrm>
            <a:prstGeom prst="rect">
              <a:avLst/>
            </a:prstGeom>
          </p:spPr>
        </p:pic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79FF7325-66DA-C5D0-AB63-469C70B49872}"/>
              </a:ext>
            </a:extLst>
          </p:cNvPr>
          <p:cNvGrpSpPr/>
          <p:nvPr/>
        </p:nvGrpSpPr>
        <p:grpSpPr>
          <a:xfrm>
            <a:off x="6902218" y="2434037"/>
            <a:ext cx="1057317" cy="684919"/>
            <a:chOff x="10432674" y="2974968"/>
            <a:chExt cx="1057317" cy="684919"/>
          </a:xfrm>
        </p:grpSpPr>
        <p:sp>
          <p:nvSpPr>
            <p:cNvPr id="400" name="Abgerundetes Rechteck 268">
              <a:extLst>
                <a:ext uri="{FF2B5EF4-FFF2-40B4-BE49-F238E27FC236}">
                  <a16:creationId xmlns:a16="http://schemas.microsoft.com/office/drawing/2014/main" id="{FA839C3B-D168-D95C-29D8-81C10A428242}"/>
                </a:ext>
              </a:extLst>
            </p:cNvPr>
            <p:cNvSpPr/>
            <p:nvPr/>
          </p:nvSpPr>
          <p:spPr>
            <a:xfrm>
              <a:off x="10445208" y="2974968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401" name="Picture 400">
              <a:extLst>
                <a:ext uri="{FF2B5EF4-FFF2-40B4-BE49-F238E27FC236}">
                  <a16:creationId xmlns:a16="http://schemas.microsoft.com/office/drawing/2014/main" id="{A035AE87-BC58-3BF0-0037-84842EF15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32674" y="3009043"/>
              <a:ext cx="1057317" cy="616768"/>
            </a:xfrm>
            <a:prstGeom prst="rect">
              <a:avLst/>
            </a:prstGeom>
          </p:spPr>
        </p:pic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A3CBBB1B-5024-E8C2-1FAF-E922EB025C61}"/>
              </a:ext>
            </a:extLst>
          </p:cNvPr>
          <p:cNvGrpSpPr/>
          <p:nvPr/>
        </p:nvGrpSpPr>
        <p:grpSpPr>
          <a:xfrm>
            <a:off x="8036537" y="2434037"/>
            <a:ext cx="1057317" cy="684919"/>
            <a:chOff x="10432674" y="2974968"/>
            <a:chExt cx="1057317" cy="684919"/>
          </a:xfrm>
        </p:grpSpPr>
        <p:sp>
          <p:nvSpPr>
            <p:cNvPr id="403" name="Abgerundetes Rechteck 268">
              <a:extLst>
                <a:ext uri="{FF2B5EF4-FFF2-40B4-BE49-F238E27FC236}">
                  <a16:creationId xmlns:a16="http://schemas.microsoft.com/office/drawing/2014/main" id="{37AD4BA3-EDD1-9A79-458C-3BB3B1863ED8}"/>
                </a:ext>
              </a:extLst>
            </p:cNvPr>
            <p:cNvSpPr/>
            <p:nvPr/>
          </p:nvSpPr>
          <p:spPr>
            <a:xfrm>
              <a:off x="10445208" y="2974968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404" name="Picture 403">
              <a:extLst>
                <a:ext uri="{FF2B5EF4-FFF2-40B4-BE49-F238E27FC236}">
                  <a16:creationId xmlns:a16="http://schemas.microsoft.com/office/drawing/2014/main" id="{F7E03768-6D36-4CEE-382A-FC1D6281F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432674" y="3009043"/>
              <a:ext cx="1057317" cy="616768"/>
            </a:xfrm>
            <a:prstGeom prst="rect">
              <a:avLst/>
            </a:prstGeom>
          </p:spPr>
        </p:pic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D2CE3A0C-1236-ACCF-700D-EB878BA6FA42}"/>
              </a:ext>
            </a:extLst>
          </p:cNvPr>
          <p:cNvGrpSpPr/>
          <p:nvPr/>
        </p:nvGrpSpPr>
        <p:grpSpPr>
          <a:xfrm>
            <a:off x="6908485" y="3206747"/>
            <a:ext cx="1057318" cy="684919"/>
            <a:chOff x="10433813" y="3937428"/>
            <a:chExt cx="1057318" cy="684919"/>
          </a:xfrm>
        </p:grpSpPr>
        <p:sp>
          <p:nvSpPr>
            <p:cNvPr id="406" name="Abgerundetes Rechteck 268">
              <a:extLst>
                <a:ext uri="{FF2B5EF4-FFF2-40B4-BE49-F238E27FC236}">
                  <a16:creationId xmlns:a16="http://schemas.microsoft.com/office/drawing/2014/main" id="{8DC1B991-C702-4139-D96D-1CE7474F059C}"/>
                </a:ext>
              </a:extLst>
            </p:cNvPr>
            <p:cNvSpPr/>
            <p:nvPr/>
          </p:nvSpPr>
          <p:spPr>
            <a:xfrm>
              <a:off x="10446348" y="3937428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407" name="Picture 406">
              <a:extLst>
                <a:ext uri="{FF2B5EF4-FFF2-40B4-BE49-F238E27FC236}">
                  <a16:creationId xmlns:a16="http://schemas.microsoft.com/office/drawing/2014/main" id="{93AC8353-9490-A7B6-8EB9-0E86584C7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433813" y="3971503"/>
              <a:ext cx="1057318" cy="616769"/>
            </a:xfrm>
            <a:prstGeom prst="rect">
              <a:avLst/>
            </a:prstGeom>
          </p:spPr>
        </p:pic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8BC7B4ED-598B-4067-73D7-F1EFC1D64BFA}"/>
              </a:ext>
            </a:extLst>
          </p:cNvPr>
          <p:cNvGrpSpPr/>
          <p:nvPr/>
        </p:nvGrpSpPr>
        <p:grpSpPr>
          <a:xfrm>
            <a:off x="8036536" y="3206747"/>
            <a:ext cx="1057318" cy="684919"/>
            <a:chOff x="10433813" y="3937428"/>
            <a:chExt cx="1057318" cy="684919"/>
          </a:xfrm>
        </p:grpSpPr>
        <p:sp>
          <p:nvSpPr>
            <p:cNvPr id="409" name="Abgerundetes Rechteck 268">
              <a:extLst>
                <a:ext uri="{FF2B5EF4-FFF2-40B4-BE49-F238E27FC236}">
                  <a16:creationId xmlns:a16="http://schemas.microsoft.com/office/drawing/2014/main" id="{C9B94055-C506-4ECD-6907-1753DB34F47A}"/>
                </a:ext>
              </a:extLst>
            </p:cNvPr>
            <p:cNvSpPr/>
            <p:nvPr/>
          </p:nvSpPr>
          <p:spPr>
            <a:xfrm>
              <a:off x="10446348" y="3937428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410" name="Picture 409">
              <a:extLst>
                <a:ext uri="{FF2B5EF4-FFF2-40B4-BE49-F238E27FC236}">
                  <a16:creationId xmlns:a16="http://schemas.microsoft.com/office/drawing/2014/main" id="{DDCB5D27-D207-D227-DCA8-FAA0A55A0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433813" y="3971503"/>
              <a:ext cx="1057318" cy="616769"/>
            </a:xfrm>
            <a:prstGeom prst="rect">
              <a:avLst/>
            </a:prstGeom>
          </p:spPr>
        </p:pic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DEC270C4-FCF1-40BB-236B-FDA919CAEBC9}"/>
              </a:ext>
            </a:extLst>
          </p:cNvPr>
          <p:cNvGrpSpPr/>
          <p:nvPr/>
        </p:nvGrpSpPr>
        <p:grpSpPr>
          <a:xfrm>
            <a:off x="6890122" y="3971475"/>
            <a:ext cx="1057318" cy="684919"/>
            <a:chOff x="10445208" y="4851673"/>
            <a:chExt cx="1057318" cy="684919"/>
          </a:xfrm>
        </p:grpSpPr>
        <p:sp>
          <p:nvSpPr>
            <p:cNvPr id="412" name="Abgerundetes Rechteck 268">
              <a:extLst>
                <a:ext uri="{FF2B5EF4-FFF2-40B4-BE49-F238E27FC236}">
                  <a16:creationId xmlns:a16="http://schemas.microsoft.com/office/drawing/2014/main" id="{94CC6CA3-8911-8A42-17AC-5FC4F16D9675}"/>
                </a:ext>
              </a:extLst>
            </p:cNvPr>
            <p:cNvSpPr/>
            <p:nvPr/>
          </p:nvSpPr>
          <p:spPr>
            <a:xfrm>
              <a:off x="10457743" y="4851673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413" name="Picture 412">
              <a:extLst>
                <a:ext uri="{FF2B5EF4-FFF2-40B4-BE49-F238E27FC236}">
                  <a16:creationId xmlns:a16="http://schemas.microsoft.com/office/drawing/2014/main" id="{99CFCBBB-0C56-DBC7-3432-4B0CC6054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445208" y="4885748"/>
              <a:ext cx="1057318" cy="616769"/>
            </a:xfrm>
            <a:prstGeom prst="rect">
              <a:avLst/>
            </a:prstGeom>
          </p:spPr>
        </p:pic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396EAE93-D641-F8AA-7CA1-DD14AFD4791F}"/>
              </a:ext>
            </a:extLst>
          </p:cNvPr>
          <p:cNvGrpSpPr/>
          <p:nvPr/>
        </p:nvGrpSpPr>
        <p:grpSpPr>
          <a:xfrm>
            <a:off x="8024881" y="3971475"/>
            <a:ext cx="1057318" cy="684919"/>
            <a:chOff x="10445208" y="4851673"/>
            <a:chExt cx="1057318" cy="684919"/>
          </a:xfrm>
        </p:grpSpPr>
        <p:sp>
          <p:nvSpPr>
            <p:cNvPr id="415" name="Abgerundetes Rechteck 268">
              <a:extLst>
                <a:ext uri="{FF2B5EF4-FFF2-40B4-BE49-F238E27FC236}">
                  <a16:creationId xmlns:a16="http://schemas.microsoft.com/office/drawing/2014/main" id="{8C421CD0-C8E1-57FA-A4D3-F1C3EF823A36}"/>
                </a:ext>
              </a:extLst>
            </p:cNvPr>
            <p:cNvSpPr/>
            <p:nvPr/>
          </p:nvSpPr>
          <p:spPr>
            <a:xfrm>
              <a:off x="10457743" y="4851673"/>
              <a:ext cx="1032249" cy="684919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pic>
          <p:nvPicPr>
            <p:cNvPr id="416" name="Picture 415">
              <a:extLst>
                <a:ext uri="{FF2B5EF4-FFF2-40B4-BE49-F238E27FC236}">
                  <a16:creationId xmlns:a16="http://schemas.microsoft.com/office/drawing/2014/main" id="{9BBEB7A6-45EC-06F2-F1A2-72DBC793E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445208" y="4885748"/>
              <a:ext cx="1057318" cy="616769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0D8540A-4E60-1710-36F1-DADCF84DD914}"/>
              </a:ext>
            </a:extLst>
          </p:cNvPr>
          <p:cNvGrpSpPr/>
          <p:nvPr/>
        </p:nvGrpSpPr>
        <p:grpSpPr>
          <a:xfrm>
            <a:off x="708795" y="2620511"/>
            <a:ext cx="4048028" cy="1810258"/>
            <a:chOff x="3150763" y="2748853"/>
            <a:chExt cx="6014934" cy="268985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DBE508C0-487F-B662-A593-865B464C6CC7}"/>
                </a:ext>
              </a:extLst>
            </p:cNvPr>
            <p:cNvCxnSpPr>
              <a:cxnSpLocks/>
            </p:cNvCxnSpPr>
            <p:nvPr/>
          </p:nvCxnSpPr>
          <p:spPr>
            <a:xfrm>
              <a:off x="6123239" y="4349182"/>
              <a:ext cx="784338" cy="330202"/>
            </a:xfrm>
            <a:prstGeom prst="line">
              <a:avLst/>
            </a:prstGeom>
            <a:ln w="57150">
              <a:solidFill>
                <a:srgbClr val="7FD7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8">
              <a:extLst>
                <a:ext uri="{FF2B5EF4-FFF2-40B4-BE49-F238E27FC236}">
                  <a16:creationId xmlns:a16="http://schemas.microsoft.com/office/drawing/2014/main" id="{E51A5A0A-6D10-296B-107B-B9E14CB1A4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9662" y="4320088"/>
              <a:ext cx="741167" cy="331182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69">
              <a:extLst>
                <a:ext uri="{FF2B5EF4-FFF2-40B4-BE49-F238E27FC236}">
                  <a16:creationId xmlns:a16="http://schemas.microsoft.com/office/drawing/2014/main" id="{29F8BC0B-A215-FDC6-E05A-F113320928CF}"/>
                </a:ext>
              </a:extLst>
            </p:cNvPr>
            <p:cNvCxnSpPr>
              <a:cxnSpLocks/>
            </p:cNvCxnSpPr>
            <p:nvPr/>
          </p:nvCxnSpPr>
          <p:spPr>
            <a:xfrm>
              <a:off x="8214662" y="3587154"/>
              <a:ext cx="590899" cy="0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3">
              <a:extLst>
                <a:ext uri="{FF2B5EF4-FFF2-40B4-BE49-F238E27FC236}">
                  <a16:creationId xmlns:a16="http://schemas.microsoft.com/office/drawing/2014/main" id="{54DC0BB6-6128-6026-A94E-BB2316DA7767}"/>
                </a:ext>
              </a:extLst>
            </p:cNvPr>
            <p:cNvCxnSpPr>
              <a:cxnSpLocks/>
            </p:cNvCxnSpPr>
            <p:nvPr/>
          </p:nvCxnSpPr>
          <p:spPr>
            <a:xfrm>
              <a:off x="8214662" y="3504910"/>
              <a:ext cx="590899" cy="0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065C164-8E44-B186-CE6E-8F62A1DA1027}"/>
                </a:ext>
              </a:extLst>
            </p:cNvPr>
            <p:cNvCxnSpPr>
              <a:cxnSpLocks/>
            </p:cNvCxnSpPr>
            <p:nvPr/>
          </p:nvCxnSpPr>
          <p:spPr>
            <a:xfrm>
              <a:off x="4396812" y="3607702"/>
              <a:ext cx="868280" cy="481247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22C0A65-257C-6FB9-0CBE-9AE094F090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60549" y="4159553"/>
              <a:ext cx="523528" cy="72438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D450EB7-3DD3-8D54-A695-141C3BF6D5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371" y="3590313"/>
              <a:ext cx="985075" cy="4921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50451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2C5D5C1-A6BF-9D51-38D6-38F2E16770F5}"/>
                </a:ext>
              </a:extLst>
            </p:cNvPr>
            <p:cNvCxnSpPr>
              <a:cxnSpLocks/>
            </p:cNvCxnSpPr>
            <p:nvPr/>
          </p:nvCxnSpPr>
          <p:spPr>
            <a:xfrm>
              <a:off x="6160777" y="3253842"/>
              <a:ext cx="676546" cy="798622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BB658DF-1BB0-49C0-032C-A604E947BE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3767" y="3629000"/>
              <a:ext cx="959681" cy="986186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9">
              <a:extLst>
                <a:ext uri="{FF2B5EF4-FFF2-40B4-BE49-F238E27FC236}">
                  <a16:creationId xmlns:a16="http://schemas.microsoft.com/office/drawing/2014/main" id="{7ECA99EA-9ACF-A14B-2272-ADD97558E90A}"/>
                </a:ext>
              </a:extLst>
            </p:cNvPr>
            <p:cNvCxnSpPr>
              <a:cxnSpLocks/>
            </p:cNvCxnSpPr>
            <p:nvPr/>
          </p:nvCxnSpPr>
          <p:spPr>
            <a:xfrm>
              <a:off x="3464489" y="3299928"/>
              <a:ext cx="729018" cy="257113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4CC76CE-ACE9-12E6-0CFA-F4232A43BF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75A6BF-C3E7-54B2-FCD4-3579E3E74253}"/>
                </a:ext>
              </a:extLst>
            </p:cNvPr>
            <p:cNvCxnSpPr>
              <a:cxnSpLocks/>
            </p:cNvCxnSpPr>
            <p:nvPr/>
          </p:nvCxnSpPr>
          <p:spPr>
            <a:xfrm>
              <a:off x="6197433" y="3181971"/>
              <a:ext cx="1810484" cy="350696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D8BEB7-B8F6-215E-200E-3C7CBC501EFA}"/>
                </a:ext>
              </a:extLst>
            </p:cNvPr>
            <p:cNvCxnSpPr>
              <a:cxnSpLocks/>
            </p:cNvCxnSpPr>
            <p:nvPr/>
          </p:nvCxnSpPr>
          <p:spPr>
            <a:xfrm>
              <a:off x="3481429" y="3253842"/>
              <a:ext cx="728864" cy="25947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91F7A5F-2C7B-60B1-18E4-6A5F41950C55}"/>
                </a:ext>
              </a:extLst>
            </p:cNvPr>
            <p:cNvSpPr/>
            <p:nvPr/>
          </p:nvSpPr>
          <p:spPr>
            <a:xfrm>
              <a:off x="8061650" y="349182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515F21B-F3BA-FAC3-3BB3-40C7C85394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82208" y="4132555"/>
              <a:ext cx="616515" cy="1021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A6DC9C1-1A5E-B32E-1618-0C298B84F3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879" y="3190739"/>
              <a:ext cx="1605034" cy="34192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1BAA5AE-BA15-77D8-2A7F-B5A4C385D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7512" y="3594244"/>
              <a:ext cx="968804" cy="4809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2F69B91-11D4-FFBF-12C2-D1B42AF5EE9D}"/>
                </a:ext>
              </a:extLst>
            </p:cNvPr>
            <p:cNvSpPr/>
            <p:nvPr/>
          </p:nvSpPr>
          <p:spPr>
            <a:xfrm>
              <a:off x="5330581" y="4075196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0880FF-E27D-07CE-23EA-74F848F58D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3130" y="3603956"/>
              <a:ext cx="697827" cy="30215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EA2630C-2418-9BC5-44C5-73AA987897E0}"/>
                </a:ext>
              </a:extLst>
            </p:cNvPr>
            <p:cNvCxnSpPr>
              <a:cxnSpLocks/>
            </p:cNvCxnSpPr>
            <p:nvPr/>
          </p:nvCxnSpPr>
          <p:spPr>
            <a:xfrm>
              <a:off x="4343879" y="3653016"/>
              <a:ext cx="706011" cy="96217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5798D07-C7C3-6FC4-D92F-7B052537E313}"/>
                </a:ext>
              </a:extLst>
            </p:cNvPr>
            <p:cNvCxnSpPr>
              <a:cxnSpLocks/>
            </p:cNvCxnSpPr>
            <p:nvPr/>
          </p:nvCxnSpPr>
          <p:spPr>
            <a:xfrm>
              <a:off x="8214662" y="3546032"/>
              <a:ext cx="59111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33480F1-6786-D14F-DEA4-E60892142088}"/>
                </a:ext>
              </a:extLst>
            </p:cNvPr>
            <p:cNvSpPr txBox="1"/>
            <p:nvPr/>
          </p:nvSpPr>
          <p:spPr>
            <a:xfrm>
              <a:off x="3580386" y="3422980"/>
              <a:ext cx="153007" cy="2867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A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59BFAD5-CB73-E844-8DDF-7CF6537FC3F3}"/>
                </a:ext>
              </a:extLst>
            </p:cNvPr>
            <p:cNvSpPr txBox="1"/>
            <p:nvPr/>
          </p:nvSpPr>
          <p:spPr>
            <a:xfrm>
              <a:off x="8433717" y="3613956"/>
              <a:ext cx="153007" cy="2867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 b="1">
                  <a:latin typeface="+mn-lt"/>
                </a:rPr>
                <a:t>B</a:t>
              </a:r>
              <a:endParaRPr lang="en-DE" sz="1600" b="1">
                <a:latin typeface="+mn-lt"/>
              </a:endParaRP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226C704-5B69-F28C-6CD3-50715FCAA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876" y="4758190"/>
              <a:ext cx="669392" cy="23471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9C5C082-58B4-9BA8-8142-BE63E25848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4403" y="4243348"/>
              <a:ext cx="156179" cy="3778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F82A59-8EAF-9124-A50A-F1AAA27807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490" y="4321724"/>
              <a:ext cx="735506" cy="3290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F1F5D0-D82E-E833-8216-6FC1D8C999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96812" y="3604751"/>
              <a:ext cx="868280" cy="4841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53DCEFF-8D35-DD5B-3370-6FAC98E6C571}"/>
                </a:ext>
              </a:extLst>
            </p:cNvPr>
            <p:cNvCxnSpPr>
              <a:cxnSpLocks/>
            </p:cNvCxnSpPr>
            <p:nvPr/>
          </p:nvCxnSpPr>
          <p:spPr>
            <a:xfrm>
              <a:off x="5460549" y="4159553"/>
              <a:ext cx="523528" cy="7243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49ACD58-BAE3-7CA0-A657-4EDA5CB9B6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20868" y="4719508"/>
              <a:ext cx="1660809" cy="48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3F9080A-12B8-0C8F-B609-45B973A1CA9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2636" y="4218369"/>
              <a:ext cx="65496" cy="3743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EAC58F3-12E9-2F65-FC98-16A57BD2421F}"/>
                </a:ext>
              </a:extLst>
            </p:cNvPr>
            <p:cNvSpPr/>
            <p:nvPr/>
          </p:nvSpPr>
          <p:spPr>
            <a:xfrm>
              <a:off x="6051681" y="311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C3F3EE4-3DDF-D6D3-F770-E5F5C331299E}"/>
                </a:ext>
              </a:extLst>
            </p:cNvPr>
            <p:cNvSpPr/>
            <p:nvPr/>
          </p:nvSpPr>
          <p:spPr>
            <a:xfrm>
              <a:off x="5071538" y="4668246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4419196-C53F-9E13-53BC-FABC3A8ACE64}"/>
                </a:ext>
              </a:extLst>
            </p:cNvPr>
            <p:cNvGrpSpPr/>
            <p:nvPr/>
          </p:nvGrpSpPr>
          <p:grpSpPr>
            <a:xfrm>
              <a:off x="6027293" y="4189140"/>
              <a:ext cx="1009536" cy="587019"/>
              <a:chOff x="4503293" y="4189137"/>
              <a:chExt cx="1009536" cy="587019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6DFFD9A-067C-F53A-7E1A-7E2A2466EB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8542" y="4290149"/>
                <a:ext cx="784338" cy="330202"/>
              </a:xfrm>
              <a:prstGeom prst="line">
                <a:avLst/>
              </a:prstGeom>
              <a:ln w="57150">
                <a:solidFill>
                  <a:srgbClr val="F67400">
                    <a:alpha val="5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4C30EAF-1D42-82AC-2792-458391AB73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613558" y="4320579"/>
                <a:ext cx="784297" cy="33020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96C692E-F1F4-7C22-2699-55C814B1DF15}"/>
                  </a:ext>
                </a:extLst>
              </p:cNvPr>
              <p:cNvSpPr/>
              <p:nvPr/>
            </p:nvSpPr>
            <p:spPr>
              <a:xfrm>
                <a:off x="4503293" y="4189137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004E42-F15B-2636-204A-A543923D545F}"/>
                  </a:ext>
                </a:extLst>
              </p:cNvPr>
              <p:cNvSpPr/>
              <p:nvPr/>
            </p:nvSpPr>
            <p:spPr>
              <a:xfrm>
                <a:off x="5404829" y="4667732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BAE4219-9658-718F-238B-E36890AB9A87}"/>
                </a:ext>
              </a:extLst>
            </p:cNvPr>
            <p:cNvCxnSpPr>
              <a:cxnSpLocks/>
            </p:cNvCxnSpPr>
            <p:nvPr/>
          </p:nvCxnSpPr>
          <p:spPr>
            <a:xfrm>
              <a:off x="7066040" y="4766899"/>
              <a:ext cx="712604" cy="2691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E22510E-7185-B118-100C-08D4BAFDE6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3764" y="3637336"/>
              <a:ext cx="956150" cy="97785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5D6CB12-A9AA-C882-7F59-BF00AE80CF7C}"/>
                </a:ext>
              </a:extLst>
            </p:cNvPr>
            <p:cNvSpPr/>
            <p:nvPr/>
          </p:nvSpPr>
          <p:spPr>
            <a:xfrm>
              <a:off x="4238516" y="350491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6F964B6-CD5F-F1AC-5C0E-C3226FF2CB40}"/>
                </a:ext>
              </a:extLst>
            </p:cNvPr>
            <p:cNvCxnSpPr>
              <a:cxnSpLocks/>
            </p:cNvCxnSpPr>
            <p:nvPr/>
          </p:nvCxnSpPr>
          <p:spPr>
            <a:xfrm>
              <a:off x="6159681" y="3253842"/>
              <a:ext cx="677642" cy="79862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08E86EB-2283-C14F-80F8-643ED774E090}"/>
                </a:ext>
              </a:extLst>
            </p:cNvPr>
            <p:cNvSpPr/>
            <p:nvPr/>
          </p:nvSpPr>
          <p:spPr>
            <a:xfrm>
              <a:off x="6837323" y="4063865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6" name="Oval 64">
              <a:extLst>
                <a:ext uri="{FF2B5EF4-FFF2-40B4-BE49-F238E27FC236}">
                  <a16:creationId xmlns:a16="http://schemas.microsoft.com/office/drawing/2014/main" id="{AC3F0D18-F6DA-C18E-BC1A-199F2247F4B4}"/>
                </a:ext>
              </a:extLst>
            </p:cNvPr>
            <p:cNvSpPr/>
            <p:nvPr/>
          </p:nvSpPr>
          <p:spPr>
            <a:xfrm>
              <a:off x="3353545" y="3191501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57" name="Oval 64">
              <a:extLst>
                <a:ext uri="{FF2B5EF4-FFF2-40B4-BE49-F238E27FC236}">
                  <a16:creationId xmlns:a16="http://schemas.microsoft.com/office/drawing/2014/main" id="{60B60536-30B2-969E-4565-4F150FEF6F13}"/>
                </a:ext>
              </a:extLst>
            </p:cNvPr>
            <p:cNvSpPr/>
            <p:nvPr/>
          </p:nvSpPr>
          <p:spPr>
            <a:xfrm>
              <a:off x="3363471" y="3903389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68" name="Oval 64">
              <a:extLst>
                <a:ext uri="{FF2B5EF4-FFF2-40B4-BE49-F238E27FC236}">
                  <a16:creationId xmlns:a16="http://schemas.microsoft.com/office/drawing/2014/main" id="{3163203F-FC48-DCDE-D651-0ED5CCD284DB}"/>
                </a:ext>
              </a:extLst>
            </p:cNvPr>
            <p:cNvSpPr/>
            <p:nvPr/>
          </p:nvSpPr>
          <p:spPr>
            <a:xfrm>
              <a:off x="4190955" y="4981760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76" name="Oval 64">
              <a:extLst>
                <a:ext uri="{FF2B5EF4-FFF2-40B4-BE49-F238E27FC236}">
                  <a16:creationId xmlns:a16="http://schemas.microsoft.com/office/drawing/2014/main" id="{3F13D666-7D59-A961-2806-1F30CC4E0FAE}"/>
                </a:ext>
              </a:extLst>
            </p:cNvPr>
            <p:cNvSpPr/>
            <p:nvPr/>
          </p:nvSpPr>
          <p:spPr>
            <a:xfrm>
              <a:off x="7814837" y="5009752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90" name="Oval 64">
              <a:extLst>
                <a:ext uri="{FF2B5EF4-FFF2-40B4-BE49-F238E27FC236}">
                  <a16:creationId xmlns:a16="http://schemas.microsoft.com/office/drawing/2014/main" id="{53D7A0FF-8D8B-57F6-26EE-C52C67E06CDE}"/>
                </a:ext>
              </a:extLst>
            </p:cNvPr>
            <p:cNvSpPr/>
            <p:nvPr/>
          </p:nvSpPr>
          <p:spPr>
            <a:xfrm>
              <a:off x="8865162" y="3485937"/>
              <a:ext cx="108000" cy="108424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91" name="Straight Connector 63">
              <a:extLst>
                <a:ext uri="{FF2B5EF4-FFF2-40B4-BE49-F238E27FC236}">
                  <a16:creationId xmlns:a16="http://schemas.microsoft.com/office/drawing/2014/main" id="{B789AADB-FFA4-A737-3CB9-66F6CEB6D518}"/>
                </a:ext>
              </a:extLst>
            </p:cNvPr>
            <p:cNvCxnSpPr>
              <a:cxnSpLocks/>
            </p:cNvCxnSpPr>
            <p:nvPr/>
          </p:nvCxnSpPr>
          <p:spPr>
            <a:xfrm>
              <a:off x="3500313" y="3210121"/>
              <a:ext cx="723046" cy="267067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2" name="Graphic 91" descr="Toy Train with solid fill">
              <a:extLst>
                <a:ext uri="{FF2B5EF4-FFF2-40B4-BE49-F238E27FC236}">
                  <a16:creationId xmlns:a16="http://schemas.microsoft.com/office/drawing/2014/main" id="{248391B5-B784-81E2-80BF-B0295844E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 rot="1139651">
              <a:off x="3693499" y="2926061"/>
              <a:ext cx="481847" cy="517170"/>
            </a:xfrm>
            <a:prstGeom prst="rect">
              <a:avLst/>
            </a:prstGeom>
          </p:spPr>
        </p:pic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DC7D598-E288-75A2-2148-487F423F7CAE}"/>
                </a:ext>
              </a:extLst>
            </p:cNvPr>
            <p:cNvSpPr txBox="1"/>
            <p:nvPr/>
          </p:nvSpPr>
          <p:spPr>
            <a:xfrm>
              <a:off x="4677948" y="4892908"/>
              <a:ext cx="153007" cy="2867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C</a:t>
              </a:r>
              <a:endParaRPr lang="en-DE" sz="1200" b="1">
                <a:latin typeface="+mn-lt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7446DC79-3B33-462C-6BC4-3AAFEC7A05E6}"/>
                </a:ext>
              </a:extLst>
            </p:cNvPr>
            <p:cNvSpPr txBox="1"/>
            <p:nvPr/>
          </p:nvSpPr>
          <p:spPr>
            <a:xfrm>
              <a:off x="7237518" y="4892908"/>
              <a:ext cx="153007" cy="2867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1200" b="1">
                  <a:latin typeface="+mn-lt"/>
                </a:rPr>
                <a:t>D</a:t>
              </a:r>
              <a:endParaRPr lang="en-DE" sz="1200" b="1">
                <a:latin typeface="+mn-lt"/>
              </a:endParaRPr>
            </a:p>
          </p:txBody>
        </p:sp>
        <p:cxnSp>
          <p:nvCxnSpPr>
            <p:cNvPr id="164" name="Straight Connector 68">
              <a:extLst>
                <a:ext uri="{FF2B5EF4-FFF2-40B4-BE49-F238E27FC236}">
                  <a16:creationId xmlns:a16="http://schemas.microsoft.com/office/drawing/2014/main" id="{96F343EF-1628-AC48-27F2-683E0235E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0065" y="4719508"/>
              <a:ext cx="666750" cy="233495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5" name="Graphic 164" descr="Toy Train with solid fill">
              <a:extLst>
                <a:ext uri="{FF2B5EF4-FFF2-40B4-BE49-F238E27FC236}">
                  <a16:creationId xmlns:a16="http://schemas.microsoft.com/office/drawing/2014/main" id="{ACF5B4DE-5264-F250-D1D2-06ABDB82A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 rot="20428331">
              <a:off x="4326751" y="4411602"/>
              <a:ext cx="481847" cy="517170"/>
            </a:xfrm>
            <a:prstGeom prst="rect">
              <a:avLst/>
            </a:prstGeom>
          </p:spPr>
        </p:pic>
        <p:cxnSp>
          <p:nvCxnSpPr>
            <p:cNvPr id="166" name="Straight Connector 68">
              <a:extLst>
                <a:ext uri="{FF2B5EF4-FFF2-40B4-BE49-F238E27FC236}">
                  <a16:creationId xmlns:a16="http://schemas.microsoft.com/office/drawing/2014/main" id="{5106E0A5-10D2-4736-604D-B4077746365D}"/>
                </a:ext>
              </a:extLst>
            </p:cNvPr>
            <p:cNvCxnSpPr>
              <a:cxnSpLocks/>
            </p:cNvCxnSpPr>
            <p:nvPr/>
          </p:nvCxnSpPr>
          <p:spPr>
            <a:xfrm>
              <a:off x="7083987" y="4729156"/>
              <a:ext cx="709371" cy="262754"/>
            </a:xfrm>
            <a:prstGeom prst="line">
              <a:avLst/>
            </a:prstGeom>
            <a:ln w="57150">
              <a:solidFill>
                <a:srgbClr val="00B05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Textfeld 85">
                  <a:extLst>
                    <a:ext uri="{FF2B5EF4-FFF2-40B4-BE49-F238E27FC236}">
                      <a16:creationId xmlns:a16="http://schemas.microsoft.com/office/drawing/2014/main" id="{0E52605D-CAFD-8EB3-5783-BE8CB0EAC063}"/>
                    </a:ext>
                  </a:extLst>
                </p:cNvPr>
                <p:cNvSpPr txBox="1"/>
                <p:nvPr/>
              </p:nvSpPr>
              <p:spPr>
                <a:xfrm>
                  <a:off x="4007096" y="5064284"/>
                  <a:ext cx="493070" cy="3414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7" name="Textfeld 85">
                  <a:extLst>
                    <a:ext uri="{FF2B5EF4-FFF2-40B4-BE49-F238E27FC236}">
                      <a16:creationId xmlns:a16="http://schemas.microsoft.com/office/drawing/2014/main" id="{0E52605D-CAFD-8EB3-5783-BE8CB0EAC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7096" y="5064284"/>
                  <a:ext cx="493070" cy="341469"/>
                </a:xfrm>
                <a:prstGeom prst="rect">
                  <a:avLst/>
                </a:prstGeom>
                <a:blipFill>
                  <a:blip r:embed="rId14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Textfeld 85">
                  <a:extLst>
                    <a:ext uri="{FF2B5EF4-FFF2-40B4-BE49-F238E27FC236}">
                      <a16:creationId xmlns:a16="http://schemas.microsoft.com/office/drawing/2014/main" id="{4FD1C433-09F1-DFA6-6E40-78A88F12E030}"/>
                    </a:ext>
                  </a:extLst>
                </p:cNvPr>
                <p:cNvSpPr txBox="1"/>
                <p:nvPr/>
              </p:nvSpPr>
              <p:spPr>
                <a:xfrm>
                  <a:off x="4879003" y="4797548"/>
                  <a:ext cx="493070" cy="3383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8" name="Textfeld 85">
                  <a:extLst>
                    <a:ext uri="{FF2B5EF4-FFF2-40B4-BE49-F238E27FC236}">
                      <a16:creationId xmlns:a16="http://schemas.microsoft.com/office/drawing/2014/main" id="{4FD1C433-09F1-DFA6-6E40-78A88F12E0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03" y="4797548"/>
                  <a:ext cx="493070" cy="338325"/>
                </a:xfrm>
                <a:prstGeom prst="rect">
                  <a:avLst/>
                </a:prstGeom>
                <a:blipFill>
                  <a:blip r:embed="rId15"/>
                  <a:stretch>
                    <a:fillRect b="-243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feld 85">
                  <a:extLst>
                    <a:ext uri="{FF2B5EF4-FFF2-40B4-BE49-F238E27FC236}">
                      <a16:creationId xmlns:a16="http://schemas.microsoft.com/office/drawing/2014/main" id="{96D810DC-63CE-39A8-E679-2D766ADC487C}"/>
                    </a:ext>
                  </a:extLst>
                </p:cNvPr>
                <p:cNvSpPr txBox="1"/>
                <p:nvPr/>
              </p:nvSpPr>
              <p:spPr>
                <a:xfrm>
                  <a:off x="6720869" y="4774868"/>
                  <a:ext cx="493070" cy="3414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69" name="Textfeld 85">
                  <a:extLst>
                    <a:ext uri="{FF2B5EF4-FFF2-40B4-BE49-F238E27FC236}">
                      <a16:creationId xmlns:a16="http://schemas.microsoft.com/office/drawing/2014/main" id="{96D810DC-63CE-39A8-E679-2D766ADC4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0869" y="4774868"/>
                  <a:ext cx="493070" cy="341469"/>
                </a:xfrm>
                <a:prstGeom prst="rect">
                  <a:avLst/>
                </a:prstGeom>
                <a:blipFill>
                  <a:blip r:embed="rId16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feld 85">
                  <a:extLst>
                    <a:ext uri="{FF2B5EF4-FFF2-40B4-BE49-F238E27FC236}">
                      <a16:creationId xmlns:a16="http://schemas.microsoft.com/office/drawing/2014/main" id="{9801DF16-3386-F498-2792-A2A4A7D690C6}"/>
                    </a:ext>
                  </a:extLst>
                </p:cNvPr>
                <p:cNvSpPr txBox="1"/>
                <p:nvPr/>
              </p:nvSpPr>
              <p:spPr>
                <a:xfrm>
                  <a:off x="7607708" y="5101141"/>
                  <a:ext cx="493070" cy="3375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0" name="Textfeld 85">
                  <a:extLst>
                    <a:ext uri="{FF2B5EF4-FFF2-40B4-BE49-F238E27FC236}">
                      <a16:creationId xmlns:a16="http://schemas.microsoft.com/office/drawing/2014/main" id="{9801DF16-3386-F498-2792-A2A4A7D690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07708" y="5101141"/>
                  <a:ext cx="493070" cy="337562"/>
                </a:xfrm>
                <a:prstGeom prst="rect">
                  <a:avLst/>
                </a:prstGeom>
                <a:blipFill>
                  <a:blip r:embed="rId17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Textfeld 85">
                  <a:extLst>
                    <a:ext uri="{FF2B5EF4-FFF2-40B4-BE49-F238E27FC236}">
                      <a16:creationId xmlns:a16="http://schemas.microsoft.com/office/drawing/2014/main" id="{34AE09A9-768E-6924-9E91-C66D67B978DF}"/>
                    </a:ext>
                  </a:extLst>
                </p:cNvPr>
                <p:cNvSpPr txBox="1"/>
                <p:nvPr/>
              </p:nvSpPr>
              <p:spPr>
                <a:xfrm>
                  <a:off x="5849572" y="4330302"/>
                  <a:ext cx="493070" cy="33832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1" name="Textfeld 85">
                  <a:extLst>
                    <a:ext uri="{FF2B5EF4-FFF2-40B4-BE49-F238E27FC236}">
                      <a16:creationId xmlns:a16="http://schemas.microsoft.com/office/drawing/2014/main" id="{34AE09A9-768E-6924-9E91-C66D67B978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572" y="4330302"/>
                  <a:ext cx="493070" cy="338325"/>
                </a:xfrm>
                <a:prstGeom prst="rect">
                  <a:avLst/>
                </a:prstGeom>
                <a:blipFill>
                  <a:blip r:embed="rId18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F40EA6E-F0F5-C1BF-AB45-21BC3D9E963A}"/>
                </a:ext>
              </a:extLst>
            </p:cNvPr>
            <p:cNvCxnSpPr>
              <a:cxnSpLocks/>
            </p:cNvCxnSpPr>
            <p:nvPr/>
          </p:nvCxnSpPr>
          <p:spPr>
            <a:xfrm>
              <a:off x="6137517" y="4316971"/>
              <a:ext cx="784338" cy="330202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3" name="Textfeld 85">
                  <a:extLst>
                    <a:ext uri="{FF2B5EF4-FFF2-40B4-BE49-F238E27FC236}">
                      <a16:creationId xmlns:a16="http://schemas.microsoft.com/office/drawing/2014/main" id="{CE4C17D6-A9AF-70B2-2091-B5150F39A91C}"/>
                    </a:ext>
                  </a:extLst>
                </p:cNvPr>
                <p:cNvSpPr txBox="1"/>
                <p:nvPr/>
              </p:nvSpPr>
              <p:spPr>
                <a:xfrm>
                  <a:off x="3150763" y="3314288"/>
                  <a:ext cx="493070" cy="341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73" name="Textfeld 85">
                  <a:extLst>
                    <a:ext uri="{FF2B5EF4-FFF2-40B4-BE49-F238E27FC236}">
                      <a16:creationId xmlns:a16="http://schemas.microsoft.com/office/drawing/2014/main" id="{CE4C17D6-A9AF-70B2-2091-B5150F39A9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0763" y="3314288"/>
                  <a:ext cx="493070" cy="341468"/>
                </a:xfrm>
                <a:prstGeom prst="rect">
                  <a:avLst/>
                </a:prstGeom>
                <a:blipFill>
                  <a:blip r:embed="rId19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Textfeld 67">
                  <a:extLst>
                    <a:ext uri="{FF2B5EF4-FFF2-40B4-BE49-F238E27FC236}">
                      <a16:creationId xmlns:a16="http://schemas.microsoft.com/office/drawing/2014/main" id="{10864037-A11D-ECBF-9A6B-307A9327B68F}"/>
                    </a:ext>
                  </a:extLst>
                </p:cNvPr>
                <p:cNvSpPr txBox="1"/>
                <p:nvPr/>
              </p:nvSpPr>
              <p:spPr>
                <a:xfrm>
                  <a:off x="3209313" y="2748853"/>
                  <a:ext cx="493070" cy="341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4" name="Textfeld 67">
                  <a:extLst>
                    <a:ext uri="{FF2B5EF4-FFF2-40B4-BE49-F238E27FC236}">
                      <a16:creationId xmlns:a16="http://schemas.microsoft.com/office/drawing/2014/main" id="{10864037-A11D-ECBF-9A6B-307A9327B6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9313" y="2748853"/>
                  <a:ext cx="493070" cy="341468"/>
                </a:xfrm>
                <a:prstGeom prst="rect">
                  <a:avLst/>
                </a:prstGeom>
                <a:blipFill>
                  <a:blip r:embed="rId20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5" name="Textfeld 67">
                  <a:extLst>
                    <a:ext uri="{FF2B5EF4-FFF2-40B4-BE49-F238E27FC236}">
                      <a16:creationId xmlns:a16="http://schemas.microsoft.com/office/drawing/2014/main" id="{781ECCEC-1856-9A05-1F8F-331CCE3711D4}"/>
                    </a:ext>
                  </a:extLst>
                </p:cNvPr>
                <p:cNvSpPr txBox="1"/>
                <p:nvPr/>
              </p:nvSpPr>
              <p:spPr>
                <a:xfrm>
                  <a:off x="4129060" y="3110726"/>
                  <a:ext cx="493070" cy="338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5" name="Textfeld 67">
                  <a:extLst>
                    <a:ext uri="{FF2B5EF4-FFF2-40B4-BE49-F238E27FC236}">
                      <a16:creationId xmlns:a16="http://schemas.microsoft.com/office/drawing/2014/main" id="{781ECCEC-1856-9A05-1F8F-331CCE3711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9060" y="3110726"/>
                  <a:ext cx="493070" cy="338324"/>
                </a:xfrm>
                <a:prstGeom prst="rect">
                  <a:avLst/>
                </a:prstGeom>
                <a:blipFill>
                  <a:blip r:embed="rId21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6" name="Textfeld 67">
                  <a:extLst>
                    <a:ext uri="{FF2B5EF4-FFF2-40B4-BE49-F238E27FC236}">
                      <a16:creationId xmlns:a16="http://schemas.microsoft.com/office/drawing/2014/main" id="{0735FAF9-6B98-0E84-9127-24DAC10E26A4}"/>
                    </a:ext>
                  </a:extLst>
                </p:cNvPr>
                <p:cNvSpPr txBox="1"/>
                <p:nvPr/>
              </p:nvSpPr>
              <p:spPr>
                <a:xfrm>
                  <a:off x="5849465" y="2772895"/>
                  <a:ext cx="493070" cy="338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6" name="Textfeld 67">
                  <a:extLst>
                    <a:ext uri="{FF2B5EF4-FFF2-40B4-BE49-F238E27FC236}">
                      <a16:creationId xmlns:a16="http://schemas.microsoft.com/office/drawing/2014/main" id="{0735FAF9-6B98-0E84-9127-24DAC10E26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9465" y="2772895"/>
                  <a:ext cx="493070" cy="338324"/>
                </a:xfrm>
                <a:prstGeom prst="rect">
                  <a:avLst/>
                </a:prstGeom>
                <a:blipFill>
                  <a:blip r:embed="rId22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7" name="Textfeld 67">
                  <a:extLst>
                    <a:ext uri="{FF2B5EF4-FFF2-40B4-BE49-F238E27FC236}">
                      <a16:creationId xmlns:a16="http://schemas.microsoft.com/office/drawing/2014/main" id="{B2A53504-3773-4E67-0D08-7E09CF393A4C}"/>
                    </a:ext>
                  </a:extLst>
                </p:cNvPr>
                <p:cNvSpPr txBox="1"/>
                <p:nvPr/>
              </p:nvSpPr>
              <p:spPr>
                <a:xfrm>
                  <a:off x="6627094" y="3662650"/>
                  <a:ext cx="493070" cy="341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6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7" name="Textfeld 67">
                  <a:extLst>
                    <a:ext uri="{FF2B5EF4-FFF2-40B4-BE49-F238E27FC236}">
                      <a16:creationId xmlns:a16="http://schemas.microsoft.com/office/drawing/2014/main" id="{B2A53504-3773-4E67-0D08-7E09CF393A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7094" y="3662650"/>
                  <a:ext cx="493070" cy="341468"/>
                </a:xfrm>
                <a:prstGeom prst="rect">
                  <a:avLst/>
                </a:prstGeom>
                <a:blipFill>
                  <a:blip r:embed="rId23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Textfeld 67">
                  <a:extLst>
                    <a:ext uri="{FF2B5EF4-FFF2-40B4-BE49-F238E27FC236}">
                      <a16:creationId xmlns:a16="http://schemas.microsoft.com/office/drawing/2014/main" id="{7FCE3F44-6756-7796-DE6A-A2E3D57B935F}"/>
                    </a:ext>
                  </a:extLst>
                </p:cNvPr>
                <p:cNvSpPr txBox="1"/>
                <p:nvPr/>
              </p:nvSpPr>
              <p:spPr>
                <a:xfrm>
                  <a:off x="7854242" y="3046430"/>
                  <a:ext cx="493070" cy="3375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8" name="Textfeld 67">
                  <a:extLst>
                    <a:ext uri="{FF2B5EF4-FFF2-40B4-BE49-F238E27FC236}">
                      <a16:creationId xmlns:a16="http://schemas.microsoft.com/office/drawing/2014/main" id="{7FCE3F44-6756-7796-DE6A-A2E3D57B93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242" y="3046430"/>
                  <a:ext cx="493070" cy="337562"/>
                </a:xfrm>
                <a:prstGeom prst="rect">
                  <a:avLst/>
                </a:prstGeom>
                <a:blipFill>
                  <a:blip r:embed="rId24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feld 67">
                  <a:extLst>
                    <a:ext uri="{FF2B5EF4-FFF2-40B4-BE49-F238E27FC236}">
                      <a16:creationId xmlns:a16="http://schemas.microsoft.com/office/drawing/2014/main" id="{0D902262-F443-26A0-C759-85212475E0FB}"/>
                    </a:ext>
                  </a:extLst>
                </p:cNvPr>
                <p:cNvSpPr txBox="1"/>
                <p:nvPr/>
              </p:nvSpPr>
              <p:spPr>
                <a:xfrm>
                  <a:off x="8650488" y="3046430"/>
                  <a:ext cx="493070" cy="3382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tx2">
                                    <a:lumMod val="50000"/>
                                    <a:lumOff val="50000"/>
                                  </a:schemeClr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79" name="Textfeld 67">
                  <a:extLst>
                    <a:ext uri="{FF2B5EF4-FFF2-40B4-BE49-F238E27FC236}">
                      <a16:creationId xmlns:a16="http://schemas.microsoft.com/office/drawing/2014/main" id="{0D902262-F443-26A0-C759-85212475E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0488" y="3046430"/>
                  <a:ext cx="493070" cy="338228"/>
                </a:xfrm>
                <a:prstGeom prst="rect">
                  <a:avLst/>
                </a:prstGeom>
                <a:blipFill>
                  <a:blip r:embed="rId25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feld 85">
                  <a:extLst>
                    <a:ext uri="{FF2B5EF4-FFF2-40B4-BE49-F238E27FC236}">
                      <a16:creationId xmlns:a16="http://schemas.microsoft.com/office/drawing/2014/main" id="{E38CF1D0-F008-A78A-0F09-8CB9EA93A930}"/>
                    </a:ext>
                  </a:extLst>
                </p:cNvPr>
                <p:cNvSpPr txBox="1"/>
                <p:nvPr/>
              </p:nvSpPr>
              <p:spPr>
                <a:xfrm>
                  <a:off x="4019312" y="3654585"/>
                  <a:ext cx="493070" cy="338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0" name="Textfeld 85">
                  <a:extLst>
                    <a:ext uri="{FF2B5EF4-FFF2-40B4-BE49-F238E27FC236}">
                      <a16:creationId xmlns:a16="http://schemas.microsoft.com/office/drawing/2014/main" id="{E38CF1D0-F008-A78A-0F09-8CB9EA93A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9312" y="3654585"/>
                  <a:ext cx="493070" cy="338324"/>
                </a:xfrm>
                <a:prstGeom prst="rect">
                  <a:avLst/>
                </a:prstGeom>
                <a:blipFill>
                  <a:blip r:embed="rId26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Textfeld 85">
                  <a:extLst>
                    <a:ext uri="{FF2B5EF4-FFF2-40B4-BE49-F238E27FC236}">
                      <a16:creationId xmlns:a16="http://schemas.microsoft.com/office/drawing/2014/main" id="{74F3460D-7EF4-50E3-AE0D-E37C0DA84959}"/>
                    </a:ext>
                  </a:extLst>
                </p:cNvPr>
                <p:cNvSpPr txBox="1"/>
                <p:nvPr/>
              </p:nvSpPr>
              <p:spPr>
                <a:xfrm>
                  <a:off x="5174400" y="3662650"/>
                  <a:ext cx="493070" cy="33832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1" name="Textfeld 85">
                  <a:extLst>
                    <a:ext uri="{FF2B5EF4-FFF2-40B4-BE49-F238E27FC236}">
                      <a16:creationId xmlns:a16="http://schemas.microsoft.com/office/drawing/2014/main" id="{74F3460D-7EF4-50E3-AE0D-E37C0DA849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400" y="3662650"/>
                  <a:ext cx="493070" cy="338324"/>
                </a:xfrm>
                <a:prstGeom prst="rect">
                  <a:avLst/>
                </a:prstGeom>
                <a:blipFill>
                  <a:blip r:embed="rId27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Textfeld 85">
                  <a:extLst>
                    <a:ext uri="{FF2B5EF4-FFF2-40B4-BE49-F238E27FC236}">
                      <a16:creationId xmlns:a16="http://schemas.microsoft.com/office/drawing/2014/main" id="{40B84906-79D0-EEB5-4371-9F1F6D5D9151}"/>
                    </a:ext>
                  </a:extLst>
                </p:cNvPr>
                <p:cNvSpPr txBox="1"/>
                <p:nvPr/>
              </p:nvSpPr>
              <p:spPr>
                <a:xfrm>
                  <a:off x="5858298" y="3800784"/>
                  <a:ext cx="493070" cy="341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2" name="Textfeld 85">
                  <a:extLst>
                    <a:ext uri="{FF2B5EF4-FFF2-40B4-BE49-F238E27FC236}">
                      <a16:creationId xmlns:a16="http://schemas.microsoft.com/office/drawing/2014/main" id="{40B84906-79D0-EEB5-4371-9F1F6D5D91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8298" y="3800784"/>
                  <a:ext cx="493070" cy="341468"/>
                </a:xfrm>
                <a:prstGeom prst="rect">
                  <a:avLst/>
                </a:prstGeom>
                <a:blipFill>
                  <a:blip r:embed="rId28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Textfeld 85">
                  <a:extLst>
                    <a:ext uri="{FF2B5EF4-FFF2-40B4-BE49-F238E27FC236}">
                      <a16:creationId xmlns:a16="http://schemas.microsoft.com/office/drawing/2014/main" id="{CFE42350-C6CD-1813-5A93-1BA4C1029277}"/>
                    </a:ext>
                  </a:extLst>
                </p:cNvPr>
                <p:cNvSpPr txBox="1"/>
                <p:nvPr/>
              </p:nvSpPr>
              <p:spPr>
                <a:xfrm>
                  <a:off x="6663453" y="4283733"/>
                  <a:ext cx="493070" cy="3375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3" name="Textfeld 85">
                  <a:extLst>
                    <a:ext uri="{FF2B5EF4-FFF2-40B4-BE49-F238E27FC236}">
                      <a16:creationId xmlns:a16="http://schemas.microsoft.com/office/drawing/2014/main" id="{CFE42350-C6CD-1813-5A93-1BA4C10292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3453" y="4283733"/>
                  <a:ext cx="493070" cy="337562"/>
                </a:xfrm>
                <a:prstGeom prst="rect">
                  <a:avLst/>
                </a:prstGeom>
                <a:blipFill>
                  <a:blip r:embed="rId29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4" name="Textfeld 85">
                  <a:extLst>
                    <a:ext uri="{FF2B5EF4-FFF2-40B4-BE49-F238E27FC236}">
                      <a16:creationId xmlns:a16="http://schemas.microsoft.com/office/drawing/2014/main" id="{78B2D0F5-824C-DCF5-FA7A-22CB7E561048}"/>
                    </a:ext>
                  </a:extLst>
                </p:cNvPr>
                <p:cNvSpPr txBox="1"/>
                <p:nvPr/>
              </p:nvSpPr>
              <p:spPr>
                <a:xfrm>
                  <a:off x="7922619" y="3645815"/>
                  <a:ext cx="493070" cy="3382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4" name="Textfeld 85">
                  <a:extLst>
                    <a:ext uri="{FF2B5EF4-FFF2-40B4-BE49-F238E27FC236}">
                      <a16:creationId xmlns:a16="http://schemas.microsoft.com/office/drawing/2014/main" id="{78B2D0F5-824C-DCF5-FA7A-22CB7E561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2619" y="3645815"/>
                  <a:ext cx="493070" cy="338228"/>
                </a:xfrm>
                <a:prstGeom prst="rect">
                  <a:avLst/>
                </a:prstGeom>
                <a:blipFill>
                  <a:blip r:embed="rId30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feld 85">
                  <a:extLst>
                    <a:ext uri="{FF2B5EF4-FFF2-40B4-BE49-F238E27FC236}">
                      <a16:creationId xmlns:a16="http://schemas.microsoft.com/office/drawing/2014/main" id="{2132D768-DE53-D6AF-AB64-E764117EDCE1}"/>
                    </a:ext>
                  </a:extLst>
                </p:cNvPr>
                <p:cNvSpPr txBox="1"/>
                <p:nvPr/>
              </p:nvSpPr>
              <p:spPr>
                <a:xfrm>
                  <a:off x="8672627" y="3642032"/>
                  <a:ext cx="493070" cy="34146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de-DE" sz="20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85" name="Textfeld 85">
                  <a:extLst>
                    <a:ext uri="{FF2B5EF4-FFF2-40B4-BE49-F238E27FC236}">
                      <a16:creationId xmlns:a16="http://schemas.microsoft.com/office/drawing/2014/main" id="{2132D768-DE53-D6AF-AB64-E764117ED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2627" y="3642032"/>
                  <a:ext cx="493070" cy="341468"/>
                </a:xfrm>
                <a:prstGeom prst="rect">
                  <a:avLst/>
                </a:prstGeom>
                <a:blipFill>
                  <a:blip r:embed="rId31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9248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BA302-85B7-6F64-0280-7C5992775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27</a:t>
            </a:fld>
            <a:endParaRPr lang="de-DE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531E2E-BA47-322E-F39F-EEFD127F83AC}"/>
              </a:ext>
            </a:extLst>
          </p:cNvPr>
          <p:cNvGrpSpPr/>
          <p:nvPr/>
        </p:nvGrpSpPr>
        <p:grpSpPr>
          <a:xfrm>
            <a:off x="10026144" y="304811"/>
            <a:ext cx="1740401" cy="527668"/>
            <a:chOff x="4282753" y="2992759"/>
            <a:chExt cx="2730986" cy="82800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8E30395-D9DE-A9F1-CF80-D5AEBF83BE72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18" name="Flowchart: Stored Data 92">
                <a:extLst>
                  <a:ext uri="{FF2B5EF4-FFF2-40B4-BE49-F238E27FC236}">
                    <a16:creationId xmlns:a16="http://schemas.microsoft.com/office/drawing/2014/main" id="{56E24A69-55DB-9BBF-0793-8FF4F9604E1F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01DCC6B-96B9-D4E5-F67C-0DDE3713615C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789597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>
                    <a:solidFill>
                      <a:schemeClr val="tx1">
                        <a:alpha val="25000"/>
                      </a:schemeClr>
                    </a:solidFill>
                  </a:rPr>
                  <a:t>Preprocessing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4BC8EF5-22D9-3E34-18C5-6ED70CF15667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A68615C5-EDD3-A429-A8A0-52233C5403DE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C0AFE87-6C0C-E0DC-9866-0DF4FBB88A59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1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20" name="Down Arrow 66">
            <a:extLst>
              <a:ext uri="{FF2B5EF4-FFF2-40B4-BE49-F238E27FC236}">
                <a16:creationId xmlns:a16="http://schemas.microsoft.com/office/drawing/2014/main" id="{C8211EAC-865D-7DCB-510E-4E602E437B5E}"/>
              </a:ext>
            </a:extLst>
          </p:cNvPr>
          <p:cNvSpPr/>
          <p:nvPr/>
        </p:nvSpPr>
        <p:spPr>
          <a:xfrm>
            <a:off x="10764139" y="849291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>
              <a:solidFill>
                <a:schemeClr val="lt1">
                  <a:alpha val="25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5A7E44-3A4B-C29E-D6F9-9F8DD9194ADE}"/>
              </a:ext>
            </a:extLst>
          </p:cNvPr>
          <p:cNvGrpSpPr/>
          <p:nvPr/>
        </p:nvGrpSpPr>
        <p:grpSpPr>
          <a:xfrm>
            <a:off x="10026144" y="1039520"/>
            <a:ext cx="1740401" cy="527668"/>
            <a:chOff x="4282753" y="2992759"/>
            <a:chExt cx="2730986" cy="828002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BEF71CE-46C5-4E78-22ED-7B94638C7E4F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26" name="Flowchart: Stored Data 92">
                <a:extLst>
                  <a:ext uri="{FF2B5EF4-FFF2-40B4-BE49-F238E27FC236}">
                    <a16:creationId xmlns:a16="http://schemas.microsoft.com/office/drawing/2014/main" id="{06D5FC55-A9AC-D35B-BE7F-CA75AFD46746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A44CACF-5F25-6F5C-7432-065105D0B50B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>
                    <a:solidFill>
                      <a:schemeClr val="tx1">
                        <a:alpha val="25000"/>
                      </a:schemeClr>
                    </a:solidFill>
                  </a:rPr>
                  <a:t>Modeling</a:t>
                </a:r>
                <a:endParaRPr lang="en-DE" sz="10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FFB638E-DBDD-C602-25F4-5B98E6493F9F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02B99B3-DA48-29DC-AC0D-280D0831A7CE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>
                  <a:alpha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7DEBBDB-272C-E59A-16EA-492CC12A90F3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>
                        <a:alpha val="25000"/>
                      </a:schemeClr>
                    </a:solidFill>
                    <a:latin typeface="+mn-lt"/>
                  </a:rPr>
                  <a:t>2</a:t>
                </a:r>
                <a:endParaRPr lang="en-DE" sz="2000">
                  <a:solidFill>
                    <a:schemeClr val="bg1">
                      <a:alpha val="25000"/>
                    </a:schemeClr>
                  </a:solidFill>
                  <a:latin typeface="+mn-lt"/>
                </a:endParaRPr>
              </a:p>
            </p:txBody>
          </p:sp>
        </p:grpSp>
      </p:grpSp>
      <p:sp>
        <p:nvSpPr>
          <p:cNvPr id="28" name="Down Arrow 66">
            <a:extLst>
              <a:ext uri="{FF2B5EF4-FFF2-40B4-BE49-F238E27FC236}">
                <a16:creationId xmlns:a16="http://schemas.microsoft.com/office/drawing/2014/main" id="{B10A8CE2-3338-63C1-286E-0CC03C7FBDAD}"/>
              </a:ext>
            </a:extLst>
          </p:cNvPr>
          <p:cNvSpPr/>
          <p:nvPr/>
        </p:nvSpPr>
        <p:spPr>
          <a:xfrm>
            <a:off x="10764139" y="1584000"/>
            <a:ext cx="264404" cy="173423"/>
          </a:xfrm>
          <a:prstGeom prst="downArrow">
            <a:avLst/>
          </a:prstGeom>
          <a:solidFill>
            <a:schemeClr val="accent6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C2883D-00CF-785F-12FE-19D8C37288B0}"/>
              </a:ext>
            </a:extLst>
          </p:cNvPr>
          <p:cNvGrpSpPr/>
          <p:nvPr/>
        </p:nvGrpSpPr>
        <p:grpSpPr>
          <a:xfrm>
            <a:off x="10026144" y="1774229"/>
            <a:ext cx="1740401" cy="527668"/>
            <a:chOff x="4282753" y="2992759"/>
            <a:chExt cx="2730986" cy="82800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9D8D3C1-9907-7B2C-E26E-E8DDCE7A3184}"/>
                </a:ext>
              </a:extLst>
            </p:cNvPr>
            <p:cNvGrpSpPr/>
            <p:nvPr/>
          </p:nvGrpSpPr>
          <p:grpSpPr>
            <a:xfrm>
              <a:off x="4692548" y="2992759"/>
              <a:ext cx="2321191" cy="828000"/>
              <a:chOff x="4692548" y="2992759"/>
              <a:chExt cx="2321191" cy="828000"/>
            </a:xfrm>
          </p:grpSpPr>
          <p:sp>
            <p:nvSpPr>
              <p:cNvPr id="34" name="Flowchart: Stored Data 92">
                <a:extLst>
                  <a:ext uri="{FF2B5EF4-FFF2-40B4-BE49-F238E27FC236}">
                    <a16:creationId xmlns:a16="http://schemas.microsoft.com/office/drawing/2014/main" id="{C4F0CB8A-AF75-605C-415A-93A310952347}"/>
                  </a:ext>
                </a:extLst>
              </p:cNvPr>
              <p:cNvSpPr/>
              <p:nvPr/>
            </p:nvSpPr>
            <p:spPr>
              <a:xfrm flipH="1">
                <a:off x="4692548" y="2992759"/>
                <a:ext cx="2321191" cy="828000"/>
              </a:xfrm>
              <a:prstGeom prst="flowChartOnlineStorage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1100">
                  <a:solidFill>
                    <a:schemeClr val="tx1">
                      <a:alpha val="25000"/>
                    </a:schemeClr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8B71E77-616B-4157-C6B3-35B58CECCCC3}"/>
                  </a:ext>
                </a:extLst>
              </p:cNvPr>
              <p:cNvSpPr txBox="1"/>
              <p:nvPr/>
            </p:nvSpPr>
            <p:spPr>
              <a:xfrm>
                <a:off x="5224142" y="3262040"/>
                <a:ext cx="1474366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1200" err="1"/>
                  <a:t>Solving</a:t>
                </a:r>
                <a:endParaRPr lang="en-DE" sz="1000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46D3BC2-03FC-5440-5715-64F90E5BDC0A}"/>
                </a:ext>
              </a:extLst>
            </p:cNvPr>
            <p:cNvGrpSpPr/>
            <p:nvPr/>
          </p:nvGrpSpPr>
          <p:grpSpPr>
            <a:xfrm>
              <a:off x="4282753" y="2992761"/>
              <a:ext cx="828000" cy="828000"/>
              <a:chOff x="4282753" y="2992761"/>
              <a:chExt cx="828000" cy="8280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37B62E5B-0936-1282-F80D-7CA21C56E822}"/>
                  </a:ext>
                </a:extLst>
              </p:cNvPr>
              <p:cNvSpPr/>
              <p:nvPr/>
            </p:nvSpPr>
            <p:spPr>
              <a:xfrm>
                <a:off x="4282753" y="2992761"/>
                <a:ext cx="828000" cy="828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>
                  <a:solidFill>
                    <a:schemeClr val="lt1">
                      <a:alpha val="25000"/>
                    </a:schemeClr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89B9B61-4D39-6776-405C-F49611F26CCD}"/>
                  </a:ext>
                </a:extLst>
              </p:cNvPr>
              <p:cNvSpPr txBox="1"/>
              <p:nvPr/>
            </p:nvSpPr>
            <p:spPr>
              <a:xfrm>
                <a:off x="4511541" y="3246123"/>
                <a:ext cx="370423" cy="30285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de-DE" sz="1200">
                    <a:solidFill>
                      <a:schemeClr val="bg1"/>
                    </a:solidFill>
                    <a:latin typeface="+mn-lt"/>
                  </a:rPr>
                  <a:t>3</a:t>
                </a:r>
                <a:endParaRPr lang="en-DE" sz="2000">
                  <a:solidFill>
                    <a:schemeClr val="bg1"/>
                  </a:solidFill>
                  <a:latin typeface="+mn-lt"/>
                </a:endParaRPr>
              </a:p>
            </p:txBody>
          </p:sp>
        </p:grpSp>
      </p:grp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CD460AB-961F-EAC7-CCE0-6867B40F5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58" name="Title 57">
            <a:extLst>
              <a:ext uri="{FF2B5EF4-FFF2-40B4-BE49-F238E27FC236}">
                <a16:creationId xmlns:a16="http://schemas.microsoft.com/office/drawing/2014/main" id="{86386DB7-1B1B-CC59-1122-E9686B794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Solving the Problem</a:t>
            </a:r>
            <a:endParaRPr lang="de-DE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A78986-E81F-2147-26D2-9572F25A79F0}"/>
              </a:ext>
            </a:extLst>
          </p:cNvPr>
          <p:cNvGrpSpPr/>
          <p:nvPr/>
        </p:nvGrpSpPr>
        <p:grpSpPr>
          <a:xfrm>
            <a:off x="741401" y="2806269"/>
            <a:ext cx="3217351" cy="1659591"/>
            <a:chOff x="1572363" y="2811808"/>
            <a:chExt cx="3217351" cy="1659591"/>
          </a:xfrm>
        </p:grpSpPr>
        <p:sp>
          <p:nvSpPr>
            <p:cNvPr id="61" name="Rounded Rectangle 5">
              <a:extLst>
                <a:ext uri="{FF2B5EF4-FFF2-40B4-BE49-F238E27FC236}">
                  <a16:creationId xmlns:a16="http://schemas.microsoft.com/office/drawing/2014/main" id="{CF579336-00FE-6C08-5105-4539E6B0F12B}"/>
                </a:ext>
              </a:extLst>
            </p:cNvPr>
            <p:cNvSpPr/>
            <p:nvPr/>
          </p:nvSpPr>
          <p:spPr>
            <a:xfrm>
              <a:off x="1572363" y="2811808"/>
              <a:ext cx="3217351" cy="165959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>
                <a:solidFill>
                  <a:schemeClr val="tx1"/>
                </a:solidFill>
              </a:endParaRPr>
            </a:p>
          </p:txBody>
        </p:sp>
        <p:sp>
          <p:nvSpPr>
            <p:cNvPr id="2" name="Textfeld 1"/>
            <p:cNvSpPr txBox="1"/>
            <p:nvPr/>
          </p:nvSpPr>
          <p:spPr>
            <a:xfrm>
              <a:off x="2182235" y="3129957"/>
              <a:ext cx="1997606" cy="10232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>
                  <a:latin typeface="+mn-lt"/>
                </a:rPr>
                <a:t>Mixed Integer Optimal Control Problem</a:t>
              </a:r>
            </a:p>
          </p:txBody>
        </p:sp>
      </p:grpSp>
      <p:grpSp>
        <p:nvGrpSpPr>
          <p:cNvPr id="6" name="Gruppieren 5"/>
          <p:cNvGrpSpPr/>
          <p:nvPr/>
        </p:nvGrpSpPr>
        <p:grpSpPr>
          <a:xfrm>
            <a:off x="7413428" y="2829809"/>
            <a:ext cx="3217351" cy="1659591"/>
            <a:chOff x="5628998" y="3458357"/>
            <a:chExt cx="3217351" cy="1659591"/>
          </a:xfrm>
        </p:grpSpPr>
        <p:sp>
          <p:nvSpPr>
            <p:cNvPr id="62" name="Rounded Rectangle 5">
              <a:extLst>
                <a:ext uri="{FF2B5EF4-FFF2-40B4-BE49-F238E27FC236}">
                  <a16:creationId xmlns:a16="http://schemas.microsoft.com/office/drawing/2014/main" id="{CF579336-00FE-6C08-5105-4539E6B0F12B}"/>
                </a:ext>
              </a:extLst>
            </p:cNvPr>
            <p:cNvSpPr/>
            <p:nvPr/>
          </p:nvSpPr>
          <p:spPr>
            <a:xfrm>
              <a:off x="5628998" y="3458357"/>
              <a:ext cx="3217351" cy="1659591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>
                <a:solidFill>
                  <a:schemeClr val="tx1"/>
                </a:solidFill>
              </a:endParaRPr>
            </a:p>
          </p:txBody>
        </p:sp>
        <p:sp>
          <p:nvSpPr>
            <p:cNvPr id="63" name="Textfeld 62"/>
            <p:cNvSpPr txBox="1"/>
            <p:nvPr/>
          </p:nvSpPr>
          <p:spPr>
            <a:xfrm>
              <a:off x="6363706" y="3776506"/>
              <a:ext cx="1747935" cy="102329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>
                  <a:latin typeface="+mn-lt"/>
                </a:rPr>
                <a:t>Mixed Integer </a:t>
              </a:r>
              <a:r>
                <a:rPr lang="de-DE" sz="2000" err="1">
                  <a:latin typeface="+mn-lt"/>
                </a:rPr>
                <a:t>Nonlinear</a:t>
              </a:r>
              <a:r>
                <a:rPr lang="de-DE" sz="2000">
                  <a:latin typeface="+mn-lt"/>
                </a:rPr>
                <a:t> </a:t>
              </a:r>
              <a:r>
                <a:rPr lang="de-DE" sz="2000" err="1">
                  <a:latin typeface="+mn-lt"/>
                </a:rPr>
                <a:t>Program</a:t>
              </a:r>
              <a:endParaRPr lang="de-DE" sz="2000">
                <a:latin typeface="+mn-lt"/>
              </a:endParaRPr>
            </a:p>
          </p:txBody>
        </p:sp>
      </p:grpSp>
      <p:sp>
        <p:nvSpPr>
          <p:cNvPr id="7" name="Pfeil nach rechts 6"/>
          <p:cNvSpPr/>
          <p:nvPr/>
        </p:nvSpPr>
        <p:spPr>
          <a:xfrm>
            <a:off x="3958751" y="3492561"/>
            <a:ext cx="3454677" cy="33408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/>
          </a:p>
        </p:txBody>
      </p:sp>
      <p:sp>
        <p:nvSpPr>
          <p:cNvPr id="5" name="Textfeld 7">
            <a:extLst>
              <a:ext uri="{FF2B5EF4-FFF2-40B4-BE49-F238E27FC236}">
                <a16:creationId xmlns:a16="http://schemas.microsoft.com/office/drawing/2014/main" id="{6641BB40-5105-730E-7BA5-4DC284ED7491}"/>
              </a:ext>
            </a:extLst>
          </p:cNvPr>
          <p:cNvSpPr txBox="1"/>
          <p:nvPr/>
        </p:nvSpPr>
        <p:spPr>
          <a:xfrm>
            <a:off x="4283548" y="2657992"/>
            <a:ext cx="2805082" cy="6724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latin typeface="+mn-lt"/>
              </a:rPr>
              <a:t>Direct</a:t>
            </a:r>
            <a:r>
              <a:rPr lang="de-DE" sz="2000">
                <a:latin typeface="+mn-lt"/>
              </a:rPr>
              <a:t> multiple </a:t>
            </a:r>
            <a:r>
              <a:rPr lang="de-DE" sz="2000" err="1">
                <a:latin typeface="+mn-lt"/>
              </a:rPr>
              <a:t>shooting</a:t>
            </a:r>
            <a:endParaRPr lang="de-DE" sz="2000"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de-DE" sz="2000">
                <a:latin typeface="+mn-lt"/>
              </a:rPr>
              <a:t>(</a:t>
            </a:r>
            <a:r>
              <a:rPr lang="de-DE" sz="2000" err="1">
                <a:latin typeface="+mn-lt"/>
              </a:rPr>
              <a:t>with</a:t>
            </a:r>
            <a:r>
              <a:rPr lang="de-DE" sz="2000">
                <a:latin typeface="+mn-lt"/>
              </a:rPr>
              <a:t> </a:t>
            </a:r>
            <a:r>
              <a:rPr lang="de-DE" sz="2000" err="1">
                <a:latin typeface="+mn-lt"/>
              </a:rPr>
              <a:t>forward</a:t>
            </a:r>
            <a:r>
              <a:rPr lang="de-DE" sz="2000">
                <a:latin typeface="+mn-lt"/>
              </a:rPr>
              <a:t> Euler)</a:t>
            </a:r>
          </a:p>
        </p:txBody>
      </p:sp>
    </p:spTree>
    <p:extLst>
      <p:ext uri="{BB962C8B-B14F-4D97-AF65-F5344CB8AC3E}">
        <p14:creationId xmlns:p14="http://schemas.microsoft.com/office/powerpoint/2010/main" val="2052384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737F23-AF35-BC0A-52A9-3E8E85BCA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28</a:t>
            </a:fld>
            <a:endParaRPr lang="de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4A1B81-764E-5D53-BB7F-622EAFD25951}"/>
              </a:ext>
            </a:extLst>
          </p:cNvPr>
          <p:cNvGrpSpPr/>
          <p:nvPr/>
        </p:nvGrpSpPr>
        <p:grpSpPr>
          <a:xfrm>
            <a:off x="425451" y="1730716"/>
            <a:ext cx="9058103" cy="432000"/>
            <a:chOff x="425451" y="1730716"/>
            <a:chExt cx="9058103" cy="432000"/>
          </a:xfrm>
        </p:grpSpPr>
        <p:sp>
          <p:nvSpPr>
            <p:cNvPr id="5" name="Symbol zastępczy tekstu 23">
              <a:extLst>
                <a:ext uri="{FF2B5EF4-FFF2-40B4-BE49-F238E27FC236}">
                  <a16:creationId xmlns:a16="http://schemas.microsoft.com/office/drawing/2014/main" id="{92ACA924-F654-129F-30A4-E6AC38633EA6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425451" y="1730716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01</a:t>
              </a:r>
            </a:p>
          </p:txBody>
        </p:sp>
        <p:sp>
          <p:nvSpPr>
            <p:cNvPr id="14" name="Symbol zastępczy tekstu 32">
              <a:extLst>
                <a:ext uri="{FF2B5EF4-FFF2-40B4-BE49-F238E27FC236}">
                  <a16:creationId xmlns:a16="http://schemas.microsoft.com/office/drawing/2014/main" id="{8E529EEA-0535-9A7D-86C2-7876638BAC0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1795516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Problem Description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EA386430-C085-9BD0-B7DE-D747AABA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E693B2-B7EA-A8ED-5270-2AB1AE73340A}"/>
              </a:ext>
            </a:extLst>
          </p:cNvPr>
          <p:cNvGrpSpPr/>
          <p:nvPr/>
        </p:nvGrpSpPr>
        <p:grpSpPr>
          <a:xfrm>
            <a:off x="425451" y="2365003"/>
            <a:ext cx="9058103" cy="432000"/>
            <a:chOff x="425451" y="2302130"/>
            <a:chExt cx="9058103" cy="432000"/>
          </a:xfrm>
        </p:grpSpPr>
        <p:sp>
          <p:nvSpPr>
            <p:cNvPr id="21" name="Symbol zastępczy tekstu 23">
              <a:extLst>
                <a:ext uri="{FF2B5EF4-FFF2-40B4-BE49-F238E27FC236}">
                  <a16:creationId xmlns:a16="http://schemas.microsoft.com/office/drawing/2014/main" id="{7DCA2B47-C54D-BE17-3572-876C62CBE633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425451" y="2302130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02</a:t>
              </a:r>
            </a:p>
          </p:txBody>
        </p:sp>
        <p:sp>
          <p:nvSpPr>
            <p:cNvPr id="22" name="Symbol zastępczy tekstu 32">
              <a:extLst>
                <a:ext uri="{FF2B5EF4-FFF2-40B4-BE49-F238E27FC236}">
                  <a16:creationId xmlns:a16="http://schemas.microsoft.com/office/drawing/2014/main" id="{10264CC8-DAC8-EC57-9E7E-2CA02391D67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2366930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err="1">
                  <a:latin typeface="+mn-lt"/>
                </a:rPr>
                <a:t>Combined</a:t>
              </a:r>
              <a:r>
                <a:rPr lang="de-DE">
                  <a:latin typeface="+mn-lt"/>
                </a:rPr>
                <a:t> Approach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05FE4E-B733-E02F-F1D0-603EDE5C57D0}"/>
              </a:ext>
            </a:extLst>
          </p:cNvPr>
          <p:cNvGrpSpPr/>
          <p:nvPr/>
        </p:nvGrpSpPr>
        <p:grpSpPr>
          <a:xfrm>
            <a:off x="425451" y="2999289"/>
            <a:ext cx="9058103" cy="432000"/>
            <a:chOff x="414883" y="3024067"/>
            <a:chExt cx="9058103" cy="432000"/>
          </a:xfrm>
        </p:grpSpPr>
        <p:sp>
          <p:nvSpPr>
            <p:cNvPr id="28" name="Symbol zastępczy tekstu 23">
              <a:extLst>
                <a:ext uri="{FF2B5EF4-FFF2-40B4-BE49-F238E27FC236}">
                  <a16:creationId xmlns:a16="http://schemas.microsoft.com/office/drawing/2014/main" id="{D720CF5E-FDA2-1C5D-38DE-39BBA1E2DEF2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 bwMode="gray">
            <a:xfrm>
              <a:off x="414883" y="3024067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03</a:t>
              </a:r>
            </a:p>
          </p:txBody>
        </p:sp>
        <p:sp>
          <p:nvSpPr>
            <p:cNvPr id="29" name="Symbol zastępczy tekstu 32">
              <a:extLst>
                <a:ext uri="{FF2B5EF4-FFF2-40B4-BE49-F238E27FC236}">
                  <a16:creationId xmlns:a16="http://schemas.microsoft.com/office/drawing/2014/main" id="{FA72EB01-738B-7CCC-980D-06139E9AC6D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088867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sz="2400" b="1" err="1">
                  <a:latin typeface="+mn-lt"/>
                </a:rPr>
                <a:t>Decoupled</a:t>
              </a:r>
              <a:r>
                <a:rPr lang="de-DE" sz="2400" b="1">
                  <a:latin typeface="+mn-lt"/>
                </a:rPr>
                <a:t> Approach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7EAD94-3138-9D1F-F35C-D6504C79E4A8}"/>
              </a:ext>
            </a:extLst>
          </p:cNvPr>
          <p:cNvGrpSpPr/>
          <p:nvPr/>
        </p:nvGrpSpPr>
        <p:grpSpPr>
          <a:xfrm>
            <a:off x="425451" y="3633576"/>
            <a:ext cx="9058103" cy="432000"/>
            <a:chOff x="414883" y="3595481"/>
            <a:chExt cx="9058103" cy="432000"/>
          </a:xfrm>
        </p:grpSpPr>
        <p:sp>
          <p:nvSpPr>
            <p:cNvPr id="30" name="Symbol zastępczy tekstu 23">
              <a:extLst>
                <a:ext uri="{FF2B5EF4-FFF2-40B4-BE49-F238E27FC236}">
                  <a16:creationId xmlns:a16="http://schemas.microsoft.com/office/drawing/2014/main" id="{C3928531-532D-C2CF-CF37-2AA870874CD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04</a:t>
              </a:r>
            </a:p>
          </p:txBody>
        </p:sp>
        <p:sp>
          <p:nvSpPr>
            <p:cNvPr id="31" name="Symbol zastępczy tekstu 32">
              <a:extLst>
                <a:ext uri="{FF2B5EF4-FFF2-40B4-BE49-F238E27FC236}">
                  <a16:creationId xmlns:a16="http://schemas.microsoft.com/office/drawing/2014/main" id="{49C1A316-6797-48F9-929B-30544324700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Experiments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7A1342-6839-F824-F73E-F5FE35FBEE13}"/>
              </a:ext>
            </a:extLst>
          </p:cNvPr>
          <p:cNvGrpSpPr/>
          <p:nvPr/>
        </p:nvGrpSpPr>
        <p:grpSpPr>
          <a:xfrm>
            <a:off x="425451" y="4267862"/>
            <a:ext cx="9058103" cy="432000"/>
            <a:chOff x="414883" y="3595481"/>
            <a:chExt cx="9058103" cy="432000"/>
          </a:xfrm>
        </p:grpSpPr>
        <p:sp>
          <p:nvSpPr>
            <p:cNvPr id="37" name="Symbol zastępczy tekstu 23">
              <a:extLst>
                <a:ext uri="{FF2B5EF4-FFF2-40B4-BE49-F238E27FC236}">
                  <a16:creationId xmlns:a16="http://schemas.microsoft.com/office/drawing/2014/main" id="{102D37CF-0904-A649-17BF-716C80D2279F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05</a:t>
              </a:r>
            </a:p>
          </p:txBody>
        </p:sp>
        <p:sp>
          <p:nvSpPr>
            <p:cNvPr id="38" name="Symbol zastępczy tekstu 32">
              <a:extLst>
                <a:ext uri="{FF2B5EF4-FFF2-40B4-BE49-F238E27FC236}">
                  <a16:creationId xmlns:a16="http://schemas.microsoft.com/office/drawing/2014/main" id="{19C24D9E-4416-65CE-489F-5646D2ED271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Summary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DC5B612-2639-6D06-9382-AD75A58A63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892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>
            <a:extLst>
              <a:ext uri="{FF2B5EF4-FFF2-40B4-BE49-F238E27FC236}">
                <a16:creationId xmlns:a16="http://schemas.microsoft.com/office/drawing/2014/main" id="{144E018E-CA0E-E648-D242-B14A4259616F}"/>
              </a:ext>
            </a:extLst>
          </p:cNvPr>
          <p:cNvSpPr txBox="1"/>
          <p:nvPr/>
        </p:nvSpPr>
        <p:spPr>
          <a:xfrm>
            <a:off x="2748669" y="4605082"/>
            <a:ext cx="1255152" cy="3215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 err="1">
                <a:latin typeface="+mn-lt"/>
              </a:rPr>
              <a:t>Combined</a:t>
            </a:r>
            <a:endParaRPr lang="en-US" sz="1600" b="1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11EE5-5508-1CCD-C665-271980934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29</a:t>
            </a:fld>
            <a:endParaRPr lang="de-D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178B732-C520-280D-161E-40D9790A99E4}"/>
              </a:ext>
            </a:extLst>
          </p:cNvPr>
          <p:cNvCxnSpPr>
            <a:cxnSpLocks/>
          </p:cNvCxnSpPr>
          <p:nvPr/>
        </p:nvCxnSpPr>
        <p:spPr>
          <a:xfrm>
            <a:off x="6096000" y="1812960"/>
            <a:ext cx="0" cy="4189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91A32E7-CFC2-BD42-4CF6-87104E01D66B}"/>
              </a:ext>
            </a:extLst>
          </p:cNvPr>
          <p:cNvSpPr txBox="1"/>
          <p:nvPr/>
        </p:nvSpPr>
        <p:spPr>
          <a:xfrm>
            <a:off x="8445009" y="4605082"/>
            <a:ext cx="1312860" cy="3215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 err="1">
                <a:latin typeface="+mn-lt"/>
              </a:rPr>
              <a:t>Decoupled</a:t>
            </a:r>
            <a:endParaRPr lang="en-US" sz="1600" b="1">
              <a:latin typeface="+mn-lt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330F34C-B8ED-2461-0176-FC595CA73A63}"/>
              </a:ext>
            </a:extLst>
          </p:cNvPr>
          <p:cNvCxnSpPr>
            <a:cxnSpLocks/>
          </p:cNvCxnSpPr>
          <p:nvPr/>
        </p:nvCxnSpPr>
        <p:spPr>
          <a:xfrm>
            <a:off x="422607" y="5991563"/>
            <a:ext cx="11346793" cy="32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F87447E-B223-5B91-4E9D-DCBE5BBE7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19BE68F-2AD0-0B77-4ED2-1890A277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Combined</a:t>
            </a:r>
            <a:r>
              <a:rPr lang="de-DE"/>
              <a:t> vs. </a:t>
            </a:r>
            <a:r>
              <a:rPr lang="de-DE" err="1"/>
              <a:t>Decoupled</a:t>
            </a:r>
            <a:r>
              <a:rPr lang="de-DE"/>
              <a:t> Approach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55B1210-D662-6723-0E85-01A2A4CE9708}"/>
              </a:ext>
            </a:extLst>
          </p:cNvPr>
          <p:cNvGrpSpPr/>
          <p:nvPr/>
        </p:nvGrpSpPr>
        <p:grpSpPr>
          <a:xfrm>
            <a:off x="1871456" y="2469650"/>
            <a:ext cx="2892059" cy="1624502"/>
            <a:chOff x="1871456" y="2469650"/>
            <a:chExt cx="2892059" cy="1624502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FE3ACBFE-7319-5A08-51FD-3F09BBEE6796}"/>
                </a:ext>
              </a:extLst>
            </p:cNvPr>
            <p:cNvGrpSpPr/>
            <p:nvPr/>
          </p:nvGrpSpPr>
          <p:grpSpPr>
            <a:xfrm>
              <a:off x="1871456" y="2469650"/>
              <a:ext cx="2892059" cy="1515568"/>
              <a:chOff x="5658322" y="3215716"/>
              <a:chExt cx="2091549" cy="1112322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29165258-AF9C-774A-9D43-1022BF7A8746}"/>
                  </a:ext>
                </a:extLst>
              </p:cNvPr>
              <p:cNvGrpSpPr/>
              <p:nvPr/>
            </p:nvGrpSpPr>
            <p:grpSpPr>
              <a:xfrm rot="19727091">
                <a:off x="6561715" y="3399218"/>
                <a:ext cx="579672" cy="417195"/>
                <a:chOff x="2190750" y="2862203"/>
                <a:chExt cx="586201" cy="421895"/>
              </a:xfrm>
            </p:grpSpPr>
            <p:pic>
              <p:nvPicPr>
                <p:cNvPr id="97" name="Graphic 96" descr="Toy Train with solid fill">
                  <a:extLst>
                    <a:ext uri="{FF2B5EF4-FFF2-40B4-BE49-F238E27FC236}">
                      <a16:creationId xmlns:a16="http://schemas.microsoft.com/office/drawing/2014/main" id="{5B181E56-2DA6-144D-8B05-4414ACDE75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81E00D6E-A456-0D61-DC65-9A1EE26C8AC0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DD8DC4BF-E777-3F46-A566-15DD2DAADE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00AC11C-6BFB-8E73-FBD1-16BB2DCC5B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5E293CFA-DE3A-A47F-ADCA-2A67DCC54615}"/>
                  </a:ext>
                </a:extLst>
              </p:cNvPr>
              <p:cNvGrpSpPr/>
              <p:nvPr/>
            </p:nvGrpSpPr>
            <p:grpSpPr>
              <a:xfrm>
                <a:off x="5658322" y="3215716"/>
                <a:ext cx="2091549" cy="1112322"/>
                <a:chOff x="2426305" y="3644089"/>
                <a:chExt cx="1212760" cy="644966"/>
              </a:xfrm>
            </p:grpSpPr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446BA079-346A-C438-E482-B7E7CC3983AC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73" name="Oval 72">
                    <a:extLst>
                      <a:ext uri="{FF2B5EF4-FFF2-40B4-BE49-F238E27FC236}">
                        <a16:creationId xmlns:a16="http://schemas.microsoft.com/office/drawing/2014/main" id="{EF63280A-33C3-5BE7-F5E3-17442D0EAA8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C6598441-F647-F862-0288-5626EE24E8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AA79EAD8-E65B-3320-89CF-BBF6826F4A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B99E7EF6-9632-7135-52DE-40D1EB22CE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EDE56C02-31D1-5B90-55D4-1B0FF968BC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01F894B7-A4B5-E508-B720-7E67675C00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EF5CED62-33CB-9BAF-A874-CA1CFF98E5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A069D08A-7BED-9659-4F37-0C730E6094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567991CB-192C-3298-182A-E509F509EA74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F21E360B-E50D-647F-513B-D91AFD3F0D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73AB6568-5ED8-E773-F99B-15D3D17C66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BD8CD05A-8C95-0873-123D-54900FFA2E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992FC2E0-EDEB-27C2-2B47-FE4FA55741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2DF7C0E-0894-E62E-B6B2-4D8A12036DF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9781" y="398615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B011AB75-75C0-3D35-A5CA-58281699E30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9943" y="350827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B47D494-A745-4CC1-79E2-B75657A7F9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29834" y="3459787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FB0C037-2FB4-2754-612F-BC947F5CE6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4283" y="2726830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2E4C602-B268-26E1-AE8C-F423FDACC1D2}"/>
              </a:ext>
            </a:extLst>
          </p:cNvPr>
          <p:cNvGrpSpPr/>
          <p:nvPr/>
        </p:nvGrpSpPr>
        <p:grpSpPr>
          <a:xfrm>
            <a:off x="7428514" y="2549750"/>
            <a:ext cx="2754029" cy="1441172"/>
            <a:chOff x="7428514" y="2549750"/>
            <a:chExt cx="2754029" cy="1441172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1536A62-56FC-9881-36BF-2098AAB18313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E5F7A33C-A5D5-BEFC-4B75-8D7BC072CD72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12" name="Graphic 11" descr="Toy Train with solid fill">
                  <a:extLst>
                    <a:ext uri="{FF2B5EF4-FFF2-40B4-BE49-F238E27FC236}">
                      <a16:creationId xmlns:a16="http://schemas.microsoft.com/office/drawing/2014/main" id="{FC98EB8C-B722-8941-A264-1058CFF0AB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44EEFA8B-00AD-028A-52C6-50F5B41C0274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E534D2B-ADEE-D0C0-73B4-1681313C9F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D3811F92-2279-D347-4288-38F37A5784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66BC060C-AF5E-C345-7C31-8DE0BDF1C8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1128611-D38C-1E92-01C5-AD79A24D479D}"/>
                </a:ext>
              </a:extLst>
            </p:cNvPr>
            <p:cNvGrpSpPr/>
            <p:nvPr/>
          </p:nvGrpSpPr>
          <p:grpSpPr>
            <a:xfrm>
              <a:off x="8629915" y="3118768"/>
              <a:ext cx="1552628" cy="872154"/>
              <a:chOff x="1871464" y="2469614"/>
              <a:chExt cx="2892064" cy="1624538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6BFF60D9-B24E-B93E-8C38-9C7C84214883}"/>
                  </a:ext>
                </a:extLst>
              </p:cNvPr>
              <p:cNvGrpSpPr/>
              <p:nvPr/>
            </p:nvGrpSpPr>
            <p:grpSpPr>
              <a:xfrm>
                <a:off x="1871464" y="2469614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936DA2AA-7E99-107B-0D6F-BDAEC910D7C1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BD85EC29-A8A9-3B21-3FFF-F64E4F9531A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533EB47A-666D-B1E2-C06A-C6DE49E420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A4534804-356E-F76D-E536-31C90380DB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258DFA41-4A54-6164-F27B-758EBEBC65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160E5DFC-7BB6-3012-C67E-44ECD847EB8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0B845211-FE87-CA11-E38E-1ACC7B84C8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235C3AE1-81E5-2897-D324-9DFEBAFE81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6728447B-85CA-D507-AB32-6EF8D40F816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6574FFB6-3918-F996-02AC-D11E5BCFE560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AF96F723-02FD-914D-0875-46CD0EDA46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63CC544A-C95A-1CD8-BDDF-E40E030F7A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347A4975-AFA4-2C50-CE10-E8D98A9BC73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F68A5C14-D172-78DC-9255-50ED97555B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9F61CB55-BE25-FDD6-7D9B-25591A2505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1BAEFC1-BE83-007E-48BD-29CF1ED217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1167C59-F681-0BD9-EDA6-2A1D03F3C3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A772BC3-EC50-5F64-7B31-4B7B37EFEF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8224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11EE5-5508-1CCD-C665-271980934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30</a:t>
            </a:fld>
            <a:endParaRPr lang="de-DE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84271E2-AB0E-279F-ED9C-AB601831BBF9}"/>
              </a:ext>
            </a:extLst>
          </p:cNvPr>
          <p:cNvCxnSpPr>
            <a:cxnSpLocks/>
          </p:cNvCxnSpPr>
          <p:nvPr/>
        </p:nvCxnSpPr>
        <p:spPr>
          <a:xfrm>
            <a:off x="9875580" y="1812960"/>
            <a:ext cx="0" cy="4189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Arrow: Down 7">
            <a:extLst>
              <a:ext uri="{FF2B5EF4-FFF2-40B4-BE49-F238E27FC236}">
                <a16:creationId xmlns:a16="http://schemas.microsoft.com/office/drawing/2014/main" id="{D08F305C-7BAA-F506-0C30-05656DD7B215}"/>
              </a:ext>
            </a:extLst>
          </p:cNvPr>
          <p:cNvSpPr/>
          <p:nvPr/>
        </p:nvSpPr>
        <p:spPr>
          <a:xfrm rot="16200000">
            <a:off x="3204505" y="4256508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827FF3-0717-7723-1D1B-B19784D383BF}"/>
              </a:ext>
            </a:extLst>
          </p:cNvPr>
          <p:cNvSpPr/>
          <p:nvPr/>
        </p:nvSpPr>
        <p:spPr>
          <a:xfrm>
            <a:off x="3594777" y="3602929"/>
            <a:ext cx="2924957" cy="1439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Mixed Integer Optimal Control </a:t>
            </a:r>
            <a:r>
              <a:rPr lang="de-DE" sz="2000" err="1">
                <a:solidFill>
                  <a:schemeClr val="tx1"/>
                </a:solidFill>
              </a:rPr>
              <a:t>Program</a:t>
            </a:r>
            <a:r>
              <a:rPr lang="de-DE" sz="2000">
                <a:solidFill>
                  <a:schemeClr val="tx1"/>
                </a:solidFill>
              </a:rPr>
              <a:t> (MIOCP)</a:t>
            </a:r>
            <a:endParaRPr lang="en-DE" sz="2000">
              <a:solidFill>
                <a:schemeClr val="tx1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0232DC-4A6A-6347-DD84-A542DE8B4037}"/>
              </a:ext>
            </a:extLst>
          </p:cNvPr>
          <p:cNvGrpSpPr/>
          <p:nvPr/>
        </p:nvGrpSpPr>
        <p:grpSpPr>
          <a:xfrm>
            <a:off x="6931455" y="3945656"/>
            <a:ext cx="2149117" cy="813024"/>
            <a:chOff x="2006006" y="3269604"/>
            <a:chExt cx="1332258" cy="504001"/>
          </a:xfrm>
        </p:grpSpPr>
        <p:sp>
          <p:nvSpPr>
            <p:cNvPr id="29" name="Flowchart: Stored Data 28">
              <a:extLst>
                <a:ext uri="{FF2B5EF4-FFF2-40B4-BE49-F238E27FC236}">
                  <a16:creationId xmlns:a16="http://schemas.microsoft.com/office/drawing/2014/main" id="{82BC24EE-ABFD-CC0E-060B-5D2695E3134C}"/>
                </a:ext>
              </a:extLst>
            </p:cNvPr>
            <p:cNvSpPr/>
            <p:nvPr/>
          </p:nvSpPr>
          <p:spPr>
            <a:xfrm flipH="1">
              <a:off x="2258005" y="3269604"/>
              <a:ext cx="1080259" cy="504000"/>
            </a:xfrm>
            <a:prstGeom prst="flowChartOnlineStorage">
              <a:avLst/>
            </a:prstGeom>
            <a:solidFill>
              <a:srgbClr val="7EC4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endParaRPr lang="en-DE" sz="2000">
                <a:solidFill>
                  <a:schemeClr val="tx1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E2BD7CE-1804-A7B5-AD5E-A74F86446F5C}"/>
                </a:ext>
              </a:extLst>
            </p:cNvPr>
            <p:cNvSpPr txBox="1"/>
            <p:nvPr/>
          </p:nvSpPr>
          <p:spPr>
            <a:xfrm>
              <a:off x="2583461" y="3425103"/>
              <a:ext cx="732777" cy="1849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2000"/>
                <a:t>Solution</a:t>
              </a:r>
              <a:endParaRPr lang="en-DE" sz="2000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51298FE-AC9F-849E-FBF9-54937391E5C2}"/>
                </a:ext>
              </a:extLst>
            </p:cNvPr>
            <p:cNvGrpSpPr/>
            <p:nvPr/>
          </p:nvGrpSpPr>
          <p:grpSpPr>
            <a:xfrm>
              <a:off x="2006006" y="3269605"/>
              <a:ext cx="504000" cy="504000"/>
              <a:chOff x="2006006" y="3269605"/>
              <a:chExt cx="504000" cy="5040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7C9A809-F838-318F-9652-6973065FC309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 sz="2000"/>
              </a:p>
            </p:txBody>
          </p:sp>
          <p:pic>
            <p:nvPicPr>
              <p:cNvPr id="33" name="Graphic 32" descr="Lights On outline">
                <a:extLst>
                  <a:ext uri="{FF2B5EF4-FFF2-40B4-BE49-F238E27FC236}">
                    <a16:creationId xmlns:a16="http://schemas.microsoft.com/office/drawing/2014/main" id="{F8F69298-705F-CA81-E039-6D57EB6A7D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083315" y="3346914"/>
                <a:ext cx="349383" cy="349383"/>
              </a:xfrm>
              <a:prstGeom prst="rect">
                <a:avLst/>
              </a:prstGeom>
            </p:spPr>
          </p:pic>
        </p:grpSp>
      </p:grpSp>
      <p:sp>
        <p:nvSpPr>
          <p:cNvPr id="34" name="Arrow: Down 33">
            <a:extLst>
              <a:ext uri="{FF2B5EF4-FFF2-40B4-BE49-F238E27FC236}">
                <a16:creationId xmlns:a16="http://schemas.microsoft.com/office/drawing/2014/main" id="{3F362828-9788-86A2-1C89-728E9963D2B4}"/>
              </a:ext>
            </a:extLst>
          </p:cNvPr>
          <p:cNvSpPr/>
          <p:nvPr/>
        </p:nvSpPr>
        <p:spPr>
          <a:xfrm rot="16200000">
            <a:off x="6510780" y="4275728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996542-DED3-0927-03D1-47C3511C8527}"/>
              </a:ext>
            </a:extLst>
          </p:cNvPr>
          <p:cNvSpPr txBox="1"/>
          <p:nvPr/>
        </p:nvSpPr>
        <p:spPr>
          <a:xfrm>
            <a:off x="3703158" y="2168267"/>
            <a:ext cx="1255152" cy="32156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 err="1">
                <a:latin typeface="+mn-lt"/>
              </a:rPr>
              <a:t>Combined</a:t>
            </a:r>
            <a:endParaRPr lang="en-US" sz="1600" b="1">
              <a:latin typeface="+mn-lt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1C8D254-DE0D-1D89-567F-160247A7C74D}"/>
              </a:ext>
            </a:extLst>
          </p:cNvPr>
          <p:cNvSpPr txBox="1"/>
          <p:nvPr/>
        </p:nvSpPr>
        <p:spPr>
          <a:xfrm>
            <a:off x="10201957" y="2534298"/>
            <a:ext cx="1104840" cy="19300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lang="de-DE" sz="1200" b="1" err="1">
                <a:latin typeface="+mn-lt"/>
                <a:cs typeface="Arial"/>
              </a:rPr>
              <a:t>Decoupled</a:t>
            </a:r>
            <a:endParaRPr lang="en-US" sz="1200" b="1">
              <a:latin typeface="+mn-lt"/>
              <a:cs typeface="Arial"/>
            </a:endParaRPr>
          </a:p>
        </p:txBody>
      </p:sp>
      <p:cxnSp>
        <p:nvCxnSpPr>
          <p:cNvPr id="4" name="Straight Connector 100">
            <a:extLst>
              <a:ext uri="{FF2B5EF4-FFF2-40B4-BE49-F238E27FC236}">
                <a16:creationId xmlns:a16="http://schemas.microsoft.com/office/drawing/2014/main" id="{2E26079F-B59C-5A4D-89E5-657485C2CF85}"/>
              </a:ext>
            </a:extLst>
          </p:cNvPr>
          <p:cNvCxnSpPr>
            <a:cxnSpLocks/>
          </p:cNvCxnSpPr>
          <p:nvPr/>
        </p:nvCxnSpPr>
        <p:spPr>
          <a:xfrm>
            <a:off x="422607" y="2987106"/>
            <a:ext cx="11346793" cy="32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0771250-FA77-AA18-D7A6-5622210A3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5E4B98B-0D64-880D-7605-DFE16B9A9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Combined</a:t>
            </a:r>
            <a:r>
              <a:rPr lang="de-DE"/>
              <a:t> vs. </a:t>
            </a:r>
            <a:r>
              <a:rPr lang="de-DE" err="1"/>
              <a:t>Decoupled</a:t>
            </a:r>
            <a:r>
              <a:rPr lang="de-DE"/>
              <a:t> Approach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4F32841-BC5B-92A4-2EA2-0D843BD867D8}"/>
              </a:ext>
            </a:extLst>
          </p:cNvPr>
          <p:cNvGrpSpPr/>
          <p:nvPr/>
        </p:nvGrpSpPr>
        <p:grpSpPr>
          <a:xfrm>
            <a:off x="980006" y="3486150"/>
            <a:ext cx="2225488" cy="1704927"/>
            <a:chOff x="1608440" y="3553984"/>
            <a:chExt cx="2225488" cy="170492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0001443-0D4C-3502-B3E2-E16C97F0487F}"/>
                </a:ext>
              </a:extLst>
            </p:cNvPr>
            <p:cNvGrpSpPr/>
            <p:nvPr/>
          </p:nvGrpSpPr>
          <p:grpSpPr>
            <a:xfrm>
              <a:off x="1614097" y="3553984"/>
              <a:ext cx="2219831" cy="812002"/>
              <a:chOff x="1573192" y="4207141"/>
              <a:chExt cx="1673068" cy="612000"/>
            </a:xfrm>
          </p:grpSpPr>
          <p:sp>
            <p:nvSpPr>
              <p:cNvPr id="44" name="Flowchart: Stored Data 11">
                <a:extLst>
                  <a:ext uri="{FF2B5EF4-FFF2-40B4-BE49-F238E27FC236}">
                    <a16:creationId xmlns:a16="http://schemas.microsoft.com/office/drawing/2014/main" id="{B178DE89-D650-7E39-A324-AE11DAB8F326}"/>
                  </a:ext>
                </a:extLst>
              </p:cNvPr>
              <p:cNvSpPr/>
              <p:nvPr/>
            </p:nvSpPr>
            <p:spPr>
              <a:xfrm flipH="1">
                <a:off x="1843516" y="4207141"/>
                <a:ext cx="1402744" cy="6115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3245A9E2-B294-78CE-CE60-41F648D43AE7}"/>
                  </a:ext>
                </a:extLst>
              </p:cNvPr>
              <p:cNvGrpSpPr/>
              <p:nvPr/>
            </p:nvGrpSpPr>
            <p:grpSpPr>
              <a:xfrm>
                <a:off x="1573192" y="4207141"/>
                <a:ext cx="612000" cy="612000"/>
                <a:chOff x="1851183" y="3079700"/>
                <a:chExt cx="495300" cy="495300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6767FA99-6447-76C8-9B54-3BF4DD59DF14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51" name="Graphic 50" descr="Document outline">
                  <a:extLst>
                    <a:ext uri="{FF2B5EF4-FFF2-40B4-BE49-F238E27FC236}">
                      <a16:creationId xmlns:a16="http://schemas.microsoft.com/office/drawing/2014/main" id="{50754B7A-AE0D-6679-C879-6168ED3CED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760A93F-722F-DEC1-E0FE-536488E0D045}"/>
                  </a:ext>
                </a:extLst>
              </p:cNvPr>
              <p:cNvSpPr txBox="1"/>
              <p:nvPr/>
            </p:nvSpPr>
            <p:spPr>
              <a:xfrm>
                <a:off x="2269259" y="4249304"/>
                <a:ext cx="843117" cy="506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Network, Schedule</a:t>
                </a:r>
                <a:endParaRPr lang="en-DE" sz="200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333A9D-4690-90B7-4D37-3CF181EF2FAE}"/>
                </a:ext>
              </a:extLst>
            </p:cNvPr>
            <p:cNvGrpSpPr/>
            <p:nvPr/>
          </p:nvGrpSpPr>
          <p:grpSpPr>
            <a:xfrm>
              <a:off x="1608440" y="4446909"/>
              <a:ext cx="2225485" cy="812002"/>
              <a:chOff x="1573192" y="4207141"/>
              <a:chExt cx="1677332" cy="612000"/>
            </a:xfrm>
          </p:grpSpPr>
          <p:sp>
            <p:nvSpPr>
              <p:cNvPr id="23" name="Flowchart: Stored Data 11">
                <a:extLst>
                  <a:ext uri="{FF2B5EF4-FFF2-40B4-BE49-F238E27FC236}">
                    <a16:creationId xmlns:a16="http://schemas.microsoft.com/office/drawing/2014/main" id="{9E506C06-5475-0267-2F2E-C7613801599A}"/>
                  </a:ext>
                </a:extLst>
              </p:cNvPr>
              <p:cNvSpPr/>
              <p:nvPr/>
            </p:nvSpPr>
            <p:spPr>
              <a:xfrm flipH="1">
                <a:off x="1895203" y="4207141"/>
                <a:ext cx="1355321" cy="6115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3D2F08E7-1773-705C-9D91-47FF50A589BD}"/>
                  </a:ext>
                </a:extLst>
              </p:cNvPr>
              <p:cNvGrpSpPr/>
              <p:nvPr/>
            </p:nvGrpSpPr>
            <p:grpSpPr>
              <a:xfrm>
                <a:off x="1573192" y="4207141"/>
                <a:ext cx="612000" cy="612000"/>
                <a:chOff x="1851183" y="3079700"/>
                <a:chExt cx="495300" cy="495300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839E558D-7DEB-9AE9-CC4D-19455DC8229B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42" name="Graphic 41" descr="Document outline">
                  <a:extLst>
                    <a:ext uri="{FF2B5EF4-FFF2-40B4-BE49-F238E27FC236}">
                      <a16:creationId xmlns:a16="http://schemas.microsoft.com/office/drawing/2014/main" id="{E2D899EA-4456-B6AF-E179-63C76D0088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803976-AAA0-AC41-635E-54D919AEBC7A}"/>
                  </a:ext>
                </a:extLst>
              </p:cNvPr>
              <p:cNvSpPr txBox="1"/>
              <p:nvPr/>
            </p:nvSpPr>
            <p:spPr>
              <a:xfrm>
                <a:off x="2275636" y="4395208"/>
                <a:ext cx="843117" cy="2423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Trains</a:t>
                </a:r>
                <a:endParaRPr lang="en-DE" sz="2000"/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5B83134E-E849-8959-69F6-C18A00269B18}"/>
              </a:ext>
            </a:extLst>
          </p:cNvPr>
          <p:cNvGrpSpPr/>
          <p:nvPr/>
        </p:nvGrpSpPr>
        <p:grpSpPr>
          <a:xfrm>
            <a:off x="10167534" y="1860083"/>
            <a:ext cx="1105912" cy="578714"/>
            <a:chOff x="7428514" y="2549750"/>
            <a:chExt cx="2754029" cy="1441171"/>
          </a:xfrm>
        </p:grpSpPr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E4057407-F5CD-8C0B-C660-D64192F77CA9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F63E86C9-81CE-4D0B-A28A-B44604BAC8F5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251" name="Graphic 250" descr="Toy Train with solid fill">
                  <a:extLst>
                    <a:ext uri="{FF2B5EF4-FFF2-40B4-BE49-F238E27FC236}">
                      <a16:creationId xmlns:a16="http://schemas.microsoft.com/office/drawing/2014/main" id="{0040FEE3-6AF2-B2FC-EDE4-997184C2B57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74F03925-A5AB-E005-F447-607D99AE977E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C905FBC4-F2FD-B6D6-2155-424146379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9248341F-F518-24D2-417F-C6B6643EA2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B9A9A3C8-965A-862D-2E37-FC9BFB2393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A6720E7E-B6FB-5088-09E2-29A929CA9435}"/>
                </a:ext>
              </a:extLst>
            </p:cNvPr>
            <p:cNvGrpSpPr/>
            <p:nvPr/>
          </p:nvGrpSpPr>
          <p:grpSpPr>
            <a:xfrm>
              <a:off x="8629915" y="3118769"/>
              <a:ext cx="1552628" cy="872152"/>
              <a:chOff x="1871464" y="2469617"/>
              <a:chExt cx="2892064" cy="1624535"/>
            </a:xfrm>
          </p:grpSpPr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23509274-4357-6F84-15CE-F9779E72B9D2}"/>
                  </a:ext>
                </a:extLst>
              </p:cNvPr>
              <p:cNvGrpSpPr/>
              <p:nvPr/>
            </p:nvGrpSpPr>
            <p:grpSpPr>
              <a:xfrm>
                <a:off x="1871464" y="2469617"/>
                <a:ext cx="2892064" cy="1515560"/>
                <a:chOff x="2426305" y="3644091"/>
                <a:chExt cx="1212760" cy="644964"/>
              </a:xfrm>
            </p:grpSpPr>
            <p:grpSp>
              <p:nvGrpSpPr>
                <p:cNvPr id="235" name="Group 234">
                  <a:extLst>
                    <a:ext uri="{FF2B5EF4-FFF2-40B4-BE49-F238E27FC236}">
                      <a16:creationId xmlns:a16="http://schemas.microsoft.com/office/drawing/2014/main" id="{9B8801A1-1148-67B9-31F3-61ABB9092020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241" name="Oval 240">
                    <a:extLst>
                      <a:ext uri="{FF2B5EF4-FFF2-40B4-BE49-F238E27FC236}">
                        <a16:creationId xmlns:a16="http://schemas.microsoft.com/office/drawing/2014/main" id="{49D900C4-BC8A-BBE2-4BB0-98F5251E05C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242" name="Straight Connector 241">
                    <a:extLst>
                      <a:ext uri="{FF2B5EF4-FFF2-40B4-BE49-F238E27FC236}">
                        <a16:creationId xmlns:a16="http://schemas.microsoft.com/office/drawing/2014/main" id="{B8C31F00-52FD-BFE1-B043-3D44A4411E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283FC436-021D-F95B-7E17-07080AC2CC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4" name="Straight Connector 243">
                    <a:extLst>
                      <a:ext uri="{FF2B5EF4-FFF2-40B4-BE49-F238E27FC236}">
                        <a16:creationId xmlns:a16="http://schemas.microsoft.com/office/drawing/2014/main" id="{8C8A4AA7-7A83-7571-1D50-43FB43A1F32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3DF94D80-9905-8B6D-3C44-54D085A9FD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6" name="Straight Connector 245">
                    <a:extLst>
                      <a:ext uri="{FF2B5EF4-FFF2-40B4-BE49-F238E27FC236}">
                        <a16:creationId xmlns:a16="http://schemas.microsoft.com/office/drawing/2014/main" id="{69F37D92-DAE0-5689-397A-62BDFD6474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7" name="Straight Connector 246">
                    <a:extLst>
                      <a:ext uri="{FF2B5EF4-FFF2-40B4-BE49-F238E27FC236}">
                        <a16:creationId xmlns:a16="http://schemas.microsoft.com/office/drawing/2014/main" id="{54D48FE0-F23A-FB92-0D9D-3EE3E34D32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8" name="Straight Connector 247">
                    <a:extLst>
                      <a:ext uri="{FF2B5EF4-FFF2-40B4-BE49-F238E27FC236}">
                        <a16:creationId xmlns:a16="http://schemas.microsoft.com/office/drawing/2014/main" id="{6D7038D3-8CEC-A2C3-31AE-3118ECF7E2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6" name="Group 235">
                  <a:extLst>
                    <a:ext uri="{FF2B5EF4-FFF2-40B4-BE49-F238E27FC236}">
                      <a16:creationId xmlns:a16="http://schemas.microsoft.com/office/drawing/2014/main" id="{064E5AA4-D16E-99D5-8671-B84D8D2C5661}"/>
                    </a:ext>
                  </a:extLst>
                </p:cNvPr>
                <p:cNvGrpSpPr/>
                <p:nvPr/>
              </p:nvGrpSpPr>
              <p:grpSpPr>
                <a:xfrm>
                  <a:off x="2426305" y="3644091"/>
                  <a:ext cx="1212760" cy="442003"/>
                  <a:chOff x="2426305" y="3644091"/>
                  <a:chExt cx="1212760" cy="442003"/>
                </a:xfrm>
              </p:grpSpPr>
              <p:cxnSp>
                <p:nvCxnSpPr>
                  <p:cNvPr id="239" name="Straight Connector 238">
                    <a:extLst>
                      <a:ext uri="{FF2B5EF4-FFF2-40B4-BE49-F238E27FC236}">
                        <a16:creationId xmlns:a16="http://schemas.microsoft.com/office/drawing/2014/main" id="{CB73E8BF-D99F-F749-7F6B-0F7200584F7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0" y="3644091"/>
                    <a:ext cx="108435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Straight Connector 237">
                    <a:extLst>
                      <a:ext uri="{FF2B5EF4-FFF2-40B4-BE49-F238E27FC236}">
                        <a16:creationId xmlns:a16="http://schemas.microsoft.com/office/drawing/2014/main" id="{F1F3DD7B-E900-BAC2-C0D0-88247176E6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8" y="3806806"/>
                    <a:ext cx="419641" cy="262170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Straight Connector 236">
                    <a:extLst>
                      <a:ext uri="{FF2B5EF4-FFF2-40B4-BE49-F238E27FC236}">
                        <a16:creationId xmlns:a16="http://schemas.microsoft.com/office/drawing/2014/main" id="{92AEDFC6-505A-21A8-F917-57A874CF28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0" name="Straight Connector 239">
                    <a:extLst>
                      <a:ext uri="{FF2B5EF4-FFF2-40B4-BE49-F238E27FC236}">
                        <a16:creationId xmlns:a16="http://schemas.microsoft.com/office/drawing/2014/main" id="{9F3D3754-89FD-43CA-4A29-B91E2A6E51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75B6FB26-9646-F5C1-C475-7FEAF6EACF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EF1441EC-108A-7117-43EF-CC2F4B2931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6D34DDEE-92FC-1ECA-DB0F-96F1A544AF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3F8E3CDB-5309-5FF1-EDDC-572244B05E7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31EF938E-1E86-C5C4-1F91-ACAA9BF41E7F}"/>
              </a:ext>
            </a:extLst>
          </p:cNvPr>
          <p:cNvGrpSpPr/>
          <p:nvPr/>
        </p:nvGrpSpPr>
        <p:grpSpPr>
          <a:xfrm>
            <a:off x="5295378" y="1757481"/>
            <a:ext cx="1864252" cy="1047170"/>
            <a:chOff x="1871456" y="2469650"/>
            <a:chExt cx="2892059" cy="1624502"/>
          </a:xfrm>
        </p:grpSpPr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422D7DF5-B904-0576-1F9C-0DBBFEEDD01D}"/>
                </a:ext>
              </a:extLst>
            </p:cNvPr>
            <p:cNvGrpSpPr/>
            <p:nvPr/>
          </p:nvGrpSpPr>
          <p:grpSpPr>
            <a:xfrm>
              <a:off x="1871456" y="2469650"/>
              <a:ext cx="2892059" cy="1515574"/>
              <a:chOff x="5658322" y="3215715"/>
              <a:chExt cx="2091549" cy="1112326"/>
            </a:xfrm>
          </p:grpSpPr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1F0860DF-6853-29C2-3E99-D53A0014228B}"/>
                  </a:ext>
                </a:extLst>
              </p:cNvPr>
              <p:cNvGrpSpPr/>
              <p:nvPr/>
            </p:nvGrpSpPr>
            <p:grpSpPr>
              <a:xfrm rot="19727091">
                <a:off x="6561715" y="3399218"/>
                <a:ext cx="579672" cy="417195"/>
                <a:chOff x="2190750" y="2862203"/>
                <a:chExt cx="586201" cy="421895"/>
              </a:xfrm>
            </p:grpSpPr>
            <p:pic>
              <p:nvPicPr>
                <p:cNvPr id="277" name="Graphic 276" descr="Toy Train with solid fill">
                  <a:extLst>
                    <a:ext uri="{FF2B5EF4-FFF2-40B4-BE49-F238E27FC236}">
                      <a16:creationId xmlns:a16="http://schemas.microsoft.com/office/drawing/2014/main" id="{B77FF118-1247-5B21-EC4E-39AA4C34DB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C09F9721-9F0B-3B3A-3F39-FB927EB8E3AB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38E6C18B-7627-616E-33CF-0CDA31325B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9E02C4EB-7FF9-F024-839E-B4EDE2E3A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AA6A5A62-F457-077C-E254-D47B19FA9CEF}"/>
                  </a:ext>
                </a:extLst>
              </p:cNvPr>
              <p:cNvGrpSpPr/>
              <p:nvPr/>
            </p:nvGrpSpPr>
            <p:grpSpPr>
              <a:xfrm>
                <a:off x="5658322" y="3215715"/>
                <a:ext cx="2091549" cy="1112326"/>
                <a:chOff x="2426305" y="3644087"/>
                <a:chExt cx="1212760" cy="644968"/>
              </a:xfrm>
            </p:grpSpPr>
            <p:grpSp>
              <p:nvGrpSpPr>
                <p:cNvPr id="263" name="Group 262">
                  <a:extLst>
                    <a:ext uri="{FF2B5EF4-FFF2-40B4-BE49-F238E27FC236}">
                      <a16:creationId xmlns:a16="http://schemas.microsoft.com/office/drawing/2014/main" id="{3228861B-4F46-4914-5B6E-6E5FDE1BD102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269" name="Oval 268">
                    <a:extLst>
                      <a:ext uri="{FF2B5EF4-FFF2-40B4-BE49-F238E27FC236}">
                        <a16:creationId xmlns:a16="http://schemas.microsoft.com/office/drawing/2014/main" id="{DCF185FD-6A45-4AC8-118F-18C74D5CA72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6CAD4BA9-21AF-62D4-CF1E-3DF7E7B8F8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Straight Connector 270">
                    <a:extLst>
                      <a:ext uri="{FF2B5EF4-FFF2-40B4-BE49-F238E27FC236}">
                        <a16:creationId xmlns:a16="http://schemas.microsoft.com/office/drawing/2014/main" id="{CA616EAB-60B7-7AEE-34CA-2E8DAACFF5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FCD195D4-B706-541B-7B7E-D0B6659A61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CC335D7F-CADC-7A6F-5BC7-3347952304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30113193-4186-E4E3-7B19-AC567CA178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31D4F5B0-F781-70CA-68C2-143C9A9470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6" name="Straight Connector 275">
                    <a:extLst>
                      <a:ext uri="{FF2B5EF4-FFF2-40B4-BE49-F238E27FC236}">
                        <a16:creationId xmlns:a16="http://schemas.microsoft.com/office/drawing/2014/main" id="{DDC7A622-0F92-C9CA-6554-D7717620BF7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4" name="Group 263">
                  <a:extLst>
                    <a:ext uri="{FF2B5EF4-FFF2-40B4-BE49-F238E27FC236}">
                      <a16:creationId xmlns:a16="http://schemas.microsoft.com/office/drawing/2014/main" id="{7E3E6AB0-1EA9-879A-D332-9B3F7B0A891F}"/>
                    </a:ext>
                  </a:extLst>
                </p:cNvPr>
                <p:cNvGrpSpPr/>
                <p:nvPr/>
              </p:nvGrpSpPr>
              <p:grpSpPr>
                <a:xfrm>
                  <a:off x="2426305" y="3644087"/>
                  <a:ext cx="1212760" cy="442007"/>
                  <a:chOff x="2426305" y="3644087"/>
                  <a:chExt cx="1212760" cy="442007"/>
                </a:xfrm>
              </p:grpSpPr>
              <p:cxnSp>
                <p:nvCxnSpPr>
                  <p:cNvPr id="267" name="Straight Connector 266">
                    <a:extLst>
                      <a:ext uri="{FF2B5EF4-FFF2-40B4-BE49-F238E27FC236}">
                        <a16:creationId xmlns:a16="http://schemas.microsoft.com/office/drawing/2014/main" id="{B01B0B5B-21E6-B5CA-7EEF-E11BBCDF00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7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6" name="Straight Connector 265">
                    <a:extLst>
                      <a:ext uri="{FF2B5EF4-FFF2-40B4-BE49-F238E27FC236}">
                        <a16:creationId xmlns:a16="http://schemas.microsoft.com/office/drawing/2014/main" id="{483D3A8B-1533-8FBF-940E-740C3851FB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5" name="Straight Connector 264">
                    <a:extLst>
                      <a:ext uri="{FF2B5EF4-FFF2-40B4-BE49-F238E27FC236}">
                        <a16:creationId xmlns:a16="http://schemas.microsoft.com/office/drawing/2014/main" id="{97AEC35A-1E20-9B1F-033D-9A150A66C9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81649AF4-8FD3-BFEF-585F-C3BE7AA52A4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A9B9B6FD-145F-574C-5C59-F4E7DC8994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9781" y="398615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A228EDE7-5309-95CE-EFD6-2A68DE2775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9943" y="350827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F7D2A03D-DED9-70EB-616F-E8677F5D8E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29834" y="3459787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917D720D-67B5-08D3-BE09-ED39C31D1EF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4283" y="2726830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489234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111EE5-5508-1CCD-C665-2719809340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31</a:t>
            </a:fld>
            <a:endParaRPr lang="de-DE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84271E2-AB0E-279F-ED9C-AB601831BBF9}"/>
              </a:ext>
            </a:extLst>
          </p:cNvPr>
          <p:cNvCxnSpPr>
            <a:cxnSpLocks/>
          </p:cNvCxnSpPr>
          <p:nvPr/>
        </p:nvCxnSpPr>
        <p:spPr>
          <a:xfrm>
            <a:off x="1538597" y="1812960"/>
            <a:ext cx="0" cy="4189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Arrow: Down 7">
            <a:extLst>
              <a:ext uri="{FF2B5EF4-FFF2-40B4-BE49-F238E27FC236}">
                <a16:creationId xmlns:a16="http://schemas.microsoft.com/office/drawing/2014/main" id="{335E79FB-6AFF-4299-D8FC-9D0F2DBD029E}"/>
              </a:ext>
            </a:extLst>
          </p:cNvPr>
          <p:cNvSpPr/>
          <p:nvPr/>
        </p:nvSpPr>
        <p:spPr>
          <a:xfrm rot="16200000">
            <a:off x="4047979" y="4398820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157185-B156-AC78-A908-87EC076D46B6}"/>
              </a:ext>
            </a:extLst>
          </p:cNvPr>
          <p:cNvSpPr/>
          <p:nvPr/>
        </p:nvSpPr>
        <p:spPr>
          <a:xfrm>
            <a:off x="7744879" y="3691580"/>
            <a:ext cx="1589766" cy="15109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3999"/>
              </a:lnSpc>
            </a:pPr>
            <a:r>
              <a:rPr lang="de-DE" sz="2000" err="1">
                <a:solidFill>
                  <a:schemeClr val="tx1"/>
                </a:solidFill>
              </a:rPr>
              <a:t>Combined</a:t>
            </a:r>
            <a:r>
              <a:rPr lang="de-DE" sz="2000">
                <a:solidFill>
                  <a:schemeClr val="tx1"/>
                </a:solidFill>
              </a:rPr>
              <a:t> Approach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62936443-7911-F843-7915-BB5E8B946D8C}"/>
              </a:ext>
            </a:extLst>
          </p:cNvPr>
          <p:cNvSpPr/>
          <p:nvPr/>
        </p:nvSpPr>
        <p:spPr>
          <a:xfrm rot="16200000">
            <a:off x="7340604" y="4395447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3573D7A1-9B3B-75AC-F8B3-880EB697569F}"/>
              </a:ext>
            </a:extLst>
          </p:cNvPr>
          <p:cNvSpPr/>
          <p:nvPr/>
        </p:nvSpPr>
        <p:spPr>
          <a:xfrm rot="16200000">
            <a:off x="9317257" y="4371401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F511C9-2C17-AE1E-D3E1-24D2C63C35D4}"/>
              </a:ext>
            </a:extLst>
          </p:cNvPr>
          <p:cNvSpPr txBox="1"/>
          <p:nvPr/>
        </p:nvSpPr>
        <p:spPr>
          <a:xfrm>
            <a:off x="512345" y="2600242"/>
            <a:ext cx="753411" cy="19300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b="1" err="1">
                <a:latin typeface="+mn-lt"/>
                <a:cs typeface="Arial"/>
              </a:rPr>
              <a:t>Combined</a:t>
            </a:r>
            <a:endParaRPr lang="en-US" sz="1200" b="1">
              <a:latin typeface="+mn-lt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C3886AB-5226-C82C-8478-D8B9248A9BA3}"/>
              </a:ext>
            </a:extLst>
          </p:cNvPr>
          <p:cNvSpPr txBox="1"/>
          <p:nvPr/>
        </p:nvSpPr>
        <p:spPr>
          <a:xfrm>
            <a:off x="7113326" y="2131321"/>
            <a:ext cx="1415286" cy="3215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b="1" err="1">
                <a:latin typeface="+mn-lt"/>
              </a:rPr>
              <a:t>Decoupled</a:t>
            </a:r>
            <a:endParaRPr lang="en-US" sz="1600" b="1">
              <a:latin typeface="+mn-lt"/>
            </a:endParaRPr>
          </a:p>
        </p:txBody>
      </p:sp>
      <p:cxnSp>
        <p:nvCxnSpPr>
          <p:cNvPr id="11" name="Straight Connector 100">
            <a:extLst>
              <a:ext uri="{FF2B5EF4-FFF2-40B4-BE49-F238E27FC236}">
                <a16:creationId xmlns:a16="http://schemas.microsoft.com/office/drawing/2014/main" id="{2A5703F9-7B20-CF6A-0A0E-6C41517FE01F}"/>
              </a:ext>
            </a:extLst>
          </p:cNvPr>
          <p:cNvCxnSpPr>
            <a:cxnSpLocks/>
          </p:cNvCxnSpPr>
          <p:nvPr/>
        </p:nvCxnSpPr>
        <p:spPr>
          <a:xfrm>
            <a:off x="422607" y="2987106"/>
            <a:ext cx="11346793" cy="326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67762FE3-EC9C-3FA5-9419-D021CCFF7F16}"/>
              </a:ext>
            </a:extLst>
          </p:cNvPr>
          <p:cNvGrpSpPr/>
          <p:nvPr/>
        </p:nvGrpSpPr>
        <p:grpSpPr>
          <a:xfrm>
            <a:off x="5168348" y="5160757"/>
            <a:ext cx="5931389" cy="1202691"/>
            <a:chOff x="4987403" y="5025109"/>
            <a:chExt cx="5931389" cy="1202691"/>
          </a:xfrm>
        </p:grpSpPr>
        <p:sp>
          <p:nvSpPr>
            <p:cNvPr id="68" name="Rectangle: Rounded Corners 61">
              <a:extLst>
                <a:ext uri="{FF2B5EF4-FFF2-40B4-BE49-F238E27FC236}">
                  <a16:creationId xmlns:a16="http://schemas.microsoft.com/office/drawing/2014/main" id="{234AEB46-0A35-139E-0E75-5399CE6C9570}"/>
                </a:ext>
              </a:extLst>
            </p:cNvPr>
            <p:cNvSpPr/>
            <p:nvPr/>
          </p:nvSpPr>
          <p:spPr>
            <a:xfrm>
              <a:off x="5310605" y="5307514"/>
              <a:ext cx="5161853" cy="321362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Route-</a:t>
              </a:r>
              <a:r>
                <a:rPr lang="de-DE" sz="2000" err="1">
                  <a:solidFill>
                    <a:schemeClr val="tx1"/>
                  </a:solidFill>
                </a:rPr>
                <a:t>based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ansatz</a:t>
              </a:r>
              <a:r>
                <a:rPr lang="de-DE" sz="2000">
                  <a:solidFill>
                    <a:schemeClr val="tx1"/>
                  </a:solidFill>
                </a:rPr>
                <a:t> (</a:t>
              </a:r>
              <a:r>
                <a:rPr lang="de-DE" sz="2000" err="1">
                  <a:solidFill>
                    <a:schemeClr val="tx1"/>
                  </a:solidFill>
                </a:rPr>
                <a:t>simplified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dynamics</a:t>
              </a:r>
              <a:r>
                <a:rPr lang="de-DE" sz="2000">
                  <a:solidFill>
                    <a:schemeClr val="tx1"/>
                  </a:solidFill>
                </a:rPr>
                <a:t>)</a:t>
              </a:r>
              <a:endParaRPr lang="de-DE" sz="2000">
                <a:solidFill>
                  <a:schemeClr val="tx1"/>
                </a:solidFill>
                <a:cs typeface="Arial"/>
              </a:endParaRPr>
            </a:p>
          </p:txBody>
        </p:sp>
        <p:sp>
          <p:nvSpPr>
            <p:cNvPr id="69" name="Rectangle: Rounded Corners 70">
              <a:extLst>
                <a:ext uri="{FF2B5EF4-FFF2-40B4-BE49-F238E27FC236}">
                  <a16:creationId xmlns:a16="http://schemas.microsoft.com/office/drawing/2014/main" id="{A9E966A2-DDF7-00B7-8389-2B47549B650C}"/>
                </a:ext>
              </a:extLst>
            </p:cNvPr>
            <p:cNvSpPr/>
            <p:nvPr/>
          </p:nvSpPr>
          <p:spPr>
            <a:xfrm>
              <a:off x="5302360" y="5906438"/>
              <a:ext cx="5616432" cy="321362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Segment-</a:t>
              </a:r>
              <a:r>
                <a:rPr lang="de-DE" sz="2000" err="1">
                  <a:solidFill>
                    <a:schemeClr val="tx1"/>
                  </a:solidFill>
                </a:rPr>
                <a:t>based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ansatz</a:t>
              </a:r>
              <a:r>
                <a:rPr lang="de-DE" sz="2000">
                  <a:solidFill>
                    <a:schemeClr val="tx1"/>
                  </a:solidFill>
                </a:rPr>
                <a:t> (</a:t>
              </a:r>
              <a:r>
                <a:rPr lang="de-DE" sz="2000" err="1">
                  <a:solidFill>
                    <a:schemeClr val="tx1"/>
                  </a:solidFill>
                </a:rPr>
                <a:t>no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dynamics</a:t>
              </a:r>
              <a:r>
                <a:rPr lang="de-DE" sz="2000">
                  <a:solidFill>
                    <a:schemeClr val="tx1"/>
                  </a:solidFill>
                </a:rPr>
                <a:t>)</a:t>
              </a:r>
              <a:endParaRPr lang="de-DE" sz="2000">
                <a:solidFill>
                  <a:schemeClr val="tx1"/>
                </a:solidFill>
                <a:cs typeface="Arial"/>
              </a:endParaRPr>
            </a:p>
          </p:txBody>
        </p:sp>
        <p:cxnSp>
          <p:nvCxnSpPr>
            <p:cNvPr id="70" name="Connector: Elbow 114">
              <a:extLst>
                <a:ext uri="{FF2B5EF4-FFF2-40B4-BE49-F238E27FC236}">
                  <a16:creationId xmlns:a16="http://schemas.microsoft.com/office/drawing/2014/main" id="{917C235B-4830-E015-12B9-3D7F7556F851}"/>
                </a:ext>
              </a:extLst>
            </p:cNvPr>
            <p:cNvCxnSpPr>
              <a:cxnSpLocks/>
              <a:endCxn id="68" idx="1"/>
            </p:cNvCxnSpPr>
            <p:nvPr/>
          </p:nvCxnSpPr>
          <p:spPr>
            <a:xfrm rot="16200000" flipH="1">
              <a:off x="4927464" y="5085054"/>
              <a:ext cx="443080" cy="32320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nector: Elbow 115">
              <a:extLst>
                <a:ext uri="{FF2B5EF4-FFF2-40B4-BE49-F238E27FC236}">
                  <a16:creationId xmlns:a16="http://schemas.microsoft.com/office/drawing/2014/main" id="{2FA24BA9-56B2-C02C-6EC4-54C12EC19E9A}"/>
                </a:ext>
              </a:extLst>
            </p:cNvPr>
            <p:cNvCxnSpPr>
              <a:cxnSpLocks/>
              <a:endCxn id="69" idx="1"/>
            </p:cNvCxnSpPr>
            <p:nvPr/>
          </p:nvCxnSpPr>
          <p:spPr>
            <a:xfrm rot="16200000" flipH="1">
              <a:off x="4623878" y="5388637"/>
              <a:ext cx="1042010" cy="31495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51AC89D-CE6C-679B-8E86-7C52A7A8A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A918E0D-E0FC-1D72-4B38-24684F70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Combined</a:t>
            </a:r>
            <a:r>
              <a:rPr lang="de-DE"/>
              <a:t> vs. </a:t>
            </a:r>
            <a:r>
              <a:rPr lang="de-DE" err="1"/>
              <a:t>Decoupled</a:t>
            </a:r>
            <a:r>
              <a:rPr lang="de-DE"/>
              <a:t> Approach</a:t>
            </a:r>
          </a:p>
        </p:txBody>
      </p:sp>
      <p:sp>
        <p:nvSpPr>
          <p:cNvPr id="5" name="Rectangle: Rounded Corners 8">
            <a:extLst>
              <a:ext uri="{FF2B5EF4-FFF2-40B4-BE49-F238E27FC236}">
                <a16:creationId xmlns:a16="http://schemas.microsoft.com/office/drawing/2014/main" id="{8E375E8F-D266-B9DB-3B32-CF0D3FA24392}"/>
              </a:ext>
            </a:extLst>
          </p:cNvPr>
          <p:cNvSpPr/>
          <p:nvPr/>
        </p:nvSpPr>
        <p:spPr>
          <a:xfrm>
            <a:off x="4448392" y="3691581"/>
            <a:ext cx="2909599" cy="15109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000">
                <a:solidFill>
                  <a:schemeClr val="tx1"/>
                </a:solidFill>
              </a:rPr>
              <a:t>Mixed Integer 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err="1">
                <a:solidFill>
                  <a:schemeClr val="tx1"/>
                </a:solidFill>
              </a:rPr>
              <a:t>One</a:t>
            </a:r>
            <a:r>
              <a:rPr lang="de-DE" sz="2000">
                <a:solidFill>
                  <a:schemeClr val="tx1"/>
                </a:solidFill>
              </a:rPr>
              <a:t> route per </a:t>
            </a:r>
            <a:r>
              <a:rPr lang="de-DE" sz="2000" err="1">
                <a:solidFill>
                  <a:schemeClr val="tx1"/>
                </a:solidFill>
              </a:rPr>
              <a:t>train</a:t>
            </a:r>
            <a:endParaRPr lang="de-DE" sz="20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>
                <a:solidFill>
                  <a:schemeClr val="tx1"/>
                </a:solidFill>
              </a:rPr>
              <a:t>Train </a:t>
            </a:r>
            <a:r>
              <a:rPr lang="de-DE" sz="2000" err="1">
                <a:solidFill>
                  <a:schemeClr val="tx1"/>
                </a:solidFill>
              </a:rPr>
              <a:t>order</a:t>
            </a:r>
            <a:endParaRPr lang="de-DE" sz="2000">
              <a:solidFill>
                <a:schemeClr val="tx1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EBC7BD-2E30-019B-6D26-4C006959CF66}"/>
              </a:ext>
            </a:extLst>
          </p:cNvPr>
          <p:cNvGrpSpPr/>
          <p:nvPr/>
        </p:nvGrpSpPr>
        <p:grpSpPr>
          <a:xfrm>
            <a:off x="1828524" y="3599793"/>
            <a:ext cx="2225488" cy="1704927"/>
            <a:chOff x="1608440" y="3553984"/>
            <a:chExt cx="2225488" cy="1704927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E5956AC-5151-7FF2-D701-C480059D3D66}"/>
                </a:ext>
              </a:extLst>
            </p:cNvPr>
            <p:cNvGrpSpPr/>
            <p:nvPr/>
          </p:nvGrpSpPr>
          <p:grpSpPr>
            <a:xfrm>
              <a:off x="1614097" y="3553984"/>
              <a:ext cx="2219831" cy="812002"/>
              <a:chOff x="1573192" y="4207141"/>
              <a:chExt cx="1673068" cy="612000"/>
            </a:xfrm>
          </p:grpSpPr>
          <p:sp>
            <p:nvSpPr>
              <p:cNvPr id="53" name="Flowchart: Stored Data 11">
                <a:extLst>
                  <a:ext uri="{FF2B5EF4-FFF2-40B4-BE49-F238E27FC236}">
                    <a16:creationId xmlns:a16="http://schemas.microsoft.com/office/drawing/2014/main" id="{05A07C5F-6861-F435-F702-34BAFFCA71B1}"/>
                  </a:ext>
                </a:extLst>
              </p:cNvPr>
              <p:cNvSpPr/>
              <p:nvPr/>
            </p:nvSpPr>
            <p:spPr>
              <a:xfrm flipH="1">
                <a:off x="1843516" y="4207141"/>
                <a:ext cx="1402744" cy="6115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73C17AAE-FD19-14EB-FC78-E6458D9DE0EF}"/>
                  </a:ext>
                </a:extLst>
              </p:cNvPr>
              <p:cNvGrpSpPr/>
              <p:nvPr/>
            </p:nvGrpSpPr>
            <p:grpSpPr>
              <a:xfrm>
                <a:off x="1573192" y="4207141"/>
                <a:ext cx="612000" cy="612000"/>
                <a:chOff x="1851183" y="3079700"/>
                <a:chExt cx="495300" cy="495300"/>
              </a:xfrm>
            </p:grpSpPr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F399A8B9-D1F6-8408-0DE4-226BEC387179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57" name="Graphic 56" descr="Document outline">
                  <a:extLst>
                    <a:ext uri="{FF2B5EF4-FFF2-40B4-BE49-F238E27FC236}">
                      <a16:creationId xmlns:a16="http://schemas.microsoft.com/office/drawing/2014/main" id="{4D67D530-FE27-32B7-5E4F-6C7A283901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AFD6460-FD59-D0C7-CB37-2492746FF9B2}"/>
                  </a:ext>
                </a:extLst>
              </p:cNvPr>
              <p:cNvSpPr txBox="1"/>
              <p:nvPr/>
            </p:nvSpPr>
            <p:spPr>
              <a:xfrm>
                <a:off x="2269259" y="4249304"/>
                <a:ext cx="843117" cy="506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Network, Schedule</a:t>
                </a:r>
                <a:endParaRPr lang="en-DE" sz="2000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6E82CAD-3F2C-7A8E-22DA-27C02C41F8A5}"/>
                </a:ext>
              </a:extLst>
            </p:cNvPr>
            <p:cNvGrpSpPr/>
            <p:nvPr/>
          </p:nvGrpSpPr>
          <p:grpSpPr>
            <a:xfrm>
              <a:off x="1608440" y="4446909"/>
              <a:ext cx="2225485" cy="812002"/>
              <a:chOff x="1573192" y="4207141"/>
              <a:chExt cx="1677332" cy="612000"/>
            </a:xfrm>
          </p:grpSpPr>
          <p:sp>
            <p:nvSpPr>
              <p:cNvPr id="48" name="Flowchart: Stored Data 11">
                <a:extLst>
                  <a:ext uri="{FF2B5EF4-FFF2-40B4-BE49-F238E27FC236}">
                    <a16:creationId xmlns:a16="http://schemas.microsoft.com/office/drawing/2014/main" id="{83035B5B-9525-DE7C-5FA3-FEE099ABCAA1}"/>
                  </a:ext>
                </a:extLst>
              </p:cNvPr>
              <p:cNvSpPr/>
              <p:nvPr/>
            </p:nvSpPr>
            <p:spPr>
              <a:xfrm flipH="1">
                <a:off x="1895203" y="4207141"/>
                <a:ext cx="1355321" cy="6115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43821D0-A642-EF16-9008-F707A1F1DF6C}"/>
                  </a:ext>
                </a:extLst>
              </p:cNvPr>
              <p:cNvGrpSpPr/>
              <p:nvPr/>
            </p:nvGrpSpPr>
            <p:grpSpPr>
              <a:xfrm>
                <a:off x="1573192" y="4207141"/>
                <a:ext cx="612000" cy="612000"/>
                <a:chOff x="1851183" y="3079700"/>
                <a:chExt cx="495300" cy="495300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F8E78E5-E5F7-7265-E12A-83392D05BFF7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52" name="Graphic 51" descr="Document outline">
                  <a:extLst>
                    <a:ext uri="{FF2B5EF4-FFF2-40B4-BE49-F238E27FC236}">
                      <a16:creationId xmlns:a16="http://schemas.microsoft.com/office/drawing/2014/main" id="{157DB6D4-EAEB-9B2E-FDD0-79FA9D4F61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C06B7AF-F2F0-3A28-52A5-4DB1193BCD0E}"/>
                  </a:ext>
                </a:extLst>
              </p:cNvPr>
              <p:cNvSpPr txBox="1"/>
              <p:nvPr/>
            </p:nvSpPr>
            <p:spPr>
              <a:xfrm>
                <a:off x="2275636" y="4395208"/>
                <a:ext cx="843117" cy="2423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Trains</a:t>
                </a:r>
                <a:endParaRPr lang="en-DE" sz="2000"/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61E4673-4163-63AE-49D9-BBE0338C480D}"/>
              </a:ext>
            </a:extLst>
          </p:cNvPr>
          <p:cNvGrpSpPr/>
          <p:nvPr/>
        </p:nvGrpSpPr>
        <p:grpSpPr>
          <a:xfrm>
            <a:off x="9721532" y="4040527"/>
            <a:ext cx="2149117" cy="813024"/>
            <a:chOff x="2006006" y="3269604"/>
            <a:chExt cx="1332258" cy="504001"/>
          </a:xfrm>
        </p:grpSpPr>
        <p:sp>
          <p:nvSpPr>
            <p:cNvPr id="59" name="Flowchart: Stored Data 28">
              <a:extLst>
                <a:ext uri="{FF2B5EF4-FFF2-40B4-BE49-F238E27FC236}">
                  <a16:creationId xmlns:a16="http://schemas.microsoft.com/office/drawing/2014/main" id="{CCF1BD11-46F1-6AE2-DE42-3FF2FE32FF0D}"/>
                </a:ext>
              </a:extLst>
            </p:cNvPr>
            <p:cNvSpPr/>
            <p:nvPr/>
          </p:nvSpPr>
          <p:spPr>
            <a:xfrm flipH="1">
              <a:off x="2258005" y="3269604"/>
              <a:ext cx="1080259" cy="504000"/>
            </a:xfrm>
            <a:prstGeom prst="flowChartOnlineStorage">
              <a:avLst/>
            </a:prstGeom>
            <a:solidFill>
              <a:srgbClr val="7EC4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endParaRPr lang="en-DE" sz="2000">
                <a:solidFill>
                  <a:schemeClr val="tx1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8CEFA4E-AB6A-E3FD-B981-60C2DFE9565D}"/>
                </a:ext>
              </a:extLst>
            </p:cNvPr>
            <p:cNvSpPr txBox="1"/>
            <p:nvPr/>
          </p:nvSpPr>
          <p:spPr>
            <a:xfrm>
              <a:off x="2583461" y="3425103"/>
              <a:ext cx="732777" cy="1849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2000"/>
                <a:t>Solution</a:t>
              </a:r>
              <a:endParaRPr lang="en-DE" sz="2000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43724157-1067-98AB-417A-C2EC180DE002}"/>
                </a:ext>
              </a:extLst>
            </p:cNvPr>
            <p:cNvGrpSpPr/>
            <p:nvPr/>
          </p:nvGrpSpPr>
          <p:grpSpPr>
            <a:xfrm>
              <a:off x="2006006" y="3269605"/>
              <a:ext cx="504000" cy="504000"/>
              <a:chOff x="2006006" y="3269605"/>
              <a:chExt cx="504000" cy="504000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96589A34-7F27-02AF-342C-8C616EF44FB2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 sz="2000"/>
              </a:p>
            </p:txBody>
          </p:sp>
          <p:pic>
            <p:nvPicPr>
              <p:cNvPr id="63" name="Graphic 62" descr="Lights On outline">
                <a:extLst>
                  <a:ext uri="{FF2B5EF4-FFF2-40B4-BE49-F238E27FC236}">
                    <a16:creationId xmlns:a16="http://schemas.microsoft.com/office/drawing/2014/main" id="{6D8C2F77-75A2-45C3-BA7B-0CA7DC1789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083315" y="3346914"/>
                <a:ext cx="349383" cy="349383"/>
              </a:xfrm>
              <a:prstGeom prst="rect">
                <a:avLst/>
              </a:prstGeom>
            </p:spPr>
          </p:pic>
        </p:grp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9251E37-316A-FF7C-F2F3-63987EA41C9A}"/>
              </a:ext>
            </a:extLst>
          </p:cNvPr>
          <p:cNvGrpSpPr/>
          <p:nvPr/>
        </p:nvGrpSpPr>
        <p:grpSpPr>
          <a:xfrm>
            <a:off x="5078679" y="1907951"/>
            <a:ext cx="1754025" cy="917880"/>
            <a:chOff x="7428515" y="2549750"/>
            <a:chExt cx="2754028" cy="1441172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61CC8980-811A-B0C2-47EA-26FA9A8FD3BB}"/>
                </a:ext>
              </a:extLst>
            </p:cNvPr>
            <p:cNvGrpSpPr/>
            <p:nvPr/>
          </p:nvGrpSpPr>
          <p:grpSpPr>
            <a:xfrm>
              <a:off x="7428515" y="2549750"/>
              <a:ext cx="2278347" cy="1344546"/>
              <a:chOff x="1278252" y="3243351"/>
              <a:chExt cx="1666074" cy="983219"/>
            </a:xfrm>
          </p:grpSpPr>
          <p:grpSp>
            <p:nvGrpSpPr>
              <p:cNvPr id="284" name="Group 283">
                <a:extLst>
                  <a:ext uri="{FF2B5EF4-FFF2-40B4-BE49-F238E27FC236}">
                    <a16:creationId xmlns:a16="http://schemas.microsoft.com/office/drawing/2014/main" id="{6EE2EACF-3994-58CD-1D5C-3B2573643321}"/>
                  </a:ext>
                </a:extLst>
              </p:cNvPr>
              <p:cNvGrpSpPr/>
              <p:nvPr/>
            </p:nvGrpSpPr>
            <p:grpSpPr>
              <a:xfrm>
                <a:off x="1278252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286" name="Graphic 285" descr="Toy Train with solid fill">
                  <a:extLst>
                    <a:ext uri="{FF2B5EF4-FFF2-40B4-BE49-F238E27FC236}">
                      <a16:creationId xmlns:a16="http://schemas.microsoft.com/office/drawing/2014/main" id="{E157351E-7251-C0B4-A38D-C950935033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8C0AD3A7-E551-863A-D7A4-DF9F3106044A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1D3DCE63-F269-C0B4-D426-29599D366A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CF9BB9A4-C556-F395-C23A-85DBCAB001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D7AD94A6-8441-DC74-A405-74083087C9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AB3DE5AC-5626-D5DE-BFA2-FC0622D046AF}"/>
                </a:ext>
              </a:extLst>
            </p:cNvPr>
            <p:cNvGrpSpPr/>
            <p:nvPr/>
          </p:nvGrpSpPr>
          <p:grpSpPr>
            <a:xfrm>
              <a:off x="8629915" y="3118769"/>
              <a:ext cx="1552628" cy="872153"/>
              <a:chOff x="1871464" y="2469616"/>
              <a:chExt cx="2892064" cy="1624536"/>
            </a:xfrm>
          </p:grpSpPr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F04F5EFB-8FB6-FFF0-5568-89ADE8268CDB}"/>
                  </a:ext>
                </a:extLst>
              </p:cNvPr>
              <p:cNvGrpSpPr/>
              <p:nvPr/>
            </p:nvGrpSpPr>
            <p:grpSpPr>
              <a:xfrm>
                <a:off x="1871464" y="2469616"/>
                <a:ext cx="2892064" cy="1515560"/>
                <a:chOff x="2426305" y="3644091"/>
                <a:chExt cx="1212760" cy="644964"/>
              </a:xfrm>
            </p:grpSpPr>
            <p:grpSp>
              <p:nvGrpSpPr>
                <p:cNvPr id="270" name="Group 269">
                  <a:extLst>
                    <a:ext uri="{FF2B5EF4-FFF2-40B4-BE49-F238E27FC236}">
                      <a16:creationId xmlns:a16="http://schemas.microsoft.com/office/drawing/2014/main" id="{FA4721EC-E38A-6981-3815-FFE05D00048F}"/>
                    </a:ext>
                  </a:extLst>
                </p:cNvPr>
                <p:cNvGrpSpPr/>
                <p:nvPr/>
              </p:nvGrpSpPr>
              <p:grpSpPr>
                <a:xfrm>
                  <a:off x="2432077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276" name="Oval 275">
                    <a:extLst>
                      <a:ext uri="{FF2B5EF4-FFF2-40B4-BE49-F238E27FC236}">
                        <a16:creationId xmlns:a16="http://schemas.microsoft.com/office/drawing/2014/main" id="{517CAB60-2D6E-9F2A-B981-A675965D0F9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277" name="Straight Connector 276">
                    <a:extLst>
                      <a:ext uri="{FF2B5EF4-FFF2-40B4-BE49-F238E27FC236}">
                        <a16:creationId xmlns:a16="http://schemas.microsoft.com/office/drawing/2014/main" id="{F4B9851C-4BF0-938F-46CF-233B1937142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8" name="Straight Connector 277">
                    <a:extLst>
                      <a:ext uri="{FF2B5EF4-FFF2-40B4-BE49-F238E27FC236}">
                        <a16:creationId xmlns:a16="http://schemas.microsoft.com/office/drawing/2014/main" id="{3C547E2A-0D56-19ED-6889-82253F27101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Straight Connector 278">
                    <a:extLst>
                      <a:ext uri="{FF2B5EF4-FFF2-40B4-BE49-F238E27FC236}">
                        <a16:creationId xmlns:a16="http://schemas.microsoft.com/office/drawing/2014/main" id="{56938E01-2F39-911F-8F5A-C58DB79FF33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0" name="Straight Connector 279">
                    <a:extLst>
                      <a:ext uri="{FF2B5EF4-FFF2-40B4-BE49-F238E27FC236}">
                        <a16:creationId xmlns:a16="http://schemas.microsoft.com/office/drawing/2014/main" id="{31E4B0F4-7B28-0950-2E94-9113D47DF4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Straight Connector 280">
                    <a:extLst>
                      <a:ext uri="{FF2B5EF4-FFF2-40B4-BE49-F238E27FC236}">
                        <a16:creationId xmlns:a16="http://schemas.microsoft.com/office/drawing/2014/main" id="{0DBD9580-81F4-7714-C93E-694BB2BF79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2" name="Straight Connector 281">
                    <a:extLst>
                      <a:ext uri="{FF2B5EF4-FFF2-40B4-BE49-F238E27FC236}">
                        <a16:creationId xmlns:a16="http://schemas.microsoft.com/office/drawing/2014/main" id="{60A2300B-1FBC-1C86-162C-FE79EB82FB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3CF9573D-8E34-67A1-3C0A-39012CBCFB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1" name="Group 270">
                  <a:extLst>
                    <a:ext uri="{FF2B5EF4-FFF2-40B4-BE49-F238E27FC236}">
                      <a16:creationId xmlns:a16="http://schemas.microsoft.com/office/drawing/2014/main" id="{089A7BCB-FED8-CF92-C309-2460A11CE60E}"/>
                    </a:ext>
                  </a:extLst>
                </p:cNvPr>
                <p:cNvGrpSpPr/>
                <p:nvPr/>
              </p:nvGrpSpPr>
              <p:grpSpPr>
                <a:xfrm>
                  <a:off x="2426305" y="3644091"/>
                  <a:ext cx="1212760" cy="442003"/>
                  <a:chOff x="2426305" y="3644091"/>
                  <a:chExt cx="1212760" cy="442003"/>
                </a:xfrm>
              </p:grpSpPr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F32C58C7-8AB1-CAD8-71BC-0576D25F49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3" name="Straight Connector 272">
                    <a:extLst>
                      <a:ext uri="{FF2B5EF4-FFF2-40B4-BE49-F238E27FC236}">
                        <a16:creationId xmlns:a16="http://schemas.microsoft.com/office/drawing/2014/main" id="{54D66AD1-F1CA-76BD-1302-E0ED2DF16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8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4" name="Straight Connector 273">
                    <a:extLst>
                      <a:ext uri="{FF2B5EF4-FFF2-40B4-BE49-F238E27FC236}">
                        <a16:creationId xmlns:a16="http://schemas.microsoft.com/office/drawing/2014/main" id="{E6E82D2C-5876-0FB0-12BA-58ECB02346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91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5" name="Straight Connector 274">
                    <a:extLst>
                      <a:ext uri="{FF2B5EF4-FFF2-40B4-BE49-F238E27FC236}">
                        <a16:creationId xmlns:a16="http://schemas.microsoft.com/office/drawing/2014/main" id="{0A41FF7E-6F25-8F17-2376-7C0D685E2C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66" name="Oval 265">
                <a:extLst>
                  <a:ext uri="{FF2B5EF4-FFF2-40B4-BE49-F238E27FC236}">
                    <a16:creationId xmlns:a16="http://schemas.microsoft.com/office/drawing/2014/main" id="{4A7DE3D1-1605-1422-0704-E1E6DF6A4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B06AF4B0-05C8-20C7-E1D9-FE0B16DE61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B7A12B1C-9E34-375F-B9DA-129C98B28B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F4D38F90-1BCD-EDC4-BCD3-50FF15E2E51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75C2FB60-7E13-9235-39E9-210A2C82722E}"/>
              </a:ext>
            </a:extLst>
          </p:cNvPr>
          <p:cNvGrpSpPr/>
          <p:nvPr/>
        </p:nvGrpSpPr>
        <p:grpSpPr>
          <a:xfrm>
            <a:off x="456666" y="2034746"/>
            <a:ext cx="813295" cy="456842"/>
            <a:chOff x="1871457" y="2469651"/>
            <a:chExt cx="2892059" cy="1624501"/>
          </a:xfrm>
        </p:grpSpPr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35349443-8BF8-1167-005A-4AD55CD58A3E}"/>
                </a:ext>
              </a:extLst>
            </p:cNvPr>
            <p:cNvGrpSpPr/>
            <p:nvPr/>
          </p:nvGrpSpPr>
          <p:grpSpPr>
            <a:xfrm>
              <a:off x="1871457" y="2469651"/>
              <a:ext cx="2892059" cy="1515568"/>
              <a:chOff x="5658320" y="3215716"/>
              <a:chExt cx="2091548" cy="1112322"/>
            </a:xfrm>
          </p:grpSpPr>
          <p:grpSp>
            <p:nvGrpSpPr>
              <p:cNvPr id="296" name="Group 295">
                <a:extLst>
                  <a:ext uri="{FF2B5EF4-FFF2-40B4-BE49-F238E27FC236}">
                    <a16:creationId xmlns:a16="http://schemas.microsoft.com/office/drawing/2014/main" id="{AFA120E8-D622-1E3B-1EA2-CDB815B67942}"/>
                  </a:ext>
                </a:extLst>
              </p:cNvPr>
              <p:cNvGrpSpPr/>
              <p:nvPr/>
            </p:nvGrpSpPr>
            <p:grpSpPr>
              <a:xfrm rot="19727091">
                <a:off x="6561716" y="3399218"/>
                <a:ext cx="579672" cy="417195"/>
                <a:chOff x="2190750" y="2862203"/>
                <a:chExt cx="586201" cy="421895"/>
              </a:xfrm>
            </p:grpSpPr>
            <p:pic>
              <p:nvPicPr>
                <p:cNvPr id="312" name="Graphic 311" descr="Toy Train with solid fill">
                  <a:extLst>
                    <a:ext uri="{FF2B5EF4-FFF2-40B4-BE49-F238E27FC236}">
                      <a16:creationId xmlns:a16="http://schemas.microsoft.com/office/drawing/2014/main" id="{5A04140D-3C40-5217-40E6-6ABC3A862A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7C72A5B7-8613-1D36-4C13-9DE5A7F3E294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121444C0-3DE8-1874-093B-0578951D89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5217CD2D-E199-0BBB-9AAA-40AC15E2B8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F80B2160-8202-9338-B7A9-0E9D59471D31}"/>
                  </a:ext>
                </a:extLst>
              </p:cNvPr>
              <p:cNvGrpSpPr/>
              <p:nvPr/>
            </p:nvGrpSpPr>
            <p:grpSpPr>
              <a:xfrm>
                <a:off x="5658320" y="3215716"/>
                <a:ext cx="2091548" cy="1112322"/>
                <a:chOff x="2426305" y="3644089"/>
                <a:chExt cx="1212760" cy="644966"/>
              </a:xfrm>
            </p:grpSpPr>
            <p:grpSp>
              <p:nvGrpSpPr>
                <p:cNvPr id="298" name="Group 297">
                  <a:extLst>
                    <a:ext uri="{FF2B5EF4-FFF2-40B4-BE49-F238E27FC236}">
                      <a16:creationId xmlns:a16="http://schemas.microsoft.com/office/drawing/2014/main" id="{477EC03B-F054-4763-F146-A5918594C734}"/>
                    </a:ext>
                  </a:extLst>
                </p:cNvPr>
                <p:cNvGrpSpPr/>
                <p:nvPr/>
              </p:nvGrpSpPr>
              <p:grpSpPr>
                <a:xfrm>
                  <a:off x="2432077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304" name="Oval 303">
                    <a:extLst>
                      <a:ext uri="{FF2B5EF4-FFF2-40B4-BE49-F238E27FC236}">
                        <a16:creationId xmlns:a16="http://schemas.microsoft.com/office/drawing/2014/main" id="{48D8A0D7-5FF5-8B3C-F5D9-5FE43E673FF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305" name="Straight Connector 304">
                    <a:extLst>
                      <a:ext uri="{FF2B5EF4-FFF2-40B4-BE49-F238E27FC236}">
                        <a16:creationId xmlns:a16="http://schemas.microsoft.com/office/drawing/2014/main" id="{C44A033E-C4D0-B221-9BFC-F099403A72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Straight Connector 305">
                    <a:extLst>
                      <a:ext uri="{FF2B5EF4-FFF2-40B4-BE49-F238E27FC236}">
                        <a16:creationId xmlns:a16="http://schemas.microsoft.com/office/drawing/2014/main" id="{B72ACB48-A043-D9AC-3D3F-B7D5AB1A45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7" name="Straight Connector 306">
                    <a:extLst>
                      <a:ext uri="{FF2B5EF4-FFF2-40B4-BE49-F238E27FC236}">
                        <a16:creationId xmlns:a16="http://schemas.microsoft.com/office/drawing/2014/main" id="{66418E73-1E96-82E1-8DBE-C17EBC3314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8" name="Straight Connector 307">
                    <a:extLst>
                      <a:ext uri="{FF2B5EF4-FFF2-40B4-BE49-F238E27FC236}">
                        <a16:creationId xmlns:a16="http://schemas.microsoft.com/office/drawing/2014/main" id="{78D13497-6E92-F9D5-2A2A-7EAA92549E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9" name="Straight Connector 308">
                    <a:extLst>
                      <a:ext uri="{FF2B5EF4-FFF2-40B4-BE49-F238E27FC236}">
                        <a16:creationId xmlns:a16="http://schemas.microsoft.com/office/drawing/2014/main" id="{F6A35318-145B-9BE2-E42C-3D6DBF8CC8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0" name="Straight Connector 309">
                    <a:extLst>
                      <a:ext uri="{FF2B5EF4-FFF2-40B4-BE49-F238E27FC236}">
                        <a16:creationId xmlns:a16="http://schemas.microsoft.com/office/drawing/2014/main" id="{EDC8923F-AB41-054B-DC18-71895252D2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1" name="Straight Connector 310">
                    <a:extLst>
                      <a:ext uri="{FF2B5EF4-FFF2-40B4-BE49-F238E27FC236}">
                        <a16:creationId xmlns:a16="http://schemas.microsoft.com/office/drawing/2014/main" id="{E385536D-7A35-6B05-FB19-5F0CBBD022E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9" name="Group 298">
                  <a:extLst>
                    <a:ext uri="{FF2B5EF4-FFF2-40B4-BE49-F238E27FC236}">
                      <a16:creationId xmlns:a16="http://schemas.microsoft.com/office/drawing/2014/main" id="{A9A007D1-957A-F345-C5F4-A920461EBF69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302" name="Straight Connector 301">
                    <a:extLst>
                      <a:ext uri="{FF2B5EF4-FFF2-40B4-BE49-F238E27FC236}">
                        <a16:creationId xmlns:a16="http://schemas.microsoft.com/office/drawing/2014/main" id="{DA59037A-0AA8-5D77-3164-9218913064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1EC18B88-B997-3E9C-7E30-708C2E7619E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>
                    <a:extLst>
                      <a:ext uri="{FF2B5EF4-FFF2-40B4-BE49-F238E27FC236}">
                        <a16:creationId xmlns:a16="http://schemas.microsoft.com/office/drawing/2014/main" id="{1BB8419B-6471-37B4-7DD2-C5190DABE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" name="Straight Connector 302">
                    <a:extLst>
                      <a:ext uri="{FF2B5EF4-FFF2-40B4-BE49-F238E27FC236}">
                        <a16:creationId xmlns:a16="http://schemas.microsoft.com/office/drawing/2014/main" id="{FF1FB506-59DE-50B6-551E-3851DCE162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CB650A67-4760-C1B0-4D4D-246D853F34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9781" y="398615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B08353DF-FE2A-6921-13C1-B206FBC8661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9943" y="350827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8B9069DD-2AC9-B774-BE7E-C294173779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29834" y="3459787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CEC564CA-7630-50B3-68C4-CBB8D423C57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4283" y="2726830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2004834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21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83032-F01F-019F-88EB-7D6DD99DA7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9BAA07-C781-D12F-9423-46530ED4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Route-</a:t>
            </a:r>
            <a:r>
              <a:rPr lang="de-DE" err="1"/>
              <a:t>based</a:t>
            </a:r>
            <a:r>
              <a:rPr lang="de-DE"/>
              <a:t> Ansatz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D215-C7CF-11C2-8F9B-027F52A68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C26127-7D71-A197-9A16-31940A94645B}"/>
              </a:ext>
            </a:extLst>
          </p:cNvPr>
          <p:cNvSpPr/>
          <p:nvPr/>
        </p:nvSpPr>
        <p:spPr>
          <a:xfrm>
            <a:off x="586953" y="2410980"/>
            <a:ext cx="4912637" cy="2526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Preprocessing routes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/>
                </a:solidFill>
              </a:rPr>
              <a:t>Conflict constraints</a:t>
            </a:r>
            <a:endParaRPr lang="en-US" sz="160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ED1975-E418-21E3-7067-346886470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548" y="2923265"/>
            <a:ext cx="2957050" cy="13598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14">
                <a:extLst>
                  <a:ext uri="{FF2B5EF4-FFF2-40B4-BE49-F238E27FC236}">
                    <a16:creationId xmlns:a16="http://schemas.microsoft.com/office/drawing/2014/main" id="{B124D9A4-33B1-FBE1-153C-424C68B8E60E}"/>
                  </a:ext>
                </a:extLst>
              </p:cNvPr>
              <p:cNvSpPr txBox="1"/>
              <p:nvPr/>
            </p:nvSpPr>
            <p:spPr>
              <a:xfrm>
                <a:off x="1561355" y="4993805"/>
                <a:ext cx="3865918" cy="542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7EC4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smtClean="0">
                              <a:solidFill>
                                <a:srgbClr val="7EC492"/>
                              </a:solidFill>
                              <a:latin typeface="+mn-lt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i="1" smtClean="0">
                          <a:solidFill>
                            <a:srgbClr val="F67400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de-DE" sz="2000" b="0" i="1" smtClean="0"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3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− </m:t>
                      </m:r>
                      <m:sSup>
                        <m:sSupPr>
                          <m:ctrlPr>
                            <a:rPr lang="de-DE" sz="2000" i="1">
                              <a:solidFill>
                                <a:srgbClr val="7EC4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sSup>
                            <m:sSupPr>
                              <m:ctrlPr>
                                <a:rPr lang="de-DE" sz="2000" i="1">
                                  <a:solidFill>
                                    <a:srgbClr val="F674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latin typeface="+mn-lt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de-DE" sz="2000" i="1" smtClean="0">
                              <a:latin typeface="+mn-lt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de-DE" sz="2000" i="1">
                                  <a:solidFill>
                                    <a:srgbClr val="F674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>
                  <a:latin typeface="+mn-lt"/>
                </a:endParaRPr>
              </a:p>
            </p:txBody>
          </p:sp>
        </mc:Choice>
        <mc:Fallback xmlns="">
          <p:sp>
            <p:nvSpPr>
              <p:cNvPr id="9" name="Textfeld 14">
                <a:extLst>
                  <a:ext uri="{FF2B5EF4-FFF2-40B4-BE49-F238E27FC236}">
                    <a16:creationId xmlns:a16="http://schemas.microsoft.com/office/drawing/2014/main" id="{B124D9A4-33B1-FBE1-153C-424C68B8E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1355" y="4993805"/>
                <a:ext cx="3865918" cy="5425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23B7A0-5134-09F1-55F7-6632AB3948AA}"/>
                  </a:ext>
                </a:extLst>
              </p:cNvPr>
              <p:cNvSpPr txBox="1"/>
              <p:nvPr/>
            </p:nvSpPr>
            <p:spPr>
              <a:xfrm>
                <a:off x="6094486" y="2414569"/>
                <a:ext cx="5832264" cy="28827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de-DE" sz="2000">
                    <a:ea typeface="Cambria Math" panose="02040503050406030204" pitchFamily="18" charset="0"/>
                    <a:cs typeface="Arial"/>
                  </a:rPr>
                  <a:t>Speed: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de-DE" sz="2000">
                    <a:ea typeface="Cambria Math" panose="02040503050406030204" pitchFamily="18" charset="0"/>
                    <a:cs typeface="Arial"/>
                  </a:rPr>
                  <a:t>Time </a:t>
                </a:r>
                <a:r>
                  <a:rPr lang="de-DE" sz="2000" err="1">
                    <a:ea typeface="Cambria Math" panose="02040503050406030204" pitchFamily="18" charset="0"/>
                    <a:cs typeface="Arial"/>
                  </a:rPr>
                  <a:t>difference</a:t>
                </a:r>
                <a:r>
                  <a:rPr lang="de-DE" sz="2000">
                    <a:ea typeface="Cambria Math" panose="02040503050406030204" pitchFamily="18" charset="0"/>
                    <a:cs typeface="Arial"/>
                  </a:rPr>
                  <a:t> </a:t>
                </a:r>
                <a:r>
                  <a:rPr lang="de-DE" sz="2000" err="1">
                    <a:ea typeface="Cambria Math" panose="02040503050406030204" pitchFamily="18" charset="0"/>
                    <a:cs typeface="Arial"/>
                  </a:rPr>
                  <a:t>as</a:t>
                </a:r>
                <a:r>
                  <a:rPr lang="de-DE" sz="2000">
                    <a:ea typeface="Cambria Math" panose="02040503050406030204" pitchFamily="18" charset="0"/>
                    <a:cs typeface="Arial"/>
                  </a:rPr>
                  <a:t> </a:t>
                </a:r>
                <a:r>
                  <a:rPr lang="de-DE" sz="2000" err="1">
                    <a:ea typeface="Cambria Math" panose="02040503050406030204" pitchFamily="18" charset="0"/>
                    <a:cs typeface="Arial"/>
                  </a:rPr>
                  <a:t>notion</a:t>
                </a:r>
                <a:r>
                  <a:rPr lang="de-DE" sz="2000">
                    <a:ea typeface="Cambria Math" panose="02040503050406030204" pitchFamily="18" charset="0"/>
                    <a:cs typeface="Arial"/>
                  </a:rPr>
                  <a:t> </a:t>
                </a:r>
                <a:r>
                  <a:rPr lang="de-DE" sz="2000" err="1">
                    <a:ea typeface="Cambria Math" panose="02040503050406030204" pitchFamily="18" charset="0"/>
                    <a:cs typeface="Arial"/>
                  </a:rPr>
                  <a:t>of</a:t>
                </a:r>
                <a:r>
                  <a:rPr lang="de-DE" sz="2000">
                    <a:ea typeface="Cambria Math" panose="02040503050406030204" pitchFamily="18" charset="0"/>
                    <a:cs typeface="Arial"/>
                  </a:rPr>
                  <a:t> </a:t>
                </a:r>
                <a:r>
                  <a:rPr lang="de-DE" sz="2000" err="1">
                    <a:ea typeface="Cambria Math" panose="02040503050406030204" pitchFamily="18" charset="0"/>
                    <a:cs typeface="Arial"/>
                  </a:rPr>
                  <a:t>speed</a:t>
                </a:r>
                <a:endParaRPr lang="de-DE" sz="2000">
                  <a:ea typeface="Cambria Math" panose="02040503050406030204" pitchFamily="18" charset="0"/>
                  <a:cs typeface="Arial"/>
                </a:endParaRPr>
              </a:p>
              <a:p>
                <a:pPr lvl="1"/>
                <a:r>
                  <a:rPr lang="de-DE" sz="2000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Bound </a:t>
                </a:r>
                <a:r>
                  <a:rPr lang="de-DE" sz="2000" err="1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max</a:t>
                </a:r>
                <a:r>
                  <a:rPr lang="de-DE" sz="2000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 </a:t>
                </a:r>
                <a:r>
                  <a:rPr lang="de-DE" sz="2000" err="1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average</a:t>
                </a:r>
                <a:r>
                  <a:rPr lang="de-DE" sz="2000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 </a:t>
                </a:r>
                <a:r>
                  <a:rPr lang="de-DE" sz="2000" err="1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speed</a:t>
                </a:r>
                <a:r>
                  <a:rPr lang="de-DE" sz="2000">
                    <a:solidFill>
                      <a:srgbClr val="000000"/>
                    </a:solidFill>
                    <a:ea typeface="Cambria Math" panose="02040503050406030204" pitchFamily="18" charset="0"/>
                    <a:cs typeface="Arial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ea typeface="Cambria Math" panose="02040503050406030204" pitchFamily="18" charset="0"/>
                            <a:cs typeface="Arial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ea typeface="Cambria Math" panose="02040503050406030204" pitchFamily="18" charset="0"/>
                            <a:cs typeface="Arial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de-DE" sz="2000" i="1">
                        <a:ea typeface="Cambria Math" panose="02040503050406030204" pitchFamily="18" charset="0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de-DE" sz="20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ea typeface="Cambria Math" panose="02040503050406030204" pitchFamily="18" charset="0"/>
                            <a:cs typeface="Arial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b="0" i="0" smtClean="0"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de-DE" sz="2000" i="1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  <a:ea typeface="Cambria Math" panose="02040503050406030204" pitchFamily="18" charset="0"/>
                        <a:cs typeface="Arial"/>
                      </a:rPr>
                      <m:t> </m:t>
                    </m:r>
                    <m:r>
                      <m:rPr>
                        <m:nor/>
                      </m:rPr>
                      <a:rPr lang="de-DE" sz="2000" i="1">
                        <a:ea typeface="Cambria Math" panose="02040503050406030204" pitchFamily="18" charset="0"/>
                        <a:cs typeface="Arial"/>
                      </a:rPr>
                      <m:t>≥ 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DE" sz="2000" i="1">
                            <a:ea typeface="Cambria Math" panose="02040503050406030204" pitchFamily="18" charset="0"/>
                            <a:cs typeface="Arial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de-DE" sz="2000" i="1">
                            <a:latin typeface="+mn-lt"/>
                            <a:ea typeface="Cambria Math" panose="02040503050406030204" pitchFamily="18" charset="0"/>
                            <a:cs typeface="Arial"/>
                          </a:rPr>
                          <m:t>(</m:t>
                        </m:r>
                        <m:sSub>
                          <m:sSubPr>
                            <m:ctrlPr>
                              <a:rPr lang="de-DE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b="0" i="1" smtClean="0">
                                <a:latin typeface="+mn-lt"/>
                                <a:ea typeface="Cambria Math" panose="02040503050406030204" pitchFamily="18" charset="0"/>
                                <a:cs typeface="Arial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b="0" smtClean="0">
                                <a:latin typeface="+mn-lt"/>
                                <a:ea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de-DE" sz="2000" i="1">
                            <a:ea typeface="Cambria Math" panose="02040503050406030204" pitchFamily="18" charset="0"/>
                            <a:cs typeface="Arial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de-D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ea typeface="Cambria Math" panose="02040503050406030204" pitchFamily="18" charset="0"/>
                                <a:cs typeface="Arial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ea typeface="Cambria Math" panose="02040503050406030204" pitchFamily="18" charset="0"/>
                                <a:cs typeface="Arial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endParaRPr lang="en-DE" sz="2000"/>
              </a:p>
              <a:p>
                <a:pPr lvl="1"/>
                <a:endParaRPr lang="en-DE" sz="2000"/>
              </a:p>
              <a:p>
                <a:pPr lvl="1"/>
                <a:endParaRPr lang="en-DE" sz="2000"/>
              </a:p>
              <a:p>
                <a:pPr lvl="1"/>
                <a:endParaRPr lang="en-DE" sz="200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DE" sz="2000"/>
                  <a:t>Dynamics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D23B7A0-5134-09F1-55F7-6632AB394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486" y="2414569"/>
                <a:ext cx="5832264" cy="2882712"/>
              </a:xfrm>
              <a:prstGeom prst="rect">
                <a:avLst/>
              </a:prstGeom>
              <a:blipFill>
                <a:blip r:embed="rId4"/>
                <a:stretch>
                  <a:fillRect l="-941" b="-29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360E462-C982-8E93-92E0-2CB5FA3C0208}"/>
              </a:ext>
            </a:extLst>
          </p:cNvPr>
          <p:cNvGrpSpPr/>
          <p:nvPr/>
        </p:nvGrpSpPr>
        <p:grpSpPr>
          <a:xfrm>
            <a:off x="6803048" y="4143606"/>
            <a:ext cx="2166419" cy="598645"/>
            <a:chOff x="4267258" y="3812593"/>
            <a:chExt cx="2038999" cy="563435"/>
          </a:xfrm>
        </p:grpSpPr>
        <p:grpSp>
          <p:nvGrpSpPr>
            <p:cNvPr id="21" name="Gruppieren 72">
              <a:extLst>
                <a:ext uri="{FF2B5EF4-FFF2-40B4-BE49-F238E27FC236}">
                  <a16:creationId xmlns:a16="http://schemas.microsoft.com/office/drawing/2014/main" id="{38B2BE09-CED3-0425-EF13-B0AA7E4905FA}"/>
                </a:ext>
              </a:extLst>
            </p:cNvPr>
            <p:cNvGrpSpPr/>
            <p:nvPr/>
          </p:nvGrpSpPr>
          <p:grpSpPr>
            <a:xfrm>
              <a:off x="4267258" y="3812593"/>
              <a:ext cx="2038999" cy="349138"/>
              <a:chOff x="4784226" y="5057100"/>
              <a:chExt cx="2038999" cy="3491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feld 67">
                    <a:extLst>
                      <a:ext uri="{FF2B5EF4-FFF2-40B4-BE49-F238E27FC236}">
                        <a16:creationId xmlns:a16="http://schemas.microsoft.com/office/drawing/2014/main" id="{6391DD19-55F4-4C61-BB52-2CA7BB6D60D6}"/>
                      </a:ext>
                    </a:extLst>
                  </p:cNvPr>
                  <p:cNvSpPr txBox="1"/>
                  <p:nvPr/>
                </p:nvSpPr>
                <p:spPr>
                  <a:xfrm>
                    <a:off x="4784226" y="5057436"/>
                    <a:ext cx="493070" cy="2142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12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12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120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12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feld 67">
                    <a:extLst>
                      <a:ext uri="{FF2B5EF4-FFF2-40B4-BE49-F238E27FC236}">
                        <a16:creationId xmlns:a16="http://schemas.microsoft.com/office/drawing/2014/main" id="{6391DD19-55F4-4C61-BB52-2CA7BB6D60D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4226" y="5057436"/>
                    <a:ext cx="493070" cy="2142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feld 67">
                    <a:extLst>
                      <a:ext uri="{FF2B5EF4-FFF2-40B4-BE49-F238E27FC236}">
                        <a16:creationId xmlns:a16="http://schemas.microsoft.com/office/drawing/2014/main" id="{DD57A694-F808-D504-7B28-D6590F27F212}"/>
                      </a:ext>
                    </a:extLst>
                  </p:cNvPr>
                  <p:cNvSpPr txBox="1"/>
                  <p:nvPr/>
                </p:nvSpPr>
                <p:spPr>
                  <a:xfrm>
                    <a:off x="6330155" y="5057100"/>
                    <a:ext cx="493070" cy="21635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12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12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120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12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feld 67">
                    <a:extLst>
                      <a:ext uri="{FF2B5EF4-FFF2-40B4-BE49-F238E27FC236}">
                        <a16:creationId xmlns:a16="http://schemas.microsoft.com/office/drawing/2014/main" id="{DD57A694-F808-D504-7B28-D6590F27F2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0155" y="5057100"/>
                    <a:ext cx="493070" cy="21635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Connector 70">
                <a:extLst>
                  <a:ext uri="{FF2B5EF4-FFF2-40B4-BE49-F238E27FC236}">
                    <a16:creationId xmlns:a16="http://schemas.microsoft.com/office/drawing/2014/main" id="{CD81F88B-F58A-A65C-5C43-D7A80C6C8B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9725" y="5341782"/>
                <a:ext cx="1267576" cy="125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72">
                <a:extLst>
                  <a:ext uri="{FF2B5EF4-FFF2-40B4-BE49-F238E27FC236}">
                    <a16:creationId xmlns:a16="http://schemas.microsoft.com/office/drawing/2014/main" id="{84426136-601D-AF38-9DF5-1A9DF2065A1D}"/>
                  </a:ext>
                </a:extLst>
              </p:cNvPr>
              <p:cNvSpPr/>
              <p:nvPr/>
            </p:nvSpPr>
            <p:spPr>
              <a:xfrm>
                <a:off x="4961820" y="5297814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1200"/>
              </a:p>
            </p:txBody>
          </p:sp>
          <p:sp>
            <p:nvSpPr>
              <p:cNvPr id="28" name="Oval 72">
                <a:extLst>
                  <a:ext uri="{FF2B5EF4-FFF2-40B4-BE49-F238E27FC236}">
                    <a16:creationId xmlns:a16="http://schemas.microsoft.com/office/drawing/2014/main" id="{EBF785A3-B6F5-3494-093E-1E04852A6362}"/>
                  </a:ext>
                </a:extLst>
              </p:cNvPr>
              <p:cNvSpPr/>
              <p:nvPr/>
            </p:nvSpPr>
            <p:spPr>
              <a:xfrm>
                <a:off x="6522691" y="529781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1200"/>
              </a:p>
            </p:txBody>
          </p:sp>
        </p:grpSp>
        <p:cxnSp>
          <p:nvCxnSpPr>
            <p:cNvPr id="22" name="Straight Connector 63">
              <a:extLst>
                <a:ext uri="{FF2B5EF4-FFF2-40B4-BE49-F238E27FC236}">
                  <a16:creationId xmlns:a16="http://schemas.microsoft.com/office/drawing/2014/main" id="{E4D5AE28-940C-3C83-19F7-3902B42677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6967" y="4101999"/>
              <a:ext cx="1263366" cy="7545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67">
                  <a:extLst>
                    <a:ext uri="{FF2B5EF4-FFF2-40B4-BE49-F238E27FC236}">
                      <a16:creationId xmlns:a16="http://schemas.microsoft.com/office/drawing/2014/main" id="{1B081839-8E23-0DE2-A53B-137A3A1C4062}"/>
                    </a:ext>
                  </a:extLst>
                </p:cNvPr>
                <p:cNvSpPr txBox="1"/>
                <p:nvPr/>
              </p:nvSpPr>
              <p:spPr>
                <a:xfrm>
                  <a:off x="5029123" y="4161729"/>
                  <a:ext cx="493070" cy="2142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b="0" i="1" smtClean="0">
                                <a:solidFill>
                                  <a:schemeClr val="tx1"/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b="0" smtClean="0">
                                <a:solidFill>
                                  <a:schemeClr val="tx1"/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Textfeld 67">
                  <a:extLst>
                    <a:ext uri="{FF2B5EF4-FFF2-40B4-BE49-F238E27FC236}">
                      <a16:creationId xmlns:a16="http://schemas.microsoft.com/office/drawing/2014/main" id="{1B081839-8E23-0DE2-A53B-137A3A1C4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123" y="4161729"/>
                  <a:ext cx="493070" cy="214299"/>
                </a:xfrm>
                <a:prstGeom prst="rect">
                  <a:avLst/>
                </a:prstGeom>
                <a:blipFill>
                  <a:blip r:embed="rId7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CD3B97B-6ACE-721C-FE95-C793A3A48C3B}"/>
              </a:ext>
            </a:extLst>
          </p:cNvPr>
          <p:cNvGrpSpPr/>
          <p:nvPr/>
        </p:nvGrpSpPr>
        <p:grpSpPr>
          <a:xfrm>
            <a:off x="10012510" y="313743"/>
            <a:ext cx="1754029" cy="917879"/>
            <a:chOff x="7428511" y="2549750"/>
            <a:chExt cx="2754033" cy="1441171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1BBB5A6-EB2E-7A6E-E116-68C77DC19234}"/>
                </a:ext>
              </a:extLst>
            </p:cNvPr>
            <p:cNvGrpSpPr/>
            <p:nvPr/>
          </p:nvGrpSpPr>
          <p:grpSpPr>
            <a:xfrm>
              <a:off x="7428511" y="2549750"/>
              <a:ext cx="2278350" cy="1344546"/>
              <a:chOff x="1278250" y="3243351"/>
              <a:chExt cx="1666076" cy="983219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7221774C-89E7-3189-B425-60A78307ECCE}"/>
                  </a:ext>
                </a:extLst>
              </p:cNvPr>
              <p:cNvGrpSpPr/>
              <p:nvPr/>
            </p:nvGrpSpPr>
            <p:grpSpPr>
              <a:xfrm>
                <a:off x="1278250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81" name="Graphic 80" descr="Toy Train with solid fill">
                  <a:extLst>
                    <a:ext uri="{FF2B5EF4-FFF2-40B4-BE49-F238E27FC236}">
                      <a16:creationId xmlns:a16="http://schemas.microsoft.com/office/drawing/2014/main" id="{54EC15DB-0347-2D69-5C2E-5A5DAF71FE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BC32FC82-FD6A-E80A-DCFA-2126505B9CED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0FCECC4C-5506-534A-A33A-A8CAAA1982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5187D66B-8EA5-2B1F-D378-B1BD4B609B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957D4680-91EA-E846-9984-5B4C568837C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7221A0FA-53A6-162B-185B-D8AA72307CCA}"/>
                </a:ext>
              </a:extLst>
            </p:cNvPr>
            <p:cNvGrpSpPr/>
            <p:nvPr/>
          </p:nvGrpSpPr>
          <p:grpSpPr>
            <a:xfrm>
              <a:off x="8629916" y="3118768"/>
              <a:ext cx="1552628" cy="872153"/>
              <a:chOff x="1871465" y="2469615"/>
              <a:chExt cx="2892064" cy="1624537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2C5DF728-2547-BCA8-3487-581F61E6F028}"/>
                  </a:ext>
                </a:extLst>
              </p:cNvPr>
              <p:cNvGrpSpPr/>
              <p:nvPr/>
            </p:nvGrpSpPr>
            <p:grpSpPr>
              <a:xfrm>
                <a:off x="1871465" y="2469615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E8E1E9E6-3073-1CFC-C0FB-7EA5C87B20C4}"/>
                    </a:ext>
                  </a:extLst>
                </p:cNvPr>
                <p:cNvGrpSpPr/>
                <p:nvPr/>
              </p:nvGrpSpPr>
              <p:grpSpPr>
                <a:xfrm>
                  <a:off x="2432079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4210EEB4-324B-9585-FD72-8BF14860C1A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10E29BBC-EA6C-D2B9-1820-A0442C3AA8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1A824B0F-85D1-4462-9A9D-4CC0EB98AC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7DE61DC8-EDD7-8A4D-D8B9-9D2441089A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9F3AF4D8-C3F6-66E3-E012-C47F634176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6" name="Straight Connector 75">
                    <a:extLst>
                      <a:ext uri="{FF2B5EF4-FFF2-40B4-BE49-F238E27FC236}">
                        <a16:creationId xmlns:a16="http://schemas.microsoft.com/office/drawing/2014/main" id="{421CAFC7-A350-A17F-99BA-BD4F79C96F0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C6227FA2-1BF4-2CAA-0515-9F99A8A1DCD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D140F866-C90D-141A-8829-CA2882FC06C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6" name="Group 65">
                  <a:extLst>
                    <a:ext uri="{FF2B5EF4-FFF2-40B4-BE49-F238E27FC236}">
                      <a16:creationId xmlns:a16="http://schemas.microsoft.com/office/drawing/2014/main" id="{875559F8-B278-705C-EEDB-1BB9CCD16660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67" name="Straight Connector 66">
                    <a:extLst>
                      <a:ext uri="{FF2B5EF4-FFF2-40B4-BE49-F238E27FC236}">
                        <a16:creationId xmlns:a16="http://schemas.microsoft.com/office/drawing/2014/main" id="{A26C1E67-65E4-FC54-98EF-534F7B3C231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>
                    <a:extLst>
                      <a:ext uri="{FF2B5EF4-FFF2-40B4-BE49-F238E27FC236}">
                        <a16:creationId xmlns:a16="http://schemas.microsoft.com/office/drawing/2014/main" id="{5D767DD5-938A-6EBB-FDE1-CCBDB2F6604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9" name="Straight Connector 68">
                    <a:extLst>
                      <a:ext uri="{FF2B5EF4-FFF2-40B4-BE49-F238E27FC236}">
                        <a16:creationId xmlns:a16="http://schemas.microsoft.com/office/drawing/2014/main" id="{3FDA3C35-EF9C-3B33-3D1D-068567EDE17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>
                    <a:extLst>
                      <a:ext uri="{FF2B5EF4-FFF2-40B4-BE49-F238E27FC236}">
                        <a16:creationId xmlns:a16="http://schemas.microsoft.com/office/drawing/2014/main" id="{B8E4DACC-A625-840E-0D72-67BD5E095AE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FFF09C85-C132-0BB3-3A9D-B1CCFEBEC1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186BBD5F-35CE-0412-DEFE-64B8185E32D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CDA8193D-9FB5-EA7B-11F3-A42EF07041E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F7C5D2D-2D32-4A66-37CD-E92D6C50273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BDF28E8-A8D8-3A8D-1BD8-A678504FA928}"/>
              </a:ext>
            </a:extLst>
          </p:cNvPr>
          <p:cNvGrpSpPr/>
          <p:nvPr/>
        </p:nvGrpSpPr>
        <p:grpSpPr>
          <a:xfrm>
            <a:off x="586953" y="1577828"/>
            <a:ext cx="11018094" cy="4579165"/>
            <a:chOff x="586953" y="1631135"/>
            <a:chExt cx="11018094" cy="4579165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E956B0F-1338-0CA7-83B0-B5C1C3C31BA2}"/>
                </a:ext>
              </a:extLst>
            </p:cNvPr>
            <p:cNvCxnSpPr>
              <a:cxnSpLocks/>
            </p:cNvCxnSpPr>
            <p:nvPr/>
          </p:nvCxnSpPr>
          <p:spPr>
            <a:xfrm>
              <a:off x="591187" y="2231571"/>
              <a:ext cx="1101386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3C785C2-CF82-7AAF-2E62-7E8003A81B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8117" y="1632857"/>
              <a:ext cx="0" cy="457744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5D9715-2E61-44E1-0F6F-ABD8D5D8F41B}"/>
                </a:ext>
              </a:extLst>
            </p:cNvPr>
            <p:cNvSpPr/>
            <p:nvPr/>
          </p:nvSpPr>
          <p:spPr>
            <a:xfrm>
              <a:off x="6190784" y="1631135"/>
              <a:ext cx="5414263" cy="5440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What changes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8B0E133-4822-8967-21EC-21F75E7A9353}"/>
                </a:ext>
              </a:extLst>
            </p:cNvPr>
            <p:cNvSpPr/>
            <p:nvPr/>
          </p:nvSpPr>
          <p:spPr>
            <a:xfrm>
              <a:off x="586953" y="1631136"/>
              <a:ext cx="5418497" cy="544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What to keep</a:t>
              </a:r>
              <a:endParaRPr lang="en-US" sz="16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3916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A3C926-A03E-1B2C-CE40-F62E210DA9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3093" y="1762188"/>
                <a:ext cx="8508999" cy="43231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algn="l" rtl="0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ct val="0"/>
                  </a:spcAft>
                  <a:defRPr lang="de-DE" sz="16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6213" indent="-176213" algn="l" rtl="0" eaLnBrk="0" fontAlgn="base" hangingPunct="0">
                  <a:lnSpc>
                    <a:spcPct val="114000"/>
                  </a:lnSpc>
                  <a:spcBef>
                    <a:spcPct val="0"/>
                  </a:spcBef>
                  <a:spcAft>
                    <a:spcPct val="0"/>
                  </a:spcAft>
                  <a:buFont typeface="Arial" charset="0"/>
                  <a:buChar char="•"/>
                  <a:defRPr lang="de-DE" sz="16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60363" indent="-18415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8163" indent="-177800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4375" indent="-176213" algn="l" rtl="0" eaLnBrk="0" fontAlgn="base" hangingPunct="0">
                  <a:lnSpc>
                    <a:spcPct val="125000"/>
                  </a:lnSpc>
                  <a:spcBef>
                    <a:spcPct val="0"/>
                  </a:spcBef>
                  <a:spcAft>
                    <a:spcPct val="0"/>
                  </a:spcAft>
                  <a:buFont typeface="Symbol" pitchFamily="18" charset="2"/>
                  <a:buChar char="-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lnSpc>
                    <a:spcPct val="150000"/>
                  </a:lnSpc>
                  <a:buFont typeface="Arial,Sans-Serif"/>
                  <a:buChar char="•"/>
                </a:pPr>
                <a:r>
                  <a:rPr lang="en-US" sz="2000">
                    <a:cs typeface="Arial"/>
                  </a:rPr>
                  <a:t>Bound speed change </a:t>
                </a:r>
                <a:r>
                  <a:rPr lang="en-US" sz="2000">
                    <a:cs typeface="Arial"/>
                    <a:sym typeface="Wingdings" pitchFamily="2" charset="2"/>
                  </a:rPr>
                  <a:t> Bound time difference change</a:t>
                </a:r>
              </a:p>
              <a:p>
                <a:pPr marL="285750" indent="-285750">
                  <a:lnSpc>
                    <a:spcPct val="150000"/>
                  </a:lnSpc>
                  <a:buFont typeface="Arial,Sans-Serif"/>
                  <a:buChar char="•"/>
                </a:pPr>
                <a:r>
                  <a:rPr lang="en-US" sz="2000">
                    <a:cs typeface="Arial"/>
                    <a:sym typeface="Wingdings" pitchFamily="2" charset="2"/>
                  </a:rPr>
                  <a:t>Goal: Express in linear constraints</a:t>
                </a:r>
              </a:p>
              <a:p>
                <a:pPr marL="285750" indent="-285750">
                  <a:lnSpc>
                    <a:spcPct val="150000"/>
                  </a:lnSpc>
                  <a:buFont typeface="Arial,Sans-Serif"/>
                  <a:buChar char="•"/>
                </a:pPr>
                <a:r>
                  <a:rPr lang="en-US" sz="2000">
                    <a:cs typeface="Arial"/>
                  </a:rPr>
                  <a:t>Example: </a:t>
                </a:r>
                <a:r>
                  <a:rPr lang="de-DE" sz="2000">
                    <a:cs typeface="Arial"/>
                  </a:rPr>
                  <a:t>Start </a:t>
                </a:r>
                <a:r>
                  <a:rPr lang="de-DE" sz="2000" err="1">
                    <a:cs typeface="Arial"/>
                  </a:rPr>
                  <a:t>with</a:t>
                </a:r>
                <a:r>
                  <a:rPr lang="de-DE" sz="2000"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de-DE" sz="2000" i="1">
                        <a:latin typeface="Cambria Math" panose="02040503050406030204" pitchFamily="18" charset="0"/>
                        <a:cs typeface="Arial"/>
                      </a:rPr>
                      <m:t>0</m:t>
                    </m:r>
                    <m:f>
                      <m:fPr>
                        <m:ctrlPr>
                          <a:rPr lang="de-DE" sz="20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DE" sz="2000">
                            <a:cs typeface="Arial"/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de-DE" sz="2000">
                            <a:cs typeface="Arial"/>
                          </a:rPr>
                          <m:t>s</m:t>
                        </m:r>
                      </m:den>
                    </m:f>
                  </m:oMath>
                </a14:m>
                <a:r>
                  <a:rPr lang="de-DE" sz="2000">
                    <a:cs typeface="Arial"/>
                  </a:rPr>
                  <a:t> and </a:t>
                </a:r>
                <a:r>
                  <a:rPr lang="de-DE" sz="2000" err="1">
                    <a:cs typeface="Arial"/>
                  </a:rPr>
                  <a:t>accelerate</a:t>
                </a:r>
                <a:r>
                  <a:rPr lang="de-DE" sz="2000">
                    <a:cs typeface="Arial"/>
                  </a:rPr>
                  <a:t> </a:t>
                </a:r>
                <a:r>
                  <a:rPr lang="de-DE" sz="2000" err="1">
                    <a:cs typeface="Arial"/>
                  </a:rPr>
                  <a:t>with</a:t>
                </a:r>
                <a:r>
                  <a:rPr lang="de-DE" sz="2000">
                    <a:cs typeface="Arial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cs typeface="Arial"/>
                          </a:rPr>
                          <m:t>a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i="1">
                            <a:cs typeface="Arial"/>
                          </a:rPr>
                          <m:t>max</m:t>
                        </m:r>
                      </m:sub>
                    </m:sSub>
                  </m:oMath>
                </a14:m>
                <a:endParaRPr lang="de-DE" sz="2000" i="1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A3C926-A03E-1B2C-CE40-F62E210DA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093" y="1762188"/>
                <a:ext cx="8508999" cy="4323148"/>
              </a:xfrm>
              <a:prstGeom prst="rect">
                <a:avLst/>
              </a:prstGeom>
              <a:blipFill>
                <a:blip r:embed="rId3"/>
                <a:stretch>
                  <a:fillRect l="-171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176AD4-86D7-6FDC-0F09-DB11D4753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F8CB4AAB-4A04-58E3-BBF2-4BB39C701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83" name="Title 82">
            <a:extLst>
              <a:ext uri="{FF2B5EF4-FFF2-40B4-BE49-F238E27FC236}">
                <a16:creationId xmlns:a16="http://schemas.microsoft.com/office/drawing/2014/main" id="{1E66A5D7-1F13-777F-6ACF-61F4D690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de-DE" err="1"/>
              <a:t>Linearized</a:t>
            </a:r>
            <a:r>
              <a:rPr lang="de-DE"/>
              <a:t>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67">
                <a:extLst>
                  <a:ext uri="{FF2B5EF4-FFF2-40B4-BE49-F238E27FC236}">
                    <a16:creationId xmlns:a16="http://schemas.microsoft.com/office/drawing/2014/main" id="{CC2383A5-45CE-2BCC-E787-F08DCC4EE723}"/>
                  </a:ext>
                </a:extLst>
              </p:cNvPr>
              <p:cNvSpPr txBox="1"/>
              <p:nvPr/>
            </p:nvSpPr>
            <p:spPr>
              <a:xfrm>
                <a:off x="5155801" y="3813913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feld 67">
                <a:extLst>
                  <a:ext uri="{FF2B5EF4-FFF2-40B4-BE49-F238E27FC236}">
                    <a16:creationId xmlns:a16="http://schemas.microsoft.com/office/drawing/2014/main" id="{CC2383A5-45CE-2BCC-E787-F08DCC4E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801" y="3813913"/>
                <a:ext cx="493070" cy="383054"/>
              </a:xfrm>
              <a:prstGeom prst="rect">
                <a:avLst/>
              </a:prstGeom>
              <a:blipFill>
                <a:blip r:embed="rId4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67">
                <a:extLst>
                  <a:ext uri="{FF2B5EF4-FFF2-40B4-BE49-F238E27FC236}">
                    <a16:creationId xmlns:a16="http://schemas.microsoft.com/office/drawing/2014/main" id="{A5C3629E-F1B9-5DFA-7B4C-4DACE317116A}"/>
                  </a:ext>
                </a:extLst>
              </p:cNvPr>
              <p:cNvSpPr txBox="1"/>
              <p:nvPr/>
            </p:nvSpPr>
            <p:spPr>
              <a:xfrm>
                <a:off x="6723290" y="3807262"/>
                <a:ext cx="493070" cy="378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feld 67">
                <a:extLst>
                  <a:ext uri="{FF2B5EF4-FFF2-40B4-BE49-F238E27FC236}">
                    <a16:creationId xmlns:a16="http://schemas.microsoft.com/office/drawing/2014/main" id="{A5C3629E-F1B9-5DFA-7B4C-4DACE3171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290" y="3807262"/>
                <a:ext cx="493070" cy="378565"/>
              </a:xfrm>
              <a:prstGeom prst="rect">
                <a:avLst/>
              </a:prstGeom>
              <a:blipFill>
                <a:blip r:embed="rId5"/>
                <a:stretch>
                  <a:fillRect l="-1235" b="-19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67">
                <a:extLst>
                  <a:ext uri="{FF2B5EF4-FFF2-40B4-BE49-F238E27FC236}">
                    <a16:creationId xmlns:a16="http://schemas.microsoft.com/office/drawing/2014/main" id="{EA56885E-AB5D-D245-8B1F-E4A098F6ED8E}"/>
                  </a:ext>
                </a:extLst>
              </p:cNvPr>
              <p:cNvSpPr txBox="1"/>
              <p:nvPr/>
            </p:nvSpPr>
            <p:spPr>
              <a:xfrm>
                <a:off x="8271870" y="3798295"/>
                <a:ext cx="493070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feld 67">
                <a:extLst>
                  <a:ext uri="{FF2B5EF4-FFF2-40B4-BE49-F238E27FC236}">
                    <a16:creationId xmlns:a16="http://schemas.microsoft.com/office/drawing/2014/main" id="{EA56885E-AB5D-D245-8B1F-E4A098F6E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870" y="3798295"/>
                <a:ext cx="493070" cy="375872"/>
              </a:xfrm>
              <a:prstGeom prst="rect">
                <a:avLst/>
              </a:prstGeom>
              <a:blipFill>
                <a:blip r:embed="rId6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Connector 70">
            <a:extLst>
              <a:ext uri="{FF2B5EF4-FFF2-40B4-BE49-F238E27FC236}">
                <a16:creationId xmlns:a16="http://schemas.microsoft.com/office/drawing/2014/main" id="{42BC703F-0D1D-345A-BAC9-4E5A507EC509}"/>
              </a:ext>
            </a:extLst>
          </p:cNvPr>
          <p:cNvCxnSpPr>
            <a:cxnSpLocks/>
          </p:cNvCxnSpPr>
          <p:nvPr/>
        </p:nvCxnSpPr>
        <p:spPr>
          <a:xfrm flipV="1">
            <a:off x="5552859" y="4321937"/>
            <a:ext cx="1267576" cy="125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72">
            <a:extLst>
              <a:ext uri="{FF2B5EF4-FFF2-40B4-BE49-F238E27FC236}">
                <a16:creationId xmlns:a16="http://schemas.microsoft.com/office/drawing/2014/main" id="{DDBA8D10-ED75-58F7-8BFC-477B582D29C5}"/>
              </a:ext>
            </a:extLst>
          </p:cNvPr>
          <p:cNvSpPr/>
          <p:nvPr/>
        </p:nvSpPr>
        <p:spPr>
          <a:xfrm>
            <a:off x="5354954" y="4277969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 sz="2000" i="1"/>
          </a:p>
        </p:txBody>
      </p:sp>
      <p:sp>
        <p:nvSpPr>
          <p:cNvPr id="63" name="Oval 72">
            <a:extLst>
              <a:ext uri="{FF2B5EF4-FFF2-40B4-BE49-F238E27FC236}">
                <a16:creationId xmlns:a16="http://schemas.microsoft.com/office/drawing/2014/main" id="{2D83EAF5-1ED8-E41D-CF3A-294B203C93A3}"/>
              </a:ext>
            </a:extLst>
          </p:cNvPr>
          <p:cNvSpPr/>
          <p:nvPr/>
        </p:nvSpPr>
        <p:spPr>
          <a:xfrm>
            <a:off x="6915825" y="4277968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 sz="2000" i="1"/>
          </a:p>
        </p:txBody>
      </p:sp>
      <p:sp>
        <p:nvSpPr>
          <p:cNvPr id="69" name="Oval 72">
            <a:extLst>
              <a:ext uri="{FF2B5EF4-FFF2-40B4-BE49-F238E27FC236}">
                <a16:creationId xmlns:a16="http://schemas.microsoft.com/office/drawing/2014/main" id="{502B3D43-513A-985A-38B2-6202899A884B}"/>
              </a:ext>
            </a:extLst>
          </p:cNvPr>
          <p:cNvSpPr/>
          <p:nvPr/>
        </p:nvSpPr>
        <p:spPr>
          <a:xfrm>
            <a:off x="8464405" y="4265677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 sz="2000" i="1"/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BF20A8BA-1B16-7D3D-9ADF-AAC7936BBE9B}"/>
              </a:ext>
            </a:extLst>
          </p:cNvPr>
          <p:cNvCxnSpPr>
            <a:cxnSpLocks/>
          </p:cNvCxnSpPr>
          <p:nvPr/>
        </p:nvCxnSpPr>
        <p:spPr>
          <a:xfrm flipV="1">
            <a:off x="7101438" y="4309893"/>
            <a:ext cx="1267576" cy="125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63">
            <a:extLst>
              <a:ext uri="{FF2B5EF4-FFF2-40B4-BE49-F238E27FC236}">
                <a16:creationId xmlns:a16="http://schemas.microsoft.com/office/drawing/2014/main" id="{0BE936D3-D2A5-5B42-7F93-F13417845052}"/>
              </a:ext>
            </a:extLst>
          </p:cNvPr>
          <p:cNvCxnSpPr>
            <a:cxnSpLocks/>
          </p:cNvCxnSpPr>
          <p:nvPr/>
        </p:nvCxnSpPr>
        <p:spPr>
          <a:xfrm flipV="1">
            <a:off x="5557069" y="4326661"/>
            <a:ext cx="1263366" cy="7545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63">
            <a:extLst>
              <a:ext uri="{FF2B5EF4-FFF2-40B4-BE49-F238E27FC236}">
                <a16:creationId xmlns:a16="http://schemas.microsoft.com/office/drawing/2014/main" id="{486D823E-57A7-0B2D-5619-C8D2A8FEA3C9}"/>
              </a:ext>
            </a:extLst>
          </p:cNvPr>
          <p:cNvCxnSpPr>
            <a:cxnSpLocks/>
          </p:cNvCxnSpPr>
          <p:nvPr/>
        </p:nvCxnSpPr>
        <p:spPr>
          <a:xfrm flipV="1">
            <a:off x="7093430" y="4320145"/>
            <a:ext cx="1263366" cy="7545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67">
                <a:extLst>
                  <a:ext uri="{FF2B5EF4-FFF2-40B4-BE49-F238E27FC236}">
                    <a16:creationId xmlns:a16="http://schemas.microsoft.com/office/drawing/2014/main" id="{7F8BB205-5A7B-236F-64D3-434926301937}"/>
                  </a:ext>
                </a:extLst>
              </p:cNvPr>
              <p:cNvSpPr txBox="1"/>
              <p:nvPr/>
            </p:nvSpPr>
            <p:spPr>
              <a:xfrm>
                <a:off x="5948764" y="3923362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latin typeface="+mn-lt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5" name="Textfeld 67">
                <a:extLst>
                  <a:ext uri="{FF2B5EF4-FFF2-40B4-BE49-F238E27FC236}">
                    <a16:creationId xmlns:a16="http://schemas.microsoft.com/office/drawing/2014/main" id="{7F8BB205-5A7B-236F-64D3-434926301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764" y="3923362"/>
                <a:ext cx="493070" cy="383054"/>
              </a:xfrm>
              <a:prstGeom prst="rect">
                <a:avLst/>
              </a:prstGeom>
              <a:blipFill>
                <a:blip r:embed="rId7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67">
                <a:extLst>
                  <a:ext uri="{FF2B5EF4-FFF2-40B4-BE49-F238E27FC236}">
                    <a16:creationId xmlns:a16="http://schemas.microsoft.com/office/drawing/2014/main" id="{4BEFDAD3-87F7-5EB9-6DDC-473356F7B2DB}"/>
                  </a:ext>
                </a:extLst>
              </p:cNvPr>
              <p:cNvSpPr txBox="1"/>
              <p:nvPr/>
            </p:nvSpPr>
            <p:spPr>
              <a:xfrm>
                <a:off x="7521691" y="3916319"/>
                <a:ext cx="493070" cy="378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latin typeface="+mn-lt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Textfeld 67">
                <a:extLst>
                  <a:ext uri="{FF2B5EF4-FFF2-40B4-BE49-F238E27FC236}">
                    <a16:creationId xmlns:a16="http://schemas.microsoft.com/office/drawing/2014/main" id="{4BEFDAD3-87F7-5EB9-6DDC-473356F7B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1691" y="3916319"/>
                <a:ext cx="493070" cy="378565"/>
              </a:xfrm>
              <a:prstGeom prst="rect">
                <a:avLst/>
              </a:prstGeom>
              <a:blipFill>
                <a:blip r:embed="rId8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67">
                <a:extLst>
                  <a:ext uri="{FF2B5EF4-FFF2-40B4-BE49-F238E27FC236}">
                    <a16:creationId xmlns:a16="http://schemas.microsoft.com/office/drawing/2014/main" id="{C7191F3E-6316-A293-78EB-2F6C61CB4C5A}"/>
                  </a:ext>
                </a:extLst>
              </p:cNvPr>
              <p:cNvSpPr txBox="1"/>
              <p:nvPr/>
            </p:nvSpPr>
            <p:spPr>
              <a:xfrm>
                <a:off x="3596815" y="3800753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feld 67">
                <a:extLst>
                  <a:ext uri="{FF2B5EF4-FFF2-40B4-BE49-F238E27FC236}">
                    <a16:creationId xmlns:a16="http://schemas.microsoft.com/office/drawing/2014/main" id="{C7191F3E-6316-A293-78EB-2F6C61CB4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815" y="3800753"/>
                <a:ext cx="493070" cy="379463"/>
              </a:xfrm>
              <a:prstGeom prst="rect">
                <a:avLst/>
              </a:prstGeom>
              <a:blipFill>
                <a:blip r:embed="rId9"/>
                <a:stretch>
                  <a:fillRect b="-20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70">
            <a:extLst>
              <a:ext uri="{FF2B5EF4-FFF2-40B4-BE49-F238E27FC236}">
                <a16:creationId xmlns:a16="http://schemas.microsoft.com/office/drawing/2014/main" id="{590B2940-9407-758C-BE20-F17483424144}"/>
              </a:ext>
            </a:extLst>
          </p:cNvPr>
          <p:cNvCxnSpPr>
            <a:cxnSpLocks/>
          </p:cNvCxnSpPr>
          <p:nvPr/>
        </p:nvCxnSpPr>
        <p:spPr>
          <a:xfrm flipV="1">
            <a:off x="3991987" y="4321937"/>
            <a:ext cx="1267576" cy="125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Oval 72">
            <a:extLst>
              <a:ext uri="{FF2B5EF4-FFF2-40B4-BE49-F238E27FC236}">
                <a16:creationId xmlns:a16="http://schemas.microsoft.com/office/drawing/2014/main" id="{5CDE474C-AED6-3128-40CD-4748AA90EA46}"/>
              </a:ext>
            </a:extLst>
          </p:cNvPr>
          <p:cNvSpPr/>
          <p:nvPr/>
        </p:nvSpPr>
        <p:spPr>
          <a:xfrm>
            <a:off x="3794082" y="4277969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 sz="2000" i="1"/>
          </a:p>
        </p:txBody>
      </p:sp>
      <p:cxnSp>
        <p:nvCxnSpPr>
          <p:cNvPr id="101" name="Straight Connector 63">
            <a:extLst>
              <a:ext uri="{FF2B5EF4-FFF2-40B4-BE49-F238E27FC236}">
                <a16:creationId xmlns:a16="http://schemas.microsoft.com/office/drawing/2014/main" id="{717A80EB-298A-19DC-6F9F-C87AE5E4E3EC}"/>
              </a:ext>
            </a:extLst>
          </p:cNvPr>
          <p:cNvCxnSpPr>
            <a:cxnSpLocks/>
          </p:cNvCxnSpPr>
          <p:nvPr/>
        </p:nvCxnSpPr>
        <p:spPr>
          <a:xfrm flipV="1">
            <a:off x="3996197" y="4326661"/>
            <a:ext cx="1263366" cy="7545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feld 67">
                <a:extLst>
                  <a:ext uri="{FF2B5EF4-FFF2-40B4-BE49-F238E27FC236}">
                    <a16:creationId xmlns:a16="http://schemas.microsoft.com/office/drawing/2014/main" id="{7E8F84F4-8478-5B67-FAA1-68B160A29A58}"/>
                  </a:ext>
                </a:extLst>
              </p:cNvPr>
              <p:cNvSpPr txBox="1"/>
              <p:nvPr/>
            </p:nvSpPr>
            <p:spPr>
              <a:xfrm>
                <a:off x="4375837" y="3924794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3" name="Textfeld 67">
                <a:extLst>
                  <a:ext uri="{FF2B5EF4-FFF2-40B4-BE49-F238E27FC236}">
                    <a16:creationId xmlns:a16="http://schemas.microsoft.com/office/drawing/2014/main" id="{7E8F84F4-8478-5B67-FAA1-68B160A29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837" y="3924794"/>
                <a:ext cx="493070" cy="379463"/>
              </a:xfrm>
              <a:prstGeom prst="rect">
                <a:avLst/>
              </a:prstGeom>
              <a:blipFill>
                <a:blip r:embed="rId10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67">
                <a:extLst>
                  <a:ext uri="{FF2B5EF4-FFF2-40B4-BE49-F238E27FC236}">
                    <a16:creationId xmlns:a16="http://schemas.microsoft.com/office/drawing/2014/main" id="{94753AC3-442D-2AB0-A028-FAF8F0C86798}"/>
                  </a:ext>
                </a:extLst>
              </p:cNvPr>
              <p:cNvSpPr txBox="1"/>
              <p:nvPr/>
            </p:nvSpPr>
            <p:spPr>
              <a:xfrm>
                <a:off x="2047157" y="3807262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5" name="Textfeld 67">
                <a:extLst>
                  <a:ext uri="{FF2B5EF4-FFF2-40B4-BE49-F238E27FC236}">
                    <a16:creationId xmlns:a16="http://schemas.microsoft.com/office/drawing/2014/main" id="{94753AC3-442D-2AB0-A028-FAF8F0C8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157" y="3807262"/>
                <a:ext cx="493070" cy="379463"/>
              </a:xfrm>
              <a:prstGeom prst="rect">
                <a:avLst/>
              </a:prstGeom>
              <a:blipFill>
                <a:blip r:embed="rId11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Connector 70">
            <a:extLst>
              <a:ext uri="{FF2B5EF4-FFF2-40B4-BE49-F238E27FC236}">
                <a16:creationId xmlns:a16="http://schemas.microsoft.com/office/drawing/2014/main" id="{DF0933AF-B6EC-798A-B7AC-C2CD9335C60C}"/>
              </a:ext>
            </a:extLst>
          </p:cNvPr>
          <p:cNvCxnSpPr>
            <a:cxnSpLocks/>
          </p:cNvCxnSpPr>
          <p:nvPr/>
        </p:nvCxnSpPr>
        <p:spPr>
          <a:xfrm flipV="1">
            <a:off x="2432824" y="4315393"/>
            <a:ext cx="1267576" cy="1253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Oval 72">
            <a:extLst>
              <a:ext uri="{FF2B5EF4-FFF2-40B4-BE49-F238E27FC236}">
                <a16:creationId xmlns:a16="http://schemas.microsoft.com/office/drawing/2014/main" id="{2D4E9C95-8965-1EF4-E03D-4866B299E28A}"/>
              </a:ext>
            </a:extLst>
          </p:cNvPr>
          <p:cNvSpPr/>
          <p:nvPr/>
        </p:nvSpPr>
        <p:spPr>
          <a:xfrm>
            <a:off x="2234919" y="4271425"/>
            <a:ext cx="108000" cy="1084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 sz="2000" i="1"/>
          </a:p>
        </p:txBody>
      </p:sp>
      <p:cxnSp>
        <p:nvCxnSpPr>
          <p:cNvPr id="111" name="Straight Connector 63">
            <a:extLst>
              <a:ext uri="{FF2B5EF4-FFF2-40B4-BE49-F238E27FC236}">
                <a16:creationId xmlns:a16="http://schemas.microsoft.com/office/drawing/2014/main" id="{7917B2D5-41A3-F1A8-B08C-21826B124513}"/>
              </a:ext>
            </a:extLst>
          </p:cNvPr>
          <p:cNvCxnSpPr>
            <a:cxnSpLocks/>
          </p:cNvCxnSpPr>
          <p:nvPr/>
        </p:nvCxnSpPr>
        <p:spPr>
          <a:xfrm flipV="1">
            <a:off x="2437034" y="4320117"/>
            <a:ext cx="1263366" cy="7545"/>
          </a:xfrm>
          <a:prstGeom prst="line">
            <a:avLst/>
          </a:prstGeom>
          <a:ln w="57150">
            <a:solidFill>
              <a:schemeClr val="tx2">
                <a:lumMod val="50000"/>
                <a:lumOff val="50000"/>
                <a:alpha val="3977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feld 67">
                <a:extLst>
                  <a:ext uri="{FF2B5EF4-FFF2-40B4-BE49-F238E27FC236}">
                    <a16:creationId xmlns:a16="http://schemas.microsoft.com/office/drawing/2014/main" id="{01E9A4FB-2DDE-9B31-C175-D89474860CF0}"/>
                  </a:ext>
                </a:extLst>
              </p:cNvPr>
              <p:cNvSpPr txBox="1"/>
              <p:nvPr/>
            </p:nvSpPr>
            <p:spPr>
              <a:xfrm>
                <a:off x="2815943" y="3918494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3" name="Textfeld 67">
                <a:extLst>
                  <a:ext uri="{FF2B5EF4-FFF2-40B4-BE49-F238E27FC236}">
                    <a16:creationId xmlns:a16="http://schemas.microsoft.com/office/drawing/2014/main" id="{01E9A4FB-2DDE-9B31-C175-D89474860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943" y="3918494"/>
                <a:ext cx="493070" cy="379463"/>
              </a:xfrm>
              <a:prstGeom prst="rect">
                <a:avLst/>
              </a:prstGeom>
              <a:blipFill>
                <a:blip r:embed="rId12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67">
                <a:extLst>
                  <a:ext uri="{FF2B5EF4-FFF2-40B4-BE49-F238E27FC236}">
                    <a16:creationId xmlns:a16="http://schemas.microsoft.com/office/drawing/2014/main" id="{3FFB81E2-7EAE-135E-1B58-486DAD201FE7}"/>
                  </a:ext>
                </a:extLst>
              </p:cNvPr>
              <p:cNvSpPr txBox="1"/>
              <p:nvPr/>
            </p:nvSpPr>
            <p:spPr>
              <a:xfrm>
                <a:off x="4161210" y="4713929"/>
                <a:ext cx="2196705" cy="378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b="0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length</m:t>
                          </m:r>
                          <m:r>
                            <m:rPr>
                              <m:nor/>
                            </m:rPr>
                            <a:rPr lang="de-DE" sz="2000" b="0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b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de-DE" sz="2000" b="0" i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de-DE" sz="2000" b="0" i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1000</m:t>
                      </m:r>
                      <m:r>
                        <m:rPr>
                          <m:nor/>
                        </m:rPr>
                        <a:rPr lang="de-DE" sz="2000" b="0" i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b="0" smtClean="0">
                          <a:solidFill>
                            <a:schemeClr val="tx1"/>
                          </a:solidFill>
                          <a:latin typeface="+mn-lt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de-DE" sz="200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" name="Textfeld 67">
                <a:extLst>
                  <a:ext uri="{FF2B5EF4-FFF2-40B4-BE49-F238E27FC236}">
                    <a16:creationId xmlns:a16="http://schemas.microsoft.com/office/drawing/2014/main" id="{3FFB81E2-7EAE-135E-1B58-486DAD201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210" y="4713929"/>
                <a:ext cx="2196705" cy="378565"/>
              </a:xfrm>
              <a:prstGeom prst="rect">
                <a:avLst/>
              </a:prstGeom>
              <a:blipFill>
                <a:blip r:embed="rId13"/>
                <a:stretch>
                  <a:fillRect l="-5278" r="-3611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37ED149C-0699-78CD-C360-B054ABE01249}"/>
              </a:ext>
            </a:extLst>
          </p:cNvPr>
          <p:cNvGrpSpPr/>
          <p:nvPr/>
        </p:nvGrpSpPr>
        <p:grpSpPr>
          <a:xfrm>
            <a:off x="10012510" y="313744"/>
            <a:ext cx="1754026" cy="917880"/>
            <a:chOff x="7428514" y="2549750"/>
            <a:chExt cx="2754029" cy="144117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498BBF6-1779-9DAB-7421-5414DCFC6D09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65A4DAA9-69E4-8EDC-E671-9BB8F6DA6589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28" name="Graphic 27" descr="Toy Train with solid fill">
                  <a:extLst>
                    <a:ext uri="{FF2B5EF4-FFF2-40B4-BE49-F238E27FC236}">
                      <a16:creationId xmlns:a16="http://schemas.microsoft.com/office/drawing/2014/main" id="{5B3469E2-26BB-EFD8-563E-1B212B4822C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785AF8C-C159-6E69-36C4-7FB9DC00F055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57742C4-575F-A5ED-BBFE-60CF4BCC0B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4FE6DBA3-040C-1C9D-A546-6D144ED7D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9CEBCD3-9926-9B0A-083F-BBBFD2EC42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6E4F13B-0EDB-D91F-9592-6477FB1AE327}"/>
                </a:ext>
              </a:extLst>
            </p:cNvPr>
            <p:cNvGrpSpPr/>
            <p:nvPr/>
          </p:nvGrpSpPr>
          <p:grpSpPr>
            <a:xfrm>
              <a:off x="8629915" y="3118768"/>
              <a:ext cx="1552628" cy="872154"/>
              <a:chOff x="1871464" y="2469614"/>
              <a:chExt cx="2892064" cy="162453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5549EF9-A3C7-8A26-029C-F2461A03FE57}"/>
                  </a:ext>
                </a:extLst>
              </p:cNvPr>
              <p:cNvGrpSpPr/>
              <p:nvPr/>
            </p:nvGrpSpPr>
            <p:grpSpPr>
              <a:xfrm>
                <a:off x="1871464" y="2469614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C9931D8D-A284-73EE-1A9F-3585B6738756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18" name="Oval 17">
                    <a:extLst>
                      <a:ext uri="{FF2B5EF4-FFF2-40B4-BE49-F238E27FC236}">
                        <a16:creationId xmlns:a16="http://schemas.microsoft.com/office/drawing/2014/main" id="{BCF06B8E-77D6-9335-DD4F-6146F6BAC39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A29A0FA0-92E7-EF32-AF98-41B12ADB4D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16168363-1DBD-13B1-7F32-E9FFBF6B55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CC0A6511-3C52-629C-D267-542BCAF615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40013F0-5AFE-7AD9-F11C-F9E41E55404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70EF2E68-6048-2F02-30AF-AA3599C5817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1118CAC5-5BA6-3854-AF61-70E2CEED13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04DEE775-32E6-3FF6-140A-3E4103E15FE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7CA6502C-16BC-8280-8DF6-936BD84CE896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14" name="Straight Connector 13">
                    <a:extLst>
                      <a:ext uri="{FF2B5EF4-FFF2-40B4-BE49-F238E27FC236}">
                        <a16:creationId xmlns:a16="http://schemas.microsoft.com/office/drawing/2014/main" id="{FABC529F-AB07-D28E-E3ED-148C2638266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Connector 14">
                    <a:extLst>
                      <a:ext uri="{FF2B5EF4-FFF2-40B4-BE49-F238E27FC236}">
                        <a16:creationId xmlns:a16="http://schemas.microsoft.com/office/drawing/2014/main" id="{58F6C20F-1E68-02E6-0639-9B74C59B7F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Connector 15">
                    <a:extLst>
                      <a:ext uri="{FF2B5EF4-FFF2-40B4-BE49-F238E27FC236}">
                        <a16:creationId xmlns:a16="http://schemas.microsoft.com/office/drawing/2014/main" id="{FB72F8B1-5B5E-482D-B451-2AA823EB27F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Straight Connector 16">
                    <a:extLst>
                      <a:ext uri="{FF2B5EF4-FFF2-40B4-BE49-F238E27FC236}">
                        <a16:creationId xmlns:a16="http://schemas.microsoft.com/office/drawing/2014/main" id="{14F85EBD-F6DA-DA80-5D34-3DB3AD0E5E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8048295-DD19-5301-8E25-21B0930FA7C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DBFB8AB-2843-E821-E738-2867E07AB3F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041143C-49EB-82BD-288A-C4369A6B0E8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6D93A07-4D3B-A8AD-42F9-AC7489947F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2681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Content Placeholder 1">
            <a:extLst>
              <a:ext uri="{FF2B5EF4-FFF2-40B4-BE49-F238E27FC236}">
                <a16:creationId xmlns:a16="http://schemas.microsoft.com/office/drawing/2014/main" id="{7D3C0982-98A9-B8E7-A581-3F1B107A2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1500" y="1910292"/>
            <a:ext cx="8508999" cy="4542485"/>
          </a:xfrm>
        </p:spPr>
        <p:txBody>
          <a:bodyPr/>
          <a:lstStyle/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en-US" sz="2000" baseline="-25000"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</a:pPr>
            <a:endParaRPr lang="en-US" sz="2000" baseline="-25000"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</a:pPr>
            <a:endParaRPr lang="en-US" sz="2000" baseline="-25000">
              <a:ea typeface="Cambria Math" panose="02040503050406030204" pitchFamily="18" charset="0"/>
            </a:endParaRPr>
          </a:p>
          <a:p>
            <a:pPr>
              <a:lnSpc>
                <a:spcPct val="100000"/>
              </a:lnSpc>
            </a:pPr>
            <a:endParaRPr lang="en-US" sz="2000" baseline="-25000">
              <a:ea typeface="Cambria Math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2  </a:t>
            </a:r>
            <a:r>
              <a:rPr lang="de-DE" sz="2000" i="1">
                <a:cs typeface="Arial"/>
              </a:rPr>
              <a:t>– 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1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 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= 100s;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 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3  </a:t>
            </a:r>
            <a:r>
              <a:rPr lang="de-DE" sz="2000" i="1">
                <a:cs typeface="Arial"/>
              </a:rPr>
              <a:t>– 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2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 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= 55s </a:t>
            </a:r>
            <a:r>
              <a:rPr lang="de-DE" sz="2000">
                <a:solidFill>
                  <a:srgbClr val="000000"/>
                </a:solidFill>
                <a:cs typeface="Arial"/>
                <a:sym typeface="Wingdings" pitchFamily="2" charset="2"/>
              </a:rPr>
              <a:t> 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 f(100) </a:t>
            </a:r>
            <a:r>
              <a:rPr lang="en-DE" sz="2000" i="1">
                <a:solidFill>
                  <a:srgbClr val="000000"/>
                </a:solidFill>
              </a:rPr>
              <a:t>≥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 55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3  </a:t>
            </a:r>
            <a:r>
              <a:rPr lang="de-DE" sz="2000" i="1">
                <a:cs typeface="Arial"/>
              </a:rPr>
              <a:t>– 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2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 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= 55s;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 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4  </a:t>
            </a:r>
            <a:r>
              <a:rPr lang="de-DE" sz="2000" i="1">
                <a:cs typeface="Arial"/>
              </a:rPr>
              <a:t>– 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T</a:t>
            </a:r>
            <a:r>
              <a:rPr lang="de-DE" sz="2000" i="1" baseline="-25000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3</a:t>
            </a:r>
            <a:r>
              <a:rPr lang="de-DE" sz="2000" i="1">
                <a:solidFill>
                  <a:schemeClr val="tx2">
                    <a:lumMod val="50000"/>
                    <a:lumOff val="50000"/>
                  </a:schemeClr>
                </a:solidFill>
                <a:cs typeface="Arial"/>
              </a:rPr>
              <a:t> 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= 45s   </a:t>
            </a:r>
            <a:r>
              <a:rPr lang="de-DE" sz="2000">
                <a:solidFill>
                  <a:srgbClr val="000000"/>
                </a:solidFill>
                <a:cs typeface="Arial"/>
                <a:sym typeface="Wingdings" pitchFamily="2" charset="2"/>
              </a:rPr>
              <a:t> 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 f(55) </a:t>
            </a:r>
            <a:r>
              <a:rPr lang="en-DE" sz="2000" i="1"/>
              <a:t>≥</a:t>
            </a:r>
            <a:r>
              <a:rPr lang="de-DE" sz="2000" i="1">
                <a:solidFill>
                  <a:srgbClr val="000000"/>
                </a:solidFill>
                <a:cs typeface="Arial"/>
              </a:rPr>
              <a:t> 45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r>
              <a:rPr lang="de-DE" sz="2000" i="1">
                <a:solidFill>
                  <a:srgbClr val="000000"/>
                </a:solidFill>
                <a:cs typeface="Arial"/>
              </a:rPr>
              <a:t>…</a:t>
            </a:r>
          </a:p>
          <a:p>
            <a:pPr marL="285750" indent="-285750">
              <a:lnSpc>
                <a:spcPct val="150000"/>
              </a:lnSpc>
              <a:buFont typeface="Arial,Sans-Serif"/>
              <a:buChar char="•"/>
            </a:pPr>
            <a:endParaRPr lang="de-DE" sz="2000" i="1">
              <a:solidFill>
                <a:srgbClr val="000000"/>
              </a:solidFill>
              <a:cs typeface="Arial"/>
            </a:endParaRPr>
          </a:p>
          <a:p>
            <a:pPr marL="285750" indent="-285750">
              <a:lnSpc>
                <a:spcPct val="100000"/>
              </a:lnSpc>
              <a:buFont typeface="Arial,Sans-Serif"/>
              <a:buChar char="•"/>
            </a:pPr>
            <a:endParaRPr lang="de-DE" sz="2000">
              <a:solidFill>
                <a:schemeClr val="tx1"/>
              </a:solidFill>
              <a:cs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176AD4-86D7-6FDC-0F09-DB11D47533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34</a:t>
            </a:fld>
            <a:endParaRPr lang="de-DE"/>
          </a:p>
        </p:txBody>
      </p: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F8CB4AAB-4A04-58E3-BBF2-4BB39C701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83" name="Title 82">
            <a:extLst>
              <a:ext uri="{FF2B5EF4-FFF2-40B4-BE49-F238E27FC236}">
                <a16:creationId xmlns:a16="http://schemas.microsoft.com/office/drawing/2014/main" id="{1E66A5D7-1F13-777F-6ACF-61F4D6908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Time </a:t>
            </a:r>
            <a:r>
              <a:rPr lang="de-DE" err="1"/>
              <a:t>difference</a:t>
            </a:r>
            <a:r>
              <a:rPr lang="de-DE"/>
              <a:t> </a:t>
            </a:r>
            <a:r>
              <a:rPr lang="de-DE" err="1"/>
              <a:t>bounds</a:t>
            </a:r>
            <a:r>
              <a:rPr lang="de-DE"/>
              <a:t>: </a:t>
            </a:r>
            <a:r>
              <a:rPr lang="de-DE" err="1"/>
              <a:t>Example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67">
                <a:extLst>
                  <a:ext uri="{FF2B5EF4-FFF2-40B4-BE49-F238E27FC236}">
                    <a16:creationId xmlns:a16="http://schemas.microsoft.com/office/drawing/2014/main" id="{CC2383A5-45CE-2BCC-E787-F08DCC4EE723}"/>
                  </a:ext>
                </a:extLst>
              </p:cNvPr>
              <p:cNvSpPr txBox="1"/>
              <p:nvPr/>
            </p:nvSpPr>
            <p:spPr>
              <a:xfrm>
                <a:off x="5633162" y="4124504"/>
                <a:ext cx="493070" cy="3830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5" name="Textfeld 67">
                <a:extLst>
                  <a:ext uri="{FF2B5EF4-FFF2-40B4-BE49-F238E27FC236}">
                    <a16:creationId xmlns:a16="http://schemas.microsoft.com/office/drawing/2014/main" id="{CC2383A5-45CE-2BCC-E787-F08DCC4EE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162" y="4124504"/>
                <a:ext cx="493070" cy="383054"/>
              </a:xfrm>
              <a:prstGeom prst="rect">
                <a:avLst/>
              </a:prstGeom>
              <a:blipFill>
                <a:blip r:embed="rId3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67">
                <a:extLst>
                  <a:ext uri="{FF2B5EF4-FFF2-40B4-BE49-F238E27FC236}">
                    <a16:creationId xmlns:a16="http://schemas.microsoft.com/office/drawing/2014/main" id="{A5C3629E-F1B9-5DFA-7B4C-4DACE317116A}"/>
                  </a:ext>
                </a:extLst>
              </p:cNvPr>
              <p:cNvSpPr txBox="1"/>
              <p:nvPr/>
            </p:nvSpPr>
            <p:spPr>
              <a:xfrm>
                <a:off x="6403530" y="4122229"/>
                <a:ext cx="493070" cy="3785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9" name="Textfeld 67">
                <a:extLst>
                  <a:ext uri="{FF2B5EF4-FFF2-40B4-BE49-F238E27FC236}">
                    <a16:creationId xmlns:a16="http://schemas.microsoft.com/office/drawing/2014/main" id="{A5C3629E-F1B9-5DFA-7B4C-4DACE3171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530" y="4122229"/>
                <a:ext cx="493070" cy="378565"/>
              </a:xfrm>
              <a:prstGeom prst="rect">
                <a:avLst/>
              </a:prstGeom>
              <a:blipFill>
                <a:blip r:embed="rId4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67">
                <a:extLst>
                  <a:ext uri="{FF2B5EF4-FFF2-40B4-BE49-F238E27FC236}">
                    <a16:creationId xmlns:a16="http://schemas.microsoft.com/office/drawing/2014/main" id="{EA56885E-AB5D-D245-8B1F-E4A098F6ED8E}"/>
                  </a:ext>
                </a:extLst>
              </p:cNvPr>
              <p:cNvSpPr txBox="1"/>
              <p:nvPr/>
            </p:nvSpPr>
            <p:spPr>
              <a:xfrm>
                <a:off x="7015963" y="4111522"/>
                <a:ext cx="493070" cy="3758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Textfeld 67">
                <a:extLst>
                  <a:ext uri="{FF2B5EF4-FFF2-40B4-BE49-F238E27FC236}">
                    <a16:creationId xmlns:a16="http://schemas.microsoft.com/office/drawing/2014/main" id="{EA56885E-AB5D-D245-8B1F-E4A098F6E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963" y="4111522"/>
                <a:ext cx="493070" cy="375872"/>
              </a:xfrm>
              <a:prstGeom prst="rect">
                <a:avLst/>
              </a:prstGeom>
              <a:blipFill>
                <a:blip r:embed="rId5"/>
                <a:stretch>
                  <a:fillRect l="-1235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67">
                <a:extLst>
                  <a:ext uri="{FF2B5EF4-FFF2-40B4-BE49-F238E27FC236}">
                    <a16:creationId xmlns:a16="http://schemas.microsoft.com/office/drawing/2014/main" id="{C7191F3E-6316-A293-78EB-2F6C61CB4C5A}"/>
                  </a:ext>
                </a:extLst>
              </p:cNvPr>
              <p:cNvSpPr txBox="1"/>
              <p:nvPr/>
            </p:nvSpPr>
            <p:spPr>
              <a:xfrm>
                <a:off x="4654860" y="4111914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7" name="Textfeld 67">
                <a:extLst>
                  <a:ext uri="{FF2B5EF4-FFF2-40B4-BE49-F238E27FC236}">
                    <a16:creationId xmlns:a16="http://schemas.microsoft.com/office/drawing/2014/main" id="{C7191F3E-6316-A293-78EB-2F6C61CB4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4860" y="4111914"/>
                <a:ext cx="493070" cy="379463"/>
              </a:xfrm>
              <a:prstGeom prst="rect">
                <a:avLst/>
              </a:prstGeom>
              <a:blipFill>
                <a:blip r:embed="rId6"/>
                <a:stretch>
                  <a:fillRect l="-1250"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67">
                <a:extLst>
                  <a:ext uri="{FF2B5EF4-FFF2-40B4-BE49-F238E27FC236}">
                    <a16:creationId xmlns:a16="http://schemas.microsoft.com/office/drawing/2014/main" id="{94753AC3-442D-2AB0-A028-FAF8F0C86798}"/>
                  </a:ext>
                </a:extLst>
              </p:cNvPr>
              <p:cNvSpPr txBox="1"/>
              <p:nvPr/>
            </p:nvSpPr>
            <p:spPr>
              <a:xfrm>
                <a:off x="2544884" y="4116443"/>
                <a:ext cx="788819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5" name="Textfeld 67">
                <a:extLst>
                  <a:ext uri="{FF2B5EF4-FFF2-40B4-BE49-F238E27FC236}">
                    <a16:creationId xmlns:a16="http://schemas.microsoft.com/office/drawing/2014/main" id="{94753AC3-442D-2AB0-A028-FAF8F0C86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884" y="4116443"/>
                <a:ext cx="788819" cy="3508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feld 67">
                <a:extLst>
                  <a:ext uri="{FF2B5EF4-FFF2-40B4-BE49-F238E27FC236}">
                    <a16:creationId xmlns:a16="http://schemas.microsoft.com/office/drawing/2014/main" id="{3FFB81E2-7EAE-135E-1B58-486DAD201FE7}"/>
                  </a:ext>
                </a:extLst>
              </p:cNvPr>
              <p:cNvSpPr txBox="1"/>
              <p:nvPr/>
            </p:nvSpPr>
            <p:spPr>
              <a:xfrm>
                <a:off x="10056404" y="2143573"/>
                <a:ext cx="1216940" cy="3617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1000</m:t>
                      </m:r>
                      <m:r>
                        <m:rPr>
                          <m:sty m:val="p"/>
                        </m:rPr>
                        <a:rPr lang="de-DE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</m:oMath>
                  </m:oMathPara>
                </a14:m>
                <a:endParaRPr lang="de-DE" sz="2000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7" name="Textfeld 67">
                <a:extLst>
                  <a:ext uri="{FF2B5EF4-FFF2-40B4-BE49-F238E27FC236}">
                    <a16:creationId xmlns:a16="http://schemas.microsoft.com/office/drawing/2014/main" id="{3FFB81E2-7EAE-135E-1B58-486DAD201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6404" y="2143573"/>
                <a:ext cx="1216940" cy="3617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305A27E-E80B-1DB8-215E-72B2F46A1A39}"/>
              </a:ext>
            </a:extLst>
          </p:cNvPr>
          <p:cNvCxnSpPr>
            <a:cxnSpLocks/>
          </p:cNvCxnSpPr>
          <p:nvPr/>
        </p:nvCxnSpPr>
        <p:spPr>
          <a:xfrm>
            <a:off x="2533942" y="4025050"/>
            <a:ext cx="63374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B8E96D4-A8CA-3A11-F422-3F1FA8F207D1}"/>
              </a:ext>
            </a:extLst>
          </p:cNvPr>
          <p:cNvCxnSpPr>
            <a:cxnSpLocks/>
          </p:cNvCxnSpPr>
          <p:nvPr/>
        </p:nvCxnSpPr>
        <p:spPr>
          <a:xfrm flipV="1">
            <a:off x="2533942" y="1601890"/>
            <a:ext cx="0" cy="24231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5286166-CFA1-5931-616D-EE2F2EC3B282}"/>
              </a:ext>
            </a:extLst>
          </p:cNvPr>
          <p:cNvCxnSpPr/>
          <p:nvPr/>
        </p:nvCxnSpPr>
        <p:spPr>
          <a:xfrm>
            <a:off x="2391900" y="1967650"/>
            <a:ext cx="29576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67">
                <a:extLst>
                  <a:ext uri="{FF2B5EF4-FFF2-40B4-BE49-F238E27FC236}">
                    <a16:creationId xmlns:a16="http://schemas.microsoft.com/office/drawing/2014/main" id="{35CB25C4-6102-171D-C8A2-940789E8186A}"/>
                  </a:ext>
                </a:extLst>
              </p:cNvPr>
              <p:cNvSpPr txBox="1"/>
              <p:nvPr/>
            </p:nvSpPr>
            <p:spPr>
              <a:xfrm>
                <a:off x="1596983" y="1700824"/>
                <a:ext cx="788825" cy="3508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latin typeface="+mn-lt"/>
                              <a:ea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1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Textfeld 67">
                <a:extLst>
                  <a:ext uri="{FF2B5EF4-FFF2-40B4-BE49-F238E27FC236}">
                    <a16:creationId xmlns:a16="http://schemas.microsoft.com/office/drawing/2014/main" id="{35CB25C4-6102-171D-C8A2-940789E81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983" y="1700824"/>
                <a:ext cx="788825" cy="350865"/>
              </a:xfrm>
              <a:prstGeom prst="rect">
                <a:avLst/>
              </a:prstGeom>
              <a:blipFill>
                <a:blip r:embed="rId9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AE0DBAB-4DFC-4C3C-B727-C1271930F6E3}"/>
              </a:ext>
            </a:extLst>
          </p:cNvPr>
          <p:cNvCxnSpPr>
            <a:cxnSpLocks/>
          </p:cNvCxnSpPr>
          <p:nvPr/>
        </p:nvCxnSpPr>
        <p:spPr>
          <a:xfrm flipV="1">
            <a:off x="2533942" y="1961375"/>
            <a:ext cx="4734906" cy="2063675"/>
          </a:xfrm>
          <a:prstGeom prst="line">
            <a:avLst/>
          </a:prstGeom>
          <a:ln w="38100">
            <a:solidFill>
              <a:srgbClr val="207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AD640D-CFA4-2DEE-48EA-71FD2401EC02}"/>
              </a:ext>
            </a:extLst>
          </p:cNvPr>
          <p:cNvCxnSpPr>
            <a:cxnSpLocks/>
          </p:cNvCxnSpPr>
          <p:nvPr/>
        </p:nvCxnSpPr>
        <p:spPr>
          <a:xfrm>
            <a:off x="7262498" y="1961374"/>
            <a:ext cx="1302045" cy="0"/>
          </a:xfrm>
          <a:prstGeom prst="line">
            <a:avLst/>
          </a:prstGeom>
          <a:ln w="38100">
            <a:solidFill>
              <a:srgbClr val="207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5A00DF7-BEC2-C2AF-B7E8-051A92892031}"/>
              </a:ext>
            </a:extLst>
          </p:cNvPr>
          <p:cNvCxnSpPr>
            <a:cxnSpLocks/>
          </p:cNvCxnSpPr>
          <p:nvPr/>
        </p:nvCxnSpPr>
        <p:spPr>
          <a:xfrm>
            <a:off x="7268848" y="1961374"/>
            <a:ext cx="0" cy="2063676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674D01B4-E574-2703-76A0-AD77F76966C8}"/>
              </a:ext>
            </a:extLst>
          </p:cNvPr>
          <p:cNvCxnSpPr>
            <a:cxnSpLocks/>
          </p:cNvCxnSpPr>
          <p:nvPr/>
        </p:nvCxnSpPr>
        <p:spPr>
          <a:xfrm>
            <a:off x="4901395" y="2992540"/>
            <a:ext cx="0" cy="103251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5ADBEEB-5D4D-0CB2-86E9-F95810511552}"/>
              </a:ext>
            </a:extLst>
          </p:cNvPr>
          <p:cNvCxnSpPr>
            <a:cxnSpLocks/>
          </p:cNvCxnSpPr>
          <p:nvPr/>
        </p:nvCxnSpPr>
        <p:spPr>
          <a:xfrm>
            <a:off x="5879697" y="2563915"/>
            <a:ext cx="0" cy="1461135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26F421F-2A8D-4EA4-880E-8E6533834743}"/>
              </a:ext>
            </a:extLst>
          </p:cNvPr>
          <p:cNvCxnSpPr>
            <a:cxnSpLocks/>
          </p:cNvCxnSpPr>
          <p:nvPr/>
        </p:nvCxnSpPr>
        <p:spPr>
          <a:xfrm>
            <a:off x="6650065" y="2243127"/>
            <a:ext cx="0" cy="1781923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33C5511-9B83-2C16-9B7E-1BD1C49E926A}"/>
              </a:ext>
            </a:extLst>
          </p:cNvPr>
          <p:cNvCxnSpPr>
            <a:cxnSpLocks/>
          </p:cNvCxnSpPr>
          <p:nvPr/>
        </p:nvCxnSpPr>
        <p:spPr>
          <a:xfrm>
            <a:off x="2533942" y="4025050"/>
            <a:ext cx="4734906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reeform 97">
            <a:extLst>
              <a:ext uri="{FF2B5EF4-FFF2-40B4-BE49-F238E27FC236}">
                <a16:creationId xmlns:a16="http://schemas.microsoft.com/office/drawing/2014/main" id="{F5259AED-A674-F235-A5E9-BFB2EF5881C1}"/>
              </a:ext>
            </a:extLst>
          </p:cNvPr>
          <p:cNvSpPr/>
          <p:nvPr/>
        </p:nvSpPr>
        <p:spPr>
          <a:xfrm>
            <a:off x="2557098" y="3001836"/>
            <a:ext cx="2348179" cy="1027786"/>
          </a:xfrm>
          <a:custGeom>
            <a:avLst/>
            <a:gdLst>
              <a:gd name="connsiteX0" fmla="*/ 0 w 2348179"/>
              <a:gd name="connsiteY0" fmla="*/ 1016813 h 1027786"/>
              <a:gd name="connsiteX1" fmla="*/ 2340864 w 2348179"/>
              <a:gd name="connsiteY1" fmla="*/ 0 h 1027786"/>
              <a:gd name="connsiteX2" fmla="*/ 2348179 w 2348179"/>
              <a:gd name="connsiteY2" fmla="*/ 1027786 h 1027786"/>
              <a:gd name="connsiteX3" fmla="*/ 0 w 2348179"/>
              <a:gd name="connsiteY3" fmla="*/ 1016813 h 102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8179" h="1027786">
                <a:moveTo>
                  <a:pt x="0" y="1016813"/>
                </a:moveTo>
                <a:lnTo>
                  <a:pt x="2340864" y="0"/>
                </a:lnTo>
                <a:cubicBezTo>
                  <a:pt x="2343302" y="342595"/>
                  <a:pt x="2345741" y="685191"/>
                  <a:pt x="2348179" y="1027786"/>
                </a:cubicBezTo>
                <a:lnTo>
                  <a:pt x="0" y="1016813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02" name="Freeform 101">
            <a:extLst>
              <a:ext uri="{FF2B5EF4-FFF2-40B4-BE49-F238E27FC236}">
                <a16:creationId xmlns:a16="http://schemas.microsoft.com/office/drawing/2014/main" id="{CC071F27-32D0-9451-13C1-470FE1148CCD}"/>
              </a:ext>
            </a:extLst>
          </p:cNvPr>
          <p:cNvSpPr/>
          <p:nvPr/>
        </p:nvSpPr>
        <p:spPr>
          <a:xfrm>
            <a:off x="4898248" y="2559769"/>
            <a:ext cx="986118" cy="1477383"/>
          </a:xfrm>
          <a:custGeom>
            <a:avLst/>
            <a:gdLst>
              <a:gd name="connsiteX0" fmla="*/ 0 w 986118"/>
              <a:gd name="connsiteY0" fmla="*/ 437477 h 1477383"/>
              <a:gd name="connsiteX1" fmla="*/ 3586 w 986118"/>
              <a:gd name="connsiteY1" fmla="*/ 1466626 h 1477383"/>
              <a:gd name="connsiteX2" fmla="*/ 978946 w 986118"/>
              <a:gd name="connsiteY2" fmla="*/ 1477383 h 1477383"/>
              <a:gd name="connsiteX3" fmla="*/ 986118 w 986118"/>
              <a:gd name="connsiteY3" fmla="*/ 0 h 1477383"/>
              <a:gd name="connsiteX4" fmla="*/ 0 w 986118"/>
              <a:gd name="connsiteY4" fmla="*/ 437477 h 1477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118" h="1477383">
                <a:moveTo>
                  <a:pt x="0" y="437477"/>
                </a:moveTo>
                <a:cubicBezTo>
                  <a:pt x="1195" y="780527"/>
                  <a:pt x="2391" y="1123576"/>
                  <a:pt x="3586" y="1466626"/>
                </a:cubicBezTo>
                <a:lnTo>
                  <a:pt x="978946" y="1477383"/>
                </a:lnTo>
                <a:cubicBezTo>
                  <a:pt x="981337" y="984922"/>
                  <a:pt x="983727" y="492461"/>
                  <a:pt x="986118" y="0"/>
                </a:cubicBezTo>
                <a:lnTo>
                  <a:pt x="0" y="437477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0" name="Freeform 109">
            <a:extLst>
              <a:ext uri="{FF2B5EF4-FFF2-40B4-BE49-F238E27FC236}">
                <a16:creationId xmlns:a16="http://schemas.microsoft.com/office/drawing/2014/main" id="{7EFFE861-4CF1-83CF-9470-252FF1C722E2}"/>
              </a:ext>
            </a:extLst>
          </p:cNvPr>
          <p:cNvSpPr/>
          <p:nvPr/>
        </p:nvSpPr>
        <p:spPr>
          <a:xfrm>
            <a:off x="5873347" y="2224190"/>
            <a:ext cx="781050" cy="1803400"/>
          </a:xfrm>
          <a:custGeom>
            <a:avLst/>
            <a:gdLst>
              <a:gd name="connsiteX0" fmla="*/ 3175 w 781050"/>
              <a:gd name="connsiteY0" fmla="*/ 336550 h 1803400"/>
              <a:gd name="connsiteX1" fmla="*/ 0 w 781050"/>
              <a:gd name="connsiteY1" fmla="*/ 1800225 h 1803400"/>
              <a:gd name="connsiteX2" fmla="*/ 771525 w 781050"/>
              <a:gd name="connsiteY2" fmla="*/ 1803400 h 1803400"/>
              <a:gd name="connsiteX3" fmla="*/ 781050 w 781050"/>
              <a:gd name="connsiteY3" fmla="*/ 0 h 1803400"/>
              <a:gd name="connsiteX4" fmla="*/ 3175 w 781050"/>
              <a:gd name="connsiteY4" fmla="*/ 33655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1803400">
                <a:moveTo>
                  <a:pt x="3175" y="336550"/>
                </a:moveTo>
                <a:cubicBezTo>
                  <a:pt x="2117" y="824442"/>
                  <a:pt x="1058" y="1312333"/>
                  <a:pt x="0" y="1800225"/>
                </a:cubicBezTo>
                <a:lnTo>
                  <a:pt x="771525" y="1803400"/>
                </a:lnTo>
                <a:lnTo>
                  <a:pt x="781050" y="0"/>
                </a:lnTo>
                <a:lnTo>
                  <a:pt x="3175" y="336550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2" name="Freeform 111">
            <a:extLst>
              <a:ext uri="{FF2B5EF4-FFF2-40B4-BE49-F238E27FC236}">
                <a16:creationId xmlns:a16="http://schemas.microsoft.com/office/drawing/2014/main" id="{D7F66105-C2BE-9E18-A88B-8421BD4DC453}"/>
              </a:ext>
            </a:extLst>
          </p:cNvPr>
          <p:cNvSpPr/>
          <p:nvPr/>
        </p:nvSpPr>
        <p:spPr>
          <a:xfrm>
            <a:off x="6647296" y="1954275"/>
            <a:ext cx="622247" cy="2075423"/>
          </a:xfrm>
          <a:custGeom>
            <a:avLst/>
            <a:gdLst>
              <a:gd name="connsiteX0" fmla="*/ 622247 w 622247"/>
              <a:gd name="connsiteY0" fmla="*/ 0 h 2075423"/>
              <a:gd name="connsiteX1" fmla="*/ 622247 w 622247"/>
              <a:gd name="connsiteY1" fmla="*/ 2075423 h 2075423"/>
              <a:gd name="connsiteX2" fmla="*/ 3794 w 622247"/>
              <a:gd name="connsiteY2" fmla="*/ 2071629 h 2075423"/>
              <a:gd name="connsiteX3" fmla="*/ 0 w 622247"/>
              <a:gd name="connsiteY3" fmla="*/ 276976 h 2075423"/>
              <a:gd name="connsiteX4" fmla="*/ 622247 w 622247"/>
              <a:gd name="connsiteY4" fmla="*/ 0 h 207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247" h="2075423">
                <a:moveTo>
                  <a:pt x="622247" y="0"/>
                </a:moveTo>
                <a:lnTo>
                  <a:pt x="622247" y="2075423"/>
                </a:lnTo>
                <a:lnTo>
                  <a:pt x="3794" y="2071629"/>
                </a:lnTo>
                <a:cubicBezTo>
                  <a:pt x="2529" y="1473411"/>
                  <a:pt x="1265" y="875194"/>
                  <a:pt x="0" y="276976"/>
                </a:cubicBezTo>
                <a:lnTo>
                  <a:pt x="622247" y="0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4" name="Freeform 113">
            <a:extLst>
              <a:ext uri="{FF2B5EF4-FFF2-40B4-BE49-F238E27FC236}">
                <a16:creationId xmlns:a16="http://schemas.microsoft.com/office/drawing/2014/main" id="{DDED2311-3FF3-F94B-D9F7-2B36FD1EAA2A}"/>
              </a:ext>
            </a:extLst>
          </p:cNvPr>
          <p:cNvSpPr/>
          <p:nvPr/>
        </p:nvSpPr>
        <p:spPr>
          <a:xfrm>
            <a:off x="9113520" y="2047448"/>
            <a:ext cx="775242" cy="554016"/>
          </a:xfrm>
          <a:custGeom>
            <a:avLst/>
            <a:gdLst>
              <a:gd name="connsiteX0" fmla="*/ 0 w 2348179"/>
              <a:gd name="connsiteY0" fmla="*/ 1016813 h 1027786"/>
              <a:gd name="connsiteX1" fmla="*/ 2340864 w 2348179"/>
              <a:gd name="connsiteY1" fmla="*/ 0 h 1027786"/>
              <a:gd name="connsiteX2" fmla="*/ 2348179 w 2348179"/>
              <a:gd name="connsiteY2" fmla="*/ 1027786 h 1027786"/>
              <a:gd name="connsiteX3" fmla="*/ 0 w 2348179"/>
              <a:gd name="connsiteY3" fmla="*/ 1016813 h 1027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8179" h="1027786">
                <a:moveTo>
                  <a:pt x="0" y="1016813"/>
                </a:moveTo>
                <a:lnTo>
                  <a:pt x="2340864" y="0"/>
                </a:lnTo>
                <a:cubicBezTo>
                  <a:pt x="2343302" y="342595"/>
                  <a:pt x="2345741" y="685191"/>
                  <a:pt x="2348179" y="1027786"/>
                </a:cubicBezTo>
                <a:lnTo>
                  <a:pt x="0" y="1016813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72C1D028-56CE-2C27-FD4A-591332AAD754}"/>
              </a:ext>
            </a:extLst>
          </p:cNvPr>
          <p:cNvSpPr/>
          <p:nvPr/>
        </p:nvSpPr>
        <p:spPr>
          <a:xfrm>
            <a:off x="9322425" y="1843970"/>
            <a:ext cx="494727" cy="741190"/>
          </a:xfrm>
          <a:custGeom>
            <a:avLst/>
            <a:gdLst>
              <a:gd name="connsiteX0" fmla="*/ 0 w 986118"/>
              <a:gd name="connsiteY0" fmla="*/ 437477 h 1477383"/>
              <a:gd name="connsiteX1" fmla="*/ 3586 w 986118"/>
              <a:gd name="connsiteY1" fmla="*/ 1466626 h 1477383"/>
              <a:gd name="connsiteX2" fmla="*/ 978946 w 986118"/>
              <a:gd name="connsiteY2" fmla="*/ 1477383 h 1477383"/>
              <a:gd name="connsiteX3" fmla="*/ 986118 w 986118"/>
              <a:gd name="connsiteY3" fmla="*/ 0 h 1477383"/>
              <a:gd name="connsiteX4" fmla="*/ 0 w 986118"/>
              <a:gd name="connsiteY4" fmla="*/ 437477 h 1477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6118" h="1477383">
                <a:moveTo>
                  <a:pt x="0" y="437477"/>
                </a:moveTo>
                <a:cubicBezTo>
                  <a:pt x="1195" y="780527"/>
                  <a:pt x="2391" y="1123576"/>
                  <a:pt x="3586" y="1466626"/>
                </a:cubicBezTo>
                <a:lnTo>
                  <a:pt x="978946" y="1477383"/>
                </a:lnTo>
                <a:cubicBezTo>
                  <a:pt x="981337" y="984922"/>
                  <a:pt x="983727" y="492461"/>
                  <a:pt x="986118" y="0"/>
                </a:cubicBezTo>
                <a:lnTo>
                  <a:pt x="0" y="437477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19" name="Freeform 118">
            <a:extLst>
              <a:ext uri="{FF2B5EF4-FFF2-40B4-BE49-F238E27FC236}">
                <a16:creationId xmlns:a16="http://schemas.microsoft.com/office/drawing/2014/main" id="{D10FE679-0081-3492-EED5-658C8525B0D7}"/>
              </a:ext>
            </a:extLst>
          </p:cNvPr>
          <p:cNvSpPr/>
          <p:nvPr/>
        </p:nvSpPr>
        <p:spPr>
          <a:xfrm>
            <a:off x="9441401" y="1669591"/>
            <a:ext cx="383503" cy="885486"/>
          </a:xfrm>
          <a:custGeom>
            <a:avLst/>
            <a:gdLst>
              <a:gd name="connsiteX0" fmla="*/ 3175 w 781050"/>
              <a:gd name="connsiteY0" fmla="*/ 336550 h 1803400"/>
              <a:gd name="connsiteX1" fmla="*/ 0 w 781050"/>
              <a:gd name="connsiteY1" fmla="*/ 1800225 h 1803400"/>
              <a:gd name="connsiteX2" fmla="*/ 771525 w 781050"/>
              <a:gd name="connsiteY2" fmla="*/ 1803400 h 1803400"/>
              <a:gd name="connsiteX3" fmla="*/ 781050 w 781050"/>
              <a:gd name="connsiteY3" fmla="*/ 0 h 1803400"/>
              <a:gd name="connsiteX4" fmla="*/ 3175 w 781050"/>
              <a:gd name="connsiteY4" fmla="*/ 336550 h 180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" h="1803400">
                <a:moveTo>
                  <a:pt x="3175" y="336550"/>
                </a:moveTo>
                <a:cubicBezTo>
                  <a:pt x="2117" y="824442"/>
                  <a:pt x="1058" y="1312333"/>
                  <a:pt x="0" y="1800225"/>
                </a:cubicBezTo>
                <a:lnTo>
                  <a:pt x="771525" y="1803400"/>
                </a:lnTo>
                <a:lnTo>
                  <a:pt x="781050" y="0"/>
                </a:lnTo>
                <a:lnTo>
                  <a:pt x="3175" y="336550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p:sp>
        <p:nvSpPr>
          <p:cNvPr id="120" name="Freeform 119">
            <a:extLst>
              <a:ext uri="{FF2B5EF4-FFF2-40B4-BE49-F238E27FC236}">
                <a16:creationId xmlns:a16="http://schemas.microsoft.com/office/drawing/2014/main" id="{DF34D26E-13D2-BDC5-1DFC-376024D6100F}"/>
              </a:ext>
            </a:extLst>
          </p:cNvPr>
          <p:cNvSpPr/>
          <p:nvPr/>
        </p:nvSpPr>
        <p:spPr>
          <a:xfrm>
            <a:off x="9566103" y="1635191"/>
            <a:ext cx="282978" cy="943837"/>
          </a:xfrm>
          <a:custGeom>
            <a:avLst/>
            <a:gdLst>
              <a:gd name="connsiteX0" fmla="*/ 622247 w 622247"/>
              <a:gd name="connsiteY0" fmla="*/ 0 h 2075423"/>
              <a:gd name="connsiteX1" fmla="*/ 622247 w 622247"/>
              <a:gd name="connsiteY1" fmla="*/ 2075423 h 2075423"/>
              <a:gd name="connsiteX2" fmla="*/ 3794 w 622247"/>
              <a:gd name="connsiteY2" fmla="*/ 2071629 h 2075423"/>
              <a:gd name="connsiteX3" fmla="*/ 0 w 622247"/>
              <a:gd name="connsiteY3" fmla="*/ 276976 h 2075423"/>
              <a:gd name="connsiteX4" fmla="*/ 622247 w 622247"/>
              <a:gd name="connsiteY4" fmla="*/ 0 h 207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2247" h="2075423">
                <a:moveTo>
                  <a:pt x="622247" y="0"/>
                </a:moveTo>
                <a:lnTo>
                  <a:pt x="622247" y="2075423"/>
                </a:lnTo>
                <a:lnTo>
                  <a:pt x="3794" y="2071629"/>
                </a:lnTo>
                <a:cubicBezTo>
                  <a:pt x="2529" y="1473411"/>
                  <a:pt x="1265" y="875194"/>
                  <a:pt x="0" y="276976"/>
                </a:cubicBezTo>
                <a:lnTo>
                  <a:pt x="622247" y="0"/>
                </a:lnTo>
                <a:close/>
              </a:path>
            </a:pathLst>
          </a:custGeom>
          <a:solidFill>
            <a:srgbClr val="207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feld 67">
                <a:extLst>
                  <a:ext uri="{FF2B5EF4-FFF2-40B4-BE49-F238E27FC236}">
                    <a16:creationId xmlns:a16="http://schemas.microsoft.com/office/drawing/2014/main" id="{F438969F-E056-47BA-FA40-9059137A8F60}"/>
                  </a:ext>
                </a:extLst>
              </p:cNvPr>
              <p:cNvSpPr txBox="1"/>
              <p:nvPr/>
            </p:nvSpPr>
            <p:spPr>
              <a:xfrm>
                <a:off x="1991395" y="1297017"/>
                <a:ext cx="1279413" cy="3215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 i="1">
                    <a:latin typeface="+mn-lt"/>
                    <a:ea typeface="Cambria Math" panose="02040503050406030204" pitchFamily="18" charset="0"/>
                    <a:cs typeface="Arial"/>
                  </a:rPr>
                  <a:t>Speed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2000" i="1">
                        <a:latin typeface="+mn-lt"/>
                        <a:ea typeface="Cambria Math" panose="02040503050406030204" pitchFamily="18" charset="0"/>
                        <a:cs typeface="Arial"/>
                      </a:rPr>
                      <m:t>v</m:t>
                    </m:r>
                  </m:oMath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2" name="Textfeld 67">
                <a:extLst>
                  <a:ext uri="{FF2B5EF4-FFF2-40B4-BE49-F238E27FC236}">
                    <a16:creationId xmlns:a16="http://schemas.microsoft.com/office/drawing/2014/main" id="{F438969F-E056-47BA-FA40-9059137A8F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395" y="1297017"/>
                <a:ext cx="1279413" cy="321563"/>
              </a:xfrm>
              <a:prstGeom prst="rect">
                <a:avLst/>
              </a:prstGeom>
              <a:blipFill>
                <a:blip r:embed="rId10"/>
                <a:stretch>
                  <a:fillRect l="-12381" t="-18868" b="-47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Textfeld 67">
            <a:extLst>
              <a:ext uri="{FF2B5EF4-FFF2-40B4-BE49-F238E27FC236}">
                <a16:creationId xmlns:a16="http://schemas.microsoft.com/office/drawing/2014/main" id="{2DEAFE9D-38B2-FD58-4219-C7DB97C9E3BD}"/>
              </a:ext>
            </a:extLst>
          </p:cNvPr>
          <p:cNvSpPr txBox="1"/>
          <p:nvPr/>
        </p:nvSpPr>
        <p:spPr>
          <a:xfrm>
            <a:off x="9077695" y="3872196"/>
            <a:ext cx="1279413" cy="321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2000" i="1">
                <a:latin typeface="+mn-lt"/>
                <a:ea typeface="Cambria Math" panose="02040503050406030204" pitchFamily="18" charset="0"/>
                <a:cs typeface="Arial"/>
              </a:rPr>
              <a:t>Time t</a:t>
            </a:r>
            <a:endParaRPr lang="de-DE" sz="2000" i="1">
              <a:latin typeface="+mn-lt"/>
              <a:ea typeface="Cambria Math" panose="02040503050406030204" pitchFamily="18" charset="0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C99BCF-578D-766F-698B-CC1A5C467212}"/>
              </a:ext>
            </a:extLst>
          </p:cNvPr>
          <p:cNvGrpSpPr/>
          <p:nvPr/>
        </p:nvGrpSpPr>
        <p:grpSpPr>
          <a:xfrm>
            <a:off x="10012510" y="313742"/>
            <a:ext cx="1754031" cy="917878"/>
            <a:chOff x="7428509" y="2549750"/>
            <a:chExt cx="2754036" cy="1441170"/>
          </a:xfrm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747A5F6-23F4-31EB-C5DB-331F6A3F9146}"/>
                </a:ext>
              </a:extLst>
            </p:cNvPr>
            <p:cNvGrpSpPr/>
            <p:nvPr/>
          </p:nvGrpSpPr>
          <p:grpSpPr>
            <a:xfrm>
              <a:off x="7428509" y="2549750"/>
              <a:ext cx="2278351" cy="1344546"/>
              <a:chOff x="1278249" y="3243351"/>
              <a:chExt cx="1666077" cy="983219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EC7C958B-C897-43B2-C623-F7508DDBE666}"/>
                  </a:ext>
                </a:extLst>
              </p:cNvPr>
              <p:cNvGrpSpPr/>
              <p:nvPr/>
            </p:nvGrpSpPr>
            <p:grpSpPr>
              <a:xfrm>
                <a:off x="1278249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137" name="Graphic 136" descr="Toy Train with solid fill">
                  <a:extLst>
                    <a:ext uri="{FF2B5EF4-FFF2-40B4-BE49-F238E27FC236}">
                      <a16:creationId xmlns:a16="http://schemas.microsoft.com/office/drawing/2014/main" id="{9BE372D6-1137-FAC5-B302-7BEA5B55B4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462E33FB-DCE6-D958-4B14-5C77DBF2B893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5D3FD261-D1B7-A8C4-3733-A2F5556ADA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D5B908BB-85AD-C622-21B6-17E03DAF48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52D8FC97-D76F-A2AC-5F92-EC7C7AF665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C138FEA-9F9E-27FF-D2E7-703F37EF8937}"/>
                </a:ext>
              </a:extLst>
            </p:cNvPr>
            <p:cNvGrpSpPr/>
            <p:nvPr/>
          </p:nvGrpSpPr>
          <p:grpSpPr>
            <a:xfrm>
              <a:off x="8629917" y="3118768"/>
              <a:ext cx="1552628" cy="872152"/>
              <a:chOff x="1871465" y="2469616"/>
              <a:chExt cx="2892064" cy="1624536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6B7C90FC-E604-1F08-58C0-671744105E79}"/>
                  </a:ext>
                </a:extLst>
              </p:cNvPr>
              <p:cNvGrpSpPr/>
              <p:nvPr/>
            </p:nvGrpSpPr>
            <p:grpSpPr>
              <a:xfrm>
                <a:off x="1871465" y="2469616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B8962512-E9BA-A561-91CC-649A55AB0B34}"/>
                    </a:ext>
                  </a:extLst>
                </p:cNvPr>
                <p:cNvGrpSpPr/>
                <p:nvPr/>
              </p:nvGrpSpPr>
              <p:grpSpPr>
                <a:xfrm>
                  <a:off x="2432080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123" name="Oval 122">
                    <a:extLst>
                      <a:ext uri="{FF2B5EF4-FFF2-40B4-BE49-F238E27FC236}">
                        <a16:creationId xmlns:a16="http://schemas.microsoft.com/office/drawing/2014/main" id="{E6A8FC22-B018-86DA-9D85-55367A04C8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70448DC0-A32F-1B50-47A4-9021F752EE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AB3CDA2C-04C8-5C3A-CC0C-BB8EE9A97B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C6DC97D9-5274-5BA0-F933-C7A9F2F9062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D698A3EB-05F0-1E5C-9551-46FF1EC4A60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3479410D-4789-8B71-5963-7DE2480E8A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9A80F114-BFF7-30F3-AF31-52BD5AE60A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4D21EBCF-9792-CBA1-2070-A548877650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F03A10C6-F21D-3D03-77E6-F44C2327191F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116" name="Straight Connector 115">
                    <a:extLst>
                      <a:ext uri="{FF2B5EF4-FFF2-40B4-BE49-F238E27FC236}">
                        <a16:creationId xmlns:a16="http://schemas.microsoft.com/office/drawing/2014/main" id="{6BA8C70E-A130-0260-3799-51908B8008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8" name="Straight Connector 117">
                    <a:extLst>
                      <a:ext uri="{FF2B5EF4-FFF2-40B4-BE49-F238E27FC236}">
                        <a16:creationId xmlns:a16="http://schemas.microsoft.com/office/drawing/2014/main" id="{7EC0F1A1-46BB-7A92-17D4-26571C63881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3B81A346-606E-88BA-DC39-95593DFA48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6B362E43-9E3B-D2FF-08DA-93F06704D5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D9F747E-8891-C0D8-344D-2FE2412A3F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D152226B-19E0-4DC0-EDB4-B926677378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31C28FAD-4CE5-1E69-E718-123CDFCBBA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0E3B3DC0-104F-4D84-B2DC-4FA5573324A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feld 67">
                <a:extLst>
                  <a:ext uri="{FF2B5EF4-FFF2-40B4-BE49-F238E27FC236}">
                    <a16:creationId xmlns:a16="http://schemas.microsoft.com/office/drawing/2014/main" id="{339E1663-BBD7-A2A6-6BCF-7A05EF35BB1B}"/>
                  </a:ext>
                </a:extLst>
              </p:cNvPr>
              <p:cNvSpPr txBox="1"/>
              <p:nvPr/>
            </p:nvSpPr>
            <p:spPr>
              <a:xfrm>
                <a:off x="2238668" y="4119149"/>
                <a:ext cx="493070" cy="379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de-DE" sz="2000" i="1">
                  <a:latin typeface="+mn-lt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1" name="Textfeld 67">
                <a:extLst>
                  <a:ext uri="{FF2B5EF4-FFF2-40B4-BE49-F238E27FC236}">
                    <a16:creationId xmlns:a16="http://schemas.microsoft.com/office/drawing/2014/main" id="{339E1663-BBD7-A2A6-6BCF-7A05EF35B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668" y="4119149"/>
                <a:ext cx="493070" cy="379463"/>
              </a:xfrm>
              <a:prstGeom prst="rect">
                <a:avLst/>
              </a:prstGeom>
              <a:blipFill>
                <a:blip r:embed="rId13"/>
                <a:stretch>
                  <a:fillRect b="-2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5" name="Oval 144">
            <a:extLst>
              <a:ext uri="{FF2B5EF4-FFF2-40B4-BE49-F238E27FC236}">
                <a16:creationId xmlns:a16="http://schemas.microsoft.com/office/drawing/2014/main" id="{237D6586-E17D-39F3-E635-8BE60F5E4C62}"/>
              </a:ext>
            </a:extLst>
          </p:cNvPr>
          <p:cNvSpPr>
            <a:spLocks noChangeAspect="1"/>
          </p:cNvSpPr>
          <p:nvPr/>
        </p:nvSpPr>
        <p:spPr>
          <a:xfrm>
            <a:off x="7290920" y="5300243"/>
            <a:ext cx="218113" cy="218113"/>
          </a:xfrm>
          <a:prstGeom prst="ellipse">
            <a:avLst/>
          </a:prstGeom>
          <a:solidFill>
            <a:srgbClr val="F9171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C00000"/>
              </a:solidFill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094CCF79-B36C-7D64-120C-9319F8737216}"/>
              </a:ext>
            </a:extLst>
          </p:cNvPr>
          <p:cNvSpPr>
            <a:spLocks noChangeAspect="1"/>
          </p:cNvSpPr>
          <p:nvPr/>
        </p:nvSpPr>
        <p:spPr>
          <a:xfrm>
            <a:off x="7290920" y="5773148"/>
            <a:ext cx="218113" cy="218113"/>
          </a:xfrm>
          <a:prstGeom prst="ellipse">
            <a:avLst/>
          </a:prstGeom>
          <a:solidFill>
            <a:srgbClr val="F9171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rgbClr val="C00000"/>
              </a:solidFill>
            </a:endParaRP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B87879D-061F-9ECC-FF89-1E8A3967863F}"/>
              </a:ext>
            </a:extLst>
          </p:cNvPr>
          <p:cNvGrpSpPr/>
          <p:nvPr/>
        </p:nvGrpSpPr>
        <p:grpSpPr>
          <a:xfrm>
            <a:off x="2485203" y="4574261"/>
            <a:ext cx="2411418" cy="321498"/>
            <a:chOff x="2485203" y="4722851"/>
            <a:chExt cx="2411418" cy="321498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10DAD6CF-FAD6-3CC8-A30D-811690BE7A8A}"/>
                </a:ext>
              </a:extLst>
            </p:cNvPr>
            <p:cNvGrpSpPr/>
            <p:nvPr/>
          </p:nvGrpSpPr>
          <p:grpSpPr>
            <a:xfrm>
              <a:off x="2485203" y="4758452"/>
              <a:ext cx="2411418" cy="254792"/>
              <a:chOff x="2485203" y="4742173"/>
              <a:chExt cx="2411418" cy="254792"/>
            </a:xfrm>
          </p:grpSpPr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2D208690-0FE4-68F8-C569-72CCB817A22E}"/>
                  </a:ext>
                </a:extLst>
              </p:cNvPr>
              <p:cNvCxnSpPr/>
              <p:nvPr/>
            </p:nvCxnSpPr>
            <p:spPr>
              <a:xfrm>
                <a:off x="2485203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339895F4-A224-609B-99B9-9E6EC0637200}"/>
                  </a:ext>
                </a:extLst>
              </p:cNvPr>
              <p:cNvCxnSpPr/>
              <p:nvPr/>
            </p:nvCxnSpPr>
            <p:spPr>
              <a:xfrm>
                <a:off x="4896621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58CD96E2-6777-C3D3-D1D5-CBC30FF10F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85203" y="4867337"/>
                <a:ext cx="2411418" cy="22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79AEE4A7-F7F6-384E-0EE6-67A50D71D86A}"/>
                </a:ext>
              </a:extLst>
            </p:cNvPr>
            <p:cNvSpPr txBox="1"/>
            <p:nvPr/>
          </p:nvSpPr>
          <p:spPr>
            <a:xfrm>
              <a:off x="3333703" y="4722851"/>
              <a:ext cx="711161" cy="3214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DE" sz="2000">
                  <a:latin typeface="+mn-lt"/>
                </a:rPr>
                <a:t>100s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61274CB9-CBF9-102A-6879-FA7691519C0A}"/>
              </a:ext>
            </a:extLst>
          </p:cNvPr>
          <p:cNvGrpSpPr/>
          <p:nvPr/>
        </p:nvGrpSpPr>
        <p:grpSpPr>
          <a:xfrm>
            <a:off x="4905277" y="4575930"/>
            <a:ext cx="986113" cy="321498"/>
            <a:chOff x="2485203" y="4731545"/>
            <a:chExt cx="2411418" cy="321498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FBFDDBDC-A20C-36D5-04EC-A4E986688D48}"/>
                </a:ext>
              </a:extLst>
            </p:cNvPr>
            <p:cNvGrpSpPr/>
            <p:nvPr/>
          </p:nvGrpSpPr>
          <p:grpSpPr>
            <a:xfrm>
              <a:off x="2485203" y="4758452"/>
              <a:ext cx="2411418" cy="254792"/>
              <a:chOff x="2485203" y="4742173"/>
              <a:chExt cx="2411418" cy="254792"/>
            </a:xfrm>
          </p:grpSpPr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77CAD06-246F-7A4E-845F-109270212EF2}"/>
                  </a:ext>
                </a:extLst>
              </p:cNvPr>
              <p:cNvCxnSpPr/>
              <p:nvPr/>
            </p:nvCxnSpPr>
            <p:spPr>
              <a:xfrm>
                <a:off x="2485203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6B4672F4-3818-54F5-DDA7-0E8DC61CDD1A}"/>
                  </a:ext>
                </a:extLst>
              </p:cNvPr>
              <p:cNvCxnSpPr/>
              <p:nvPr/>
            </p:nvCxnSpPr>
            <p:spPr>
              <a:xfrm>
                <a:off x="4896621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EB1C80BC-E2BF-B70D-4A8E-344CBC26509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85203" y="4867337"/>
                <a:ext cx="2411418" cy="22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B0A8BDE-62E1-05C6-E323-8396A3C9C942}"/>
                </a:ext>
              </a:extLst>
            </p:cNvPr>
            <p:cNvSpPr txBox="1"/>
            <p:nvPr/>
          </p:nvSpPr>
          <p:spPr>
            <a:xfrm>
              <a:off x="3088040" y="4731545"/>
              <a:ext cx="1205740" cy="3214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DE" sz="2000">
                  <a:latin typeface="+mn-lt"/>
                </a:rPr>
                <a:t>55s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113B00D-D991-D6C2-38F1-F3704DC8FDA0}"/>
              </a:ext>
            </a:extLst>
          </p:cNvPr>
          <p:cNvGrpSpPr/>
          <p:nvPr/>
        </p:nvGrpSpPr>
        <p:grpSpPr>
          <a:xfrm>
            <a:off x="5889385" y="4576426"/>
            <a:ext cx="781050" cy="321498"/>
            <a:chOff x="2485203" y="4729510"/>
            <a:chExt cx="2411418" cy="321498"/>
          </a:xfrm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4579EDC2-DC78-2B86-8638-F4CC1ED9A732}"/>
                </a:ext>
              </a:extLst>
            </p:cNvPr>
            <p:cNvGrpSpPr/>
            <p:nvPr/>
          </p:nvGrpSpPr>
          <p:grpSpPr>
            <a:xfrm>
              <a:off x="2485203" y="4758452"/>
              <a:ext cx="2411418" cy="254792"/>
              <a:chOff x="2485203" y="4742173"/>
              <a:chExt cx="2411418" cy="254792"/>
            </a:xfrm>
          </p:grpSpPr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D350804F-6EA9-AE6E-D257-93EAE8CD3856}"/>
                  </a:ext>
                </a:extLst>
              </p:cNvPr>
              <p:cNvCxnSpPr/>
              <p:nvPr/>
            </p:nvCxnSpPr>
            <p:spPr>
              <a:xfrm>
                <a:off x="2485203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F36D7DE8-9A79-EF76-C8EA-B282695BBF15}"/>
                  </a:ext>
                </a:extLst>
              </p:cNvPr>
              <p:cNvCxnSpPr/>
              <p:nvPr/>
            </p:nvCxnSpPr>
            <p:spPr>
              <a:xfrm>
                <a:off x="4896621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C0906AFD-29C8-ACFD-4EB7-02033B9A14A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85203" y="4867337"/>
                <a:ext cx="2411418" cy="22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729AA321-4F4E-2A29-E293-905B4A25FC49}"/>
                </a:ext>
              </a:extLst>
            </p:cNvPr>
            <p:cNvSpPr txBox="1"/>
            <p:nvPr/>
          </p:nvSpPr>
          <p:spPr>
            <a:xfrm>
              <a:off x="2892040" y="4729510"/>
              <a:ext cx="1500643" cy="3214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DE" sz="2000">
                  <a:latin typeface="+mn-lt"/>
                </a:rPr>
                <a:t>45s</a:t>
              </a:r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69AC3011-2FCF-EE97-C534-9144CE453116}"/>
              </a:ext>
            </a:extLst>
          </p:cNvPr>
          <p:cNvGrpSpPr/>
          <p:nvPr/>
        </p:nvGrpSpPr>
        <p:grpSpPr>
          <a:xfrm>
            <a:off x="6670433" y="4571479"/>
            <a:ext cx="624946" cy="321498"/>
            <a:chOff x="2485203" y="4720085"/>
            <a:chExt cx="2411418" cy="321498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D3674B36-D88B-BF6B-038D-5B2DB543F806}"/>
                </a:ext>
              </a:extLst>
            </p:cNvPr>
            <p:cNvGrpSpPr/>
            <p:nvPr/>
          </p:nvGrpSpPr>
          <p:grpSpPr>
            <a:xfrm>
              <a:off x="2485203" y="4758452"/>
              <a:ext cx="2411418" cy="254792"/>
              <a:chOff x="2485203" y="4742173"/>
              <a:chExt cx="2411418" cy="254792"/>
            </a:xfrm>
          </p:grpSpPr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697648A0-3A4D-ACE0-98DE-D0670D351878}"/>
                  </a:ext>
                </a:extLst>
              </p:cNvPr>
              <p:cNvCxnSpPr/>
              <p:nvPr/>
            </p:nvCxnSpPr>
            <p:spPr>
              <a:xfrm>
                <a:off x="2485203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E9BAD97B-BF75-07E6-42C6-98C7700CA7F5}"/>
                  </a:ext>
                </a:extLst>
              </p:cNvPr>
              <p:cNvCxnSpPr/>
              <p:nvPr/>
            </p:nvCxnSpPr>
            <p:spPr>
              <a:xfrm>
                <a:off x="4896621" y="4742173"/>
                <a:ext cx="0" cy="25479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728FF6F9-5C2A-809E-4F42-3AA19A0313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85203" y="4867337"/>
                <a:ext cx="2411418" cy="2232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1AD51B44-4E7D-B1DF-4B9B-BC2745C1C113}"/>
                </a:ext>
              </a:extLst>
            </p:cNvPr>
            <p:cNvSpPr txBox="1"/>
            <p:nvPr/>
          </p:nvSpPr>
          <p:spPr>
            <a:xfrm>
              <a:off x="2753167" y="4720085"/>
              <a:ext cx="1875485" cy="3214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DE" sz="2000">
                  <a:latin typeface="+mn-lt"/>
                </a:rPr>
                <a:t>37s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5443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uiExpand="1" build="p"/>
      <p:bldP spid="117" grpId="0"/>
      <p:bldP spid="98" grpId="0" animBg="1"/>
      <p:bldP spid="98" grpId="1" animBg="1"/>
      <p:bldP spid="102" grpId="0" animBg="1"/>
      <p:bldP spid="102" grpId="1" animBg="1"/>
      <p:bldP spid="110" grpId="0" animBg="1"/>
      <p:bldP spid="110" grpId="1" animBg="1"/>
      <p:bldP spid="112" grpId="0" animBg="1"/>
      <p:bldP spid="114" grpId="0" animBg="1"/>
      <p:bldP spid="114" grpId="1" animBg="1"/>
      <p:bldP spid="115" grpId="0" animBg="1"/>
      <p:bldP spid="115" grpId="1" animBg="1"/>
      <p:bldP spid="119" grpId="0" animBg="1"/>
      <p:bldP spid="119" grpId="1" animBg="1"/>
      <p:bldP spid="120" grpId="0" animBg="1"/>
      <p:bldP spid="145" grpId="0" animBg="1"/>
      <p:bldP spid="1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ECE58FA1-0F72-9117-4BDB-A7DED3254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00024" y="1523931"/>
            <a:ext cx="6211889" cy="4150297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39F593-7DE2-A9DF-E6F0-5400A292B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35</a:t>
            </a:fld>
            <a:endParaRPr lang="de-DE"/>
          </a:p>
        </p:txBody>
      </p:sp>
      <p:sp>
        <p:nvSpPr>
          <p:cNvPr id="50" name="Footer Placeholder 4">
            <a:extLst>
              <a:ext uri="{FF2B5EF4-FFF2-40B4-BE49-F238E27FC236}">
                <a16:creationId xmlns:a16="http://schemas.microsoft.com/office/drawing/2014/main" id="{BD20BB4E-E666-43D4-1A85-F287F4085D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52" name="Title 51">
            <a:extLst>
              <a:ext uri="{FF2B5EF4-FFF2-40B4-BE49-F238E27FC236}">
                <a16:creationId xmlns:a16="http://schemas.microsoft.com/office/drawing/2014/main" id="{9351E403-27A2-2CFC-5040-CC328133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Time </a:t>
            </a:r>
            <a:r>
              <a:rPr lang="de-DE" err="1"/>
              <a:t>difference</a:t>
            </a:r>
            <a:r>
              <a:rPr lang="de-DE"/>
              <a:t> </a:t>
            </a:r>
            <a:r>
              <a:rPr lang="de-DE" err="1"/>
              <a:t>bounds</a:t>
            </a:r>
            <a:endParaRPr lang="de-DE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2529749-4D1E-FE90-A82C-2D0B732FD399}"/>
              </a:ext>
            </a:extLst>
          </p:cNvPr>
          <p:cNvGrpSpPr/>
          <p:nvPr/>
        </p:nvGrpSpPr>
        <p:grpSpPr>
          <a:xfrm>
            <a:off x="4405587" y="2155461"/>
            <a:ext cx="6539998" cy="1791992"/>
            <a:chOff x="3861296" y="2155461"/>
            <a:chExt cx="6539998" cy="1791992"/>
          </a:xfrm>
        </p:grpSpPr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96377D49-FE99-CB27-4492-83A4E02DB860}"/>
                </a:ext>
              </a:extLst>
            </p:cNvPr>
            <p:cNvCxnSpPr>
              <a:cxnSpLocks/>
              <a:endCxn id="85" idx="6"/>
            </p:cNvCxnSpPr>
            <p:nvPr/>
          </p:nvCxnSpPr>
          <p:spPr>
            <a:xfrm flipH="1">
              <a:off x="4126832" y="2386695"/>
              <a:ext cx="4303461" cy="1385356"/>
            </a:xfrm>
            <a:prstGeom prst="straightConnector1">
              <a:avLst/>
            </a:prstGeom>
            <a:ln w="57150">
              <a:solidFill>
                <a:srgbClr val="0423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96D5721-3657-F229-8C8F-94B4B3D7231C}"/>
                </a:ext>
              </a:extLst>
            </p:cNvPr>
            <p:cNvSpPr/>
            <p:nvPr/>
          </p:nvSpPr>
          <p:spPr>
            <a:xfrm rot="20580333">
              <a:off x="3861296" y="3675990"/>
              <a:ext cx="271463" cy="271463"/>
            </a:xfrm>
            <a:prstGeom prst="ellipse">
              <a:avLst/>
            </a:prstGeom>
            <a:noFill/>
            <a:ln>
              <a:solidFill>
                <a:srgbClr val="042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71A63311-22A7-D1D0-3929-FFC33DA5F00D}"/>
                </a:ext>
              </a:extLst>
            </p:cNvPr>
            <p:cNvSpPr txBox="1"/>
            <p:nvPr/>
          </p:nvSpPr>
          <p:spPr>
            <a:xfrm>
              <a:off x="8516900" y="2155461"/>
              <a:ext cx="1884394" cy="3214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sz="2000">
                  <a:latin typeface="+mn-lt"/>
                  <a:cs typeface="Arial"/>
                </a:rPr>
                <a:t>(40 s, 50 s)</a:t>
              </a:r>
              <a:endParaRPr lang="en-US" sz="2000">
                <a:latin typeface="+mn-lt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A6AF554-03D1-A726-3586-B1BA416265B2}"/>
              </a:ext>
            </a:extLst>
          </p:cNvPr>
          <p:cNvGrpSpPr/>
          <p:nvPr/>
        </p:nvGrpSpPr>
        <p:grpSpPr>
          <a:xfrm>
            <a:off x="5069972" y="5674228"/>
            <a:ext cx="2052056" cy="919216"/>
            <a:chOff x="5069972" y="5674228"/>
            <a:chExt cx="2052056" cy="919216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A8C97830-9768-5BB2-E1E5-17F35C1783E1}"/>
                </a:ext>
              </a:extLst>
            </p:cNvPr>
            <p:cNvGrpSpPr/>
            <p:nvPr/>
          </p:nvGrpSpPr>
          <p:grpSpPr>
            <a:xfrm>
              <a:off x="5069972" y="5674228"/>
              <a:ext cx="2052056" cy="919216"/>
              <a:chOff x="4588751" y="5763487"/>
              <a:chExt cx="2052056" cy="9192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feld 67">
                    <a:extLst>
                      <a:ext uri="{FF2B5EF4-FFF2-40B4-BE49-F238E27FC236}">
                        <a16:creationId xmlns:a16="http://schemas.microsoft.com/office/drawing/2014/main" id="{C083515F-AAFF-0FD7-32E6-214186125885}"/>
                      </a:ext>
                    </a:extLst>
                  </p:cNvPr>
                  <p:cNvSpPr txBox="1"/>
                  <p:nvPr/>
                </p:nvSpPr>
                <p:spPr>
                  <a:xfrm>
                    <a:off x="6147737" y="5776647"/>
                    <a:ext cx="493070" cy="3785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Textfeld 67">
                    <a:extLst>
                      <a:ext uri="{FF2B5EF4-FFF2-40B4-BE49-F238E27FC236}">
                        <a16:creationId xmlns:a16="http://schemas.microsoft.com/office/drawing/2014/main" id="{C083515F-AAFF-0FD7-32E6-2141861258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7737" y="5776647"/>
                    <a:ext cx="493070" cy="3785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93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8" name="Oval 72">
                <a:extLst>
                  <a:ext uri="{FF2B5EF4-FFF2-40B4-BE49-F238E27FC236}">
                    <a16:creationId xmlns:a16="http://schemas.microsoft.com/office/drawing/2014/main" id="{19DD572C-C06D-ECC1-8C76-C432735AF6CF}"/>
                  </a:ext>
                </a:extLst>
              </p:cNvPr>
              <p:cNvSpPr/>
              <p:nvPr/>
            </p:nvSpPr>
            <p:spPr>
              <a:xfrm>
                <a:off x="6346890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feld 67">
                    <a:extLst>
                      <a:ext uri="{FF2B5EF4-FFF2-40B4-BE49-F238E27FC236}">
                        <a16:creationId xmlns:a16="http://schemas.microsoft.com/office/drawing/2014/main" id="{AAFEC59D-F260-DAB6-C9A9-47E7D782CB84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751" y="5763487"/>
                    <a:ext cx="493070" cy="3794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5" name="Textfeld 67">
                    <a:extLst>
                      <a:ext uri="{FF2B5EF4-FFF2-40B4-BE49-F238E27FC236}">
                        <a16:creationId xmlns:a16="http://schemas.microsoft.com/office/drawing/2014/main" id="{AAFEC59D-F260-DAB6-C9A9-47E7D782CB8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8751" y="5763487"/>
                    <a:ext cx="493070" cy="37946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9753" r="-20988" b="-209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7" name="Straight Connector 70">
                <a:extLst>
                  <a:ext uri="{FF2B5EF4-FFF2-40B4-BE49-F238E27FC236}">
                    <a16:creationId xmlns:a16="http://schemas.microsoft.com/office/drawing/2014/main" id="{2B8FDBB8-7057-EBA5-9EC5-AABA08AECF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3923" y="6284671"/>
                <a:ext cx="1267576" cy="125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72">
                <a:extLst>
                  <a:ext uri="{FF2B5EF4-FFF2-40B4-BE49-F238E27FC236}">
                    <a16:creationId xmlns:a16="http://schemas.microsoft.com/office/drawing/2014/main" id="{9B66B10B-3E10-1DC1-1A0D-15F27A43C24D}"/>
                  </a:ext>
                </a:extLst>
              </p:cNvPr>
              <p:cNvSpPr/>
              <p:nvPr/>
            </p:nvSpPr>
            <p:spPr>
              <a:xfrm>
                <a:off x="4786018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p:cxnSp>
            <p:nvCxnSpPr>
              <p:cNvPr id="40" name="Straight Connector 63">
                <a:extLst>
                  <a:ext uri="{FF2B5EF4-FFF2-40B4-BE49-F238E27FC236}">
                    <a16:creationId xmlns:a16="http://schemas.microsoft.com/office/drawing/2014/main" id="{358617F8-91CA-75CE-A6CA-18942C394E1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8133" y="6289395"/>
                <a:ext cx="1263366" cy="754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feld 67">
                    <a:extLst>
                      <a:ext uri="{FF2B5EF4-FFF2-40B4-BE49-F238E27FC236}">
                        <a16:creationId xmlns:a16="http://schemas.microsoft.com/office/drawing/2014/main" id="{E271A0FC-805C-FF3F-424D-57C154F9D6D8}"/>
                      </a:ext>
                    </a:extLst>
                  </p:cNvPr>
                  <p:cNvSpPr txBox="1"/>
                  <p:nvPr/>
                </p:nvSpPr>
                <p:spPr>
                  <a:xfrm>
                    <a:off x="5367773" y="6303240"/>
                    <a:ext cx="493070" cy="3794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Textfeld 67">
                    <a:extLst>
                      <a:ext uri="{FF2B5EF4-FFF2-40B4-BE49-F238E27FC236}">
                        <a16:creationId xmlns:a16="http://schemas.microsoft.com/office/drawing/2014/main" id="{E271A0FC-805C-FF3F-424D-57C154F9D6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7773" y="6303240"/>
                    <a:ext cx="493070" cy="37946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3580" r="-17284" b="-206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feld 67">
                  <a:extLst>
                    <a:ext uri="{FF2B5EF4-FFF2-40B4-BE49-F238E27FC236}">
                      <a16:creationId xmlns:a16="http://schemas.microsoft.com/office/drawing/2014/main" id="{7DD678FC-EAA9-931E-10E4-FCE687B225BD}"/>
                    </a:ext>
                  </a:extLst>
                </p:cNvPr>
                <p:cNvSpPr txBox="1"/>
                <p:nvPr/>
              </p:nvSpPr>
              <p:spPr>
                <a:xfrm>
                  <a:off x="5627510" y="5930925"/>
                  <a:ext cx="934717" cy="2105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000</m:t>
                        </m:r>
                        <m:r>
                          <m:rPr>
                            <m:sty m:val="p"/>
                          </m:rP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de-DE" sz="1200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6" name="Textfeld 67">
                  <a:extLst>
                    <a:ext uri="{FF2B5EF4-FFF2-40B4-BE49-F238E27FC236}">
                      <a16:creationId xmlns:a16="http://schemas.microsoft.com/office/drawing/2014/main" id="{7DD678FC-EAA9-931E-10E4-FCE687B22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510" y="5930925"/>
                  <a:ext cx="934717" cy="210507"/>
                </a:xfrm>
                <a:prstGeom prst="rect">
                  <a:avLst/>
                </a:prstGeom>
                <a:blipFill>
                  <a:blip r:embed="rId8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14054C0-07E0-ABF3-7BAF-1497B7F5E0D1}"/>
              </a:ext>
            </a:extLst>
          </p:cNvPr>
          <p:cNvGrpSpPr/>
          <p:nvPr/>
        </p:nvGrpSpPr>
        <p:grpSpPr>
          <a:xfrm>
            <a:off x="468638" y="2728389"/>
            <a:ext cx="2052056" cy="918318"/>
            <a:chOff x="468638" y="2728389"/>
            <a:chExt cx="2052056" cy="918318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27F134AC-9A1E-3EDD-8212-D78669047008}"/>
                </a:ext>
              </a:extLst>
            </p:cNvPr>
            <p:cNvGrpSpPr/>
            <p:nvPr/>
          </p:nvGrpSpPr>
          <p:grpSpPr>
            <a:xfrm>
              <a:off x="468638" y="2728389"/>
              <a:ext cx="2052056" cy="918318"/>
              <a:chOff x="4588751" y="5763487"/>
              <a:chExt cx="2052056" cy="9183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feld 67">
                    <a:extLst>
                      <a:ext uri="{FF2B5EF4-FFF2-40B4-BE49-F238E27FC236}">
                        <a16:creationId xmlns:a16="http://schemas.microsoft.com/office/drawing/2014/main" id="{D9BD1BD7-2591-99ED-EDD9-4E46F4AD0962}"/>
                      </a:ext>
                    </a:extLst>
                  </p:cNvPr>
                  <p:cNvSpPr txBox="1"/>
                  <p:nvPr/>
                </p:nvSpPr>
                <p:spPr>
                  <a:xfrm>
                    <a:off x="6147737" y="5776647"/>
                    <a:ext cx="493070" cy="3794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4" name="Textfeld 67">
                    <a:extLst>
                      <a:ext uri="{FF2B5EF4-FFF2-40B4-BE49-F238E27FC236}">
                        <a16:creationId xmlns:a16="http://schemas.microsoft.com/office/drawing/2014/main" id="{D9BD1BD7-2591-99ED-EDD9-4E46F4AD09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7737" y="5776647"/>
                    <a:ext cx="493070" cy="37946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r="-22500" b="-209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5" name="Oval 72">
                <a:extLst>
                  <a:ext uri="{FF2B5EF4-FFF2-40B4-BE49-F238E27FC236}">
                    <a16:creationId xmlns:a16="http://schemas.microsoft.com/office/drawing/2014/main" id="{99A8CC47-F3BA-1886-00FA-B6CEA66FDD2C}"/>
                  </a:ext>
                </a:extLst>
              </p:cNvPr>
              <p:cNvSpPr/>
              <p:nvPr/>
            </p:nvSpPr>
            <p:spPr>
              <a:xfrm>
                <a:off x="6346890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Textfeld 67">
                    <a:extLst>
                      <a:ext uri="{FF2B5EF4-FFF2-40B4-BE49-F238E27FC236}">
                        <a16:creationId xmlns:a16="http://schemas.microsoft.com/office/drawing/2014/main" id="{CB4DACD9-F1C4-419F-6314-B33BBB801ACD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751" y="5763487"/>
                    <a:ext cx="493070" cy="3785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6" name="Textfeld 67">
                    <a:extLst>
                      <a:ext uri="{FF2B5EF4-FFF2-40B4-BE49-F238E27FC236}">
                        <a16:creationId xmlns:a16="http://schemas.microsoft.com/office/drawing/2014/main" id="{CB4DACD9-F1C4-419F-6314-B33BBB801A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8751" y="5763487"/>
                    <a:ext cx="493070" cy="3785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93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7" name="Straight Connector 70">
                <a:extLst>
                  <a:ext uri="{FF2B5EF4-FFF2-40B4-BE49-F238E27FC236}">
                    <a16:creationId xmlns:a16="http://schemas.microsoft.com/office/drawing/2014/main" id="{3E2AB8E4-30E1-45B5-45B8-C2B92DF78E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3923" y="6284671"/>
                <a:ext cx="1267576" cy="125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l 72">
                <a:extLst>
                  <a:ext uri="{FF2B5EF4-FFF2-40B4-BE49-F238E27FC236}">
                    <a16:creationId xmlns:a16="http://schemas.microsoft.com/office/drawing/2014/main" id="{19EB831E-C21A-358F-4AEC-5E5D4ED06AE4}"/>
                  </a:ext>
                </a:extLst>
              </p:cNvPr>
              <p:cNvSpPr/>
              <p:nvPr/>
            </p:nvSpPr>
            <p:spPr>
              <a:xfrm>
                <a:off x="4786018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p:cxnSp>
            <p:nvCxnSpPr>
              <p:cNvPr id="49" name="Straight Connector 63">
                <a:extLst>
                  <a:ext uri="{FF2B5EF4-FFF2-40B4-BE49-F238E27FC236}">
                    <a16:creationId xmlns:a16="http://schemas.microsoft.com/office/drawing/2014/main" id="{440FDBAD-6C86-CB89-F16B-3D2086307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8133" y="6289395"/>
                <a:ext cx="1263366" cy="754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feld 67">
                    <a:extLst>
                      <a:ext uri="{FF2B5EF4-FFF2-40B4-BE49-F238E27FC236}">
                        <a16:creationId xmlns:a16="http://schemas.microsoft.com/office/drawing/2014/main" id="{A1C1E242-8CBE-248A-DF1D-6351F92FA618}"/>
                      </a:ext>
                    </a:extLst>
                  </p:cNvPr>
                  <p:cNvSpPr txBox="1"/>
                  <p:nvPr/>
                </p:nvSpPr>
                <p:spPr>
                  <a:xfrm>
                    <a:off x="5367773" y="6303240"/>
                    <a:ext cx="493070" cy="3785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1" name="Textfeld 67">
                    <a:extLst>
                      <a:ext uri="{FF2B5EF4-FFF2-40B4-BE49-F238E27FC236}">
                        <a16:creationId xmlns:a16="http://schemas.microsoft.com/office/drawing/2014/main" id="{A1C1E242-8CBE-248A-DF1D-6351F92FA6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7773" y="6303240"/>
                    <a:ext cx="493070" cy="37856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209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feld 67">
                  <a:extLst>
                    <a:ext uri="{FF2B5EF4-FFF2-40B4-BE49-F238E27FC236}">
                      <a16:creationId xmlns:a16="http://schemas.microsoft.com/office/drawing/2014/main" id="{12939039-8E29-A16E-533D-8C4B0BEF3C5E}"/>
                    </a:ext>
                  </a:extLst>
                </p:cNvPr>
                <p:cNvSpPr txBox="1"/>
                <p:nvPr/>
              </p:nvSpPr>
              <p:spPr>
                <a:xfrm>
                  <a:off x="1167437" y="2995098"/>
                  <a:ext cx="681294" cy="2105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000</m:t>
                        </m:r>
                        <m:r>
                          <m:rPr>
                            <m:sty m:val="p"/>
                          </m:rP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de-DE" sz="1200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1" name="Textfeld 67">
                  <a:extLst>
                    <a:ext uri="{FF2B5EF4-FFF2-40B4-BE49-F238E27FC236}">
                      <a16:creationId xmlns:a16="http://schemas.microsoft.com/office/drawing/2014/main" id="{12939039-8E29-A16E-533D-8C4B0BEF3C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437" y="2995098"/>
                  <a:ext cx="681294" cy="2105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E317F49-9FB0-4925-CD3E-CE26416A100D}"/>
              </a:ext>
            </a:extLst>
          </p:cNvPr>
          <p:cNvGrpSpPr/>
          <p:nvPr/>
        </p:nvGrpSpPr>
        <p:grpSpPr>
          <a:xfrm>
            <a:off x="10012510" y="313744"/>
            <a:ext cx="1754026" cy="917880"/>
            <a:chOff x="7428514" y="2549750"/>
            <a:chExt cx="2754029" cy="1441172"/>
          </a:xfrm>
        </p:grpSpPr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6A651D8C-B4C4-415E-AA38-6B07F2E29970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CE956642-552D-24F3-FE2F-8DE507208C1D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137" name="Graphic 136" descr="Toy Train with solid fill">
                  <a:extLst>
                    <a:ext uri="{FF2B5EF4-FFF2-40B4-BE49-F238E27FC236}">
                      <a16:creationId xmlns:a16="http://schemas.microsoft.com/office/drawing/2014/main" id="{45E631C8-0A24-B6FB-E7E5-F4F5533F83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80EF0697-37CA-9065-02D7-85416DEB8A6C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D807848E-FAA1-5D79-A065-D08F86956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BF808496-787E-BD0C-B2E4-34FDAAB6D0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B77388DB-1182-3354-3B8D-0389358B1F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3AD9BD9A-49B3-8E21-7DFD-19184EE62F61}"/>
                </a:ext>
              </a:extLst>
            </p:cNvPr>
            <p:cNvGrpSpPr/>
            <p:nvPr/>
          </p:nvGrpSpPr>
          <p:grpSpPr>
            <a:xfrm>
              <a:off x="8629915" y="3118768"/>
              <a:ext cx="1552628" cy="872154"/>
              <a:chOff x="1871464" y="2469614"/>
              <a:chExt cx="2892064" cy="1624538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8B7D5090-8201-A4D1-D207-DE7400A6FB1E}"/>
                  </a:ext>
                </a:extLst>
              </p:cNvPr>
              <p:cNvGrpSpPr/>
              <p:nvPr/>
            </p:nvGrpSpPr>
            <p:grpSpPr>
              <a:xfrm>
                <a:off x="1871464" y="2469614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FED65545-CBCA-65C5-AA56-2026C89EC506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EB042433-EDC2-0FF8-91E1-CE84E52F2D0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4CBC93F6-EF71-3C3B-35CC-F3F68B8108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9" name="Straight Connector 128">
                    <a:extLst>
                      <a:ext uri="{FF2B5EF4-FFF2-40B4-BE49-F238E27FC236}">
                        <a16:creationId xmlns:a16="http://schemas.microsoft.com/office/drawing/2014/main" id="{A9733733-8DF4-C8FA-8B61-C7AEA87D81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>
                    <a:extLst>
                      <a:ext uri="{FF2B5EF4-FFF2-40B4-BE49-F238E27FC236}">
                        <a16:creationId xmlns:a16="http://schemas.microsoft.com/office/drawing/2014/main" id="{2840AAA4-DD16-B516-4D06-3FB22ACB31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1" name="Straight Connector 130">
                    <a:extLst>
                      <a:ext uri="{FF2B5EF4-FFF2-40B4-BE49-F238E27FC236}">
                        <a16:creationId xmlns:a16="http://schemas.microsoft.com/office/drawing/2014/main" id="{24120A16-1FC8-BCF1-981F-FC006DBEE1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2" name="Straight Connector 131">
                    <a:extLst>
                      <a:ext uri="{FF2B5EF4-FFF2-40B4-BE49-F238E27FC236}">
                        <a16:creationId xmlns:a16="http://schemas.microsoft.com/office/drawing/2014/main" id="{19C9150A-4608-B7A9-4AAE-239ACF0280F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A6D34C29-8832-39FE-9300-5C42554C0FA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4" name="Straight Connector 133">
                    <a:extLst>
                      <a:ext uri="{FF2B5EF4-FFF2-40B4-BE49-F238E27FC236}">
                        <a16:creationId xmlns:a16="http://schemas.microsoft.com/office/drawing/2014/main" id="{A16353F9-1272-5864-FB2D-56B9C0DD23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535F4658-A7D2-75A3-5063-F84250A2459F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2CF1824B-A531-9841-5D6E-2E2FEA7F81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8A9BE372-06C8-4A0E-01C9-D98F79774C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AA7DCC68-6D69-C3BD-F2E7-541E427A29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902FFE19-F18E-4579-4A7B-2C8B398FCA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4C6DBF64-27CA-A793-97F5-67A06FA0AD9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72BB0E4C-7D33-08DA-CA44-EE3BA2C316A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56CA339C-0B97-91C1-E6AE-FE5A6ABF15C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C9D6F66C-E9E1-33D6-BA0B-25522985AA6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sp>
        <p:nvSpPr>
          <p:cNvPr id="141" name="TextBox 140">
            <a:extLst>
              <a:ext uri="{FF2B5EF4-FFF2-40B4-BE49-F238E27FC236}">
                <a16:creationId xmlns:a16="http://schemas.microsoft.com/office/drawing/2014/main" id="{89B48326-E942-4E1D-B2AF-BFE4015D20C5}"/>
              </a:ext>
            </a:extLst>
          </p:cNvPr>
          <p:cNvSpPr txBox="1"/>
          <p:nvPr/>
        </p:nvSpPr>
        <p:spPr>
          <a:xfrm>
            <a:off x="7023794" y="1992596"/>
            <a:ext cx="98234" cy="192938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en-DE" sz="1200">
                <a:latin typeface="+mn-lt"/>
              </a:rPr>
              <a:t>g</a:t>
            </a:r>
          </a:p>
        </p:txBody>
      </p: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ADEBC03E-4085-A7E8-D5CB-3E9054751E73}"/>
              </a:ext>
            </a:extLst>
          </p:cNvPr>
          <p:cNvGrpSpPr/>
          <p:nvPr/>
        </p:nvGrpSpPr>
        <p:grpSpPr>
          <a:xfrm>
            <a:off x="4859418" y="3442843"/>
            <a:ext cx="6401072" cy="1577682"/>
            <a:chOff x="4859418" y="3442843"/>
            <a:chExt cx="6401072" cy="1577682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6EDAD9D-BC00-ABB0-1AC6-B8720AF487EF}"/>
                </a:ext>
              </a:extLst>
            </p:cNvPr>
            <p:cNvGrpSpPr/>
            <p:nvPr/>
          </p:nvGrpSpPr>
          <p:grpSpPr>
            <a:xfrm>
              <a:off x="6133671" y="3442843"/>
              <a:ext cx="5068848" cy="607137"/>
              <a:chOff x="5589380" y="3442843"/>
              <a:chExt cx="5068848" cy="607137"/>
            </a:xfrm>
          </p:grpSpPr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A67D13FF-436B-C69B-D545-AF51E527903F}"/>
                  </a:ext>
                </a:extLst>
              </p:cNvPr>
              <p:cNvCxnSpPr>
                <a:cxnSpLocks/>
                <a:stCxn id="110" idx="1"/>
                <a:endCxn id="108" idx="5"/>
              </p:cNvCxnSpPr>
              <p:nvPr/>
            </p:nvCxnSpPr>
            <p:spPr>
              <a:xfrm flipH="1" flipV="1">
                <a:off x="5860209" y="3591671"/>
                <a:ext cx="2913625" cy="29756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896D6CA5-0811-55CA-1FFF-56FCC5C21928}"/>
                  </a:ext>
                </a:extLst>
              </p:cNvPr>
              <p:cNvSpPr/>
              <p:nvPr/>
            </p:nvSpPr>
            <p:spPr>
              <a:xfrm rot="19232216">
                <a:off x="5589380" y="3442843"/>
                <a:ext cx="271463" cy="27146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698B4E6E-6B1D-C538-D5E9-98AFC6D76190}"/>
                  </a:ext>
                </a:extLst>
              </p:cNvPr>
              <p:cNvSpPr txBox="1"/>
              <p:nvPr/>
            </p:nvSpPr>
            <p:spPr>
              <a:xfrm>
                <a:off x="8773834" y="3728482"/>
                <a:ext cx="1884394" cy="32149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000">
                    <a:latin typeface="+mn-lt"/>
                    <a:cs typeface="Arial"/>
                  </a:rPr>
                  <a:t> (100 s, 55 s)</a:t>
                </a:r>
                <a:endParaRPr lang="en-US" sz="2000">
                  <a:latin typeface="+mn-lt"/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CE54DAFD-CE94-7172-D068-AFB73EE8F74A}"/>
                </a:ext>
              </a:extLst>
            </p:cNvPr>
            <p:cNvGrpSpPr/>
            <p:nvPr/>
          </p:nvGrpSpPr>
          <p:grpSpPr>
            <a:xfrm>
              <a:off x="4859418" y="3862086"/>
              <a:ext cx="6401072" cy="1158439"/>
              <a:chOff x="5589380" y="3442843"/>
              <a:chExt cx="6401072" cy="1158439"/>
            </a:xfrm>
          </p:grpSpPr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0E1DF7FF-1A46-B5D0-9437-660D25709A21}"/>
                  </a:ext>
                </a:extLst>
              </p:cNvPr>
              <p:cNvCxnSpPr>
                <a:cxnSpLocks/>
                <a:stCxn id="145" idx="1"/>
                <a:endCxn id="144" idx="5"/>
              </p:cNvCxnSpPr>
              <p:nvPr/>
            </p:nvCxnSpPr>
            <p:spPr>
              <a:xfrm flipH="1" flipV="1">
                <a:off x="5858117" y="3605641"/>
                <a:ext cx="4247941" cy="834892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EEFDD6EB-B533-F417-9856-59B81A8B13B0}"/>
                  </a:ext>
                </a:extLst>
              </p:cNvPr>
              <p:cNvSpPr/>
              <p:nvPr/>
            </p:nvSpPr>
            <p:spPr>
              <a:xfrm rot="19590146">
                <a:off x="5589380" y="3442843"/>
                <a:ext cx="271463" cy="27146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25033B65-8013-9B8D-E425-B6A7B6421792}"/>
                  </a:ext>
                </a:extLst>
              </p:cNvPr>
              <p:cNvSpPr txBox="1"/>
              <p:nvPr/>
            </p:nvSpPr>
            <p:spPr>
              <a:xfrm>
                <a:off x="10106058" y="4279784"/>
                <a:ext cx="1884394" cy="32149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US" sz="2000">
                    <a:latin typeface="+mn-lt"/>
                    <a:cs typeface="Arial"/>
                  </a:rPr>
                  <a:t> (55 s, 45 s)</a:t>
                </a:r>
                <a:endParaRPr lang="en-US" sz="2000">
                  <a:latin typeface="+mn-lt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7151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B8120C4C-3666-7DF4-186F-2179E24C3756}"/>
              </a:ext>
            </a:extLst>
          </p:cNvPr>
          <p:cNvGrpSpPr/>
          <p:nvPr/>
        </p:nvGrpSpPr>
        <p:grpSpPr>
          <a:xfrm>
            <a:off x="3969881" y="1643063"/>
            <a:ext cx="7972713" cy="3064668"/>
            <a:chOff x="3414713" y="1643063"/>
            <a:chExt cx="7972713" cy="3064668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DDB77F3-AD78-DF7B-D975-C19222689D0F}"/>
                </a:ext>
              </a:extLst>
            </p:cNvPr>
            <p:cNvSpPr/>
            <p:nvPr/>
          </p:nvSpPr>
          <p:spPr>
            <a:xfrm>
              <a:off x="3414713" y="1643063"/>
              <a:ext cx="4857750" cy="3064668"/>
            </a:xfrm>
            <a:custGeom>
              <a:avLst/>
              <a:gdLst>
                <a:gd name="connsiteX0" fmla="*/ 0 w 4857750"/>
                <a:gd name="connsiteY0" fmla="*/ 3064668 h 3064668"/>
                <a:gd name="connsiteX1" fmla="*/ 764381 w 4857750"/>
                <a:gd name="connsiteY1" fmla="*/ 1900237 h 3064668"/>
                <a:gd name="connsiteX2" fmla="*/ 1200150 w 4857750"/>
                <a:gd name="connsiteY2" fmla="*/ 0 h 3064668"/>
                <a:gd name="connsiteX3" fmla="*/ 4857750 w 4857750"/>
                <a:gd name="connsiteY3" fmla="*/ 0 h 3064668"/>
                <a:gd name="connsiteX4" fmla="*/ 4857750 w 4857750"/>
                <a:gd name="connsiteY4" fmla="*/ 1657350 h 3064668"/>
                <a:gd name="connsiteX5" fmla="*/ 4643437 w 4857750"/>
                <a:gd name="connsiteY5" fmla="*/ 1700212 h 3064668"/>
                <a:gd name="connsiteX6" fmla="*/ 1164431 w 4857750"/>
                <a:gd name="connsiteY6" fmla="*/ 2171700 h 3064668"/>
                <a:gd name="connsiteX7" fmla="*/ 0 w 4857750"/>
                <a:gd name="connsiteY7" fmla="*/ 3064668 h 3064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857750" h="3064668">
                  <a:moveTo>
                    <a:pt x="0" y="3064668"/>
                  </a:moveTo>
                  <a:lnTo>
                    <a:pt x="764381" y="1900237"/>
                  </a:lnTo>
                  <a:lnTo>
                    <a:pt x="1200150" y="0"/>
                  </a:lnTo>
                  <a:lnTo>
                    <a:pt x="4857750" y="0"/>
                  </a:lnTo>
                  <a:lnTo>
                    <a:pt x="4857750" y="1657350"/>
                  </a:lnTo>
                  <a:lnTo>
                    <a:pt x="4643437" y="1700212"/>
                  </a:lnTo>
                  <a:lnTo>
                    <a:pt x="1164431" y="2171700"/>
                  </a:lnTo>
                  <a:lnTo>
                    <a:pt x="0" y="3064668"/>
                  </a:lnTo>
                  <a:close/>
                </a:path>
              </a:pathLst>
            </a:custGeom>
            <a:solidFill>
              <a:srgbClr val="00B0F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74FD67F-3BE2-9195-E8EE-A3C1DC7F51D5}"/>
                </a:ext>
              </a:extLst>
            </p:cNvPr>
            <p:cNvSpPr txBox="1"/>
            <p:nvPr/>
          </p:nvSpPr>
          <p:spPr>
            <a:xfrm>
              <a:off x="8718588" y="2664662"/>
              <a:ext cx="1248184" cy="25725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>
                <a:lnSpc>
                  <a:spcPct val="114000"/>
                </a:lnSpc>
              </a:pPr>
              <a:endParaRPr lang="en-US" sz="1600" err="1">
                <a:latin typeface="+mn-lt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4EB7F13-FB03-1A4A-DB90-A1CF9A2FFB80}"/>
                </a:ext>
              </a:extLst>
            </p:cNvPr>
            <p:cNvGrpSpPr/>
            <p:nvPr/>
          </p:nvGrpSpPr>
          <p:grpSpPr>
            <a:xfrm>
              <a:off x="8575545" y="1742002"/>
              <a:ext cx="2811881" cy="703060"/>
              <a:chOff x="8851288" y="4457155"/>
              <a:chExt cx="2811881" cy="703060"/>
            </a:xfrm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4AF9095B-B939-BFE8-75C1-42746B093329}"/>
                  </a:ext>
                </a:extLst>
              </p:cNvPr>
              <p:cNvSpPr/>
              <p:nvPr/>
            </p:nvSpPr>
            <p:spPr>
              <a:xfrm>
                <a:off x="8851288" y="4631421"/>
                <a:ext cx="838182" cy="528794"/>
              </a:xfrm>
              <a:custGeom>
                <a:avLst/>
                <a:gdLst>
                  <a:gd name="connsiteX0" fmla="*/ 0 w 4857750"/>
                  <a:gd name="connsiteY0" fmla="*/ 3064668 h 3064668"/>
                  <a:gd name="connsiteX1" fmla="*/ 764381 w 4857750"/>
                  <a:gd name="connsiteY1" fmla="*/ 1900237 h 3064668"/>
                  <a:gd name="connsiteX2" fmla="*/ 1200150 w 4857750"/>
                  <a:gd name="connsiteY2" fmla="*/ 0 h 3064668"/>
                  <a:gd name="connsiteX3" fmla="*/ 4857750 w 4857750"/>
                  <a:gd name="connsiteY3" fmla="*/ 0 h 3064668"/>
                  <a:gd name="connsiteX4" fmla="*/ 4857750 w 4857750"/>
                  <a:gd name="connsiteY4" fmla="*/ 1657350 h 3064668"/>
                  <a:gd name="connsiteX5" fmla="*/ 4643437 w 4857750"/>
                  <a:gd name="connsiteY5" fmla="*/ 1700212 h 3064668"/>
                  <a:gd name="connsiteX6" fmla="*/ 1164431 w 4857750"/>
                  <a:gd name="connsiteY6" fmla="*/ 2171700 h 3064668"/>
                  <a:gd name="connsiteX7" fmla="*/ 0 w 4857750"/>
                  <a:gd name="connsiteY7" fmla="*/ 3064668 h 3064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57750" h="3064668">
                    <a:moveTo>
                      <a:pt x="0" y="3064668"/>
                    </a:moveTo>
                    <a:lnTo>
                      <a:pt x="764381" y="1900237"/>
                    </a:lnTo>
                    <a:lnTo>
                      <a:pt x="1200150" y="0"/>
                    </a:lnTo>
                    <a:lnTo>
                      <a:pt x="4857750" y="0"/>
                    </a:lnTo>
                    <a:lnTo>
                      <a:pt x="4857750" y="1657350"/>
                    </a:lnTo>
                    <a:lnTo>
                      <a:pt x="4643437" y="1700212"/>
                    </a:lnTo>
                    <a:lnTo>
                      <a:pt x="1164431" y="2171700"/>
                    </a:lnTo>
                    <a:lnTo>
                      <a:pt x="0" y="3064668"/>
                    </a:lnTo>
                    <a:close/>
                  </a:path>
                </a:pathLst>
              </a:custGeom>
              <a:solidFill>
                <a:srgbClr val="00B0F0">
                  <a:alpha val="4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801A42-83F7-0577-5948-2631508475AC}"/>
                  </a:ext>
                </a:extLst>
              </p:cNvPr>
              <p:cNvSpPr txBox="1"/>
              <p:nvPr/>
            </p:nvSpPr>
            <p:spPr>
              <a:xfrm>
                <a:off x="9807197" y="4457155"/>
                <a:ext cx="1855972" cy="67236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en-GB" sz="2000">
                    <a:latin typeface="+mn-lt"/>
                  </a:rPr>
                  <a:t>F</a:t>
                </a:r>
                <a:r>
                  <a:rPr lang="en-DE" sz="2000">
                    <a:latin typeface="+mn-lt"/>
                  </a:rPr>
                  <a:t>easible speed changes</a:t>
                </a:r>
              </a:p>
            </p:txBody>
          </p: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39F593-7DE2-A9DF-E6F0-5400A292B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36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0ABF5B-CEA0-7A58-9824-E8090E4FC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pic>
        <p:nvPicPr>
          <p:cNvPr id="14" name="Picture 14" descr="A picture containing text, screenshot, diagram, line&#10;&#10;Description automatically generated">
            <a:extLst>
              <a:ext uri="{FF2B5EF4-FFF2-40B4-BE49-F238E27FC236}">
                <a16:creationId xmlns:a16="http://schemas.microsoft.com/office/drawing/2014/main" id="{1FA92EF4-361F-F982-8FA0-52C8E5AAA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0901" y="1530567"/>
            <a:ext cx="6211890" cy="4140000"/>
          </a:xfr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1C09C77E-BBAB-A3D7-AEFF-F7B0D458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Linearized</a:t>
            </a:r>
            <a:r>
              <a:rPr lang="de-DE"/>
              <a:t> Dynamics: PWL Approximation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D79D69B-43CB-FF1E-E881-F24D6F748839}"/>
              </a:ext>
            </a:extLst>
          </p:cNvPr>
          <p:cNvGrpSpPr/>
          <p:nvPr/>
        </p:nvGrpSpPr>
        <p:grpSpPr>
          <a:xfrm>
            <a:off x="6154656" y="2666067"/>
            <a:ext cx="4880805" cy="1284660"/>
            <a:chOff x="5589380" y="3442843"/>
            <a:chExt cx="4880805" cy="1284660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8B569E3A-69EB-50E6-7410-BDDD278D3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60843" y="3613137"/>
              <a:ext cx="2640850" cy="960259"/>
            </a:xfrm>
            <a:prstGeom prst="straightConnector1">
              <a:avLst/>
            </a:prstGeom>
            <a:noFill/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44B86BF-3A83-872D-ADD4-5866BA2CC3B6}"/>
                </a:ext>
              </a:extLst>
            </p:cNvPr>
            <p:cNvSpPr/>
            <p:nvPr/>
          </p:nvSpPr>
          <p:spPr>
            <a:xfrm>
              <a:off x="5589380" y="3442843"/>
              <a:ext cx="271463" cy="27146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79808E-F6E3-D2F1-505D-206901150DA4}"/>
                </a:ext>
              </a:extLst>
            </p:cNvPr>
            <p:cNvSpPr txBox="1"/>
            <p:nvPr/>
          </p:nvSpPr>
          <p:spPr>
            <a:xfrm>
              <a:off x="8585791" y="4406005"/>
              <a:ext cx="1884394" cy="3214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US" sz="2000">
                  <a:latin typeface="+mn-lt"/>
                  <a:cs typeface="Arial"/>
                </a:rPr>
                <a:t>(100 s, 80 s)</a:t>
              </a:r>
              <a:endParaRPr lang="en-US" sz="2000">
                <a:latin typeface="+mn-lt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A181FD-31BA-7F34-247C-08FFEFCBAD90}"/>
              </a:ext>
            </a:extLst>
          </p:cNvPr>
          <p:cNvGrpSpPr/>
          <p:nvPr/>
        </p:nvGrpSpPr>
        <p:grpSpPr>
          <a:xfrm>
            <a:off x="10012510" y="313744"/>
            <a:ext cx="1754026" cy="917880"/>
            <a:chOff x="7428514" y="2549750"/>
            <a:chExt cx="2754029" cy="1441172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E51CC54C-D764-D9F2-BE50-E56C6404AB61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53696C1-520C-FDE8-543A-C40595AD739C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86" name="Graphic 85" descr="Toy Train with solid fill">
                  <a:extLst>
                    <a:ext uri="{FF2B5EF4-FFF2-40B4-BE49-F238E27FC236}">
                      <a16:creationId xmlns:a16="http://schemas.microsoft.com/office/drawing/2014/main" id="{980F61AC-3DF8-ACF5-FE93-42ADDD3B321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3530C5CE-BA89-A597-0569-CC99852D0C8B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CF887ADA-E328-DA46-50AD-B6B9435679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D54A80EB-22B6-0172-5F5F-BD5BD84ED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F4EDC42-4D58-78CD-62C4-0E227B88569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E5D70696-B21F-8E9E-2BDD-1824BB3C959E}"/>
                </a:ext>
              </a:extLst>
            </p:cNvPr>
            <p:cNvGrpSpPr/>
            <p:nvPr/>
          </p:nvGrpSpPr>
          <p:grpSpPr>
            <a:xfrm>
              <a:off x="8629915" y="3118768"/>
              <a:ext cx="1552628" cy="872154"/>
              <a:chOff x="1871464" y="2469614"/>
              <a:chExt cx="2892064" cy="1624538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1C25BC7-2354-28BC-5415-5860EDA81320}"/>
                  </a:ext>
                </a:extLst>
              </p:cNvPr>
              <p:cNvGrpSpPr/>
              <p:nvPr/>
            </p:nvGrpSpPr>
            <p:grpSpPr>
              <a:xfrm>
                <a:off x="1871464" y="2469614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73C53B59-1277-AB60-B27C-AF3FC58C34AD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54AA88C3-23AA-7CAD-E2A9-DC0DD9009CA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561CAA66-9061-3D16-75A3-1A6F13114CB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8" name="Straight Connector 77">
                    <a:extLst>
                      <a:ext uri="{FF2B5EF4-FFF2-40B4-BE49-F238E27FC236}">
                        <a16:creationId xmlns:a16="http://schemas.microsoft.com/office/drawing/2014/main" id="{058CA224-77DB-BAFB-F363-14BEA96648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Straight Connector 78">
                    <a:extLst>
                      <a:ext uri="{FF2B5EF4-FFF2-40B4-BE49-F238E27FC236}">
                        <a16:creationId xmlns:a16="http://schemas.microsoft.com/office/drawing/2014/main" id="{C66C1A08-C4A3-C6C0-D0FB-BF6DC4492A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41EA0C14-A087-136A-7BA6-12CB4EDB688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379FE209-88F5-A4F5-2208-26ADEB9810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3670B5A8-DD51-C7C2-97E2-1D372F2914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1AAD69AE-D435-70CB-0D36-461B423F96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72099EC3-5220-DA38-F001-18B593C9371D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72" name="Straight Connector 71">
                    <a:extLst>
                      <a:ext uri="{FF2B5EF4-FFF2-40B4-BE49-F238E27FC236}">
                        <a16:creationId xmlns:a16="http://schemas.microsoft.com/office/drawing/2014/main" id="{C9165FB8-AE90-3FC6-DC7F-103D852AD3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3C14FB61-39C1-A1CE-C4BF-B43D70F261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>
                    <a:extLst>
                      <a:ext uri="{FF2B5EF4-FFF2-40B4-BE49-F238E27FC236}">
                        <a16:creationId xmlns:a16="http://schemas.microsoft.com/office/drawing/2014/main" id="{A7AE5723-671F-6CEB-38B6-AA212883A5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61F6DB4F-23EC-BC94-9494-1AFA964CD49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27D8849F-0315-E876-27A2-A4386DF96E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BA70AE8D-00AB-5A2F-1E1E-0027D8A199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48597C83-3DAD-EFB7-CF0E-E74F06768B1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1C711469-11B8-E193-D20A-7D6ED46D865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4B1ACFE-A9CC-D3C1-5498-1FDBD4A331EC}"/>
              </a:ext>
            </a:extLst>
          </p:cNvPr>
          <p:cNvGrpSpPr/>
          <p:nvPr/>
        </p:nvGrpSpPr>
        <p:grpSpPr>
          <a:xfrm>
            <a:off x="468638" y="2728389"/>
            <a:ext cx="2052056" cy="918318"/>
            <a:chOff x="468638" y="2728389"/>
            <a:chExt cx="2052056" cy="918318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BC35FFC1-6E64-7F2E-02B3-3FC05B4E3DEB}"/>
                </a:ext>
              </a:extLst>
            </p:cNvPr>
            <p:cNvGrpSpPr/>
            <p:nvPr/>
          </p:nvGrpSpPr>
          <p:grpSpPr>
            <a:xfrm>
              <a:off x="468638" y="2728389"/>
              <a:ext cx="2052056" cy="918318"/>
              <a:chOff x="4588751" y="5763487"/>
              <a:chExt cx="2052056" cy="91831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feld 67">
                    <a:extLst>
                      <a:ext uri="{FF2B5EF4-FFF2-40B4-BE49-F238E27FC236}">
                        <a16:creationId xmlns:a16="http://schemas.microsoft.com/office/drawing/2014/main" id="{A929A8F7-E436-5624-BDA0-4F2FB90A6BF6}"/>
                      </a:ext>
                    </a:extLst>
                  </p:cNvPr>
                  <p:cNvSpPr txBox="1"/>
                  <p:nvPr/>
                </p:nvSpPr>
                <p:spPr>
                  <a:xfrm>
                    <a:off x="6147737" y="5776647"/>
                    <a:ext cx="493070" cy="3794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3" name="Textfeld 67">
                    <a:extLst>
                      <a:ext uri="{FF2B5EF4-FFF2-40B4-BE49-F238E27FC236}">
                        <a16:creationId xmlns:a16="http://schemas.microsoft.com/office/drawing/2014/main" id="{A929A8F7-E436-5624-BDA0-4F2FB90A6B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7737" y="5776647"/>
                    <a:ext cx="493070" cy="37946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22500" b="-209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4" name="Oval 72">
                <a:extLst>
                  <a:ext uri="{FF2B5EF4-FFF2-40B4-BE49-F238E27FC236}">
                    <a16:creationId xmlns:a16="http://schemas.microsoft.com/office/drawing/2014/main" id="{3842CB34-4F8B-8153-A3D6-7D9940854B68}"/>
                  </a:ext>
                </a:extLst>
              </p:cNvPr>
              <p:cNvSpPr/>
              <p:nvPr/>
            </p:nvSpPr>
            <p:spPr>
              <a:xfrm>
                <a:off x="6346890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Textfeld 67">
                    <a:extLst>
                      <a:ext uri="{FF2B5EF4-FFF2-40B4-BE49-F238E27FC236}">
                        <a16:creationId xmlns:a16="http://schemas.microsoft.com/office/drawing/2014/main" id="{DE706ACC-FBDB-34A2-89AF-3D4E76FB6BAC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751" y="5763487"/>
                    <a:ext cx="493070" cy="3785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5" name="Textfeld 67">
                    <a:extLst>
                      <a:ext uri="{FF2B5EF4-FFF2-40B4-BE49-F238E27FC236}">
                        <a16:creationId xmlns:a16="http://schemas.microsoft.com/office/drawing/2014/main" id="{DE706ACC-FBDB-34A2-89AF-3D4E76FB6B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8751" y="5763487"/>
                    <a:ext cx="493070" cy="3785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93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6" name="Straight Connector 70">
                <a:extLst>
                  <a:ext uri="{FF2B5EF4-FFF2-40B4-BE49-F238E27FC236}">
                    <a16:creationId xmlns:a16="http://schemas.microsoft.com/office/drawing/2014/main" id="{F13DCABB-5030-E426-3ED5-7185D6AA2D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3923" y="6284671"/>
                <a:ext cx="1267576" cy="125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Oval 72">
                <a:extLst>
                  <a:ext uri="{FF2B5EF4-FFF2-40B4-BE49-F238E27FC236}">
                    <a16:creationId xmlns:a16="http://schemas.microsoft.com/office/drawing/2014/main" id="{04117DE1-48A7-04F1-38E3-0307FFB7793A}"/>
                  </a:ext>
                </a:extLst>
              </p:cNvPr>
              <p:cNvSpPr/>
              <p:nvPr/>
            </p:nvSpPr>
            <p:spPr>
              <a:xfrm>
                <a:off x="4786018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p:cxnSp>
            <p:nvCxnSpPr>
              <p:cNvPr id="128" name="Straight Connector 63">
                <a:extLst>
                  <a:ext uri="{FF2B5EF4-FFF2-40B4-BE49-F238E27FC236}">
                    <a16:creationId xmlns:a16="http://schemas.microsoft.com/office/drawing/2014/main" id="{1EC535E5-E62B-6E98-8AF5-A2A5162147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8133" y="6289395"/>
                <a:ext cx="1263366" cy="754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feld 67">
                    <a:extLst>
                      <a:ext uri="{FF2B5EF4-FFF2-40B4-BE49-F238E27FC236}">
                        <a16:creationId xmlns:a16="http://schemas.microsoft.com/office/drawing/2014/main" id="{4626E9A9-1102-1604-62EB-7CA62F1C8B12}"/>
                      </a:ext>
                    </a:extLst>
                  </p:cNvPr>
                  <p:cNvSpPr txBox="1"/>
                  <p:nvPr/>
                </p:nvSpPr>
                <p:spPr>
                  <a:xfrm>
                    <a:off x="5367773" y="6303240"/>
                    <a:ext cx="493070" cy="3785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9" name="Textfeld 67">
                    <a:extLst>
                      <a:ext uri="{FF2B5EF4-FFF2-40B4-BE49-F238E27FC236}">
                        <a16:creationId xmlns:a16="http://schemas.microsoft.com/office/drawing/2014/main" id="{4626E9A9-1102-1604-62EB-7CA62F1C8B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7773" y="6303240"/>
                    <a:ext cx="493070" cy="37856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209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feld 67">
                  <a:extLst>
                    <a:ext uri="{FF2B5EF4-FFF2-40B4-BE49-F238E27FC236}">
                      <a16:creationId xmlns:a16="http://schemas.microsoft.com/office/drawing/2014/main" id="{927C8E0B-C4C6-D47E-43EE-AE22FAF42A68}"/>
                    </a:ext>
                  </a:extLst>
                </p:cNvPr>
                <p:cNvSpPr txBox="1"/>
                <p:nvPr/>
              </p:nvSpPr>
              <p:spPr>
                <a:xfrm>
                  <a:off x="1167437" y="2995098"/>
                  <a:ext cx="681294" cy="2105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000</m:t>
                        </m:r>
                        <m:r>
                          <m:rPr>
                            <m:sty m:val="p"/>
                          </m:rP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de-DE" sz="1200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2" name="Textfeld 67">
                  <a:extLst>
                    <a:ext uri="{FF2B5EF4-FFF2-40B4-BE49-F238E27FC236}">
                      <a16:creationId xmlns:a16="http://schemas.microsoft.com/office/drawing/2014/main" id="{927C8E0B-C4C6-D47E-43EE-AE22FAF42A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7437" y="2995098"/>
                  <a:ext cx="681294" cy="21050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8AE3161-252B-9CF9-8857-4B3D4AB7C31A}"/>
              </a:ext>
            </a:extLst>
          </p:cNvPr>
          <p:cNvGrpSpPr/>
          <p:nvPr/>
        </p:nvGrpSpPr>
        <p:grpSpPr>
          <a:xfrm>
            <a:off x="5069972" y="5674228"/>
            <a:ext cx="2052056" cy="919216"/>
            <a:chOff x="5069972" y="5674228"/>
            <a:chExt cx="2052056" cy="919216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85A3F94F-803C-5CDA-E931-B2E2BEBA2B70}"/>
                </a:ext>
              </a:extLst>
            </p:cNvPr>
            <p:cNvGrpSpPr/>
            <p:nvPr/>
          </p:nvGrpSpPr>
          <p:grpSpPr>
            <a:xfrm>
              <a:off x="5069972" y="5674228"/>
              <a:ext cx="2052056" cy="919216"/>
              <a:chOff x="4588751" y="5763487"/>
              <a:chExt cx="2052056" cy="91921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Textfeld 67">
                    <a:extLst>
                      <a:ext uri="{FF2B5EF4-FFF2-40B4-BE49-F238E27FC236}">
                        <a16:creationId xmlns:a16="http://schemas.microsoft.com/office/drawing/2014/main" id="{6A68D42F-0950-97E7-9CEE-7CDE28247995}"/>
                      </a:ext>
                    </a:extLst>
                  </p:cNvPr>
                  <p:cNvSpPr txBox="1"/>
                  <p:nvPr/>
                </p:nvSpPr>
                <p:spPr>
                  <a:xfrm>
                    <a:off x="6147737" y="5776647"/>
                    <a:ext cx="493070" cy="378565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3" name="Textfeld 67">
                    <a:extLst>
                      <a:ext uri="{FF2B5EF4-FFF2-40B4-BE49-F238E27FC236}">
                        <a16:creationId xmlns:a16="http://schemas.microsoft.com/office/drawing/2014/main" id="{6A68D42F-0950-97E7-9CEE-7CDE282479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47737" y="5776647"/>
                    <a:ext cx="493070" cy="37856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93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4" name="Oval 72">
                <a:extLst>
                  <a:ext uri="{FF2B5EF4-FFF2-40B4-BE49-F238E27FC236}">
                    <a16:creationId xmlns:a16="http://schemas.microsoft.com/office/drawing/2014/main" id="{A10217B6-24A4-811A-9EEE-8C504514378F}"/>
                  </a:ext>
                </a:extLst>
              </p:cNvPr>
              <p:cNvSpPr/>
              <p:nvPr/>
            </p:nvSpPr>
            <p:spPr>
              <a:xfrm>
                <a:off x="6346890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5" name="Textfeld 67">
                    <a:extLst>
                      <a:ext uri="{FF2B5EF4-FFF2-40B4-BE49-F238E27FC236}">
                        <a16:creationId xmlns:a16="http://schemas.microsoft.com/office/drawing/2014/main" id="{C2665A29-17AD-08C3-62E0-51246F36819D}"/>
                      </a:ext>
                    </a:extLst>
                  </p:cNvPr>
                  <p:cNvSpPr txBox="1"/>
                  <p:nvPr/>
                </p:nvSpPr>
                <p:spPr>
                  <a:xfrm>
                    <a:off x="4588751" y="5763487"/>
                    <a:ext cx="493070" cy="3794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5" name="Textfeld 67">
                    <a:extLst>
                      <a:ext uri="{FF2B5EF4-FFF2-40B4-BE49-F238E27FC236}">
                        <a16:creationId xmlns:a16="http://schemas.microsoft.com/office/drawing/2014/main" id="{C2665A29-17AD-08C3-62E0-51246F3681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88751" y="5763487"/>
                    <a:ext cx="493070" cy="379463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9753" r="-20988" b="-2096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6" name="Straight Connector 70">
                <a:extLst>
                  <a:ext uri="{FF2B5EF4-FFF2-40B4-BE49-F238E27FC236}">
                    <a16:creationId xmlns:a16="http://schemas.microsoft.com/office/drawing/2014/main" id="{230EA575-228F-3EB6-4B4D-C0AEB81E35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3923" y="6284671"/>
                <a:ext cx="1267576" cy="125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72">
                <a:extLst>
                  <a:ext uri="{FF2B5EF4-FFF2-40B4-BE49-F238E27FC236}">
                    <a16:creationId xmlns:a16="http://schemas.microsoft.com/office/drawing/2014/main" id="{23BF1C51-2459-D4B3-8E35-2482A2D2AA1E}"/>
                  </a:ext>
                </a:extLst>
              </p:cNvPr>
              <p:cNvSpPr/>
              <p:nvPr/>
            </p:nvSpPr>
            <p:spPr>
              <a:xfrm>
                <a:off x="4786018" y="624070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2000"/>
              </a:p>
            </p:txBody>
          </p:sp>
          <p:cxnSp>
            <p:nvCxnSpPr>
              <p:cNvPr id="138" name="Straight Connector 63">
                <a:extLst>
                  <a:ext uri="{FF2B5EF4-FFF2-40B4-BE49-F238E27FC236}">
                    <a16:creationId xmlns:a16="http://schemas.microsoft.com/office/drawing/2014/main" id="{944A15C9-D5A1-89E5-A995-AC4F8B3407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88133" y="6289395"/>
                <a:ext cx="1263366" cy="7545"/>
              </a:xfrm>
              <a:prstGeom prst="line">
                <a:avLst/>
              </a:prstGeom>
              <a:ln w="57150">
                <a:solidFill>
                  <a:schemeClr val="tx2">
                    <a:lumMod val="50000"/>
                    <a:lumOff val="50000"/>
                    <a:alpha val="39772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9" name="Textfeld 67">
                    <a:extLst>
                      <a:ext uri="{FF2B5EF4-FFF2-40B4-BE49-F238E27FC236}">
                        <a16:creationId xmlns:a16="http://schemas.microsoft.com/office/drawing/2014/main" id="{02E7284C-3186-1A4B-6EC7-A62987ADD34E}"/>
                      </a:ext>
                    </a:extLst>
                  </p:cNvPr>
                  <p:cNvSpPr txBox="1"/>
                  <p:nvPr/>
                </p:nvSpPr>
                <p:spPr>
                  <a:xfrm>
                    <a:off x="5367773" y="6303240"/>
                    <a:ext cx="493070" cy="37946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de-DE" sz="2000" b="0" i="1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oMath>
                      </m:oMathPara>
                    </a14:m>
                    <a:endParaRPr lang="de-DE" sz="2000" i="1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9" name="Textfeld 67">
                    <a:extLst>
                      <a:ext uri="{FF2B5EF4-FFF2-40B4-BE49-F238E27FC236}">
                        <a16:creationId xmlns:a16="http://schemas.microsoft.com/office/drawing/2014/main" id="{02E7284C-3186-1A4B-6EC7-A62987ADD3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7773" y="6303240"/>
                    <a:ext cx="493070" cy="37946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3580" r="-17284" b="-206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Textfeld 67">
                  <a:extLst>
                    <a:ext uri="{FF2B5EF4-FFF2-40B4-BE49-F238E27FC236}">
                      <a16:creationId xmlns:a16="http://schemas.microsoft.com/office/drawing/2014/main" id="{6CA5D2E7-6115-4C0A-70FD-5F8965E3E6D0}"/>
                    </a:ext>
                  </a:extLst>
                </p:cNvPr>
                <p:cNvSpPr txBox="1"/>
                <p:nvPr/>
              </p:nvSpPr>
              <p:spPr>
                <a:xfrm>
                  <a:off x="5627510" y="5930925"/>
                  <a:ext cx="934717" cy="2105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20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000</m:t>
                        </m:r>
                        <m:r>
                          <m:rPr>
                            <m:sty m:val="p"/>
                          </m:rPr>
                          <a:rPr lang="de-DE" sz="1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oMath>
                    </m:oMathPara>
                  </a14:m>
                  <a:endParaRPr lang="de-DE" sz="1200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2" name="Textfeld 67">
                  <a:extLst>
                    <a:ext uri="{FF2B5EF4-FFF2-40B4-BE49-F238E27FC236}">
                      <a16:creationId xmlns:a16="http://schemas.microsoft.com/office/drawing/2014/main" id="{6CA5D2E7-6115-4C0A-70FD-5F8965E3E6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7510" y="5930925"/>
                  <a:ext cx="934717" cy="210507"/>
                </a:xfrm>
                <a:prstGeom prst="rect">
                  <a:avLst/>
                </a:prstGeom>
                <a:blipFill>
                  <a:blip r:embed="rId12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70749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oneline_overlay">
            <a:hlinkClick r:id="" action="ppaction://media"/>
            <a:extLst>
              <a:ext uri="{FF2B5EF4-FFF2-40B4-BE49-F238E27FC236}">
                <a16:creationId xmlns:a16="http://schemas.microsoft.com/office/drawing/2014/main" id="{4ED54A0C-A422-F108-1C90-934AA48EB17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74157" y="2756035"/>
            <a:ext cx="9323534" cy="88743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F154289-A2D9-CDB6-F285-78E8B7C8ED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4309" y="3648295"/>
            <a:ext cx="9538515" cy="214917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39F593-7DE2-A9DF-E6F0-5400A292B1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37</a:t>
            </a:fld>
            <a:endParaRPr lang="de-DE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6A9720-D3A5-5ACF-B079-B0C394153088}"/>
              </a:ext>
            </a:extLst>
          </p:cNvPr>
          <p:cNvSpPr txBox="1"/>
          <p:nvPr/>
        </p:nvSpPr>
        <p:spPr>
          <a:xfrm>
            <a:off x="5183151" y="5902188"/>
            <a:ext cx="1560831" cy="3215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4000"/>
              </a:lnSpc>
            </a:pPr>
            <a:r>
              <a:rPr lang="en-US" sz="2000">
                <a:latin typeface="+mn-lt"/>
                <a:cs typeface="Arial"/>
              </a:rPr>
              <a:t>distance in m</a:t>
            </a:r>
            <a:endParaRPr lang="en-US" sz="2000"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C67C3E-A5EF-E858-A048-674787B2C380}"/>
              </a:ext>
            </a:extLst>
          </p:cNvPr>
          <p:cNvSpPr txBox="1"/>
          <p:nvPr/>
        </p:nvSpPr>
        <p:spPr>
          <a:xfrm rot="-5400000">
            <a:off x="68213" y="4473112"/>
            <a:ext cx="1603411" cy="3215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13999"/>
              </a:lnSpc>
            </a:pPr>
            <a:r>
              <a:rPr lang="en-US" sz="2000">
                <a:latin typeface="+mn-lt"/>
                <a:cs typeface="Arial"/>
              </a:rPr>
              <a:t>velocity in m/s</a:t>
            </a:r>
            <a:endParaRPr lang="en-US" sz="24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80B787F-19CD-3299-DF0A-46CF7DC74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E676CF4-DB18-8CBC-50ED-D9B76173E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de-DE" err="1"/>
              <a:t>Linearized</a:t>
            </a:r>
            <a:r>
              <a:rPr lang="de-DE"/>
              <a:t> Dynamics: </a:t>
            </a:r>
            <a:r>
              <a:rPr lang="de-DE" err="1"/>
              <a:t>Example</a:t>
            </a:r>
            <a:endParaRPr lang="de-DE"/>
          </a:p>
        </p:txBody>
      </p:sp>
      <p:sp>
        <p:nvSpPr>
          <p:cNvPr id="88" name="Content Placeholder 1">
            <a:extLst>
              <a:ext uri="{FF2B5EF4-FFF2-40B4-BE49-F238E27FC236}">
                <a16:creationId xmlns:a16="http://schemas.microsoft.com/office/drawing/2014/main" id="{37287C0F-93B2-308D-B9C7-9FC2CB442890}"/>
              </a:ext>
            </a:extLst>
          </p:cNvPr>
          <p:cNvSpPr txBox="1">
            <a:spLocks/>
          </p:cNvSpPr>
          <p:nvPr/>
        </p:nvSpPr>
        <p:spPr>
          <a:xfrm>
            <a:off x="425451" y="1762188"/>
            <a:ext cx="9720810" cy="887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3999"/>
              </a:lnSpc>
              <a:buFont typeface="Arial,Sans-Serif"/>
              <a:buChar char="•"/>
            </a:pPr>
            <a:r>
              <a:rPr lang="en-US" sz="2000">
                <a:solidFill>
                  <a:srgbClr val="00DA01"/>
                </a:solidFill>
              </a:rPr>
              <a:t>Green train</a:t>
            </a:r>
            <a:r>
              <a:rPr lang="en-US" sz="2000">
                <a:cs typeface="Arial"/>
              </a:rPr>
              <a:t>: output of MILP with dynamics modeled with linear constraints</a:t>
            </a:r>
            <a:endParaRPr lang="en-US" sz="2000" b="1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,Sans-Serif"/>
              <a:buChar char="•"/>
            </a:pPr>
            <a:r>
              <a:rPr lang="en-US" sz="2000">
                <a:solidFill>
                  <a:srgbClr val="FF0000"/>
                </a:solidFill>
                <a:cs typeface="Arial"/>
              </a:rPr>
              <a:t>Red train</a:t>
            </a:r>
            <a:r>
              <a:rPr lang="en-US" sz="2000">
                <a:cs typeface="Arial"/>
              </a:rPr>
              <a:t>: output of combined approach</a:t>
            </a:r>
            <a:endParaRPr lang="en-US" sz="2000" b="1">
              <a:cs typeface="Arial"/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7F3B7D2E-5849-464A-70F2-285E14E47777}"/>
              </a:ext>
            </a:extLst>
          </p:cNvPr>
          <p:cNvGrpSpPr/>
          <p:nvPr/>
        </p:nvGrpSpPr>
        <p:grpSpPr>
          <a:xfrm>
            <a:off x="10012510" y="313744"/>
            <a:ext cx="1754026" cy="917880"/>
            <a:chOff x="7428514" y="2549750"/>
            <a:chExt cx="2754029" cy="1441172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2851E680-C1D5-2663-9D1A-BF68406BB0E6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281D9261-AD6F-E7AB-6A94-1986808F8240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115" name="Graphic 114" descr="Toy Train with solid fill">
                  <a:extLst>
                    <a:ext uri="{FF2B5EF4-FFF2-40B4-BE49-F238E27FC236}">
                      <a16:creationId xmlns:a16="http://schemas.microsoft.com/office/drawing/2014/main" id="{68708A75-5283-2C9A-47EA-446C705661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289A2485-6F6E-55F6-E771-E400DC1E31B3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EF82A597-B374-2E94-9EA4-1F02E2849D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B1BFF818-B7E8-855F-8299-194C8BEC5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C2F8F32E-298F-6DAA-AF28-F79B7481E15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BD5203E5-7D2F-36FC-9367-B58E6A2BE114}"/>
                </a:ext>
              </a:extLst>
            </p:cNvPr>
            <p:cNvGrpSpPr/>
            <p:nvPr/>
          </p:nvGrpSpPr>
          <p:grpSpPr>
            <a:xfrm>
              <a:off x="8629915" y="3118768"/>
              <a:ext cx="1552628" cy="872154"/>
              <a:chOff x="1871464" y="2469614"/>
              <a:chExt cx="2892064" cy="1624538"/>
            </a:xfrm>
          </p:grpSpPr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236EC2F2-A910-E34E-81CB-AD46BBA24691}"/>
                  </a:ext>
                </a:extLst>
              </p:cNvPr>
              <p:cNvGrpSpPr/>
              <p:nvPr/>
            </p:nvGrpSpPr>
            <p:grpSpPr>
              <a:xfrm>
                <a:off x="1871464" y="2469614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B20A505F-5C49-BBFB-ACFA-4B5EC0CD2EDA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342696FE-BAF7-0F2D-EF46-2FF910762BB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B9391F89-34DC-2B38-0E6B-3E0979C115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857975FB-53FA-6076-CFF4-F3697FF0C1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Straight Connector 107">
                    <a:extLst>
                      <a:ext uri="{FF2B5EF4-FFF2-40B4-BE49-F238E27FC236}">
                        <a16:creationId xmlns:a16="http://schemas.microsoft.com/office/drawing/2014/main" id="{31E6FF6D-8677-A1F3-EEB0-7F67FAE443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Straight Connector 108">
                    <a:extLst>
                      <a:ext uri="{FF2B5EF4-FFF2-40B4-BE49-F238E27FC236}">
                        <a16:creationId xmlns:a16="http://schemas.microsoft.com/office/drawing/2014/main" id="{6454D3B6-1FE9-CB42-056E-0AFC83FD9C5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Straight Connector 109">
                    <a:extLst>
                      <a:ext uri="{FF2B5EF4-FFF2-40B4-BE49-F238E27FC236}">
                        <a16:creationId xmlns:a16="http://schemas.microsoft.com/office/drawing/2014/main" id="{A3D0DD1A-5CD0-AEEE-6AA4-F446961E2A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Straight Connector 110">
                    <a:extLst>
                      <a:ext uri="{FF2B5EF4-FFF2-40B4-BE49-F238E27FC236}">
                        <a16:creationId xmlns:a16="http://schemas.microsoft.com/office/drawing/2014/main" id="{9C6C8EE7-C587-8DAD-9C34-CDFA138449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2" name="Straight Connector 111">
                    <a:extLst>
                      <a:ext uri="{FF2B5EF4-FFF2-40B4-BE49-F238E27FC236}">
                        <a16:creationId xmlns:a16="http://schemas.microsoft.com/office/drawing/2014/main" id="{0795952E-0F42-2BD5-6D68-6636252AF2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A1F17864-7E17-FC53-41AF-A21393882650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101" name="Straight Connector 100">
                    <a:extLst>
                      <a:ext uri="{FF2B5EF4-FFF2-40B4-BE49-F238E27FC236}">
                        <a16:creationId xmlns:a16="http://schemas.microsoft.com/office/drawing/2014/main" id="{73699E5B-1774-E729-1F9D-6C36396E57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8BE762D6-B1E6-F578-986E-D47B7FA248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BA1AF6F2-4896-ACAB-C170-6E0C422CF4D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7E31C544-ED2E-46E6-E000-2740B49F49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BD6C948-99C0-DE42-9300-6E80450DD56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3E96B126-24B1-D246-E5FF-BFC1C866398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4D23B0FE-2512-EB95-4EFC-6899CED798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2496000-76BD-1339-E9E1-CD676E56FB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4438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434" fill="hold"/>
                                        <p:tgtEl>
                                          <p:spTgt spid="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  <p:extLst>
    <p:ext uri="{6950BFC3-D8DA-4A85-94F7-54DA5524770B}">
      <p188:commentRel xmlns:p188="http://schemas.microsoft.com/office/powerpoint/2018/8/main" r:id="rId5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83032-F01F-019F-88EB-7D6DD99DA7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38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9BAA07-C781-D12F-9423-46530ED4E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Segment-</a:t>
            </a:r>
            <a:r>
              <a:rPr lang="de-DE" err="1"/>
              <a:t>based</a:t>
            </a:r>
            <a:r>
              <a:rPr lang="de-DE"/>
              <a:t> Ansatz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D215-C7CF-11C2-8F9B-027F52A68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67" name="Rectangle: Rounded Corners 70">
            <a:extLst>
              <a:ext uri="{FF2B5EF4-FFF2-40B4-BE49-F238E27FC236}">
                <a16:creationId xmlns:a16="http://schemas.microsoft.com/office/drawing/2014/main" id="{69B6CE1A-687E-947A-F126-A1171F40245C}"/>
              </a:ext>
            </a:extLst>
          </p:cNvPr>
          <p:cNvSpPr/>
          <p:nvPr/>
        </p:nvSpPr>
        <p:spPr>
          <a:xfrm>
            <a:off x="4729719" y="4608736"/>
            <a:ext cx="5616432" cy="321362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Segment-</a:t>
            </a:r>
            <a:r>
              <a:rPr lang="de-DE" sz="2000" err="1">
                <a:solidFill>
                  <a:schemeClr val="tx1"/>
                </a:solidFill>
              </a:rPr>
              <a:t>based</a:t>
            </a:r>
            <a:r>
              <a:rPr lang="de-DE" sz="2000">
                <a:solidFill>
                  <a:schemeClr val="tx1"/>
                </a:solidFill>
              </a:rPr>
              <a:t> </a:t>
            </a:r>
            <a:r>
              <a:rPr lang="de-DE" sz="2000" err="1">
                <a:solidFill>
                  <a:schemeClr val="tx1"/>
                </a:solidFill>
              </a:rPr>
              <a:t>ansatz</a:t>
            </a:r>
            <a:r>
              <a:rPr lang="de-DE" sz="2000">
                <a:solidFill>
                  <a:schemeClr val="tx1"/>
                </a:solidFill>
              </a:rPr>
              <a:t> (</a:t>
            </a:r>
            <a:r>
              <a:rPr lang="de-DE" sz="2000" err="1">
                <a:solidFill>
                  <a:schemeClr val="tx1"/>
                </a:solidFill>
              </a:rPr>
              <a:t>no</a:t>
            </a:r>
            <a:r>
              <a:rPr lang="de-DE" sz="2000">
                <a:solidFill>
                  <a:schemeClr val="tx1"/>
                </a:solidFill>
              </a:rPr>
              <a:t> </a:t>
            </a:r>
            <a:r>
              <a:rPr lang="de-DE" sz="2000" err="1">
                <a:solidFill>
                  <a:schemeClr val="tx1"/>
                </a:solidFill>
              </a:rPr>
              <a:t>dynamics</a:t>
            </a:r>
            <a:r>
              <a:rPr lang="de-DE" sz="2000">
                <a:solidFill>
                  <a:schemeClr val="tx1"/>
                </a:solidFill>
              </a:rPr>
              <a:t>)</a:t>
            </a:r>
            <a:endParaRPr lang="de-DE" sz="2000">
              <a:solidFill>
                <a:schemeClr val="tx1"/>
              </a:solidFill>
              <a:cs typeface="Arial"/>
            </a:endParaRPr>
          </a:p>
        </p:txBody>
      </p:sp>
      <p:cxnSp>
        <p:nvCxnSpPr>
          <p:cNvPr id="69" name="Connector: Elbow 115">
            <a:extLst>
              <a:ext uri="{FF2B5EF4-FFF2-40B4-BE49-F238E27FC236}">
                <a16:creationId xmlns:a16="http://schemas.microsoft.com/office/drawing/2014/main" id="{03907450-092B-A586-181A-9226D43068C9}"/>
              </a:ext>
            </a:extLst>
          </p:cNvPr>
          <p:cNvCxnSpPr>
            <a:cxnSpLocks/>
            <a:endCxn id="67" idx="1"/>
          </p:cNvCxnSpPr>
          <p:nvPr/>
        </p:nvCxnSpPr>
        <p:spPr>
          <a:xfrm rot="16200000" flipH="1">
            <a:off x="4051237" y="4090935"/>
            <a:ext cx="1042010" cy="3149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Rectangle: Rounded Corners 8">
            <a:extLst>
              <a:ext uri="{FF2B5EF4-FFF2-40B4-BE49-F238E27FC236}">
                <a16:creationId xmlns:a16="http://schemas.microsoft.com/office/drawing/2014/main" id="{25D60A46-5D1C-F179-8578-6EE8135DF3B5}"/>
              </a:ext>
            </a:extLst>
          </p:cNvPr>
          <p:cNvSpPr/>
          <p:nvPr/>
        </p:nvSpPr>
        <p:spPr>
          <a:xfrm>
            <a:off x="3694806" y="2258231"/>
            <a:ext cx="2909599" cy="151091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000">
                <a:solidFill>
                  <a:schemeClr val="tx1"/>
                </a:solidFill>
              </a:rPr>
              <a:t>Mixed Integer LP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err="1">
                <a:solidFill>
                  <a:schemeClr val="tx1"/>
                </a:solidFill>
              </a:rPr>
              <a:t>One</a:t>
            </a:r>
            <a:r>
              <a:rPr lang="de-DE" sz="2000">
                <a:solidFill>
                  <a:schemeClr val="tx1"/>
                </a:solidFill>
              </a:rPr>
              <a:t> route per </a:t>
            </a:r>
            <a:r>
              <a:rPr lang="de-DE" sz="2000" err="1">
                <a:solidFill>
                  <a:schemeClr val="tx1"/>
                </a:solidFill>
              </a:rPr>
              <a:t>train</a:t>
            </a:r>
            <a:endParaRPr lang="de-DE" sz="20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>
                <a:solidFill>
                  <a:schemeClr val="tx1"/>
                </a:solidFill>
              </a:rPr>
              <a:t>Train </a:t>
            </a:r>
            <a:r>
              <a:rPr lang="de-DE" sz="2000" err="1">
                <a:solidFill>
                  <a:schemeClr val="tx1"/>
                </a:solidFill>
              </a:rPr>
              <a:t>order</a:t>
            </a:r>
            <a:endParaRPr lang="de-DE" sz="2000">
              <a:solidFill>
                <a:schemeClr val="tx1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21E29100-E4D9-3260-0A3C-E9AE6EA7AF5D}"/>
              </a:ext>
            </a:extLst>
          </p:cNvPr>
          <p:cNvGrpSpPr/>
          <p:nvPr/>
        </p:nvGrpSpPr>
        <p:grpSpPr>
          <a:xfrm>
            <a:off x="1074938" y="2166443"/>
            <a:ext cx="10042125" cy="2164731"/>
            <a:chOff x="1074938" y="2166443"/>
            <a:chExt cx="10042125" cy="2164731"/>
          </a:xfrm>
        </p:grpSpPr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E637800A-3E54-CE93-588D-6C2D99EE9AE3}"/>
                </a:ext>
              </a:extLst>
            </p:cNvPr>
            <p:cNvSpPr/>
            <p:nvPr/>
          </p:nvSpPr>
          <p:spPr>
            <a:xfrm rot="16200000">
              <a:off x="3294393" y="2965470"/>
              <a:ext cx="421663" cy="152881"/>
            </a:xfrm>
            <a:prstGeom prst="downArrow">
              <a:avLst>
                <a:gd name="adj1" fmla="val 3129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sz="200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443EFB6-0ADC-7463-B140-934B1C07DF54}"/>
                </a:ext>
              </a:extLst>
            </p:cNvPr>
            <p:cNvSpPr/>
            <p:nvPr/>
          </p:nvSpPr>
          <p:spPr>
            <a:xfrm>
              <a:off x="6991293" y="2258230"/>
              <a:ext cx="1589766" cy="151091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3999"/>
                </a:lnSpc>
              </a:pPr>
              <a:r>
                <a:rPr lang="de-DE" sz="2000" err="1">
                  <a:solidFill>
                    <a:schemeClr val="tx1"/>
                  </a:solidFill>
                </a:rPr>
                <a:t>Combined</a:t>
              </a:r>
              <a:r>
                <a:rPr lang="de-DE" sz="2000">
                  <a:solidFill>
                    <a:schemeClr val="tx1"/>
                  </a:solidFill>
                </a:rPr>
                <a:t> Approach</a:t>
              </a: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BAC24C0F-EC04-0AC7-6DCF-03BF998D2642}"/>
                </a:ext>
              </a:extLst>
            </p:cNvPr>
            <p:cNvSpPr/>
            <p:nvPr/>
          </p:nvSpPr>
          <p:spPr>
            <a:xfrm rot="16200000">
              <a:off x="6587018" y="2962097"/>
              <a:ext cx="421663" cy="152881"/>
            </a:xfrm>
            <a:prstGeom prst="downArrow">
              <a:avLst>
                <a:gd name="adj1" fmla="val 3129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sz="2000"/>
            </a:p>
          </p:txBody>
        </p:sp>
        <p:sp>
          <p:nvSpPr>
            <p:cNvPr id="14" name="Arrow: Down 13">
              <a:extLst>
                <a:ext uri="{FF2B5EF4-FFF2-40B4-BE49-F238E27FC236}">
                  <a16:creationId xmlns:a16="http://schemas.microsoft.com/office/drawing/2014/main" id="{A8780A72-8ABB-38FC-8D33-82639CDB9D10}"/>
                </a:ext>
              </a:extLst>
            </p:cNvPr>
            <p:cNvSpPr/>
            <p:nvPr/>
          </p:nvSpPr>
          <p:spPr>
            <a:xfrm rot="16200000">
              <a:off x="8563671" y="2938051"/>
              <a:ext cx="421663" cy="152881"/>
            </a:xfrm>
            <a:prstGeom prst="downArrow">
              <a:avLst>
                <a:gd name="adj1" fmla="val 31290"/>
                <a:gd name="adj2" fmla="val 10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 sz="2000"/>
            </a:p>
          </p:txBody>
        </p:sp>
        <p:sp>
          <p:nvSpPr>
            <p:cNvPr id="66" name="Rectangle: Rounded Corners 61">
              <a:extLst>
                <a:ext uri="{FF2B5EF4-FFF2-40B4-BE49-F238E27FC236}">
                  <a16:creationId xmlns:a16="http://schemas.microsoft.com/office/drawing/2014/main" id="{A06F31B9-DBE8-34ED-5C8F-044DA744825D}"/>
                </a:ext>
              </a:extLst>
            </p:cNvPr>
            <p:cNvSpPr/>
            <p:nvPr/>
          </p:nvSpPr>
          <p:spPr>
            <a:xfrm>
              <a:off x="4737964" y="4009812"/>
              <a:ext cx="5161853" cy="321362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Route-</a:t>
              </a:r>
              <a:r>
                <a:rPr lang="de-DE" sz="2000" err="1">
                  <a:solidFill>
                    <a:schemeClr val="tx1"/>
                  </a:solidFill>
                </a:rPr>
                <a:t>based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ansatz</a:t>
              </a:r>
              <a:r>
                <a:rPr lang="de-DE" sz="2000">
                  <a:solidFill>
                    <a:schemeClr val="tx1"/>
                  </a:solidFill>
                </a:rPr>
                <a:t> (</a:t>
              </a:r>
              <a:r>
                <a:rPr lang="de-DE" sz="2000" err="1">
                  <a:solidFill>
                    <a:schemeClr val="tx1"/>
                  </a:solidFill>
                </a:rPr>
                <a:t>simplified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dynamics</a:t>
              </a:r>
              <a:r>
                <a:rPr lang="de-DE" sz="2000">
                  <a:solidFill>
                    <a:schemeClr val="tx1"/>
                  </a:solidFill>
                </a:rPr>
                <a:t>)</a:t>
              </a:r>
              <a:endParaRPr lang="de-DE" sz="2000">
                <a:solidFill>
                  <a:schemeClr val="tx1"/>
                </a:solidFill>
                <a:cs typeface="Arial"/>
              </a:endParaRPr>
            </a:p>
          </p:txBody>
        </p:sp>
        <p:cxnSp>
          <p:nvCxnSpPr>
            <p:cNvPr id="68" name="Connector: Elbow 114">
              <a:extLst>
                <a:ext uri="{FF2B5EF4-FFF2-40B4-BE49-F238E27FC236}">
                  <a16:creationId xmlns:a16="http://schemas.microsoft.com/office/drawing/2014/main" id="{587B898E-F5B7-C176-0210-1E64FC23225F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 rot="16200000" flipH="1">
              <a:off x="4375692" y="3808221"/>
              <a:ext cx="401344" cy="32319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0BC38BD-3641-72CB-0CAE-DBC43BC54CDD}"/>
                </a:ext>
              </a:extLst>
            </p:cNvPr>
            <p:cNvGrpSpPr/>
            <p:nvPr/>
          </p:nvGrpSpPr>
          <p:grpSpPr>
            <a:xfrm>
              <a:off x="1074938" y="2166443"/>
              <a:ext cx="2225488" cy="1704927"/>
              <a:chOff x="1608440" y="3553984"/>
              <a:chExt cx="2225488" cy="1704927"/>
            </a:xfrm>
          </p:grpSpPr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039B2F84-8166-C386-80E2-F5E2D51944A6}"/>
                  </a:ext>
                </a:extLst>
              </p:cNvPr>
              <p:cNvGrpSpPr/>
              <p:nvPr/>
            </p:nvGrpSpPr>
            <p:grpSpPr>
              <a:xfrm>
                <a:off x="1614097" y="3553984"/>
                <a:ext cx="2219831" cy="812002"/>
                <a:chOff x="1573192" y="4207141"/>
                <a:chExt cx="1673068" cy="612000"/>
              </a:xfrm>
            </p:grpSpPr>
            <p:sp>
              <p:nvSpPr>
                <p:cNvPr id="79" name="Flowchart: Stored Data 11">
                  <a:extLst>
                    <a:ext uri="{FF2B5EF4-FFF2-40B4-BE49-F238E27FC236}">
                      <a16:creationId xmlns:a16="http://schemas.microsoft.com/office/drawing/2014/main" id="{E9D7B800-D77B-C0C7-1D3C-28C092B76A2C}"/>
                    </a:ext>
                  </a:extLst>
                </p:cNvPr>
                <p:cNvSpPr/>
                <p:nvPr/>
              </p:nvSpPr>
              <p:spPr>
                <a:xfrm flipH="1">
                  <a:off x="1843516" y="4207141"/>
                  <a:ext cx="1402744" cy="611500"/>
                </a:xfrm>
                <a:prstGeom prst="flowChartOnlineStorag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14000"/>
                    </a:lnSpc>
                  </a:pPr>
                  <a:endParaRPr lang="en-DE" sz="200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70E39487-1FAF-F823-6228-78C6A122CFE3}"/>
                    </a:ext>
                  </a:extLst>
                </p:cNvPr>
                <p:cNvGrpSpPr/>
                <p:nvPr/>
              </p:nvGrpSpPr>
              <p:grpSpPr>
                <a:xfrm>
                  <a:off x="1573192" y="4207141"/>
                  <a:ext cx="612000" cy="612000"/>
                  <a:chOff x="1851183" y="3079700"/>
                  <a:chExt cx="495300" cy="495300"/>
                </a:xfrm>
              </p:grpSpPr>
              <p:sp>
                <p:nvSpPr>
                  <p:cNvPr id="82" name="Oval 81">
                    <a:extLst>
                      <a:ext uri="{FF2B5EF4-FFF2-40B4-BE49-F238E27FC236}">
                        <a16:creationId xmlns:a16="http://schemas.microsoft.com/office/drawing/2014/main" id="{2C5E1A5A-FD3B-1E3D-8421-655E87E43735}"/>
                      </a:ext>
                    </a:extLst>
                  </p:cNvPr>
                  <p:cNvSpPr/>
                  <p:nvPr/>
                </p:nvSpPr>
                <p:spPr>
                  <a:xfrm>
                    <a:off x="1851183" y="3079700"/>
                    <a:ext cx="495300" cy="4953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endParaRPr lang="en-US" sz="2000"/>
                  </a:p>
                </p:txBody>
              </p:sp>
              <p:pic>
                <p:nvPicPr>
                  <p:cNvPr id="83" name="Graphic 82" descr="Document outline">
                    <a:extLst>
                      <a:ext uri="{FF2B5EF4-FFF2-40B4-BE49-F238E27FC236}">
                        <a16:creationId xmlns:a16="http://schemas.microsoft.com/office/drawing/2014/main" id="{A9049DB2-F356-7FCA-4560-5BF985A90CD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41072" y="3169589"/>
                    <a:ext cx="315522" cy="31552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079336DA-A65A-1A9A-CF40-6A787AAB94A7}"/>
                    </a:ext>
                  </a:extLst>
                </p:cNvPr>
                <p:cNvSpPr txBox="1"/>
                <p:nvPr/>
              </p:nvSpPr>
              <p:spPr>
                <a:xfrm>
                  <a:off x="2269259" y="4249304"/>
                  <a:ext cx="843117" cy="5067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de-DE" sz="2000"/>
                    <a:t>Network, Schedule</a:t>
                  </a:r>
                  <a:endParaRPr lang="en-DE" sz="2000"/>
                </a:p>
              </p:txBody>
            </p:sp>
          </p:grp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1D5C706D-42F6-9BDC-E611-06322D363A3B}"/>
                  </a:ext>
                </a:extLst>
              </p:cNvPr>
              <p:cNvGrpSpPr/>
              <p:nvPr/>
            </p:nvGrpSpPr>
            <p:grpSpPr>
              <a:xfrm>
                <a:off x="1608440" y="4446909"/>
                <a:ext cx="2225485" cy="812002"/>
                <a:chOff x="1573192" y="4207141"/>
                <a:chExt cx="1677332" cy="612000"/>
              </a:xfrm>
            </p:grpSpPr>
            <p:sp>
              <p:nvSpPr>
                <p:cNvPr id="74" name="Flowchart: Stored Data 11">
                  <a:extLst>
                    <a:ext uri="{FF2B5EF4-FFF2-40B4-BE49-F238E27FC236}">
                      <a16:creationId xmlns:a16="http://schemas.microsoft.com/office/drawing/2014/main" id="{6F4E151B-997E-EAB1-8E69-9CE1B7DA31BC}"/>
                    </a:ext>
                  </a:extLst>
                </p:cNvPr>
                <p:cNvSpPr/>
                <p:nvPr/>
              </p:nvSpPr>
              <p:spPr>
                <a:xfrm flipH="1">
                  <a:off x="1895203" y="4207141"/>
                  <a:ext cx="1355321" cy="611500"/>
                </a:xfrm>
                <a:prstGeom prst="flowChartOnlineStorag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>
                    <a:lnSpc>
                      <a:spcPct val="114000"/>
                    </a:lnSpc>
                  </a:pPr>
                  <a:endParaRPr lang="en-DE" sz="200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75" name="Group 74">
                  <a:extLst>
                    <a:ext uri="{FF2B5EF4-FFF2-40B4-BE49-F238E27FC236}">
                      <a16:creationId xmlns:a16="http://schemas.microsoft.com/office/drawing/2014/main" id="{C5EA7D59-ACC1-EF7D-F93F-FE41DD0773DF}"/>
                    </a:ext>
                  </a:extLst>
                </p:cNvPr>
                <p:cNvGrpSpPr/>
                <p:nvPr/>
              </p:nvGrpSpPr>
              <p:grpSpPr>
                <a:xfrm>
                  <a:off x="1573192" y="4207141"/>
                  <a:ext cx="612000" cy="612000"/>
                  <a:chOff x="1851183" y="3079700"/>
                  <a:chExt cx="495300" cy="495300"/>
                </a:xfrm>
              </p:grpSpPr>
              <p:sp>
                <p:nvSpPr>
                  <p:cNvPr id="77" name="Oval 76">
                    <a:extLst>
                      <a:ext uri="{FF2B5EF4-FFF2-40B4-BE49-F238E27FC236}">
                        <a16:creationId xmlns:a16="http://schemas.microsoft.com/office/drawing/2014/main" id="{44EB87DB-DBA5-0613-98EB-94C2D94F8107}"/>
                      </a:ext>
                    </a:extLst>
                  </p:cNvPr>
                  <p:cNvSpPr/>
                  <p:nvPr/>
                </p:nvSpPr>
                <p:spPr>
                  <a:xfrm>
                    <a:off x="1851183" y="3079700"/>
                    <a:ext cx="495300" cy="495300"/>
                  </a:xfrm>
                  <a:prstGeom prst="ellipse">
                    <a:avLst/>
                  </a:prstGeom>
                  <a:solidFill>
                    <a:schemeClr val="accent5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>
                      <a:lnSpc>
                        <a:spcPct val="114000"/>
                      </a:lnSpc>
                    </a:pPr>
                    <a:endParaRPr lang="en-US" sz="2000"/>
                  </a:p>
                </p:txBody>
              </p:sp>
              <p:pic>
                <p:nvPicPr>
                  <p:cNvPr id="78" name="Graphic 77" descr="Document outline">
                    <a:extLst>
                      <a:ext uri="{FF2B5EF4-FFF2-40B4-BE49-F238E27FC236}">
                        <a16:creationId xmlns:a16="http://schemas.microsoft.com/office/drawing/2014/main" id="{4B156B44-A417-38A7-7DB5-679936E9634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941072" y="3169589"/>
                    <a:ext cx="315522" cy="315522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021A278A-3BCD-5AC2-D64C-C0CE8DF57E6A}"/>
                    </a:ext>
                  </a:extLst>
                </p:cNvPr>
                <p:cNvSpPr txBox="1"/>
                <p:nvPr/>
              </p:nvSpPr>
              <p:spPr>
                <a:xfrm>
                  <a:off x="2275636" y="4395208"/>
                  <a:ext cx="843117" cy="24231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:r>
                    <a:rPr lang="de-DE" sz="2000"/>
                    <a:t>Trains</a:t>
                  </a:r>
                  <a:endParaRPr lang="en-DE" sz="2000"/>
                </a:p>
              </p:txBody>
            </p:sp>
          </p:grpSp>
        </p:grp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E21017AF-EB5C-7724-4D39-48B7519F5866}"/>
                </a:ext>
              </a:extLst>
            </p:cNvPr>
            <p:cNvGrpSpPr/>
            <p:nvPr/>
          </p:nvGrpSpPr>
          <p:grpSpPr>
            <a:xfrm>
              <a:off x="8967946" y="2607177"/>
              <a:ext cx="2149117" cy="813024"/>
              <a:chOff x="2006006" y="3269604"/>
              <a:chExt cx="1332258" cy="504001"/>
            </a:xfrm>
          </p:grpSpPr>
          <p:sp>
            <p:nvSpPr>
              <p:cNvPr id="85" name="Flowchart: Stored Data 28">
                <a:extLst>
                  <a:ext uri="{FF2B5EF4-FFF2-40B4-BE49-F238E27FC236}">
                    <a16:creationId xmlns:a16="http://schemas.microsoft.com/office/drawing/2014/main" id="{F282141A-C212-E8EF-5CAC-B15FE52DBE59}"/>
                  </a:ext>
                </a:extLst>
              </p:cNvPr>
              <p:cNvSpPr/>
              <p:nvPr/>
            </p:nvSpPr>
            <p:spPr>
              <a:xfrm flipH="1">
                <a:off x="2258005" y="3269604"/>
                <a:ext cx="1080259" cy="504000"/>
              </a:xfrm>
              <a:prstGeom prst="flowChartOnlineStorage">
                <a:avLst/>
              </a:prstGeom>
              <a:solidFill>
                <a:srgbClr val="7EC49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9C82E03-BADB-F8CF-61D8-43742572FFC8}"/>
                  </a:ext>
                </a:extLst>
              </p:cNvPr>
              <p:cNvSpPr txBox="1"/>
              <p:nvPr/>
            </p:nvSpPr>
            <p:spPr>
              <a:xfrm>
                <a:off x="2583461" y="3425103"/>
                <a:ext cx="732777" cy="1849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Solution</a:t>
                </a:r>
                <a:endParaRPr lang="en-DE" sz="2000"/>
              </a:p>
            </p:txBody>
          </p: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CFE5EDFC-9393-4E4C-970C-C02AD6A81B95}"/>
                  </a:ext>
                </a:extLst>
              </p:cNvPr>
              <p:cNvGrpSpPr/>
              <p:nvPr/>
            </p:nvGrpSpPr>
            <p:grpSpPr>
              <a:xfrm>
                <a:off x="2006006" y="3269605"/>
                <a:ext cx="504000" cy="504000"/>
                <a:chOff x="2006006" y="3269605"/>
                <a:chExt cx="504000" cy="504000"/>
              </a:xfrm>
            </p:grpSpPr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9E616294-6894-F01D-E477-31A437038D57}"/>
                    </a:ext>
                  </a:extLst>
                </p:cNvPr>
                <p:cNvSpPr/>
                <p:nvPr/>
              </p:nvSpPr>
              <p:spPr>
                <a:xfrm>
                  <a:off x="2006006" y="3269605"/>
                  <a:ext cx="504000" cy="5040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89" name="Graphic 88" descr="Lights On outline">
                  <a:extLst>
                    <a:ext uri="{FF2B5EF4-FFF2-40B4-BE49-F238E27FC236}">
                      <a16:creationId xmlns:a16="http://schemas.microsoft.com/office/drawing/2014/main" id="{F7423A34-58D6-0080-CFBD-C8DD9DB5978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83315" y="3346914"/>
                  <a:ext cx="349383" cy="349383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9A7C57E-E4C8-FE29-1684-3CB7D2AF6E84}"/>
              </a:ext>
            </a:extLst>
          </p:cNvPr>
          <p:cNvGrpSpPr/>
          <p:nvPr/>
        </p:nvGrpSpPr>
        <p:grpSpPr>
          <a:xfrm>
            <a:off x="10012510" y="313744"/>
            <a:ext cx="1754026" cy="917880"/>
            <a:chOff x="7428514" y="2549750"/>
            <a:chExt cx="2754029" cy="1441172"/>
          </a:xfrm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DB49036E-2771-7021-7C3F-BC4B699621E6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EC7C2D4F-4A52-C4CF-AD14-CE1D3745DAFC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61" name="Graphic 60" descr="Toy Train with solid fill">
                  <a:extLst>
                    <a:ext uri="{FF2B5EF4-FFF2-40B4-BE49-F238E27FC236}">
                      <a16:creationId xmlns:a16="http://schemas.microsoft.com/office/drawing/2014/main" id="{8E47B4EB-CC2C-A7B6-1B9D-A14591B46B5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D97DE7A8-C4B9-8C76-AD2F-9F2B683E1A3C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AEAB15E9-887F-99B3-FB07-934F66633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FA59D058-7FA0-0B92-416E-ACB01F8E0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4576A02E-7AC7-3930-B671-7FF9705D2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5F2A65A-C122-56B3-0BDF-C3BE17C6DBBA}"/>
                </a:ext>
              </a:extLst>
            </p:cNvPr>
            <p:cNvGrpSpPr/>
            <p:nvPr/>
          </p:nvGrpSpPr>
          <p:grpSpPr>
            <a:xfrm>
              <a:off x="8629914" y="3118768"/>
              <a:ext cx="1552629" cy="872154"/>
              <a:chOff x="1871463" y="2469614"/>
              <a:chExt cx="2892066" cy="1624538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9DD0BCD8-A441-9E65-0CE4-A2A5CEB18FA8}"/>
                  </a:ext>
                </a:extLst>
              </p:cNvPr>
              <p:cNvGrpSpPr/>
              <p:nvPr/>
            </p:nvGrpSpPr>
            <p:grpSpPr>
              <a:xfrm>
                <a:off x="1871463" y="2469614"/>
                <a:ext cx="2892066" cy="1515565"/>
                <a:chOff x="2426305" y="3644089"/>
                <a:chExt cx="1212761" cy="644966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8BB0A7E1-1CEE-C086-B2DE-E3D60887E141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BF366D8C-8A4A-00A4-CA2D-AFA6416C8A9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ECF16F56-9206-9BB3-3A8B-3934ECC27C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1CE3D029-CA49-3CD6-A9EE-E48926F869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B313AB42-0B3C-F83D-722A-40BEFFBEBF7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FDE4194F-9A9E-FF47-8FB2-15E826E8C9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553CE037-43CC-EA2E-F0F1-FEECB34426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0EB85601-653C-F813-DD54-A6BC6D6B333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>
                    <a:extLst>
                      <a:ext uri="{FF2B5EF4-FFF2-40B4-BE49-F238E27FC236}">
                        <a16:creationId xmlns:a16="http://schemas.microsoft.com/office/drawing/2014/main" id="{EE553DCE-1321-8C73-B90B-954EE3AE24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19D150A7-7C2A-0C7F-0B8E-8E4172B1AE34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1" cy="442005"/>
                  <a:chOff x="2426305" y="3644089"/>
                  <a:chExt cx="1212761" cy="442005"/>
                </a:xfrm>
              </p:grpSpPr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1B097952-30AE-19CC-41AF-C8A9C3AD54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38E35BE2-EFCD-8D87-1A21-C7F5323D43A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2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>
                    <a:extLst>
                      <a:ext uri="{FF2B5EF4-FFF2-40B4-BE49-F238E27FC236}">
                        <a16:creationId xmlns:a16="http://schemas.microsoft.com/office/drawing/2014/main" id="{3E883F5D-11DD-9D04-82A2-4FF7947378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400C2A54-374A-9106-D244-BD812724C5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FA653817-CA1B-06C5-89B5-B119430C614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B60A6E2-2670-671B-8A33-1DE145D2B76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BFE2553F-D3D8-3141-D694-53EE3DB2A9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B6B9DB7-EEFE-9951-A607-F39D384C41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2472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4"/>
                                      </p:to>
                                    </p:set>
                                    <p:animEffect filter="image" prLst="opacity: 0.24">
                                      <p:cBhvr rctx="IE">
                                        <p:cTn id="7" dur="indefinite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feld 14">
                <a:extLst>
                  <a:ext uri="{FF2B5EF4-FFF2-40B4-BE49-F238E27FC236}">
                    <a16:creationId xmlns:a16="http://schemas.microsoft.com/office/drawing/2014/main" id="{F5C4BA13-705B-3BE3-95DE-FE9635D13EE8}"/>
                  </a:ext>
                </a:extLst>
              </p:cNvPr>
              <p:cNvSpPr txBox="1"/>
              <p:nvPr/>
            </p:nvSpPr>
            <p:spPr>
              <a:xfrm>
                <a:off x="1363242" y="4583792"/>
                <a:ext cx="3865918" cy="542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7EC4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smtClean="0">
                              <a:solidFill>
                                <a:srgbClr val="7EC492"/>
                              </a:solidFill>
                              <a:latin typeface="+mn-lt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i="1" smtClean="0">
                          <a:solidFill>
                            <a:srgbClr val="F67400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000" i="1" dirty="0"/>
                        <m:t>⋅</m:t>
                      </m:r>
                      <m:r>
                        <m:rPr>
                          <m:nor/>
                        </m:rPr>
                        <a:rPr lang="de-DE" sz="2000" b="0" i="0" dirty="0" smtClean="0"/>
                        <m:t> 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(3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de-DE" sz="2000" i="1">
                              <a:solidFill>
                                <a:srgbClr val="7EC4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b="0" i="1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S</m:t>
                          </m:r>
                        </m:e>
                        <m:sup>
                          <m:sSup>
                            <m:sSupPr>
                              <m:ctrlPr>
                                <a:rPr lang="de-DE" sz="2000" i="1">
                                  <a:solidFill>
                                    <a:srgbClr val="F674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latin typeface="+mn-lt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de-DE" sz="2000" i="1" smtClean="0">
                              <a:latin typeface="+mn-lt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de-DE" sz="2000" i="1">
                                  <a:solidFill>
                                    <a:srgbClr val="F674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>
                  <a:latin typeface="+mn-lt"/>
                </a:endParaRPr>
              </a:p>
            </p:txBody>
          </p:sp>
        </mc:Choice>
        <mc:Fallback xmlns="">
          <p:sp>
            <p:nvSpPr>
              <p:cNvPr id="120" name="Textfeld 14">
                <a:extLst>
                  <a:ext uri="{FF2B5EF4-FFF2-40B4-BE49-F238E27FC236}">
                    <a16:creationId xmlns:a16="http://schemas.microsoft.com/office/drawing/2014/main" id="{F5C4BA13-705B-3BE3-95DE-FE9635D13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242" y="4583792"/>
                <a:ext cx="3865918" cy="542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" name="Rectangle 142">
            <a:extLst>
              <a:ext uri="{FF2B5EF4-FFF2-40B4-BE49-F238E27FC236}">
                <a16:creationId xmlns:a16="http://schemas.microsoft.com/office/drawing/2014/main" id="{FE0C17A5-6436-F42F-A78F-8463EC4D3C6E}"/>
              </a:ext>
            </a:extLst>
          </p:cNvPr>
          <p:cNvSpPr/>
          <p:nvPr/>
        </p:nvSpPr>
        <p:spPr>
          <a:xfrm>
            <a:off x="586954" y="2357673"/>
            <a:ext cx="5380212" cy="3162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endParaRPr lang="de-DE" sz="200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 </a:t>
            </a: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de-DE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de-DE" sz="2000">
              <a:solidFill>
                <a:schemeClr val="tx1"/>
              </a:solidFill>
            </a:endParaRPr>
          </a:p>
          <a:p>
            <a:pPr>
              <a:lnSpc>
                <a:spcPct val="114000"/>
              </a:lnSpc>
            </a:pPr>
            <a:endParaRPr lang="de-DE" sz="2000">
              <a:solidFill>
                <a:schemeClr val="tx1"/>
              </a:solidFill>
            </a:endParaRPr>
          </a:p>
          <a:p>
            <a:pPr marL="342900" indent="-342900">
              <a:lnSpc>
                <a:spcPct val="114000"/>
              </a:lnSpc>
              <a:buFont typeface="Arial" panose="020B0604020202020204" pitchFamily="34" charset="0"/>
              <a:buChar char="•"/>
            </a:pPr>
            <a:r>
              <a:rPr lang="de-DE" sz="2000">
                <a:solidFill>
                  <a:schemeClr val="tx1"/>
                </a:solidFill>
              </a:rPr>
              <a:t>Conflict </a:t>
            </a:r>
            <a:r>
              <a:rPr lang="de-DE" sz="2000" err="1">
                <a:solidFill>
                  <a:schemeClr val="tx1"/>
                </a:solidFill>
              </a:rPr>
              <a:t>constraints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83032-F01F-019F-88EB-7D6DD99DA7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39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9BAA07-C781-D12F-9423-46530ED4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de-DE"/>
              <a:t>Segment-</a:t>
            </a:r>
            <a:r>
              <a:rPr lang="de-DE" err="1"/>
              <a:t>based</a:t>
            </a:r>
            <a:r>
              <a:rPr lang="de-DE"/>
              <a:t> Ansatz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D215-C7CF-11C2-8F9B-027F52A68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F6B9622-C618-295E-BF58-9CF9308AC820}"/>
              </a:ext>
            </a:extLst>
          </p:cNvPr>
          <p:cNvGrpSpPr/>
          <p:nvPr/>
        </p:nvGrpSpPr>
        <p:grpSpPr>
          <a:xfrm>
            <a:off x="586953" y="1577828"/>
            <a:ext cx="11018094" cy="4579165"/>
            <a:chOff x="586953" y="1631135"/>
            <a:chExt cx="11018094" cy="4579165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4ADE15C-F675-6D5D-E7E5-E5FA4DDEEA13}"/>
                </a:ext>
              </a:extLst>
            </p:cNvPr>
            <p:cNvCxnSpPr>
              <a:cxnSpLocks/>
            </p:cNvCxnSpPr>
            <p:nvPr/>
          </p:nvCxnSpPr>
          <p:spPr>
            <a:xfrm>
              <a:off x="591187" y="2231571"/>
              <a:ext cx="1101386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B6A015-62B8-05C6-F195-CC9CDDBD3FA7}"/>
                </a:ext>
              </a:extLst>
            </p:cNvPr>
            <p:cNvCxnSpPr>
              <a:cxnSpLocks/>
            </p:cNvCxnSpPr>
            <p:nvPr/>
          </p:nvCxnSpPr>
          <p:spPr>
            <a:xfrm>
              <a:off x="6098117" y="1632857"/>
              <a:ext cx="0" cy="4577443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AB743BE-A660-E238-35C6-81A90A524A8A}"/>
                </a:ext>
              </a:extLst>
            </p:cNvPr>
            <p:cNvSpPr/>
            <p:nvPr/>
          </p:nvSpPr>
          <p:spPr>
            <a:xfrm>
              <a:off x="6190784" y="1631135"/>
              <a:ext cx="5414263" cy="5440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What changes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F5643D-9501-D1D9-1E3D-6A185AD7A72A}"/>
                </a:ext>
              </a:extLst>
            </p:cNvPr>
            <p:cNvSpPr/>
            <p:nvPr/>
          </p:nvSpPr>
          <p:spPr>
            <a:xfrm>
              <a:off x="586953" y="1631136"/>
              <a:ext cx="5418497" cy="5440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What to keep</a:t>
              </a:r>
              <a:endParaRPr lang="en-US" sz="16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B464FCA-3D09-9B4B-37C1-1E2D67D76CE9}"/>
                  </a:ext>
                </a:extLst>
              </p:cNvPr>
              <p:cNvSpPr/>
              <p:nvPr/>
            </p:nvSpPr>
            <p:spPr>
              <a:xfrm>
                <a:off x="6265034" y="2357673"/>
                <a:ext cx="5315091" cy="31625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chemeClr val="tx1"/>
                    </a:solidFill>
                  </a:rPr>
                  <a:t>No dynamics</a:t>
                </a:r>
              </a:p>
              <a:p>
                <a:pPr>
                  <a:lnSpc>
                    <a:spcPct val="114000"/>
                  </a:lnSpc>
                </a:pPr>
                <a:endParaRPr lang="en-US" sz="2000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 sz="2000">
                    <a:solidFill>
                      <a:schemeClr val="tx1"/>
                    </a:solidFill>
                  </a:rPr>
                  <a:t>Segment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1"/>
                            </a:solidFill>
                          </a:rPr>
                          <m:t>t</m:t>
                        </m:r>
                      </m:sup>
                    </m:sSubSup>
                    <m:r>
                      <a:rPr lang="de-DE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de-DE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de-DE" sz="2000">
                            <a:solidFill>
                              <a:schemeClr val="tx1"/>
                            </a:solidFill>
                            <a:latin typeface="Arial (Body)"/>
                          </a:rPr>
                          <m:t>0,1</m:t>
                        </m:r>
                      </m:e>
                    </m:d>
                  </m:oMath>
                </a14:m>
                <a:endParaRPr lang="de-DE" sz="2000">
                  <a:solidFill>
                    <a:schemeClr val="tx1"/>
                  </a:solidFill>
                  <a:latin typeface="Arial (Body)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B464FCA-3D09-9B4B-37C1-1E2D67D76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034" y="2357673"/>
                <a:ext cx="5315091" cy="3162506"/>
              </a:xfrm>
              <a:prstGeom prst="rect">
                <a:avLst/>
              </a:prstGeom>
              <a:blipFill>
                <a:blip r:embed="rId4"/>
                <a:stretch>
                  <a:fillRect l="-1032" t="-5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4593507-3F9A-D9C8-B865-3F00F5903338}"/>
                  </a:ext>
                </a:extLst>
              </p:cNvPr>
              <p:cNvSpPr/>
              <p:nvPr/>
            </p:nvSpPr>
            <p:spPr>
              <a:xfrm>
                <a:off x="586954" y="2357673"/>
                <a:ext cx="5380212" cy="316250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de-DE" sz="2000">
                    <a:solidFill>
                      <a:schemeClr val="tx1"/>
                    </a:solidFill>
                  </a:rPr>
                  <a:t>Speed </a:t>
                </a:r>
                <a:r>
                  <a:rPr lang="de-DE" sz="2000" err="1">
                    <a:solidFill>
                      <a:schemeClr val="tx1"/>
                    </a:solidFill>
                  </a:rPr>
                  <a:t>bounds</a:t>
                </a:r>
                <a:r>
                  <a:rPr lang="de-DE" sz="20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000" i="1">
                            <a:solidFill>
                              <a:srgbClr val="003359">
                                <a:lumMod val="50000"/>
                                <a:lumOff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rgbClr val="003359">
                                <a:lumMod val="50000"/>
                                <a:lumOff val="50000"/>
                              </a:srgbClr>
                            </a:solidFill>
                            <a:latin typeface="Arial" charset="0"/>
                            <a:ea typeface="Cambria Math" panose="02040503050406030204" pitchFamily="18" charset="0"/>
                            <a:cs typeface="Arial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>
                            <a:solidFill>
                              <a:srgbClr val="003359">
                                <a:lumMod val="50000"/>
                                <a:lumOff val="50000"/>
                              </a:srgbClr>
                            </a:solidFill>
                            <a:latin typeface="Arial" charset="0"/>
                            <a:ea typeface="Cambria Math" panose="02040503050406030204" pitchFamily="18" charset="0"/>
                            <a:cs typeface="Arial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de-DE" sz="2000" i="1">
                        <a:solidFill>
                          <a:prstClr val="black"/>
                        </a:solidFill>
                        <a:latin typeface="Arial" charset="0"/>
                        <a:ea typeface="Cambria Math" panose="02040503050406030204" pitchFamily="18" charset="0"/>
                        <a:cs typeface="Arial"/>
                      </a:rPr>
                      <m:t>−</m:t>
                    </m:r>
                    <m:sSub>
                      <m:sSubPr>
                        <m:ctrlPr>
                          <a:rPr lang="de-DE" sz="2000" i="1">
                            <a:solidFill>
                              <a:srgbClr val="003359">
                                <a:lumMod val="50000"/>
                                <a:lumOff val="5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de-DE" sz="2000" i="1">
                            <a:solidFill>
                              <a:srgbClr val="003359">
                                <a:lumMod val="50000"/>
                                <a:lumOff val="50000"/>
                              </a:srgbClr>
                            </a:solidFill>
                            <a:latin typeface="Arial" charset="0"/>
                            <a:ea typeface="Cambria Math" panose="02040503050406030204" pitchFamily="18" charset="0"/>
                            <a:cs typeface="Arial"/>
                          </a:rPr>
                          <m:t>T</m:t>
                        </m:r>
                      </m:e>
                      <m:sub>
                        <m:r>
                          <m:rPr>
                            <m:nor/>
                          </m:rPr>
                          <a:rPr lang="de-DE" sz="2000">
                            <a:solidFill>
                              <a:srgbClr val="003359">
                                <a:lumMod val="50000"/>
                                <a:lumOff val="50000"/>
                              </a:srgbClr>
                            </a:solidFill>
                            <a:ea typeface="Cambria Math" panose="02040503050406030204" pitchFamily="18" charset="0"/>
                            <a:cs typeface="Arial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de-DE" sz="2000" i="1">
                        <a:solidFill>
                          <a:srgbClr val="003359">
                            <a:lumMod val="50000"/>
                            <a:lumOff val="50000"/>
                          </a:srgbClr>
                        </a:solidFill>
                        <a:latin typeface="Arial" charset="0"/>
                        <a:ea typeface="Cambria Math" panose="02040503050406030204" pitchFamily="18" charset="0"/>
                        <a:cs typeface="Arial"/>
                      </a:rPr>
                      <m:t> </m:t>
                    </m:r>
                    <m:r>
                      <m:rPr>
                        <m:nor/>
                      </m:rPr>
                      <a:rPr lang="de-DE" sz="2000" i="1">
                        <a:solidFill>
                          <a:prstClr val="black"/>
                        </a:solidFill>
                        <a:latin typeface="Arial" charset="0"/>
                        <a:ea typeface="Cambria Math" panose="02040503050406030204" pitchFamily="18" charset="0"/>
                        <a:cs typeface="Arial"/>
                      </a:rPr>
                      <m:t>≥ </m:t>
                    </m:r>
                    <m:f>
                      <m:fPr>
                        <m:ctrlPr>
                          <a:rPr lang="de-DE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de-DE" sz="2000">
                            <a:solidFill>
                              <a:prstClr val="black"/>
                            </a:solidFill>
                            <a:latin typeface="Arial" charset="0"/>
                            <a:ea typeface="Cambria Math" panose="02040503050406030204" pitchFamily="18" charset="0"/>
                            <a:cs typeface="Arial"/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de-DE" sz="2000">
                            <a:solidFill>
                              <a:prstClr val="black"/>
                            </a:solidFill>
                            <a:ea typeface="Cambria Math" panose="02040503050406030204" pitchFamily="18" charset="0"/>
                            <a:cs typeface="Arial"/>
                          </a:rPr>
                          <m:t>(</m:t>
                        </m:r>
                        <m:sSub>
                          <m:sSubPr>
                            <m:ctrlPr>
                              <a:rPr lang="de-DE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prstClr val="black"/>
                                </a:solidFill>
                                <a:ea typeface="Cambria Math" panose="02040503050406030204" pitchFamily="18" charset="0"/>
                                <a:cs typeface="Arial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prstClr val="black"/>
                                </a:solidFill>
                                <a:ea typeface="Cambria Math" panose="02040503050406030204" pitchFamily="18" charset="0"/>
                                <a:cs typeface="Arial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de-DE" sz="2000">
                            <a:solidFill>
                              <a:prstClr val="black"/>
                            </a:solidFill>
                            <a:latin typeface="Arial" charset="0"/>
                            <a:ea typeface="Cambria Math" panose="02040503050406030204" pitchFamily="18" charset="0"/>
                            <a:cs typeface="Arial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de-DE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prstClr val="black"/>
                                </a:solidFill>
                                <a:latin typeface="Arial" charset="0"/>
                                <a:ea typeface="Cambria Math" panose="02040503050406030204" pitchFamily="18" charset="0"/>
                                <a:cs typeface="Arial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prstClr val="black"/>
                                </a:solidFill>
                                <a:latin typeface="Arial" charset="0"/>
                                <a:ea typeface="Cambria Math" panose="02040503050406030204" pitchFamily="18" charset="0"/>
                                <a:cs typeface="Arial"/>
                              </a:rPr>
                              <m:t>max</m:t>
                            </m:r>
                          </m:sub>
                        </m:sSub>
                      </m:den>
                    </m:f>
                  </m:oMath>
                </a14:m>
                <a:r>
                  <a:rPr lang="de-DE" sz="200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endParaRPr lang="de-DE" sz="2000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endParaRPr lang="de-DE" sz="200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:endParaRPr lang="de-DE" sz="2000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74593507-3F9A-D9C8-B865-3F00F59033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54" y="2357673"/>
                <a:ext cx="5380212" cy="3162506"/>
              </a:xfrm>
              <a:prstGeom prst="rect">
                <a:avLst/>
              </a:prstGeom>
              <a:blipFill>
                <a:blip r:embed="rId5"/>
                <a:stretch>
                  <a:fillRect l="-101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feld 14">
                <a:extLst>
                  <a:ext uri="{FF2B5EF4-FFF2-40B4-BE49-F238E27FC236}">
                    <a16:creationId xmlns:a16="http://schemas.microsoft.com/office/drawing/2014/main" id="{691E7914-7E48-1FC0-12B4-647ECEAD1A59}"/>
                  </a:ext>
                </a:extLst>
              </p:cNvPr>
              <p:cNvSpPr txBox="1"/>
              <p:nvPr/>
            </p:nvSpPr>
            <p:spPr>
              <a:xfrm>
                <a:off x="1363242" y="4583792"/>
                <a:ext cx="3865918" cy="5425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000" i="1">
                              <a:solidFill>
                                <a:srgbClr val="7EC49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smtClean="0">
                              <a:solidFill>
                                <a:srgbClr val="7EC492"/>
                              </a:solidFill>
                              <a:latin typeface="+mn-lt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≤ </m:t>
                      </m:r>
                      <m:sSub>
                        <m:sSub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m:rPr>
                          <m:nor/>
                        </m:rPr>
                        <a:rPr lang="de-DE" sz="2000" i="1" smtClean="0">
                          <a:solidFill>
                            <a:srgbClr val="F67400"/>
                          </a:solidFill>
                          <a:latin typeface="+mn-lt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sz="2000" i="1" dirty="0"/>
                        <m:t>⋅</m:t>
                      </m:r>
                      <m:r>
                        <m:rPr>
                          <m:nor/>
                        </m:rPr>
                        <a:rPr lang="de-DE" sz="2000" b="0" i="0" dirty="0" smtClean="0"/>
                        <m:t> </m:t>
                      </m:r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(3</m:t>
                      </m:r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de-DE" sz="2000" i="1">
                              <a:solidFill>
                                <a:srgbClr val="7EC49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 − </m:t>
                      </m:r>
                      <m:sSup>
                        <m:sSupPr>
                          <m:ctrlPr>
                            <a:rPr lang="de-DE" sz="2000" i="1">
                              <a:solidFill>
                                <a:srgbClr val="F674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F67400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R</m:t>
                          </m:r>
                        </m:e>
                        <m:sup>
                          <m:sSup>
                            <m:sSupPr>
                              <m:ctrlPr>
                                <a:rPr lang="de-DE" sz="2000" i="1">
                                  <a:solidFill>
                                    <a:srgbClr val="F674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de-DE" sz="2000" i="1" smtClean="0">
                          <a:latin typeface="+mn-lt"/>
                          <a:ea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i="1" smtClean="0">
                              <a:latin typeface="+mn-lt"/>
                              <a:ea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i="1" smtClean="0">
                              <a:solidFill>
                                <a:srgbClr val="7EC492"/>
                              </a:solidFill>
                              <a:latin typeface="+mn-lt"/>
                              <a:ea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de-DE" sz="2000" i="1" smtClean="0">
                              <a:latin typeface="+mn-lt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de-DE" sz="2000" i="1">
                                  <a:solidFill>
                                    <a:srgbClr val="F674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 sz="2000" i="1" smtClean="0">
                                  <a:solidFill>
                                    <a:srgbClr val="F67400"/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p>
                      </m:sSup>
                      <m:r>
                        <m:rPr>
                          <m:nor/>
                        </m:rPr>
                        <a:rPr lang="de-DE" sz="2000" smtClean="0">
                          <a:latin typeface="+mn-lt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sz="2000">
                  <a:latin typeface="+mn-lt"/>
                </a:endParaRPr>
              </a:p>
            </p:txBody>
          </p:sp>
        </mc:Choice>
        <mc:Fallback xmlns="">
          <p:sp>
            <p:nvSpPr>
              <p:cNvPr id="119" name="Textfeld 14">
                <a:extLst>
                  <a:ext uri="{FF2B5EF4-FFF2-40B4-BE49-F238E27FC236}">
                    <a16:creationId xmlns:a16="http://schemas.microsoft.com/office/drawing/2014/main" id="{691E7914-7E48-1FC0-12B4-647ECEAD1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3242" y="4583792"/>
                <a:ext cx="3865918" cy="5425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0F659ED5-B1EF-10E9-C8A4-ABBA40C2B4EC}"/>
              </a:ext>
            </a:extLst>
          </p:cNvPr>
          <p:cNvGrpSpPr/>
          <p:nvPr/>
        </p:nvGrpSpPr>
        <p:grpSpPr>
          <a:xfrm>
            <a:off x="10012510" y="313744"/>
            <a:ext cx="1754026" cy="917880"/>
            <a:chOff x="7428514" y="2549750"/>
            <a:chExt cx="2754029" cy="144117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D208B51F-58C4-7F12-D134-0813D4D8578E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2D983DC-70F2-CDA2-D2ED-27E71BEDD769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94" name="Graphic 93" descr="Toy Train with solid fill">
                  <a:extLst>
                    <a:ext uri="{FF2B5EF4-FFF2-40B4-BE49-F238E27FC236}">
                      <a16:creationId xmlns:a16="http://schemas.microsoft.com/office/drawing/2014/main" id="{C22A0A5C-2F4F-16A3-A597-90A4CF17CC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159878F9-84F6-4095-B118-2C09A2010E23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D929A006-973B-6F94-8C05-04398A385C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E5426BD1-829A-0EAC-72DA-1729386C34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9FFC5CBF-61C7-A973-1FBD-B1AC799085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6E04CBB0-876B-4A12-C122-47D0DA0FFE3D}"/>
                </a:ext>
              </a:extLst>
            </p:cNvPr>
            <p:cNvGrpSpPr/>
            <p:nvPr/>
          </p:nvGrpSpPr>
          <p:grpSpPr>
            <a:xfrm>
              <a:off x="8629914" y="3118768"/>
              <a:ext cx="1552629" cy="872154"/>
              <a:chOff x="1871463" y="2469614"/>
              <a:chExt cx="2892066" cy="1624538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39A41934-0684-297F-D38B-1717365584D2}"/>
                  </a:ext>
                </a:extLst>
              </p:cNvPr>
              <p:cNvGrpSpPr/>
              <p:nvPr/>
            </p:nvGrpSpPr>
            <p:grpSpPr>
              <a:xfrm>
                <a:off x="1871463" y="2469614"/>
                <a:ext cx="2892066" cy="1515565"/>
                <a:chOff x="2426305" y="3644089"/>
                <a:chExt cx="1212761" cy="644966"/>
              </a:xfrm>
            </p:grpSpPr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F727F36-189A-FDDD-0AB4-42434ADCC8CD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8003A1BF-C75C-AB55-CCF5-5ED257363C5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85" name="Straight Connector 84">
                    <a:extLst>
                      <a:ext uri="{FF2B5EF4-FFF2-40B4-BE49-F238E27FC236}">
                        <a16:creationId xmlns:a16="http://schemas.microsoft.com/office/drawing/2014/main" id="{862EB2E9-0E5C-8F45-CBB1-5CD7F17A7C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2FA2815C-BD48-1B0E-BED7-7D57BB1B9D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7" name="Straight Connector 86">
                    <a:extLst>
                      <a:ext uri="{FF2B5EF4-FFF2-40B4-BE49-F238E27FC236}">
                        <a16:creationId xmlns:a16="http://schemas.microsoft.com/office/drawing/2014/main" id="{DEDEC910-1172-D77B-2400-D5F6CBA2CD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49B1CF0E-A9C4-C3AC-EF8A-36EEB368A7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Straight Connector 88">
                    <a:extLst>
                      <a:ext uri="{FF2B5EF4-FFF2-40B4-BE49-F238E27FC236}">
                        <a16:creationId xmlns:a16="http://schemas.microsoft.com/office/drawing/2014/main" id="{D0F31BB1-04AA-2853-3BE6-2FA4A69DE8E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Straight Connector 89">
                    <a:extLst>
                      <a:ext uri="{FF2B5EF4-FFF2-40B4-BE49-F238E27FC236}">
                        <a16:creationId xmlns:a16="http://schemas.microsoft.com/office/drawing/2014/main" id="{5CD6431F-F161-2A8E-E88F-4B72D54CC9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4AFB1005-FA2A-8270-7395-64894BEC89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D237A7CC-85B7-D582-D2DC-AFAA457AAB60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1" cy="442005"/>
                  <a:chOff x="2426305" y="3644089"/>
                  <a:chExt cx="1212761" cy="442005"/>
                </a:xfrm>
              </p:grpSpPr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89E26C52-C84C-047D-F29F-17171316C2A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" name="Straight Connector 80">
                    <a:extLst>
                      <a:ext uri="{FF2B5EF4-FFF2-40B4-BE49-F238E27FC236}">
                        <a16:creationId xmlns:a16="http://schemas.microsoft.com/office/drawing/2014/main" id="{1283502F-6F80-FDAE-F317-7B9CDAFE41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2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64D7202E-5BBD-E24E-0CCD-B76FFADDB4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3" name="Straight Connector 82">
                    <a:extLst>
                      <a:ext uri="{FF2B5EF4-FFF2-40B4-BE49-F238E27FC236}">
                        <a16:creationId xmlns:a16="http://schemas.microsoft.com/office/drawing/2014/main" id="{EDFD2B1E-70A2-B537-4938-92987590C3B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11C9422-825F-1922-709F-F7246177BF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47E3D3AB-C7FA-377C-8F53-EE9826863A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B7A08AF7-B203-564B-0D5B-69EE30D33F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B3A68C4-E38A-FBD9-9740-BF5A3FD6B0F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DC9B4D3-AF94-2EFC-5600-81C1CDCB11F1}"/>
              </a:ext>
            </a:extLst>
          </p:cNvPr>
          <p:cNvGrpSpPr/>
          <p:nvPr/>
        </p:nvGrpSpPr>
        <p:grpSpPr>
          <a:xfrm>
            <a:off x="2008705" y="5240477"/>
            <a:ext cx="2574992" cy="762686"/>
            <a:chOff x="3284504" y="2336886"/>
            <a:chExt cx="2574992" cy="762686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CE833879-2127-1CA3-54E6-131DA4133357}"/>
                </a:ext>
              </a:extLst>
            </p:cNvPr>
            <p:cNvCxnSpPr>
              <a:cxnSpLocks/>
            </p:cNvCxnSpPr>
            <p:nvPr/>
          </p:nvCxnSpPr>
          <p:spPr>
            <a:xfrm>
              <a:off x="3713527" y="2706990"/>
              <a:ext cx="1708785" cy="0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40CB09BC-EAFF-3E4B-F66D-9F478443FCC4}"/>
                </a:ext>
              </a:extLst>
            </p:cNvPr>
            <p:cNvCxnSpPr>
              <a:cxnSpLocks/>
            </p:cNvCxnSpPr>
            <p:nvPr/>
          </p:nvCxnSpPr>
          <p:spPr>
            <a:xfrm>
              <a:off x="3713527" y="2769855"/>
              <a:ext cx="1708785" cy="0"/>
            </a:xfrm>
            <a:prstGeom prst="line">
              <a:avLst/>
            </a:prstGeom>
            <a:ln w="57150">
              <a:solidFill>
                <a:schemeClr val="accent4">
                  <a:alpha val="50196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Pfeil nach links 7">
              <a:extLst>
                <a:ext uri="{FF2B5EF4-FFF2-40B4-BE49-F238E27FC236}">
                  <a16:creationId xmlns:a16="http://schemas.microsoft.com/office/drawing/2014/main" id="{D8CF0AA7-6FFE-6C9A-23D3-DA89FB48B64E}"/>
                </a:ext>
              </a:extLst>
            </p:cNvPr>
            <p:cNvSpPr/>
            <p:nvPr/>
          </p:nvSpPr>
          <p:spPr>
            <a:xfrm rot="10800000">
              <a:off x="4290739" y="2790939"/>
              <a:ext cx="562521" cy="203012"/>
            </a:xfrm>
            <a:prstGeom prst="leftArrow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sp>
          <p:nvSpPr>
            <p:cNvPr id="114" name="Pfeil nach rechts 8">
              <a:extLst>
                <a:ext uri="{FF2B5EF4-FFF2-40B4-BE49-F238E27FC236}">
                  <a16:creationId xmlns:a16="http://schemas.microsoft.com/office/drawing/2014/main" id="{BD123C7C-C8F8-E7D8-099E-B49855378B9F}"/>
                </a:ext>
              </a:extLst>
            </p:cNvPr>
            <p:cNvSpPr/>
            <p:nvPr/>
          </p:nvSpPr>
          <p:spPr>
            <a:xfrm>
              <a:off x="4290740" y="2422535"/>
              <a:ext cx="562521" cy="222030"/>
            </a:xfrm>
            <a:prstGeom prst="rightArrow">
              <a:avLst/>
            </a:prstGeom>
            <a:solidFill>
              <a:srgbClr val="F674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de-DE"/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9E8DF394-43EA-48AA-AE1B-AE71F4762D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13527" y="2738422"/>
              <a:ext cx="170878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EF4BBD07-AFED-B33B-5269-9371CF83E06D}"/>
                </a:ext>
              </a:extLst>
            </p:cNvPr>
            <p:cNvSpPr/>
            <p:nvPr/>
          </p:nvSpPr>
          <p:spPr>
            <a:xfrm>
              <a:off x="5542290" y="2662646"/>
              <a:ext cx="150289" cy="15087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Textfeld 85">
                  <a:extLst>
                    <a:ext uri="{FF2B5EF4-FFF2-40B4-BE49-F238E27FC236}">
                      <a16:creationId xmlns:a16="http://schemas.microsoft.com/office/drawing/2014/main" id="{6E529851-5680-2676-EDBB-D6782E023F0F}"/>
                    </a:ext>
                  </a:extLst>
                </p:cNvPr>
                <p:cNvSpPr txBox="1"/>
                <p:nvPr/>
              </p:nvSpPr>
              <p:spPr>
                <a:xfrm>
                  <a:off x="5366426" y="2341503"/>
                  <a:ext cx="493070" cy="22717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7" name="Textfeld 85">
                  <a:extLst>
                    <a:ext uri="{FF2B5EF4-FFF2-40B4-BE49-F238E27FC236}">
                      <a16:creationId xmlns:a16="http://schemas.microsoft.com/office/drawing/2014/main" id="{6E529851-5680-2676-EDBB-D6782E023F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6426" y="2341503"/>
                  <a:ext cx="493070" cy="227178"/>
                </a:xfrm>
                <a:prstGeom prst="rect">
                  <a:avLst/>
                </a:prstGeom>
                <a:blipFill>
                  <a:blip r:embed="rId9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Textfeld 85">
                  <a:extLst>
                    <a:ext uri="{FF2B5EF4-FFF2-40B4-BE49-F238E27FC236}">
                      <a16:creationId xmlns:a16="http://schemas.microsoft.com/office/drawing/2014/main" id="{AB8B04A2-1774-64E3-24D7-1736A8CF49A2}"/>
                    </a:ext>
                  </a:extLst>
                </p:cNvPr>
                <p:cNvSpPr txBox="1"/>
                <p:nvPr/>
              </p:nvSpPr>
              <p:spPr>
                <a:xfrm>
                  <a:off x="5366426" y="2868162"/>
                  <a:ext cx="493070" cy="2298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8" name="Textfeld 85">
                  <a:extLst>
                    <a:ext uri="{FF2B5EF4-FFF2-40B4-BE49-F238E27FC236}">
                      <a16:creationId xmlns:a16="http://schemas.microsoft.com/office/drawing/2014/main" id="{AB8B04A2-1774-64E3-24D7-1736A8CF4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6426" y="2868162"/>
                  <a:ext cx="493070" cy="229807"/>
                </a:xfrm>
                <a:prstGeom prst="rect">
                  <a:avLst/>
                </a:prstGeom>
                <a:blipFill>
                  <a:blip r:embed="rId10"/>
                  <a:stretch>
                    <a:fillRect b="-1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97B7BB76-432B-7904-1327-69B1E9049D96}"/>
                </a:ext>
              </a:extLst>
            </p:cNvPr>
            <p:cNvSpPr/>
            <p:nvPr/>
          </p:nvSpPr>
          <p:spPr>
            <a:xfrm>
              <a:off x="3460368" y="2662646"/>
              <a:ext cx="150289" cy="15087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Textfeld 85">
                  <a:extLst>
                    <a:ext uri="{FF2B5EF4-FFF2-40B4-BE49-F238E27FC236}">
                      <a16:creationId xmlns:a16="http://schemas.microsoft.com/office/drawing/2014/main" id="{D66175C1-636F-A244-4FDA-F2D2E934461F}"/>
                    </a:ext>
                  </a:extLst>
                </p:cNvPr>
                <p:cNvSpPr txBox="1"/>
                <p:nvPr/>
              </p:nvSpPr>
              <p:spPr>
                <a:xfrm>
                  <a:off x="3284504" y="2336886"/>
                  <a:ext cx="493070" cy="2298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rgbClr val="F674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rgbClr val="F67400"/>
                                </a:solidFill>
                                <a:latin typeface="+mn-lt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2" name="Textfeld 85">
                  <a:extLst>
                    <a:ext uri="{FF2B5EF4-FFF2-40B4-BE49-F238E27FC236}">
                      <a16:creationId xmlns:a16="http://schemas.microsoft.com/office/drawing/2014/main" id="{D66175C1-636F-A244-4FDA-F2D2E93446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504" y="2336886"/>
                  <a:ext cx="493070" cy="229807"/>
                </a:xfrm>
                <a:prstGeom prst="rect">
                  <a:avLst/>
                </a:prstGeom>
                <a:blipFill>
                  <a:blip r:embed="rId11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Textfeld 85">
                  <a:extLst>
                    <a:ext uri="{FF2B5EF4-FFF2-40B4-BE49-F238E27FC236}">
                      <a16:creationId xmlns:a16="http://schemas.microsoft.com/office/drawing/2014/main" id="{219DE95B-3ED5-9E32-EB36-D1FDC16C0631}"/>
                    </a:ext>
                  </a:extLst>
                </p:cNvPr>
                <p:cNvSpPr txBox="1"/>
                <p:nvPr/>
              </p:nvSpPr>
              <p:spPr>
                <a:xfrm>
                  <a:off x="3284504" y="2871881"/>
                  <a:ext cx="493070" cy="2276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i="1">
                                <a:solidFill>
                                  <a:schemeClr val="accent4"/>
                                </a:solidFill>
                                <a:latin typeface="+mn-lt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200" i="1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3" name="Textfeld 85">
                  <a:extLst>
                    <a:ext uri="{FF2B5EF4-FFF2-40B4-BE49-F238E27FC236}">
                      <a16:creationId xmlns:a16="http://schemas.microsoft.com/office/drawing/2014/main" id="{219DE95B-3ED5-9E32-EB36-D1FDC16C0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84504" y="2871881"/>
                  <a:ext cx="493070" cy="227691"/>
                </a:xfrm>
                <a:prstGeom prst="rect">
                  <a:avLst/>
                </a:prstGeom>
                <a:blipFill>
                  <a:blip r:embed="rId12"/>
                  <a:stretch>
                    <a:fillRect b="-210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6CE58FF-0599-7288-16EA-9AE7EE440375}"/>
              </a:ext>
            </a:extLst>
          </p:cNvPr>
          <p:cNvGrpSpPr/>
          <p:nvPr/>
        </p:nvGrpSpPr>
        <p:grpSpPr>
          <a:xfrm>
            <a:off x="2212991" y="3297294"/>
            <a:ext cx="2166419" cy="598645"/>
            <a:chOff x="4267258" y="3812593"/>
            <a:chExt cx="2038999" cy="563435"/>
          </a:xfrm>
        </p:grpSpPr>
        <p:grpSp>
          <p:nvGrpSpPr>
            <p:cNvPr id="128" name="Gruppieren 72">
              <a:extLst>
                <a:ext uri="{FF2B5EF4-FFF2-40B4-BE49-F238E27FC236}">
                  <a16:creationId xmlns:a16="http://schemas.microsoft.com/office/drawing/2014/main" id="{6BFE1021-3361-D028-4433-BC3C37FE9170}"/>
                </a:ext>
              </a:extLst>
            </p:cNvPr>
            <p:cNvGrpSpPr/>
            <p:nvPr/>
          </p:nvGrpSpPr>
          <p:grpSpPr>
            <a:xfrm>
              <a:off x="4267258" y="3812593"/>
              <a:ext cx="2038999" cy="349138"/>
              <a:chOff x="4784226" y="5057100"/>
              <a:chExt cx="2038999" cy="3491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feld 67">
                    <a:extLst>
                      <a:ext uri="{FF2B5EF4-FFF2-40B4-BE49-F238E27FC236}">
                        <a16:creationId xmlns:a16="http://schemas.microsoft.com/office/drawing/2014/main" id="{253A7353-E9DA-DA5C-1D56-88EA8A14BC6F}"/>
                      </a:ext>
                    </a:extLst>
                  </p:cNvPr>
                  <p:cNvSpPr txBox="1"/>
                  <p:nvPr/>
                </p:nvSpPr>
                <p:spPr>
                  <a:xfrm>
                    <a:off x="4784226" y="5057436"/>
                    <a:ext cx="493070" cy="2276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12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120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120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de-DE" sz="1200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1" name="Textfeld 67">
                    <a:extLst>
                      <a:ext uri="{FF2B5EF4-FFF2-40B4-BE49-F238E27FC236}">
                        <a16:creationId xmlns:a16="http://schemas.microsoft.com/office/drawing/2014/main" id="{253A7353-E9DA-DA5C-1D56-88EA8A14BC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4226" y="5057436"/>
                    <a:ext cx="493070" cy="22769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Textfeld 67">
                    <a:extLst>
                      <a:ext uri="{FF2B5EF4-FFF2-40B4-BE49-F238E27FC236}">
                        <a16:creationId xmlns:a16="http://schemas.microsoft.com/office/drawing/2014/main" id="{4A906FF9-0BE1-7C80-9787-028C969A54CD}"/>
                      </a:ext>
                    </a:extLst>
                  </p:cNvPr>
                  <p:cNvSpPr txBox="1"/>
                  <p:nvPr/>
                </p:nvSpPr>
                <p:spPr>
                  <a:xfrm>
                    <a:off x="6330155" y="5057100"/>
                    <a:ext cx="493070" cy="22987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>
                      <a:lnSpc>
                        <a:spcPct val="114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de-DE" sz="1200" i="1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de-DE" sz="120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de-DE" sz="1200">
                                  <a:solidFill>
                                    <a:schemeClr val="tx2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+mn-lt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de-DE" sz="1200">
                      <a:latin typeface="+mn-lt"/>
                      <a:ea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32" name="Textfeld 67">
                    <a:extLst>
                      <a:ext uri="{FF2B5EF4-FFF2-40B4-BE49-F238E27FC236}">
                        <a16:creationId xmlns:a16="http://schemas.microsoft.com/office/drawing/2014/main" id="{4A906FF9-0BE1-7C80-9787-028C969A54C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30155" y="5057100"/>
                    <a:ext cx="493070" cy="22987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3" name="Straight Connector 70">
                <a:extLst>
                  <a:ext uri="{FF2B5EF4-FFF2-40B4-BE49-F238E27FC236}">
                    <a16:creationId xmlns:a16="http://schemas.microsoft.com/office/drawing/2014/main" id="{C771DD6F-5370-44E6-41C0-456E4D2B5B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9725" y="5341782"/>
                <a:ext cx="1267576" cy="125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Oval 72">
                <a:extLst>
                  <a:ext uri="{FF2B5EF4-FFF2-40B4-BE49-F238E27FC236}">
                    <a16:creationId xmlns:a16="http://schemas.microsoft.com/office/drawing/2014/main" id="{48AFAD86-EF4A-A641-5F64-509521AC4312}"/>
                  </a:ext>
                </a:extLst>
              </p:cNvPr>
              <p:cNvSpPr/>
              <p:nvPr/>
            </p:nvSpPr>
            <p:spPr>
              <a:xfrm>
                <a:off x="4961820" y="5297814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1200"/>
              </a:p>
            </p:txBody>
          </p:sp>
          <p:sp>
            <p:nvSpPr>
              <p:cNvPr id="135" name="Oval 72">
                <a:extLst>
                  <a:ext uri="{FF2B5EF4-FFF2-40B4-BE49-F238E27FC236}">
                    <a16:creationId xmlns:a16="http://schemas.microsoft.com/office/drawing/2014/main" id="{C4B15744-98E8-315D-C6C2-0AF0CC2A45FC}"/>
                  </a:ext>
                </a:extLst>
              </p:cNvPr>
              <p:cNvSpPr/>
              <p:nvPr/>
            </p:nvSpPr>
            <p:spPr>
              <a:xfrm>
                <a:off x="6522691" y="5297813"/>
                <a:ext cx="108000" cy="108424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DE" sz="1200"/>
              </a:p>
            </p:txBody>
          </p:sp>
        </p:grpSp>
        <p:cxnSp>
          <p:nvCxnSpPr>
            <p:cNvPr id="129" name="Straight Connector 63">
              <a:extLst>
                <a:ext uri="{FF2B5EF4-FFF2-40B4-BE49-F238E27FC236}">
                  <a16:creationId xmlns:a16="http://schemas.microsoft.com/office/drawing/2014/main" id="{2581983D-5A2A-B076-E007-9658E9AD79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6967" y="4101999"/>
              <a:ext cx="1263366" cy="7545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Textfeld 67">
                  <a:extLst>
                    <a:ext uri="{FF2B5EF4-FFF2-40B4-BE49-F238E27FC236}">
                      <a16:creationId xmlns:a16="http://schemas.microsoft.com/office/drawing/2014/main" id="{7418B8B9-D63C-29DE-4A0D-BE95031B8C6C}"/>
                    </a:ext>
                  </a:extLst>
                </p:cNvPr>
                <p:cNvSpPr txBox="1"/>
                <p:nvPr/>
              </p:nvSpPr>
              <p:spPr>
                <a:xfrm>
                  <a:off x="5029123" y="4161729"/>
                  <a:ext cx="493070" cy="2142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 b="0" smtClean="0">
                                <a:solidFill>
                                  <a:schemeClr val="tx1"/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 b="0" smtClean="0">
                                <a:solidFill>
                                  <a:schemeClr val="tx1"/>
                                </a:solidFill>
                                <a:latin typeface="+mn-lt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de-DE" sz="1200">
                    <a:latin typeface="+mn-lt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0" name="Textfeld 67">
                  <a:extLst>
                    <a:ext uri="{FF2B5EF4-FFF2-40B4-BE49-F238E27FC236}">
                      <a16:creationId xmlns:a16="http://schemas.microsoft.com/office/drawing/2014/main" id="{7418B8B9-D63C-29DE-4A0D-BE95031B8C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123" y="4161729"/>
                  <a:ext cx="493070" cy="214299"/>
                </a:xfrm>
                <a:prstGeom prst="rect">
                  <a:avLst/>
                </a:prstGeom>
                <a:blipFill>
                  <a:blip r:embed="rId15"/>
                  <a:stretch>
                    <a:fillRect b="-216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86898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43" grpId="0"/>
      <p:bldP spid="20" grpId="0"/>
      <p:bldP spid="44" grpId="0"/>
      <p:bldP spid="119" grpId="0"/>
      <p:bldP spid="119" grpId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9BCB463-BCF7-C7E3-ED2D-91C9B55B6F31}"/>
              </a:ext>
            </a:extLst>
          </p:cNvPr>
          <p:cNvSpPr/>
          <p:nvPr/>
        </p:nvSpPr>
        <p:spPr>
          <a:xfrm>
            <a:off x="3971925" y="1181853"/>
            <a:ext cx="6451054" cy="505057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80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3AC64-1AB9-A12A-5FD0-51BAE72176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40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8EAAEF-B018-EEFC-4748-A554F98E2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83" y="811921"/>
            <a:ext cx="11345332" cy="410369"/>
          </a:xfrm>
        </p:spPr>
        <p:txBody>
          <a:bodyPr/>
          <a:lstStyle/>
          <a:p>
            <a:r>
              <a:rPr lang="de-DE"/>
              <a:t>Model </a:t>
            </a:r>
            <a:r>
              <a:rPr lang="de-DE" err="1"/>
              <a:t>Complexity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1ADA1-F299-4629-A7AD-C310472AC8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B5D35F-8468-A3E4-F528-1DECE8B97EC8}"/>
              </a:ext>
            </a:extLst>
          </p:cNvPr>
          <p:cNvGrpSpPr/>
          <p:nvPr/>
        </p:nvGrpSpPr>
        <p:grpSpPr>
          <a:xfrm>
            <a:off x="8297892" y="2602330"/>
            <a:ext cx="1764000" cy="1925947"/>
            <a:chOff x="8740344" y="2550694"/>
            <a:chExt cx="1764000" cy="1925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08C0D3F-291B-42A2-90DF-46F55DA94C60}"/>
                    </a:ext>
                  </a:extLst>
                </p:cNvPr>
                <p:cNvSpPr/>
                <p:nvPr/>
              </p:nvSpPr>
              <p:spPr>
                <a:xfrm>
                  <a:off x="8740344" y="2550694"/>
                  <a:ext cx="1764000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6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08C0D3F-291B-42A2-90DF-46F55DA94C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0344" y="2550694"/>
                  <a:ext cx="1764000" cy="72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45542C1-D016-F3A9-20F5-7BC4BDBCF8E2}"/>
                    </a:ext>
                  </a:extLst>
                </p:cNvPr>
                <p:cNvSpPr/>
                <p:nvPr/>
              </p:nvSpPr>
              <p:spPr>
                <a:xfrm>
                  <a:off x="8740344" y="3756641"/>
                  <a:ext cx="1764000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de-DE" sz="200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de-DE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de-DE" sz="200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E45542C1-D016-F3A9-20F5-7BC4BDBCF8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0344" y="3756641"/>
                  <a:ext cx="1764000" cy="720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BB97AFB-7703-0422-C8CB-E83BF37B1ED3}"/>
              </a:ext>
            </a:extLst>
          </p:cNvPr>
          <p:cNvGrpSpPr/>
          <p:nvPr/>
        </p:nvGrpSpPr>
        <p:grpSpPr>
          <a:xfrm>
            <a:off x="6440895" y="2602330"/>
            <a:ext cx="1764000" cy="1925947"/>
            <a:chOff x="6883347" y="2550694"/>
            <a:chExt cx="1764000" cy="19259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B5F09AD-B85A-DA48-F878-C6FAD35D36A9}"/>
                    </a:ext>
                  </a:extLst>
                </p:cNvPr>
                <p:cNvSpPr/>
                <p:nvPr/>
              </p:nvSpPr>
              <p:spPr>
                <a:xfrm>
                  <a:off x="6883347" y="2550694"/>
                  <a:ext cx="1764000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600" i="1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5B5F09AD-B85A-DA48-F878-C6FAD35D36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347" y="2550694"/>
                  <a:ext cx="1764000" cy="720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A2DE005-ABEF-480F-A020-13B59D47AC0E}"/>
                    </a:ext>
                  </a:extLst>
                </p:cNvPr>
                <p:cNvSpPr/>
                <p:nvPr/>
              </p:nvSpPr>
              <p:spPr>
                <a:xfrm>
                  <a:off x="6883347" y="3756641"/>
                  <a:ext cx="1764000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de-DE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O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en-US" sz="160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A2DE005-ABEF-480F-A020-13B59D47AC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3347" y="3756641"/>
                  <a:ext cx="1764000" cy="72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150A564-30CE-C34A-310F-17BD5F360E04}"/>
              </a:ext>
            </a:extLst>
          </p:cNvPr>
          <p:cNvGrpSpPr/>
          <p:nvPr/>
        </p:nvGrpSpPr>
        <p:grpSpPr>
          <a:xfrm>
            <a:off x="4132450" y="1415927"/>
            <a:ext cx="6012990" cy="4582429"/>
            <a:chOff x="4132450" y="1415927"/>
            <a:chExt cx="6012990" cy="458242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2A4E085-048D-7CCA-EB4B-488940B8638E}"/>
                </a:ext>
              </a:extLst>
            </p:cNvPr>
            <p:cNvSpPr/>
            <p:nvPr/>
          </p:nvSpPr>
          <p:spPr>
            <a:xfrm>
              <a:off x="4132450" y="2602330"/>
              <a:ext cx="1988201" cy="72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Combined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2372BD0-8A97-E92B-C50F-9D45D5840888}"/>
                </a:ext>
              </a:extLst>
            </p:cNvPr>
            <p:cNvSpPr/>
            <p:nvPr/>
          </p:nvSpPr>
          <p:spPr>
            <a:xfrm>
              <a:off x="4132450" y="3808277"/>
              <a:ext cx="1988200" cy="72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Decoupled </a:t>
              </a:r>
              <a:br>
                <a:rPr lang="en-US" sz="2000">
                  <a:solidFill>
                    <a:schemeClr val="tx1"/>
                  </a:solidFill>
                </a:rPr>
              </a:br>
              <a:r>
                <a:rPr lang="en-US" sz="2000">
                  <a:solidFill>
                    <a:schemeClr val="tx1"/>
                  </a:solidFill>
                </a:rPr>
                <a:t>route-based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063627F-E375-0368-C71B-D7EC0730E877}"/>
                </a:ext>
              </a:extLst>
            </p:cNvPr>
            <p:cNvGrpSpPr/>
            <p:nvPr/>
          </p:nvGrpSpPr>
          <p:grpSpPr>
            <a:xfrm>
              <a:off x="4249465" y="1415927"/>
              <a:ext cx="5895975" cy="4582429"/>
              <a:chOff x="5791508" y="1183033"/>
              <a:chExt cx="5895975" cy="4582429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34E3047-48DA-9D5C-E2ED-4A79B291CA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91508" y="2246244"/>
                <a:ext cx="5895975" cy="0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3BEC5B98-072A-4DCA-B9B0-C08A19F70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74728" y="1183033"/>
                <a:ext cx="0" cy="4582429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628D2DD-C8E3-D471-5882-6C704CF8D848}"/>
                </a:ext>
              </a:extLst>
            </p:cNvPr>
            <p:cNvGrpSpPr/>
            <p:nvPr/>
          </p:nvGrpSpPr>
          <p:grpSpPr>
            <a:xfrm>
              <a:off x="6440895" y="1497119"/>
              <a:ext cx="3620997" cy="756000"/>
              <a:chOff x="7974728" y="1461073"/>
              <a:chExt cx="3620997" cy="756000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E806AA1-DCDE-B894-A3AD-B1EEABC128E4}"/>
                  </a:ext>
                </a:extLst>
              </p:cNvPr>
              <p:cNvSpPr/>
              <p:nvPr/>
            </p:nvSpPr>
            <p:spPr>
              <a:xfrm>
                <a:off x="9831725" y="1461073"/>
                <a:ext cx="1764000" cy="75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000">
                    <a:solidFill>
                      <a:schemeClr val="tx1"/>
                    </a:solidFill>
                  </a:rPr>
                  <a:t>Nonlinear Constraints</a:t>
                </a:r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83B9844-99A2-0923-9D75-96749BA9C75E}"/>
                  </a:ext>
                </a:extLst>
              </p:cNvPr>
              <p:cNvSpPr/>
              <p:nvPr/>
            </p:nvSpPr>
            <p:spPr>
              <a:xfrm>
                <a:off x="7974728" y="1461073"/>
                <a:ext cx="1764000" cy="756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lang="en-US" sz="2000">
                    <a:solidFill>
                      <a:schemeClr val="tx1"/>
                    </a:solidFill>
                  </a:rPr>
                  <a:t>Binary</a:t>
                </a:r>
              </a:p>
              <a:p>
                <a:pPr algn="ctr">
                  <a:lnSpc>
                    <a:spcPct val="114000"/>
                  </a:lnSpc>
                </a:pPr>
                <a:r>
                  <a:rPr lang="en-US" sz="2000">
                    <a:solidFill>
                      <a:schemeClr val="tx1"/>
                    </a:solidFill>
                  </a:rPr>
                  <a:t>Variables</a:t>
                </a:r>
                <a:endParaRPr 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640F01-2D9A-E7C0-B449-32934F90616B}"/>
                </a:ext>
              </a:extLst>
            </p:cNvPr>
            <p:cNvSpPr/>
            <p:nvPr/>
          </p:nvSpPr>
          <p:spPr>
            <a:xfrm>
              <a:off x="4132450" y="5014224"/>
              <a:ext cx="1988200" cy="72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>
                <a:lnSpc>
                  <a:spcPct val="114000"/>
                </a:lnSpc>
              </a:pPr>
              <a:r>
                <a:rPr lang="en-US" sz="2000">
                  <a:solidFill>
                    <a:schemeClr val="tx1"/>
                  </a:solidFill>
                </a:rPr>
                <a:t>Decoupled </a:t>
              </a:r>
              <a:br>
                <a:rPr lang="en-US" sz="2000">
                  <a:solidFill>
                    <a:schemeClr val="tx1"/>
                  </a:solidFill>
                </a:rPr>
              </a:br>
              <a:r>
                <a:rPr lang="en-US" sz="2000">
                  <a:solidFill>
                    <a:schemeClr val="tx1"/>
                  </a:solidFill>
                </a:rPr>
                <a:t>segment-based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1470215-4CC5-A660-7A58-11FAFF90F31F}"/>
              </a:ext>
            </a:extLst>
          </p:cNvPr>
          <p:cNvGrpSpPr/>
          <p:nvPr/>
        </p:nvGrpSpPr>
        <p:grpSpPr>
          <a:xfrm>
            <a:off x="6440895" y="5014224"/>
            <a:ext cx="3620997" cy="720000"/>
            <a:chOff x="6440895" y="5014224"/>
            <a:chExt cx="3620997" cy="7200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562D753-5E8E-42C3-DC27-2685B2ACABD3}"/>
                    </a:ext>
                  </a:extLst>
                </p:cNvPr>
                <p:cNvSpPr/>
                <p:nvPr/>
              </p:nvSpPr>
              <p:spPr>
                <a:xfrm>
                  <a:off x="8297892" y="5014224"/>
                  <a:ext cx="1764000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2000" i="1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de-DE" sz="200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de-DE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i="1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de-DE" sz="200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562D753-5E8E-42C3-DC27-2685B2ACAB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7892" y="5014224"/>
                  <a:ext cx="1764000" cy="720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186AF75-1999-5F90-349D-97A8BE568F55}"/>
                    </a:ext>
                  </a:extLst>
                </p:cNvPr>
                <p:cNvSpPr/>
                <p:nvPr/>
              </p:nvSpPr>
              <p:spPr>
                <a:xfrm>
                  <a:off x="6440895" y="5014224"/>
                  <a:ext cx="1764000" cy="72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de-DE" sz="2000" b="0" i="1" smtClean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nor/>
                          </m:rPr>
                          <a:rPr lang="de-DE" sz="2000" b="0" i="0" smtClean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de-DE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de-DE" sz="2000" b="0" i="1" smtClean="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de-DE" sz="2000" b="0" i="0" smtClean="0">
                                <a:solidFill>
                                  <a:schemeClr val="tx1"/>
                                </a:solidFill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de-DE" sz="2000" b="0" i="0" smtClean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600" dirty="0">
                    <a:solidFill>
                      <a:schemeClr val="tx1"/>
                    </a:solidFill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186AF75-1999-5F90-349D-97A8BE568F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0895" y="5014224"/>
                  <a:ext cx="1764000" cy="7200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84A43B-68D9-B20A-8FBB-0C74CDAB5B73}"/>
                  </a:ext>
                </a:extLst>
              </p:cNvPr>
              <p:cNvSpPr/>
              <p:nvPr/>
            </p:nvSpPr>
            <p:spPr>
              <a:xfrm>
                <a:off x="913635" y="1642292"/>
                <a:ext cx="2153877" cy="16403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2000" i="1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t</m:t>
                    </m:r>
                    <m:r>
                      <m:rPr>
                        <m:nor/>
                      </m:rPr>
                      <a:rPr lang="de-DE" sz="2000" b="0" i="0" smtClean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00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# trains</a:t>
                </a:r>
              </a:p>
              <a:p>
                <a:pPr>
                  <a:lnSpc>
                    <a:spcPct val="114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2000" i="1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de-DE" sz="2000" b="0" i="0" smtClean="0">
                        <a:solidFill>
                          <a:schemeClr val="tx1"/>
                        </a:solidFill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00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# segments</a:t>
                </a: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000" i="1" smtClean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 ≤ </m:t>
                      </m:r>
                      <m:r>
                        <m:rPr>
                          <m:nor/>
                        </m:rPr>
                        <a:rPr lang="de-DE" sz="2000" b="0" i="1" smtClean="0">
                          <a:solidFill>
                            <a:schemeClr val="tx1"/>
                          </a:solidFill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sz="2000" i="1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F84A43B-68D9-B20A-8FBB-0C74CDAB5B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35" y="1642292"/>
                <a:ext cx="2153877" cy="1640379"/>
              </a:xfrm>
              <a:prstGeom prst="rect">
                <a:avLst/>
              </a:prstGeom>
              <a:blipFill>
                <a:blip r:embed="rId9"/>
                <a:stretch>
                  <a:fillRect l="-28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5429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737F23-AF35-BC0A-52A9-3E8E85BCA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41</a:t>
            </a:fld>
            <a:endParaRPr lang="de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4A1B81-764E-5D53-BB7F-622EAFD25951}"/>
              </a:ext>
            </a:extLst>
          </p:cNvPr>
          <p:cNvGrpSpPr/>
          <p:nvPr/>
        </p:nvGrpSpPr>
        <p:grpSpPr>
          <a:xfrm>
            <a:off x="425451" y="1730716"/>
            <a:ext cx="9058103" cy="432000"/>
            <a:chOff x="425451" y="1730716"/>
            <a:chExt cx="9058103" cy="432000"/>
          </a:xfrm>
        </p:grpSpPr>
        <p:sp>
          <p:nvSpPr>
            <p:cNvPr id="5" name="Symbol zastępczy tekstu 23">
              <a:extLst>
                <a:ext uri="{FF2B5EF4-FFF2-40B4-BE49-F238E27FC236}">
                  <a16:creationId xmlns:a16="http://schemas.microsoft.com/office/drawing/2014/main" id="{92ACA924-F654-129F-30A4-E6AC38633EA6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425451" y="1730716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01</a:t>
              </a:r>
            </a:p>
          </p:txBody>
        </p:sp>
        <p:sp>
          <p:nvSpPr>
            <p:cNvPr id="14" name="Symbol zastępczy tekstu 32">
              <a:extLst>
                <a:ext uri="{FF2B5EF4-FFF2-40B4-BE49-F238E27FC236}">
                  <a16:creationId xmlns:a16="http://schemas.microsoft.com/office/drawing/2014/main" id="{8E529EEA-0535-9A7D-86C2-7876638BAC0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1795516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Problem Description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EA386430-C085-9BD0-B7DE-D747AABA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E693B2-B7EA-A8ED-5270-2AB1AE73340A}"/>
              </a:ext>
            </a:extLst>
          </p:cNvPr>
          <p:cNvGrpSpPr/>
          <p:nvPr/>
        </p:nvGrpSpPr>
        <p:grpSpPr>
          <a:xfrm>
            <a:off x="425451" y="2365003"/>
            <a:ext cx="9058103" cy="432000"/>
            <a:chOff x="425451" y="2302130"/>
            <a:chExt cx="9058103" cy="432000"/>
          </a:xfrm>
        </p:grpSpPr>
        <p:sp>
          <p:nvSpPr>
            <p:cNvPr id="21" name="Symbol zastępczy tekstu 23">
              <a:extLst>
                <a:ext uri="{FF2B5EF4-FFF2-40B4-BE49-F238E27FC236}">
                  <a16:creationId xmlns:a16="http://schemas.microsoft.com/office/drawing/2014/main" id="{7DCA2B47-C54D-BE17-3572-876C62CBE633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425451" y="2302130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02</a:t>
              </a:r>
            </a:p>
          </p:txBody>
        </p:sp>
        <p:sp>
          <p:nvSpPr>
            <p:cNvPr id="22" name="Symbol zastępczy tekstu 32">
              <a:extLst>
                <a:ext uri="{FF2B5EF4-FFF2-40B4-BE49-F238E27FC236}">
                  <a16:creationId xmlns:a16="http://schemas.microsoft.com/office/drawing/2014/main" id="{10264CC8-DAC8-EC57-9E7E-2CA02391D67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2366930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err="1">
                  <a:latin typeface="+mn-lt"/>
                </a:rPr>
                <a:t>Combined</a:t>
              </a:r>
              <a:r>
                <a:rPr lang="de-DE">
                  <a:latin typeface="+mn-lt"/>
                </a:rPr>
                <a:t> Approach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05FE4E-B733-E02F-F1D0-603EDE5C57D0}"/>
              </a:ext>
            </a:extLst>
          </p:cNvPr>
          <p:cNvGrpSpPr/>
          <p:nvPr/>
        </p:nvGrpSpPr>
        <p:grpSpPr>
          <a:xfrm>
            <a:off x="425451" y="2999289"/>
            <a:ext cx="9058103" cy="432000"/>
            <a:chOff x="414883" y="3024067"/>
            <a:chExt cx="9058103" cy="432000"/>
          </a:xfrm>
        </p:grpSpPr>
        <p:sp>
          <p:nvSpPr>
            <p:cNvPr id="28" name="Symbol zastępczy tekstu 23">
              <a:extLst>
                <a:ext uri="{FF2B5EF4-FFF2-40B4-BE49-F238E27FC236}">
                  <a16:creationId xmlns:a16="http://schemas.microsoft.com/office/drawing/2014/main" id="{D720CF5E-FDA2-1C5D-38DE-39BBA1E2DEF2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 bwMode="gray">
            <a:xfrm>
              <a:off x="414883" y="3024067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03</a:t>
              </a:r>
            </a:p>
          </p:txBody>
        </p:sp>
        <p:sp>
          <p:nvSpPr>
            <p:cNvPr id="29" name="Symbol zastępczy tekstu 32">
              <a:extLst>
                <a:ext uri="{FF2B5EF4-FFF2-40B4-BE49-F238E27FC236}">
                  <a16:creationId xmlns:a16="http://schemas.microsoft.com/office/drawing/2014/main" id="{FA72EB01-738B-7CCC-980D-06139E9AC6D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088867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sz="2400" err="1">
                  <a:latin typeface="+mn-lt"/>
                </a:rPr>
                <a:t>Decoupled</a:t>
              </a:r>
              <a:r>
                <a:rPr lang="de-DE" sz="2400">
                  <a:latin typeface="+mn-lt"/>
                </a:rPr>
                <a:t> Approach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7EAD94-3138-9D1F-F35C-D6504C79E4A8}"/>
              </a:ext>
            </a:extLst>
          </p:cNvPr>
          <p:cNvGrpSpPr/>
          <p:nvPr/>
        </p:nvGrpSpPr>
        <p:grpSpPr>
          <a:xfrm>
            <a:off x="425451" y="3633576"/>
            <a:ext cx="9058103" cy="432000"/>
            <a:chOff x="414883" y="3595481"/>
            <a:chExt cx="9058103" cy="432000"/>
          </a:xfrm>
        </p:grpSpPr>
        <p:sp>
          <p:nvSpPr>
            <p:cNvPr id="30" name="Symbol zastępczy tekstu 23">
              <a:extLst>
                <a:ext uri="{FF2B5EF4-FFF2-40B4-BE49-F238E27FC236}">
                  <a16:creationId xmlns:a16="http://schemas.microsoft.com/office/drawing/2014/main" id="{C3928531-532D-C2CF-CF37-2AA870874CD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04</a:t>
              </a:r>
            </a:p>
          </p:txBody>
        </p:sp>
        <p:sp>
          <p:nvSpPr>
            <p:cNvPr id="31" name="Symbol zastępczy tekstu 32">
              <a:extLst>
                <a:ext uri="{FF2B5EF4-FFF2-40B4-BE49-F238E27FC236}">
                  <a16:creationId xmlns:a16="http://schemas.microsoft.com/office/drawing/2014/main" id="{49C1A316-6797-48F9-929B-30544324700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b="1">
                  <a:latin typeface="+mn-lt"/>
                </a:rPr>
                <a:t>Experiments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7A1342-6839-F824-F73E-F5FE35FBEE13}"/>
              </a:ext>
            </a:extLst>
          </p:cNvPr>
          <p:cNvGrpSpPr/>
          <p:nvPr/>
        </p:nvGrpSpPr>
        <p:grpSpPr>
          <a:xfrm>
            <a:off x="425451" y="4267862"/>
            <a:ext cx="9058103" cy="432000"/>
            <a:chOff x="414883" y="3595481"/>
            <a:chExt cx="9058103" cy="432000"/>
          </a:xfrm>
        </p:grpSpPr>
        <p:sp>
          <p:nvSpPr>
            <p:cNvPr id="37" name="Symbol zastępczy tekstu 23">
              <a:extLst>
                <a:ext uri="{FF2B5EF4-FFF2-40B4-BE49-F238E27FC236}">
                  <a16:creationId xmlns:a16="http://schemas.microsoft.com/office/drawing/2014/main" id="{102D37CF-0904-A649-17BF-716C80D2279F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05</a:t>
              </a:r>
            </a:p>
          </p:txBody>
        </p:sp>
        <p:sp>
          <p:nvSpPr>
            <p:cNvPr id="38" name="Symbol zastępczy tekstu 32">
              <a:extLst>
                <a:ext uri="{FF2B5EF4-FFF2-40B4-BE49-F238E27FC236}">
                  <a16:creationId xmlns:a16="http://schemas.microsoft.com/office/drawing/2014/main" id="{19C24D9E-4416-65CE-489F-5646D2ED271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Summary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FD82C4-D6F1-A537-920A-BF0A48B9D8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33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F1473-A063-50E3-DEB7-305C3BEEF9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42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3F3B628-A807-E4D0-D5E5-2D01A739E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8">
                <a:extLst>
                  <a:ext uri="{FF2B5EF4-FFF2-40B4-BE49-F238E27FC236}">
                    <a16:creationId xmlns:a16="http://schemas.microsoft.com/office/drawing/2014/main" id="{AC54897F-E21E-AE14-48AA-7932CEE432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de-DE"/>
                  <a:t>Choice </a:t>
                </a:r>
                <a:r>
                  <a:rPr lang="de-DE" err="1"/>
                  <a:t>of</a:t>
                </a:r>
                <a:r>
                  <a:rPr lang="de-DE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de-DE" sz="3200" i="1">
                        <a:latin typeface="+mn-lt"/>
                      </a:rPr>
                      <m:t>α</m:t>
                    </m:r>
                  </m:oMath>
                </a14:m>
                <a:r>
                  <a:rPr lang="en-US"/>
                  <a:t> </a:t>
                </a:r>
                <a:endParaRPr lang="de-DE"/>
              </a:p>
            </p:txBody>
          </p:sp>
        </mc:Choice>
        <mc:Fallback xmlns="">
          <p:sp>
            <p:nvSpPr>
              <p:cNvPr id="9" name="Title 8">
                <a:extLst>
                  <a:ext uri="{FF2B5EF4-FFF2-40B4-BE49-F238E27FC236}">
                    <a16:creationId xmlns:a16="http://schemas.microsoft.com/office/drawing/2014/main" id="{AC54897F-E21E-AE14-48AA-7932CEE43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6"/>
                <a:stretch>
                  <a:fillRect l="-2096" t="-44776" b="-55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C7F78-7A79-9E63-3347-8461F527ACA0}"/>
                  </a:ext>
                </a:extLst>
              </p:cNvPr>
              <p:cNvSpPr txBox="1"/>
              <p:nvPr/>
            </p:nvSpPr>
            <p:spPr>
              <a:xfrm>
                <a:off x="2258753" y="2547493"/>
                <a:ext cx="1800000" cy="654148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000" i="1">
                          <a:latin typeface="+mn-lt"/>
                        </a:rPr>
                        <m:t>α</m:t>
                      </m:r>
                      <m:r>
                        <m:rPr>
                          <m:nor/>
                        </m:rPr>
                        <a:rPr lang="de-DE" sz="2000">
                          <a:latin typeface="+mn-lt"/>
                        </a:rPr>
                        <m:t> =</m:t>
                      </m:r>
                      <m:sSup>
                        <m:sSup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/>
                            <m:t>10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b="0" i="0" smtClean="0">
                              <a:latin typeface="+mn-lt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5C7F78-7A79-9E63-3347-8461F527A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753" y="2547493"/>
                <a:ext cx="1800000" cy="654148"/>
              </a:xfrm>
              <a:prstGeom prst="roundRect">
                <a:avLst>
                  <a:gd name="adj" fmla="val 50000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9D56C7-9BB5-3169-31E3-E26A1AC27B19}"/>
                  </a:ext>
                </a:extLst>
              </p:cNvPr>
              <p:cNvSpPr txBox="1"/>
              <p:nvPr/>
            </p:nvSpPr>
            <p:spPr>
              <a:xfrm>
                <a:off x="8133245" y="2540552"/>
                <a:ext cx="1800000" cy="653066"/>
              </a:xfrm>
              <a:prstGeom prst="roundRect">
                <a:avLst>
                  <a:gd name="adj" fmla="val 5000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000" i="1" smtClean="0"/>
                        <m:t>α</m:t>
                      </m:r>
                      <m:r>
                        <m:rPr>
                          <m:nor/>
                        </m:rPr>
                        <a:rPr lang="de-DE" sz="2000" smtClean="0"/>
                        <m:t> = </m:t>
                      </m:r>
                      <m:sSup>
                        <m:sSupPr>
                          <m:ctrlPr>
                            <a:rPr lang="de-DE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de-DE" sz="2000" b="0" i="0" smtClean="0">
                              <a:latin typeface="+mn-lt"/>
                            </a:rPr>
                            <m:t>10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de-DE" sz="2000" b="0" i="0" smtClean="0">
                              <a:latin typeface="+mn-lt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>
                  <a:latin typeface="+mn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9D56C7-9BB5-3169-31E3-E26A1AC27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3245" y="2540552"/>
                <a:ext cx="1800000" cy="653066"/>
              </a:xfrm>
              <a:prstGeom prst="roundRect">
                <a:avLst>
                  <a:gd name="adj" fmla="val 50000"/>
                </a:avLst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Y_net_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80097" y="3327799"/>
            <a:ext cx="5757313" cy="2878657"/>
          </a:xfrm>
          <a:prstGeom prst="rect">
            <a:avLst/>
          </a:prstGeom>
        </p:spPr>
      </p:pic>
      <p:pic>
        <p:nvPicPr>
          <p:cNvPr id="12" name="Y_net_1000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147170" y="3331678"/>
            <a:ext cx="5749555" cy="287477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69E1B7E-305B-596E-BB69-0B75FC2410D7}"/>
              </a:ext>
            </a:extLst>
          </p:cNvPr>
          <p:cNvGrpSpPr/>
          <p:nvPr/>
        </p:nvGrpSpPr>
        <p:grpSpPr>
          <a:xfrm>
            <a:off x="4035039" y="1834752"/>
            <a:ext cx="4121923" cy="1273540"/>
            <a:chOff x="4405102" y="977848"/>
            <a:chExt cx="4121923" cy="1273540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6781A56D-2B94-EBEA-4A35-95637A8D126B}"/>
                </a:ext>
              </a:extLst>
            </p:cNvPr>
            <p:cNvSpPr/>
            <p:nvPr/>
          </p:nvSpPr>
          <p:spPr>
            <a:xfrm>
              <a:off x="4405102" y="1065230"/>
              <a:ext cx="4121923" cy="11861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376E810-6B35-454E-C5EB-BEE161D6853A}"/>
                    </a:ext>
                  </a:extLst>
                </p:cNvPr>
                <p:cNvSpPr txBox="1"/>
                <p:nvPr/>
              </p:nvSpPr>
              <p:spPr>
                <a:xfrm>
                  <a:off x="4549639" y="977848"/>
                  <a:ext cx="3832849" cy="11861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lang="de-DE" sz="2000"/>
                              <m:t>min</m:t>
                            </m:r>
                            <m:sSup>
                              <m:sSup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de-D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de-DE" sz="2000" i="1"/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de-DE" sz="2000" i="1"/>
                                          <m:t>plan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de-DE" sz="2000"/>
                                  <m:t>2</m:t>
                                </m:r>
                              </m:sup>
                            </m:s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+ 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de-DE" sz="2000"/>
                              <m:t>α</m:t>
                            </m:r>
                            <m:nary>
                              <m:naryPr>
                                <m:limLoc m:val="undOvr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nor/>
                                    <m:brk m:alnAt="24"/>
                                  </m:rPr>
                                  <a:rPr lang="de-DE" sz="2000"/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</m:rPr>
                                  <a:rPr lang="de-DE" sz="2000"/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TA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e-DE" sz="2000" i="1"/>
                                  <m:t>dx</m:t>
                                </m:r>
                                <m:r>
                                  <m:rPr>
                                    <m:nor/>
                                  </m:rPr>
                                  <a:rPr lang="de-DE" sz="2000"/>
                                  <m:t> </m:t>
                                </m:r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US" sz="20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376E810-6B35-454E-C5EB-BEE161D685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9639" y="977848"/>
                  <a:ext cx="3832849" cy="118615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82041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3333E-6 L 0 -0.13635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10767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767"/>
                            </p:stCondLst>
                            <p:childTnLst>
                              <p:par>
                                <p:cTn id="25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3167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167"/>
                            </p:stCondLst>
                            <p:childTnLst>
                              <p:par>
                                <p:cTn id="32" presetID="2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3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4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35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  <p:bldLst>
      <p:bldP spid="4" grpId="0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94FFAC-E1A8-1543-6CA4-078E04F1F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43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6B2771F-2932-EB4A-AE7F-B1F93E6682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A4CD30-57A0-2446-F487-C0E0F4A5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 </a:t>
            </a:r>
            <a:r>
              <a:rPr lang="de-DE" err="1"/>
              <a:t>Examples</a:t>
            </a:r>
            <a:endParaRPr lang="de-DE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65F2392-CED9-A513-765F-039932DFA138}"/>
              </a:ext>
            </a:extLst>
          </p:cNvPr>
          <p:cNvGrpSpPr/>
          <p:nvPr/>
        </p:nvGrpSpPr>
        <p:grpSpPr>
          <a:xfrm>
            <a:off x="3927796" y="1681726"/>
            <a:ext cx="3818980" cy="3993517"/>
            <a:chOff x="3927796" y="1681726"/>
            <a:chExt cx="3818980" cy="399351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111757-BA2A-316C-E041-DF5278C5E026}"/>
                </a:ext>
              </a:extLst>
            </p:cNvPr>
            <p:cNvSpPr txBox="1"/>
            <p:nvPr/>
          </p:nvSpPr>
          <p:spPr>
            <a:xfrm>
              <a:off x="4654530" y="1681726"/>
              <a:ext cx="2365513" cy="51935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de-DE"/>
                <a:t>Intro </a:t>
              </a:r>
              <a:r>
                <a:rPr lang="de-DE" err="1"/>
                <a:t>Example</a:t>
              </a: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3A7EB0C-7B8B-2521-BBE9-9314B506D552}"/>
                </a:ext>
              </a:extLst>
            </p:cNvPr>
            <p:cNvSpPr/>
            <p:nvPr/>
          </p:nvSpPr>
          <p:spPr>
            <a:xfrm>
              <a:off x="5010055" y="4524892"/>
              <a:ext cx="1654462" cy="11503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r>
                <a:rPr lang="de-DE">
                  <a:solidFill>
                    <a:schemeClr val="tx1"/>
                  </a:solidFill>
                </a:rPr>
                <a:t>17 Segments</a:t>
              </a:r>
            </a:p>
            <a:p>
              <a:pPr>
                <a:lnSpc>
                  <a:spcPct val="114000"/>
                </a:lnSpc>
              </a:pPr>
              <a:r>
                <a:rPr lang="de-DE">
                  <a:solidFill>
                    <a:schemeClr val="tx1"/>
                  </a:solidFill>
                </a:rPr>
                <a:t>4 Trains</a:t>
              </a:r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9" name="Picture 8" descr="A white lines and green cars&#10;&#10;Description automatically generated">
              <a:extLst>
                <a:ext uri="{FF2B5EF4-FFF2-40B4-BE49-F238E27FC236}">
                  <a16:creationId xmlns:a16="http://schemas.microsoft.com/office/drawing/2014/main" id="{3DD62465-B785-0848-5FBB-1892C65595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741" r="11989"/>
            <a:stretch/>
          </p:blipFill>
          <p:spPr>
            <a:xfrm>
              <a:off x="3927796" y="2326845"/>
              <a:ext cx="3818980" cy="1980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58184B5-4099-BF39-CA52-57E70E4FFAE2}"/>
              </a:ext>
            </a:extLst>
          </p:cNvPr>
          <p:cNvGrpSpPr/>
          <p:nvPr/>
        </p:nvGrpSpPr>
        <p:grpSpPr>
          <a:xfrm>
            <a:off x="7922488" y="1681002"/>
            <a:ext cx="3921686" cy="3993517"/>
            <a:chOff x="7922488" y="1681002"/>
            <a:chExt cx="3921686" cy="399351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BF3D03-3A9E-A9CC-28C5-6E613FBCF08A}"/>
                </a:ext>
              </a:extLst>
            </p:cNvPr>
            <p:cNvSpPr txBox="1"/>
            <p:nvPr/>
          </p:nvSpPr>
          <p:spPr>
            <a:xfrm>
              <a:off x="8700575" y="1681002"/>
              <a:ext cx="2365513" cy="51935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de-DE"/>
                <a:t>CAIMI (</a:t>
              </a:r>
              <a:r>
                <a:rPr lang="de-DE" err="1"/>
                <a:t>Literature</a:t>
              </a:r>
              <a:r>
                <a:rPr lang="de-DE"/>
                <a:t>)</a:t>
              </a:r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D1CF8F1-A00C-5700-E9D0-58D9E22EE189}"/>
                </a:ext>
              </a:extLst>
            </p:cNvPr>
            <p:cNvSpPr/>
            <p:nvPr/>
          </p:nvSpPr>
          <p:spPr>
            <a:xfrm>
              <a:off x="9046537" y="4524168"/>
              <a:ext cx="1673588" cy="11503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r>
                <a:rPr lang="de-DE">
                  <a:solidFill>
                    <a:schemeClr val="tx1"/>
                  </a:solidFill>
                </a:rPr>
                <a:t>23 Segments</a:t>
              </a:r>
            </a:p>
            <a:p>
              <a:pPr>
                <a:lnSpc>
                  <a:spcPct val="114000"/>
                </a:lnSpc>
              </a:pPr>
              <a:r>
                <a:rPr lang="de-DE">
                  <a:solidFill>
                    <a:schemeClr val="tx1"/>
                  </a:solidFill>
                </a:rPr>
                <a:t>4 Trains</a:t>
              </a:r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15" name="Picture 14" descr="A white lines with black background&#10;&#10;Description automatically generated">
              <a:extLst>
                <a:ext uri="{FF2B5EF4-FFF2-40B4-BE49-F238E27FC236}">
                  <a16:creationId xmlns:a16="http://schemas.microsoft.com/office/drawing/2014/main" id="{522F8FED-FB78-9775-B883-739933D0396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0131" r="6053"/>
            <a:stretch/>
          </p:blipFill>
          <p:spPr>
            <a:xfrm>
              <a:off x="7922488" y="2326845"/>
              <a:ext cx="3921686" cy="19800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E7B0F8F-0946-4480-39F3-E86784DFC4FF}"/>
              </a:ext>
            </a:extLst>
          </p:cNvPr>
          <p:cNvGrpSpPr/>
          <p:nvPr/>
        </p:nvGrpSpPr>
        <p:grpSpPr>
          <a:xfrm>
            <a:off x="347826" y="1681726"/>
            <a:ext cx="3404257" cy="3993517"/>
            <a:chOff x="347826" y="1681726"/>
            <a:chExt cx="3404257" cy="399351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33515F-8AC8-A755-C04E-C2C3F1A116EA}"/>
                </a:ext>
              </a:extLst>
            </p:cNvPr>
            <p:cNvSpPr txBox="1"/>
            <p:nvPr/>
          </p:nvSpPr>
          <p:spPr>
            <a:xfrm>
              <a:off x="867198" y="1681726"/>
              <a:ext cx="2365513" cy="519351"/>
            </a:xfrm>
            <a:prstGeom prst="roundRect">
              <a:avLst>
                <a:gd name="adj" fmla="val 50000"/>
              </a:avLst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de-DE"/>
                <a:t>Y-Network</a:t>
              </a: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AE0FB7A-B590-DB0E-B946-BACC8B95BFD0}"/>
                </a:ext>
              </a:extLst>
            </p:cNvPr>
            <p:cNvSpPr/>
            <p:nvPr/>
          </p:nvSpPr>
          <p:spPr>
            <a:xfrm>
              <a:off x="1305206" y="4524892"/>
              <a:ext cx="1489496" cy="11503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r>
                <a:rPr lang="de-DE">
                  <a:solidFill>
                    <a:schemeClr val="tx1"/>
                  </a:solidFill>
                </a:rPr>
                <a:t>3 Segments</a:t>
              </a:r>
            </a:p>
            <a:p>
              <a:pPr>
                <a:lnSpc>
                  <a:spcPct val="114000"/>
                </a:lnSpc>
              </a:pPr>
              <a:r>
                <a:rPr lang="de-DE">
                  <a:solidFill>
                    <a:schemeClr val="tx1"/>
                  </a:solidFill>
                </a:rPr>
                <a:t>2 Trains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528E5B6-172A-F217-7278-89A6682760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984" r="3307"/>
            <a:stretch/>
          </p:blipFill>
          <p:spPr>
            <a:xfrm>
              <a:off x="347826" y="2329614"/>
              <a:ext cx="3404257" cy="19772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6305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94FFAC-E1A8-1543-6CA4-078E04F1F1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44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064F19B-8D70-4DF2-5E82-F92517DF2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2F83B6C-EA9F-C1AB-923B-2E645814B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Total </a:t>
            </a:r>
            <a:r>
              <a:rPr lang="de-DE" err="1"/>
              <a:t>Objective</a:t>
            </a:r>
            <a:endParaRPr lang="de-DE"/>
          </a:p>
        </p:txBody>
      </p:sp>
      <p:pic>
        <p:nvPicPr>
          <p:cNvPr id="7" name="Picture 6" descr="A screen shot of a graph&#10;&#10;Description automatically generated">
            <a:extLst>
              <a:ext uri="{FF2B5EF4-FFF2-40B4-BE49-F238E27FC236}">
                <a16:creationId xmlns:a16="http://schemas.microsoft.com/office/drawing/2014/main" id="{EA15F663-D50C-F37D-B14C-B86BCEA3B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186" y="1501989"/>
            <a:ext cx="10151628" cy="496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ABA34C-BEFE-1091-1E9D-E6221ECFAEB1}"/>
              </a:ext>
            </a:extLst>
          </p:cNvPr>
          <p:cNvSpPr/>
          <p:nvPr/>
        </p:nvSpPr>
        <p:spPr>
          <a:xfrm>
            <a:off x="2057400" y="3585600"/>
            <a:ext cx="2616200" cy="2564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BE5A96-2FE3-543F-3D5D-6C1D3A633213}"/>
              </a:ext>
            </a:extLst>
          </p:cNvPr>
          <p:cNvSpPr/>
          <p:nvPr/>
        </p:nvSpPr>
        <p:spPr>
          <a:xfrm>
            <a:off x="5498749" y="3585600"/>
            <a:ext cx="2616200" cy="25643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5C5AA-530B-4BE5-4C6E-E89451CE0258}"/>
              </a:ext>
            </a:extLst>
          </p:cNvPr>
          <p:cNvSpPr/>
          <p:nvPr/>
        </p:nvSpPr>
        <p:spPr>
          <a:xfrm>
            <a:off x="8377638" y="1712915"/>
            <a:ext cx="2616200" cy="4437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18D5EF3-5DD1-F7C4-7FA3-75881892713E}"/>
              </a:ext>
            </a:extLst>
          </p:cNvPr>
          <p:cNvGrpSpPr/>
          <p:nvPr/>
        </p:nvGrpSpPr>
        <p:grpSpPr>
          <a:xfrm>
            <a:off x="4035039" y="211940"/>
            <a:ext cx="4121923" cy="1273540"/>
            <a:chOff x="4405102" y="977848"/>
            <a:chExt cx="4121923" cy="1273540"/>
          </a:xfrm>
        </p:grpSpPr>
        <p:sp>
          <p:nvSpPr>
            <p:cNvPr id="12" name="Rounded Rectangle 6">
              <a:extLst>
                <a:ext uri="{FF2B5EF4-FFF2-40B4-BE49-F238E27FC236}">
                  <a16:creationId xmlns:a16="http://schemas.microsoft.com/office/drawing/2014/main" id="{13F835FD-CB86-56D2-3866-DD802B78CDC4}"/>
                </a:ext>
              </a:extLst>
            </p:cNvPr>
            <p:cNvSpPr/>
            <p:nvPr/>
          </p:nvSpPr>
          <p:spPr>
            <a:xfrm>
              <a:off x="4405102" y="1065230"/>
              <a:ext cx="4121923" cy="118615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E2B2D8A-4F68-78CF-621B-55393CCB2360}"/>
                    </a:ext>
                  </a:extLst>
                </p:cNvPr>
                <p:cNvSpPr txBox="1"/>
                <p:nvPr/>
              </p:nvSpPr>
              <p:spPr>
                <a:xfrm>
                  <a:off x="4549639" y="977848"/>
                  <a:ext cx="3832849" cy="118615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de-DE" sz="20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nor/>
                              </m:rPr>
                              <a:rPr lang="de-DE" sz="2000"/>
                              <m:t>min</m:t>
                            </m:r>
                            <m:sSup>
                              <m:sSupPr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T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de-DE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nor/>
                                          </m:rPr>
                                          <a:rPr lang="de-DE" sz="2000" i="1"/>
                                          <m:t>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nor/>
                                          </m:rPr>
                                          <a:rPr lang="de-DE" sz="2000" i="1"/>
                                          <m:t>plan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de-DE" sz="2000"/>
                                  <m:t>2</m:t>
                                </m:r>
                              </m:sup>
                            </m:sSup>
                            <m:r>
                              <a:rPr lang="de-DE" sz="2000" i="1">
                                <a:latin typeface="Cambria Math" panose="02040503050406030204" pitchFamily="18" charset="0"/>
                              </a:rPr>
                              <m:t>+ </m:t>
                            </m:r>
                          </m:fName>
                          <m:e>
                            <m:r>
                              <m:rPr>
                                <m:nor/>
                              </m:rPr>
                              <a:rPr lang="de-DE" sz="2000"/>
                              <m:t>α</m:t>
                            </m:r>
                            <m:nary>
                              <m:naryPr>
                                <m:limLoc m:val="undOvr"/>
                                <m:ctrlPr>
                                  <a:rPr lang="de-DE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nor/>
                                    <m:brk m:alnAt="24"/>
                                  </m:rPr>
                                  <a:rPr lang="de-DE" sz="2000"/>
                                  <m:t>0</m:t>
                                </m:r>
                              </m:sub>
                              <m:sup>
                                <m:r>
                                  <m:rPr>
                                    <m:nor/>
                                  </m:rPr>
                                  <a:rPr lang="de-DE" sz="2000"/>
                                  <m:t>1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TA</m:t>
                                    </m:r>
                                  </m:e>
                                  <m:sup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de-D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de-DE" sz="2000" i="1"/>
                                      <m:t>x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de-DE" sz="2000" i="1"/>
                                  <m:t>dx</m:t>
                                </m:r>
                                <m:r>
                                  <m:rPr>
                                    <m:nor/>
                                  </m:rPr>
                                  <a:rPr lang="de-DE" sz="2000"/>
                                  <m:t> </m:t>
                                </m:r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US" sz="20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E2B2D8A-4F68-78CF-621B-55393CCB2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9639" y="977848"/>
                  <a:ext cx="3832849" cy="118615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63640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2">
            <a:hlinkClick r:id="" action="ppaction://media"/>
            <a:extLst>
              <a:ext uri="{FF2B5EF4-FFF2-40B4-BE49-F238E27FC236}">
                <a16:creationId xmlns:a16="http://schemas.microsoft.com/office/drawing/2014/main" id="{37175D30-CD14-6F1D-4CE9-662660204C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-16656" t="1160" r="16656" b="-1160"/>
          <a:stretch/>
        </p:blipFill>
        <p:spPr>
          <a:xfrm>
            <a:off x="-522968" y="2252552"/>
            <a:ext cx="9556213" cy="382248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02F52-D9F6-9052-8634-69A0380D47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45</a:t>
            </a:fld>
            <a:endParaRPr lang="de-D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BAA6F0F-4867-AFBD-094B-5625DF144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8987026-F9A3-3591-A354-895B5146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Decoupled</a:t>
            </a:r>
            <a:r>
              <a:rPr lang="de-DE"/>
              <a:t> Route-</a:t>
            </a:r>
            <a:r>
              <a:rPr lang="de-DE" err="1"/>
              <a:t>based</a:t>
            </a:r>
            <a:r>
              <a:rPr lang="de-DE"/>
              <a:t> vs. Segment-</a:t>
            </a:r>
            <a:r>
              <a:rPr lang="de-DE" err="1"/>
              <a:t>based</a:t>
            </a:r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4E2C9A-B7BF-37D4-325A-9D55B6027AEA}"/>
              </a:ext>
            </a:extLst>
          </p:cNvPr>
          <p:cNvSpPr/>
          <p:nvPr/>
        </p:nvSpPr>
        <p:spPr>
          <a:xfrm>
            <a:off x="9384170" y="3521484"/>
            <a:ext cx="2092540" cy="12846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40 Segments</a:t>
            </a:r>
          </a:p>
          <a:p>
            <a:pPr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5 Trains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597ACD-1228-BF28-7890-D19EDD0DA58C}"/>
              </a:ext>
            </a:extLst>
          </p:cNvPr>
          <p:cNvSpPr txBox="1">
            <a:spLocks/>
          </p:cNvSpPr>
          <p:nvPr/>
        </p:nvSpPr>
        <p:spPr>
          <a:xfrm>
            <a:off x="425451" y="1473200"/>
            <a:ext cx="8508999" cy="716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13999"/>
              </a:lnSpc>
              <a:buFont typeface="Arial,Sans-Serif"/>
              <a:buChar char="•"/>
            </a:pPr>
            <a:r>
              <a:rPr lang="en-US" sz="2000">
                <a:solidFill>
                  <a:srgbClr val="00DA01"/>
                </a:solidFill>
              </a:rPr>
              <a:t>Green trains</a:t>
            </a:r>
            <a:r>
              <a:rPr lang="en-US" sz="2000">
                <a:cs typeface="Arial"/>
              </a:rPr>
              <a:t>: output route-based</a:t>
            </a:r>
            <a:endParaRPr lang="en-US" sz="2000" b="1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,Sans-Serif"/>
              <a:buChar char="•"/>
            </a:pPr>
            <a:r>
              <a:rPr lang="en-US" sz="2000">
                <a:solidFill>
                  <a:srgbClr val="FF0000"/>
                </a:solidFill>
                <a:cs typeface="Arial"/>
              </a:rPr>
              <a:t>Red trains</a:t>
            </a:r>
            <a:r>
              <a:rPr lang="en-US" sz="2000">
                <a:cs typeface="Arial"/>
              </a:rPr>
              <a:t>: output segment-based</a:t>
            </a:r>
            <a:endParaRPr lang="en-US" sz="2000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5761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267"/>
                            </p:stCondLst>
                            <p:childTnLst>
                              <p:par>
                                <p:cTn id="8" presetID="3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stop"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  <p:extLst>
    <p:ext uri="{6950BFC3-D8DA-4A85-94F7-54DA5524770B}">
      <p188:commentRel xmlns:p188="http://schemas.microsoft.com/office/powerpoint/2018/8/main" r:id="rId5"/>
    </p:ext>
  </p:extLs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B02F52-D9F6-9052-8634-69A0380D47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46</a:t>
            </a:fld>
            <a:endParaRPr lang="de-DE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BAA6F0F-4867-AFBD-094B-5625DF144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18987026-F9A3-3591-A354-895B5146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Decoupled</a:t>
            </a:r>
            <a:r>
              <a:rPr lang="de-DE"/>
              <a:t> Route-</a:t>
            </a:r>
            <a:r>
              <a:rPr lang="de-DE" err="1"/>
              <a:t>based</a:t>
            </a:r>
            <a:r>
              <a:rPr lang="de-DE"/>
              <a:t> vs. Segment-</a:t>
            </a:r>
            <a:r>
              <a:rPr lang="de-DE" err="1"/>
              <a:t>based</a:t>
            </a:r>
            <a:endParaRPr lang="de-DE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837948-B5B6-D200-A4D2-8A59180FB266}"/>
              </a:ext>
            </a:extLst>
          </p:cNvPr>
          <p:cNvGrpSpPr/>
          <p:nvPr/>
        </p:nvGrpSpPr>
        <p:grpSpPr>
          <a:xfrm>
            <a:off x="1112901" y="1589774"/>
            <a:ext cx="9966198" cy="4680000"/>
            <a:chOff x="988017" y="1589774"/>
            <a:chExt cx="9966198" cy="4680000"/>
          </a:xfrm>
        </p:grpSpPr>
        <p:pic>
          <p:nvPicPr>
            <p:cNvPr id="14" name="Picture 13" descr="A screenshot of a graph&#10;&#10;Description automatically generated">
              <a:extLst>
                <a:ext uri="{FF2B5EF4-FFF2-40B4-BE49-F238E27FC236}">
                  <a16:creationId xmlns:a16="http://schemas.microsoft.com/office/drawing/2014/main" id="{E74A4341-FDC2-3A0E-9940-180E189DA1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8017" y="1589774"/>
              <a:ext cx="4205962" cy="4680000"/>
            </a:xfrm>
            <a:prstGeom prst="rect">
              <a:avLst/>
            </a:prstGeom>
          </p:spPr>
        </p:pic>
        <p:pic>
          <p:nvPicPr>
            <p:cNvPr id="16" name="Picture 15" descr="A graph with green squares and white text&#10;&#10;Description automatically generated">
              <a:extLst>
                <a:ext uri="{FF2B5EF4-FFF2-40B4-BE49-F238E27FC236}">
                  <a16:creationId xmlns:a16="http://schemas.microsoft.com/office/drawing/2014/main" id="{20E307FE-147D-8A8D-44D8-5367F25AE6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3674" y="1589774"/>
              <a:ext cx="4070541" cy="4680000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952A16AB-86D8-2255-40D1-73F581601407}"/>
              </a:ext>
            </a:extLst>
          </p:cNvPr>
          <p:cNvSpPr/>
          <p:nvPr/>
        </p:nvSpPr>
        <p:spPr>
          <a:xfrm>
            <a:off x="2057400" y="2905200"/>
            <a:ext cx="2616200" cy="32405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77978D-265B-56BA-EA4D-E587A4641B27}"/>
              </a:ext>
            </a:extLst>
          </p:cNvPr>
          <p:cNvGrpSpPr/>
          <p:nvPr/>
        </p:nvGrpSpPr>
        <p:grpSpPr>
          <a:xfrm>
            <a:off x="7725145" y="2059408"/>
            <a:ext cx="2616200" cy="4086328"/>
            <a:chOff x="7725145" y="2059408"/>
            <a:chExt cx="2616200" cy="408632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F10D3B-47AD-0967-376D-D67D792B1103}"/>
                </a:ext>
              </a:extLst>
            </p:cNvPr>
            <p:cNvSpPr/>
            <p:nvPr/>
          </p:nvSpPr>
          <p:spPr>
            <a:xfrm>
              <a:off x="7725145" y="2905200"/>
              <a:ext cx="2616200" cy="32405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B7643DE-AC56-996A-167A-0B86FDA15534}"/>
                </a:ext>
              </a:extLst>
            </p:cNvPr>
            <p:cNvSpPr/>
            <p:nvPr/>
          </p:nvSpPr>
          <p:spPr>
            <a:xfrm>
              <a:off x="7918450" y="2059408"/>
              <a:ext cx="723899" cy="32547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28EF72-9C70-1198-040A-04468A310BED}"/>
              </a:ext>
            </a:extLst>
          </p:cNvPr>
          <p:cNvCxnSpPr>
            <a:cxnSpLocks/>
          </p:cNvCxnSpPr>
          <p:nvPr/>
        </p:nvCxnSpPr>
        <p:spPr>
          <a:xfrm>
            <a:off x="7229475" y="2066400"/>
            <a:ext cx="379571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E736EB81-9AE6-579B-ED8E-B275E8505121}"/>
              </a:ext>
            </a:extLst>
          </p:cNvPr>
          <p:cNvSpPr/>
          <p:nvPr/>
        </p:nvSpPr>
        <p:spPr>
          <a:xfrm>
            <a:off x="8026400" y="0"/>
            <a:ext cx="508000" cy="207339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708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0737F23-AF35-BC0A-52A9-3E8E85BCA5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47</a:t>
            </a:fld>
            <a:endParaRPr lang="de-DE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4A1B81-764E-5D53-BB7F-622EAFD25951}"/>
              </a:ext>
            </a:extLst>
          </p:cNvPr>
          <p:cNvGrpSpPr/>
          <p:nvPr/>
        </p:nvGrpSpPr>
        <p:grpSpPr>
          <a:xfrm>
            <a:off x="425451" y="1730716"/>
            <a:ext cx="9058103" cy="432000"/>
            <a:chOff x="425451" y="1730716"/>
            <a:chExt cx="9058103" cy="432000"/>
          </a:xfrm>
        </p:grpSpPr>
        <p:sp>
          <p:nvSpPr>
            <p:cNvPr id="5" name="Symbol zastępczy tekstu 23">
              <a:extLst>
                <a:ext uri="{FF2B5EF4-FFF2-40B4-BE49-F238E27FC236}">
                  <a16:creationId xmlns:a16="http://schemas.microsoft.com/office/drawing/2014/main" id="{92ACA924-F654-129F-30A4-E6AC38633EA6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gray">
            <a:xfrm>
              <a:off x="425451" y="1730716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01</a:t>
              </a:r>
            </a:p>
          </p:txBody>
        </p:sp>
        <p:sp>
          <p:nvSpPr>
            <p:cNvPr id="14" name="Symbol zastępczy tekstu 32">
              <a:extLst>
                <a:ext uri="{FF2B5EF4-FFF2-40B4-BE49-F238E27FC236}">
                  <a16:creationId xmlns:a16="http://schemas.microsoft.com/office/drawing/2014/main" id="{8E529EEA-0535-9A7D-86C2-7876638BAC0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1795516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Problem Description</a:t>
              </a: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EA386430-C085-9BD0-B7DE-D747AABA3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2E693B2-B7EA-A8ED-5270-2AB1AE73340A}"/>
              </a:ext>
            </a:extLst>
          </p:cNvPr>
          <p:cNvGrpSpPr/>
          <p:nvPr/>
        </p:nvGrpSpPr>
        <p:grpSpPr>
          <a:xfrm>
            <a:off x="425451" y="2365003"/>
            <a:ext cx="9058103" cy="432000"/>
            <a:chOff x="425451" y="2302130"/>
            <a:chExt cx="9058103" cy="432000"/>
          </a:xfrm>
        </p:grpSpPr>
        <p:sp>
          <p:nvSpPr>
            <p:cNvPr id="21" name="Symbol zastępczy tekstu 23">
              <a:extLst>
                <a:ext uri="{FF2B5EF4-FFF2-40B4-BE49-F238E27FC236}">
                  <a16:creationId xmlns:a16="http://schemas.microsoft.com/office/drawing/2014/main" id="{7DCA2B47-C54D-BE17-3572-876C62CBE633}"/>
                </a:ext>
              </a:extLst>
            </p:cNvPr>
            <p:cNvSpPr txBox="1">
              <a:spLocks/>
            </p:cNvSpPr>
            <p:nvPr>
              <p:custDataLst>
                <p:tags r:id="rId4"/>
              </p:custDataLst>
            </p:nvPr>
          </p:nvSpPr>
          <p:spPr bwMode="gray">
            <a:xfrm>
              <a:off x="425451" y="2302130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02</a:t>
              </a:r>
            </a:p>
          </p:txBody>
        </p:sp>
        <p:sp>
          <p:nvSpPr>
            <p:cNvPr id="22" name="Symbol zastępczy tekstu 32">
              <a:extLst>
                <a:ext uri="{FF2B5EF4-FFF2-40B4-BE49-F238E27FC236}">
                  <a16:creationId xmlns:a16="http://schemas.microsoft.com/office/drawing/2014/main" id="{10264CC8-DAC8-EC57-9E7E-2CA02391D678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37554" y="2366930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err="1">
                  <a:latin typeface="+mn-lt"/>
                </a:rPr>
                <a:t>Combined</a:t>
              </a:r>
              <a:r>
                <a:rPr lang="de-DE">
                  <a:latin typeface="+mn-lt"/>
                </a:rPr>
                <a:t> Approach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05FE4E-B733-E02F-F1D0-603EDE5C57D0}"/>
              </a:ext>
            </a:extLst>
          </p:cNvPr>
          <p:cNvGrpSpPr/>
          <p:nvPr/>
        </p:nvGrpSpPr>
        <p:grpSpPr>
          <a:xfrm>
            <a:off x="425451" y="2999289"/>
            <a:ext cx="9058103" cy="432000"/>
            <a:chOff x="414883" y="3024067"/>
            <a:chExt cx="9058103" cy="432000"/>
          </a:xfrm>
        </p:grpSpPr>
        <p:sp>
          <p:nvSpPr>
            <p:cNvPr id="28" name="Symbol zastępczy tekstu 23">
              <a:extLst>
                <a:ext uri="{FF2B5EF4-FFF2-40B4-BE49-F238E27FC236}">
                  <a16:creationId xmlns:a16="http://schemas.microsoft.com/office/drawing/2014/main" id="{D720CF5E-FDA2-1C5D-38DE-39BBA1E2DEF2}"/>
                </a:ext>
              </a:extLst>
            </p:cNvPr>
            <p:cNvSpPr txBox="1">
              <a:spLocks/>
            </p:cNvSpPr>
            <p:nvPr>
              <p:custDataLst>
                <p:tags r:id="rId3"/>
              </p:custDataLst>
            </p:nvPr>
          </p:nvSpPr>
          <p:spPr bwMode="gray">
            <a:xfrm>
              <a:off x="414883" y="3024067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03</a:t>
              </a:r>
            </a:p>
          </p:txBody>
        </p:sp>
        <p:sp>
          <p:nvSpPr>
            <p:cNvPr id="29" name="Symbol zastępczy tekstu 32">
              <a:extLst>
                <a:ext uri="{FF2B5EF4-FFF2-40B4-BE49-F238E27FC236}">
                  <a16:creationId xmlns:a16="http://schemas.microsoft.com/office/drawing/2014/main" id="{FA72EB01-738B-7CCC-980D-06139E9AC6D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088867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sz="2400" err="1">
                  <a:latin typeface="+mn-lt"/>
                </a:rPr>
                <a:t>Decoupled</a:t>
              </a:r>
              <a:r>
                <a:rPr lang="de-DE" sz="2400">
                  <a:latin typeface="+mn-lt"/>
                </a:rPr>
                <a:t> Approach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7EAD94-3138-9D1F-F35C-D6504C79E4A8}"/>
              </a:ext>
            </a:extLst>
          </p:cNvPr>
          <p:cNvGrpSpPr/>
          <p:nvPr/>
        </p:nvGrpSpPr>
        <p:grpSpPr>
          <a:xfrm>
            <a:off x="425451" y="3633576"/>
            <a:ext cx="9058103" cy="432000"/>
            <a:chOff x="414883" y="3595481"/>
            <a:chExt cx="9058103" cy="432000"/>
          </a:xfrm>
        </p:grpSpPr>
        <p:sp>
          <p:nvSpPr>
            <p:cNvPr id="30" name="Symbol zastępczy tekstu 23">
              <a:extLst>
                <a:ext uri="{FF2B5EF4-FFF2-40B4-BE49-F238E27FC236}">
                  <a16:creationId xmlns:a16="http://schemas.microsoft.com/office/drawing/2014/main" id="{C3928531-532D-C2CF-CF37-2AA870874CDA}"/>
                </a:ext>
              </a:extLst>
            </p:cNvPr>
            <p:cNvSpPr txBox="1">
              <a:spLocks/>
            </p:cNvSpPr>
            <p:nvPr>
              <p:custDataLst>
                <p:tags r:id="rId2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04</a:t>
              </a:r>
            </a:p>
          </p:txBody>
        </p:sp>
        <p:sp>
          <p:nvSpPr>
            <p:cNvPr id="31" name="Symbol zastępczy tekstu 32">
              <a:extLst>
                <a:ext uri="{FF2B5EF4-FFF2-40B4-BE49-F238E27FC236}">
                  <a16:creationId xmlns:a16="http://schemas.microsoft.com/office/drawing/2014/main" id="{49C1A316-6797-48F9-929B-30544324700C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Experiments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7A1342-6839-F824-F73E-F5FE35FBEE13}"/>
              </a:ext>
            </a:extLst>
          </p:cNvPr>
          <p:cNvGrpSpPr/>
          <p:nvPr/>
        </p:nvGrpSpPr>
        <p:grpSpPr>
          <a:xfrm>
            <a:off x="425451" y="4267862"/>
            <a:ext cx="9058103" cy="432000"/>
            <a:chOff x="414883" y="3595481"/>
            <a:chExt cx="9058103" cy="432000"/>
          </a:xfrm>
        </p:grpSpPr>
        <p:sp>
          <p:nvSpPr>
            <p:cNvPr id="37" name="Symbol zastępczy tekstu 23">
              <a:extLst>
                <a:ext uri="{FF2B5EF4-FFF2-40B4-BE49-F238E27FC236}">
                  <a16:creationId xmlns:a16="http://schemas.microsoft.com/office/drawing/2014/main" id="{102D37CF-0904-A649-17BF-716C80D2279F}"/>
                </a:ext>
              </a:extLst>
            </p:cNvPr>
            <p:cNvSpPr txBox="1">
              <a:spLocks/>
            </p:cNvSpPr>
            <p:nvPr>
              <p:custDataLst>
                <p:tags r:id="rId1"/>
              </p:custDataLst>
            </p:nvPr>
          </p:nvSpPr>
          <p:spPr bwMode="gray">
            <a:xfrm>
              <a:off x="414883" y="3595481"/>
              <a:ext cx="432000" cy="4320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1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>
                  <a:latin typeface="+mn-lt"/>
                </a:rPr>
                <a:t>05</a:t>
              </a:r>
            </a:p>
          </p:txBody>
        </p:sp>
        <p:sp>
          <p:nvSpPr>
            <p:cNvPr id="38" name="Symbol zastępczy tekstu 32">
              <a:extLst>
                <a:ext uri="{FF2B5EF4-FFF2-40B4-BE49-F238E27FC236}">
                  <a16:creationId xmlns:a16="http://schemas.microsoft.com/office/drawing/2014/main" id="{19C24D9E-4416-65CE-489F-5646D2ED271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1426986" y="3660281"/>
              <a:ext cx="8046000" cy="302400"/>
            </a:xfrm>
            <a:prstGeom prst="rect">
              <a:avLst/>
            </a:prstGeom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2400" b="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0" indent="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216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31989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48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864000" indent="-216000" algn="l" defTabSz="914377" rtl="0" eaLnBrk="1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600"/>
                </a:spcAft>
                <a:buFont typeface="Lidl Font Pro" panose="02000000000000000000" pitchFamily="2" charset="0"/>
                <a:buChar char="−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685783" fontAlgn="auto">
                <a:defRPr/>
              </a:pPr>
              <a:r>
                <a:rPr lang="de-DE" b="1">
                  <a:latin typeface="+mn-lt"/>
                </a:rPr>
                <a:t>Summary</a:t>
              </a:r>
            </a:p>
          </p:txBody>
        </p:sp>
      </p:grp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FA8057E-6D59-43BB-80DC-C12A38E04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8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1F07C3-D454-4DA8-143B-6652188F2782}"/>
              </a:ext>
            </a:extLst>
          </p:cNvPr>
          <p:cNvCxnSpPr>
            <a:cxnSpLocks/>
          </p:cNvCxnSpPr>
          <p:nvPr/>
        </p:nvCxnSpPr>
        <p:spPr>
          <a:xfrm>
            <a:off x="6096000" y="2020711"/>
            <a:ext cx="1682277" cy="65726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05283B-E722-842C-9DC2-C12F0A0157F1}"/>
              </a:ext>
            </a:extLst>
          </p:cNvPr>
          <p:cNvCxnSpPr>
            <a:cxnSpLocks/>
          </p:cNvCxnSpPr>
          <p:nvPr/>
        </p:nvCxnSpPr>
        <p:spPr>
          <a:xfrm flipH="1">
            <a:off x="4222044" y="2020711"/>
            <a:ext cx="1778117" cy="67986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75069-43F9-1A70-6387-C5C7DD5D6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910697" y="6492875"/>
            <a:ext cx="2736099" cy="365125"/>
          </a:xfrm>
        </p:spPr>
        <p:txBody>
          <a:bodyPr/>
          <a:lstStyle/>
          <a:p>
            <a:fld id="{CE58CB1E-F828-4F11-99E0-327109AF9DA4}" type="slidenum">
              <a:rPr lang="de-DE" smtClean="0"/>
              <a:pPr/>
              <a:t>48</a:t>
            </a:fld>
            <a:endParaRPr lang="de-DE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635AB61-19E8-201F-A27F-34594D7EFC45}"/>
              </a:ext>
            </a:extLst>
          </p:cNvPr>
          <p:cNvSpPr txBox="1"/>
          <p:nvPr/>
        </p:nvSpPr>
        <p:spPr>
          <a:xfrm>
            <a:off x="13993197" y="4453296"/>
            <a:ext cx="54546" cy="1930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b="1">
                <a:latin typeface="+mn-lt"/>
              </a:rPr>
              <a:t>B</a:t>
            </a:r>
            <a:endParaRPr lang="en-DE" sz="1600" b="1">
              <a:latin typeface="+mn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3B976E-ADC9-00E2-237D-BA1DF1C1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2335" y="6492875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8E8802A-1C35-BBDB-D35B-436CBC8E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Summary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FA2CCD-237C-F0B3-45F2-001E42697D01}"/>
              </a:ext>
            </a:extLst>
          </p:cNvPr>
          <p:cNvCxnSpPr>
            <a:cxnSpLocks/>
            <a:stCxn id="326" idx="4"/>
            <a:endCxn id="12" idx="0"/>
          </p:cNvCxnSpPr>
          <p:nvPr/>
        </p:nvCxnSpPr>
        <p:spPr>
          <a:xfrm>
            <a:off x="6000161" y="2509777"/>
            <a:ext cx="0" cy="9406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Oval 325">
            <a:extLst>
              <a:ext uri="{FF2B5EF4-FFF2-40B4-BE49-F238E27FC236}">
                <a16:creationId xmlns:a16="http://schemas.microsoft.com/office/drawing/2014/main" id="{213DB8BE-D2AC-4AA0-E51E-6D04857DCBA0}"/>
              </a:ext>
            </a:extLst>
          </p:cNvPr>
          <p:cNvSpPr/>
          <p:nvPr/>
        </p:nvSpPr>
        <p:spPr>
          <a:xfrm>
            <a:off x="4480076" y="1453008"/>
            <a:ext cx="3040169" cy="10567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>
                <a:solidFill>
                  <a:schemeClr val="tx1"/>
                </a:solidFill>
              </a:rPr>
              <a:t>Problem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332" name="Rounded Rectangle 110">
            <a:extLst>
              <a:ext uri="{FF2B5EF4-FFF2-40B4-BE49-F238E27FC236}">
                <a16:creationId xmlns:a16="http://schemas.microsoft.com/office/drawing/2014/main" id="{5DF45A6A-DBF9-4E7F-CBC2-D2FB4D7806AA}"/>
              </a:ext>
            </a:extLst>
          </p:cNvPr>
          <p:cNvSpPr/>
          <p:nvPr/>
        </p:nvSpPr>
        <p:spPr>
          <a:xfrm>
            <a:off x="564774" y="2412382"/>
            <a:ext cx="3771293" cy="36147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12F2FC76-F415-75DE-87D5-D1227E0D49EA}"/>
              </a:ext>
            </a:extLst>
          </p:cNvPr>
          <p:cNvSpPr/>
          <p:nvPr/>
        </p:nvSpPr>
        <p:spPr>
          <a:xfrm>
            <a:off x="1786249" y="2433534"/>
            <a:ext cx="1135629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Input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333" name="Rounded Rectangle 110">
            <a:extLst>
              <a:ext uri="{FF2B5EF4-FFF2-40B4-BE49-F238E27FC236}">
                <a16:creationId xmlns:a16="http://schemas.microsoft.com/office/drawing/2014/main" id="{7F1E4AAA-8E66-283A-889B-72AE1B147559}"/>
              </a:ext>
            </a:extLst>
          </p:cNvPr>
          <p:cNvSpPr/>
          <p:nvPr/>
        </p:nvSpPr>
        <p:spPr>
          <a:xfrm>
            <a:off x="7639423" y="2382965"/>
            <a:ext cx="3771291" cy="36147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EE8819D-FE5B-F983-1B9E-B135BB727402}"/>
              </a:ext>
            </a:extLst>
          </p:cNvPr>
          <p:cNvSpPr/>
          <p:nvPr/>
        </p:nvSpPr>
        <p:spPr>
          <a:xfrm>
            <a:off x="8980933" y="2412383"/>
            <a:ext cx="1135629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Output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2" name="Rounded Rectangle 110">
            <a:extLst>
              <a:ext uri="{FF2B5EF4-FFF2-40B4-BE49-F238E27FC236}">
                <a16:creationId xmlns:a16="http://schemas.microsoft.com/office/drawing/2014/main" id="{BB8960FE-86E6-116E-C613-EAF49E81E654}"/>
              </a:ext>
            </a:extLst>
          </p:cNvPr>
          <p:cNvSpPr/>
          <p:nvPr/>
        </p:nvSpPr>
        <p:spPr>
          <a:xfrm>
            <a:off x="5062194" y="3450418"/>
            <a:ext cx="1875934" cy="152491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4B46E-400E-483D-783B-C393000E2041}"/>
              </a:ext>
            </a:extLst>
          </p:cNvPr>
          <p:cNvSpPr/>
          <p:nvPr/>
        </p:nvSpPr>
        <p:spPr>
          <a:xfrm>
            <a:off x="5345166" y="3442333"/>
            <a:ext cx="1286816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Objective</a:t>
            </a:r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5390B1F-33F8-C6D9-D138-257D63CCB6F7}"/>
              </a:ext>
            </a:extLst>
          </p:cNvPr>
          <p:cNvGrpSpPr/>
          <p:nvPr/>
        </p:nvGrpSpPr>
        <p:grpSpPr>
          <a:xfrm>
            <a:off x="929179" y="3231923"/>
            <a:ext cx="3070302" cy="1162872"/>
            <a:chOff x="4362770" y="3818793"/>
            <a:chExt cx="4518293" cy="1711306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4A52CAA-240C-9DB0-132A-1F85962BD803}"/>
                </a:ext>
              </a:extLst>
            </p:cNvPr>
            <p:cNvCxnSpPr>
              <a:cxnSpLocks/>
            </p:cNvCxnSpPr>
            <p:nvPr/>
          </p:nvCxnSpPr>
          <p:spPr>
            <a:xfrm>
              <a:off x="6667597" y="4064212"/>
              <a:ext cx="1536395" cy="277278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CD12CB28-2F24-2793-CB16-F2AD350EDCE2}"/>
                </a:ext>
              </a:extLst>
            </p:cNvPr>
            <p:cNvCxnSpPr>
              <a:cxnSpLocks/>
            </p:cNvCxnSpPr>
            <p:nvPr/>
          </p:nvCxnSpPr>
          <p:spPr>
            <a:xfrm>
              <a:off x="4362770" y="4121037"/>
              <a:ext cx="618520" cy="205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88B85F17-A83A-4950-052A-16EA196A3457}"/>
                </a:ext>
              </a:extLst>
            </p:cNvPr>
            <p:cNvSpPr/>
            <p:nvPr/>
          </p:nvSpPr>
          <p:spPr>
            <a:xfrm>
              <a:off x="8249591" y="4309194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DF7E6F4-5298-265E-0D77-A00EA8C782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4675" y="4815789"/>
              <a:ext cx="523180" cy="8075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B8563EC-D10B-4BD5-F75B-56E37EA7C2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964" y="4071144"/>
              <a:ext cx="1362048" cy="2703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2696D07-AFCC-DB6B-A54D-E7FCE69DA5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8066" y="4390174"/>
              <a:ext cx="822137" cy="38026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80C145C-DE32-F143-E27E-DF23F74C7448}"/>
                </a:ext>
              </a:extLst>
            </p:cNvPr>
            <p:cNvSpPr/>
            <p:nvPr/>
          </p:nvSpPr>
          <p:spPr>
            <a:xfrm>
              <a:off x="5931978" y="4770440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B3C93BD-DF28-A0EF-F7A4-E84AD3C500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2697" y="4397853"/>
              <a:ext cx="592182" cy="23889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317C830-E41A-3F7C-4EA2-F2C1A0AA32DD}"/>
                </a:ext>
              </a:extLst>
            </p:cNvPr>
            <p:cNvCxnSpPr>
              <a:cxnSpLocks/>
            </p:cNvCxnSpPr>
            <p:nvPr/>
          </p:nvCxnSpPr>
          <p:spPr>
            <a:xfrm>
              <a:off x="5094651" y="4436643"/>
              <a:ext cx="599128" cy="76073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1891411A-9FAF-AFD2-DB25-6EDACA3B6552}"/>
                </a:ext>
              </a:extLst>
            </p:cNvPr>
            <p:cNvCxnSpPr>
              <a:cxnSpLocks/>
            </p:cNvCxnSpPr>
            <p:nvPr/>
          </p:nvCxnSpPr>
          <p:spPr>
            <a:xfrm>
              <a:off x="8379435" y="4352056"/>
              <a:ext cx="50162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48D2101-8C73-58F3-B151-9494C16C2016}"/>
                </a:ext>
              </a:extLst>
            </p:cNvPr>
            <p:cNvSpPr txBox="1"/>
            <p:nvPr/>
          </p:nvSpPr>
          <p:spPr>
            <a:xfrm>
              <a:off x="4809329" y="4468415"/>
              <a:ext cx="129843" cy="3826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000" b="1">
                  <a:latin typeface="+mn-lt"/>
                </a:rPr>
                <a:t>A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F9F8C1-703F-73AA-8598-717E9065EA96}"/>
                </a:ext>
              </a:extLst>
            </p:cNvPr>
            <p:cNvSpPr txBox="1"/>
            <p:nvPr/>
          </p:nvSpPr>
          <p:spPr>
            <a:xfrm>
              <a:off x="8511889" y="4390127"/>
              <a:ext cx="129843" cy="3826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000" b="1">
                  <a:latin typeface="+mn-lt"/>
                </a:rPr>
                <a:t>B</a:t>
              </a:r>
              <a:endParaRPr lang="en-DE" sz="1100" b="1"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385FFED-855D-BDAA-4D07-55C77D375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6448" y="5310450"/>
              <a:ext cx="606256" cy="21205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0C366EA-07CB-B147-0677-A16FC34742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9442" y="4903389"/>
              <a:ext cx="132536" cy="2987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650CFFD-D1D4-9C3C-25F9-FF61ED797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5710" y="4965358"/>
              <a:ext cx="624157" cy="26016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D8E8F78-6C49-C062-B1BD-4557C89CBC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39573" y="4398481"/>
              <a:ext cx="736831" cy="38283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2D59F5CD-23EB-4D1B-A642-61F45273F7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6788" y="4964453"/>
              <a:ext cx="630505" cy="24235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FD183ABB-6485-F0D0-01AF-E2F5C4847306}"/>
                </a:ext>
              </a:extLst>
            </p:cNvPr>
            <p:cNvCxnSpPr>
              <a:cxnSpLocks/>
            </p:cNvCxnSpPr>
            <p:nvPr/>
          </p:nvCxnSpPr>
          <p:spPr>
            <a:xfrm>
              <a:off x="6042270" y="4831469"/>
              <a:ext cx="431287" cy="5954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29AC706-0C3D-91EB-FE5B-1E45F90E7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8872" y="5279863"/>
              <a:ext cx="1409379" cy="38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2" name="Graphic 131" descr="Toy Train with solid fill">
              <a:extLst>
                <a:ext uri="{FF2B5EF4-FFF2-40B4-BE49-F238E27FC236}">
                  <a16:creationId xmlns:a16="http://schemas.microsoft.com/office/drawing/2014/main" id="{04FA6CD6-0B19-FF58-9E5F-95613C3C3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 rot="749801">
              <a:off x="7286689" y="3818793"/>
              <a:ext cx="408900" cy="408900"/>
            </a:xfrm>
            <a:prstGeom prst="rect">
              <a:avLst/>
            </a:prstGeom>
          </p:spPr>
        </p:pic>
        <p:pic>
          <p:nvPicPr>
            <p:cNvPr id="133" name="Graphic 132" descr="Toy Train with solid fill">
              <a:extLst>
                <a:ext uri="{FF2B5EF4-FFF2-40B4-BE49-F238E27FC236}">
                  <a16:creationId xmlns:a16="http://schemas.microsoft.com/office/drawing/2014/main" id="{C7FD287F-FA39-5BF4-009F-3250DD91F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rot="20979576">
              <a:off x="5636084" y="3825440"/>
              <a:ext cx="408901" cy="408901"/>
            </a:xfrm>
            <a:prstGeom prst="rect">
              <a:avLst/>
            </a:prstGeom>
          </p:spPr>
        </p:pic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2BFDCEE-1755-55AA-52C7-CD23A76324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7554" y="4883640"/>
              <a:ext cx="55580" cy="2960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3D2ADF28-82C2-B912-D88A-DEABCA0535FF}"/>
                </a:ext>
              </a:extLst>
            </p:cNvPr>
            <p:cNvSpPr/>
            <p:nvPr/>
          </p:nvSpPr>
          <p:spPr>
            <a:xfrm>
              <a:off x="6543910" y="4015019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19B2CF6-AB88-B1EC-2ACB-0B01238BC321}"/>
                </a:ext>
              </a:extLst>
            </p:cNvPr>
            <p:cNvSpPr/>
            <p:nvPr/>
          </p:nvSpPr>
          <p:spPr>
            <a:xfrm>
              <a:off x="6523215" y="4860527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535FAFD9-D651-0759-5063-50989C1BBD21}"/>
                </a:ext>
              </a:extLst>
            </p:cNvPr>
            <p:cNvSpPr/>
            <p:nvPr/>
          </p:nvSpPr>
          <p:spPr>
            <a:xfrm>
              <a:off x="5712152" y="5239335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7AF956E0-C618-10E2-E74E-0754EA25A1DC}"/>
                </a:ext>
              </a:extLst>
            </p:cNvPr>
            <p:cNvSpPr/>
            <p:nvPr/>
          </p:nvSpPr>
          <p:spPr>
            <a:xfrm>
              <a:off x="7288267" y="5238929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pic>
          <p:nvPicPr>
            <p:cNvPr id="139" name="Graphic 138" descr="Toy Train with solid fill">
              <a:extLst>
                <a:ext uri="{FF2B5EF4-FFF2-40B4-BE49-F238E27FC236}">
                  <a16:creationId xmlns:a16="http://schemas.microsoft.com/office/drawing/2014/main" id="{EDD513AA-B1B6-0A29-594A-70E02148D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rot="1139651">
              <a:off x="4542732" y="3861877"/>
              <a:ext cx="408900" cy="408900"/>
            </a:xfrm>
            <a:prstGeom prst="rect">
              <a:avLst/>
            </a:prstGeom>
          </p:spPr>
        </p:pic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CAF0EE14-F78C-D964-BC82-9A240AE9785A}"/>
                </a:ext>
              </a:extLst>
            </p:cNvPr>
            <p:cNvCxnSpPr>
              <a:cxnSpLocks/>
            </p:cNvCxnSpPr>
            <p:nvPr/>
          </p:nvCxnSpPr>
          <p:spPr>
            <a:xfrm>
              <a:off x="7404705" y="5317336"/>
              <a:ext cx="604723" cy="2127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D1EF3FA3-A0B7-FB88-F9D4-EFD5DCA00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2841" y="4424243"/>
              <a:ext cx="809819" cy="78309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C738FEF4-CACE-7637-1ADE-AC8A25AC68FE}"/>
                </a:ext>
              </a:extLst>
            </p:cNvPr>
            <p:cNvSpPr/>
            <p:nvPr/>
          </p:nvSpPr>
          <p:spPr>
            <a:xfrm>
              <a:off x="5005241" y="4319543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210EFC-B9B7-483D-7F10-167579941DC2}"/>
                </a:ext>
              </a:extLst>
            </p:cNvPr>
            <p:cNvCxnSpPr>
              <a:cxnSpLocks/>
            </p:cNvCxnSpPr>
            <p:nvPr/>
          </p:nvCxnSpPr>
          <p:spPr>
            <a:xfrm>
              <a:off x="6646557" y="4123815"/>
              <a:ext cx="556617" cy="6189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3BB4F952-A983-EB00-1013-72E05A7A16D5}"/>
                </a:ext>
              </a:extLst>
            </p:cNvPr>
            <p:cNvSpPr/>
            <p:nvPr/>
          </p:nvSpPr>
          <p:spPr>
            <a:xfrm>
              <a:off x="7210614" y="4761481"/>
              <a:ext cx="85725" cy="8572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pic>
          <p:nvPicPr>
            <p:cNvPr id="145" name="Graphic 144" descr="Toy Train with solid fill">
              <a:extLst>
                <a:ext uri="{FF2B5EF4-FFF2-40B4-BE49-F238E27FC236}">
                  <a16:creationId xmlns:a16="http://schemas.microsoft.com/office/drawing/2014/main" id="{40D74521-210E-2AC4-8D13-4BF4701E3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rot="20483015">
              <a:off x="5024110" y="5084246"/>
              <a:ext cx="408900" cy="408900"/>
            </a:xfrm>
            <a:prstGeom prst="rect">
              <a:avLst/>
            </a:prstGeom>
          </p:spPr>
        </p:pic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70D454F6-4BFD-8B84-6387-EB11E234A588}"/>
              </a:ext>
            </a:extLst>
          </p:cNvPr>
          <p:cNvGrpSpPr/>
          <p:nvPr/>
        </p:nvGrpSpPr>
        <p:grpSpPr>
          <a:xfrm>
            <a:off x="1285886" y="4799409"/>
            <a:ext cx="2505740" cy="1067445"/>
            <a:chOff x="1232185" y="4491632"/>
            <a:chExt cx="2425029" cy="1033057"/>
          </a:xfrm>
        </p:grpSpPr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6D8312E6-ECDB-CBCC-9881-2C12446FABD3}"/>
                </a:ext>
              </a:extLst>
            </p:cNvPr>
            <p:cNvCxnSpPr/>
            <p:nvPr/>
          </p:nvCxnSpPr>
          <p:spPr>
            <a:xfrm flipV="1">
              <a:off x="1636421" y="4856748"/>
              <a:ext cx="282757" cy="127739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D02E751-D2E3-A8D2-CD18-1210A7BD8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2174" y="5011154"/>
              <a:ext cx="0" cy="25716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8CEA29FA-E7C1-AFEC-E258-7ED4B61B042E}"/>
                </a:ext>
              </a:extLst>
            </p:cNvPr>
            <p:cNvCxnSpPr>
              <a:cxnSpLocks/>
            </p:cNvCxnSpPr>
            <p:nvPr/>
          </p:nvCxnSpPr>
          <p:spPr>
            <a:xfrm>
              <a:off x="2644392" y="4871659"/>
              <a:ext cx="327775" cy="139495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0" name="Graphic 149" descr="Toy Train with solid fill">
              <a:extLst>
                <a:ext uri="{FF2B5EF4-FFF2-40B4-BE49-F238E27FC236}">
                  <a16:creationId xmlns:a16="http://schemas.microsoft.com/office/drawing/2014/main" id="{5257CD29-549C-283F-1994-74D670000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2038051" y="4491632"/>
              <a:ext cx="528245" cy="52824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2DA9C794-2FF8-CFAF-D4C4-BBB3ED7C29C7}"/>
                    </a:ext>
                  </a:extLst>
                </p:cNvPr>
                <p:cNvSpPr txBox="1"/>
                <p:nvPr/>
              </p:nvSpPr>
              <p:spPr>
                <a:xfrm>
                  <a:off x="1232185" y="4932958"/>
                  <a:ext cx="611232" cy="3028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>
                                <a:latin typeface="+mn-lt"/>
                              </a:rPr>
                              <m:t>a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4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2DA9C794-2FF8-CFAF-D4C4-BBB3ED7C2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2185" y="4932958"/>
                  <a:ext cx="611232" cy="30289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6C2E5A76-26F1-685B-FA3D-866B7AC497CD}"/>
                    </a:ext>
                  </a:extLst>
                </p:cNvPr>
                <p:cNvSpPr txBox="1"/>
                <p:nvPr/>
              </p:nvSpPr>
              <p:spPr>
                <a:xfrm>
                  <a:off x="2047800" y="5221794"/>
                  <a:ext cx="599699" cy="3028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>
                    <a:lnSpc>
                      <a:spcPct val="114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de-DE" sz="1200">
                                <a:latin typeface="+mn-lt"/>
                              </a:rPr>
                              <m:t>v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de-DE" sz="1200">
                                <a:latin typeface="+mn-lt"/>
                              </a:rPr>
                              <m:t>max</m:t>
                            </m:r>
                          </m:sub>
                        </m:sSub>
                      </m:oMath>
                    </m:oMathPara>
                  </a14:m>
                  <a:endParaRPr lang="en-DE" sz="140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6C2E5A76-26F1-685B-FA3D-866B7AC497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7800" y="5221794"/>
                  <a:ext cx="599699" cy="30289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BD28E67-A681-A7D4-5412-F7F94F00D2F7}"/>
                </a:ext>
              </a:extLst>
            </p:cNvPr>
            <p:cNvSpPr txBox="1"/>
            <p:nvPr/>
          </p:nvSpPr>
          <p:spPr>
            <a:xfrm>
              <a:off x="3020610" y="4988614"/>
              <a:ext cx="636604" cy="27761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200">
                  <a:latin typeface="+mn-lt"/>
                </a:rPr>
                <a:t>weight</a:t>
              </a: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4CE12C6-983A-E6B5-F3A5-0FA2CF2D0DE6}"/>
              </a:ext>
            </a:extLst>
          </p:cNvPr>
          <p:cNvGrpSpPr/>
          <p:nvPr/>
        </p:nvGrpSpPr>
        <p:grpSpPr>
          <a:xfrm>
            <a:off x="8107052" y="3211808"/>
            <a:ext cx="3155576" cy="1203881"/>
            <a:chOff x="5986020" y="4830653"/>
            <a:chExt cx="2445436" cy="932953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8689BE3-BEFD-D22B-219A-10283939D780}"/>
                </a:ext>
              </a:extLst>
            </p:cNvPr>
            <p:cNvCxnSpPr>
              <a:cxnSpLocks/>
            </p:cNvCxnSpPr>
            <p:nvPr/>
          </p:nvCxnSpPr>
          <p:spPr>
            <a:xfrm>
              <a:off x="7233462" y="4963481"/>
              <a:ext cx="831543" cy="150071"/>
            </a:xfrm>
            <a:prstGeom prst="line">
              <a:avLst/>
            </a:prstGeom>
            <a:ln w="12700"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CA15FB72-52C9-4BAE-7FFE-9B649DA50AC8}"/>
                </a:ext>
              </a:extLst>
            </p:cNvPr>
            <p:cNvCxnSpPr>
              <a:cxnSpLocks/>
            </p:cNvCxnSpPr>
            <p:nvPr/>
          </p:nvCxnSpPr>
          <p:spPr>
            <a:xfrm>
              <a:off x="5986020" y="4994236"/>
              <a:ext cx="334762" cy="11103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166B7812-7455-ABEE-2A2F-8ED6AE56B6FD}"/>
                </a:ext>
              </a:extLst>
            </p:cNvPr>
            <p:cNvSpPr/>
            <p:nvPr/>
          </p:nvSpPr>
          <p:spPr>
            <a:xfrm>
              <a:off x="8089684" y="5096073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BD9640E2-9688-56BD-D077-BD8B3B7D4D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26468" y="5370257"/>
              <a:ext cx="283161" cy="437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80EB460D-3EDB-76B8-13B9-7505F924E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1532" y="4967233"/>
              <a:ext cx="737181" cy="1463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DF50148D-1485-DBD1-F372-4BDD4DBAEF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40" y="5139901"/>
              <a:ext cx="444965" cy="2058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95DE3007-362E-5B66-E282-B5AC7376EAEC}"/>
                </a:ext>
              </a:extLst>
            </p:cNvPr>
            <p:cNvSpPr/>
            <p:nvPr/>
          </p:nvSpPr>
          <p:spPr>
            <a:xfrm>
              <a:off x="6835323" y="5345713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77A32E46-51E5-3151-8EF3-A79A0FC3E9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1393" y="5144058"/>
              <a:ext cx="320507" cy="12929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764509B6-4E43-2FED-EE12-5EA0A93650F7}"/>
                </a:ext>
              </a:extLst>
            </p:cNvPr>
            <p:cNvCxnSpPr>
              <a:cxnSpLocks/>
            </p:cNvCxnSpPr>
            <p:nvPr/>
          </p:nvCxnSpPr>
          <p:spPr>
            <a:xfrm>
              <a:off x="6382136" y="5165052"/>
              <a:ext cx="324266" cy="4117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C35D749-B7C7-2C41-0ECE-C6E07D3E3C19}"/>
                </a:ext>
              </a:extLst>
            </p:cNvPr>
            <p:cNvCxnSpPr>
              <a:cxnSpLocks/>
            </p:cNvCxnSpPr>
            <p:nvPr/>
          </p:nvCxnSpPr>
          <p:spPr>
            <a:xfrm>
              <a:off x="8159960" y="5119271"/>
              <a:ext cx="27149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E4BC9308-2AAA-D2CB-03AC-ECA0E5B261BC}"/>
                </a:ext>
              </a:extLst>
            </p:cNvPr>
            <p:cNvSpPr txBox="1"/>
            <p:nvPr/>
          </p:nvSpPr>
          <p:spPr>
            <a:xfrm>
              <a:off x="6235081" y="5178848"/>
              <a:ext cx="70274" cy="1924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000" b="1">
                  <a:latin typeface="+mn-lt"/>
                </a:rPr>
                <a:t>A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68EC5D13-0485-204E-F2B4-F93C5CFA96F7}"/>
                </a:ext>
              </a:extLst>
            </p:cNvPr>
            <p:cNvSpPr txBox="1"/>
            <p:nvPr/>
          </p:nvSpPr>
          <p:spPr>
            <a:xfrm>
              <a:off x="8231649" y="5139876"/>
              <a:ext cx="70274" cy="1924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en-DE" sz="1000" b="1">
                  <a:latin typeface="+mn-lt"/>
                </a:rPr>
                <a:t>B</a:t>
              </a:r>
              <a:endParaRPr lang="en-DE" sz="1100" b="1">
                <a:latin typeface="+mn-lt"/>
              </a:endParaRPr>
            </a:p>
          </p:txBody>
        </p: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F636D832-98EA-F109-4788-A289880AA5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1459" y="5637982"/>
              <a:ext cx="328124" cy="1147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788931E8-C21E-5519-9EF9-E57850CC8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3590" y="5417669"/>
              <a:ext cx="71732" cy="16169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9F11921-B6A8-E9E6-C9B0-B9300099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9456" y="5451208"/>
              <a:ext cx="337813" cy="1408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C24A3E5F-6644-87F4-8357-5464159D0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6449" y="5144397"/>
              <a:ext cx="398795" cy="2072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0D589BAC-B558-6A65-AAD4-1E81990FE3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05962" y="5450718"/>
              <a:ext cx="341248" cy="13116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3B804A99-DF9E-F579-0248-C2B13B7830DD}"/>
                </a:ext>
              </a:extLst>
            </p:cNvPr>
            <p:cNvCxnSpPr>
              <a:cxnSpLocks/>
            </p:cNvCxnSpPr>
            <p:nvPr/>
          </p:nvCxnSpPr>
          <p:spPr>
            <a:xfrm>
              <a:off x="6895016" y="5378744"/>
              <a:ext cx="233425" cy="322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CE95EE9-D7D3-7B79-17C1-577626A012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4931" y="5621428"/>
              <a:ext cx="762798" cy="208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5" name="Graphic 174" descr="Toy Train with solid fill">
              <a:extLst>
                <a:ext uri="{FF2B5EF4-FFF2-40B4-BE49-F238E27FC236}">
                  <a16:creationId xmlns:a16="http://schemas.microsoft.com/office/drawing/2014/main" id="{55FC7174-A412-A799-E7E6-70AC84456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 rot="749801">
              <a:off x="7568533" y="4830653"/>
              <a:ext cx="221309" cy="221309"/>
            </a:xfrm>
            <a:prstGeom prst="rect">
              <a:avLst/>
            </a:prstGeom>
          </p:spPr>
        </p:pic>
        <p:pic>
          <p:nvPicPr>
            <p:cNvPr id="176" name="Graphic 175" descr="Toy Train with solid fill">
              <a:extLst>
                <a:ext uri="{FF2B5EF4-FFF2-40B4-BE49-F238E27FC236}">
                  <a16:creationId xmlns:a16="http://schemas.microsoft.com/office/drawing/2014/main" id="{E4E9212B-274C-6D37-CC31-E22F90F56F1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rot="20979576">
              <a:off x="6675176" y="4834251"/>
              <a:ext cx="221310" cy="221309"/>
            </a:xfrm>
            <a:prstGeom prst="rect">
              <a:avLst/>
            </a:prstGeom>
          </p:spPr>
        </p:pic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7F62D5F-BA21-594F-9526-3CCD395CE6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2764" y="5406980"/>
              <a:ext cx="30082" cy="160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910981E7-7386-770F-EDD0-0753B31A7972}"/>
                </a:ext>
              </a:extLst>
            </p:cNvPr>
            <p:cNvSpPr/>
            <p:nvPr/>
          </p:nvSpPr>
          <p:spPr>
            <a:xfrm>
              <a:off x="7166519" y="4936856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18DA2968-45E7-76C9-1C53-7C6136552E47}"/>
                </a:ext>
              </a:extLst>
            </p:cNvPr>
            <p:cNvSpPr/>
            <p:nvPr/>
          </p:nvSpPr>
          <p:spPr>
            <a:xfrm>
              <a:off x="7155318" y="5394471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5FD4CB32-9FD8-1B70-2926-E814615B1B12}"/>
                </a:ext>
              </a:extLst>
            </p:cNvPr>
            <p:cNvSpPr/>
            <p:nvPr/>
          </p:nvSpPr>
          <p:spPr>
            <a:xfrm>
              <a:off x="6716346" y="5599493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4DC8331E-5E5A-5B12-E1C7-052FE7DC8B6C}"/>
                </a:ext>
              </a:extLst>
            </p:cNvPr>
            <p:cNvSpPr/>
            <p:nvPr/>
          </p:nvSpPr>
          <p:spPr>
            <a:xfrm>
              <a:off x="7569387" y="5599273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pic>
          <p:nvPicPr>
            <p:cNvPr id="182" name="Graphic 181" descr="Toy Train with solid fill">
              <a:extLst>
                <a:ext uri="{FF2B5EF4-FFF2-40B4-BE49-F238E27FC236}">
                  <a16:creationId xmlns:a16="http://schemas.microsoft.com/office/drawing/2014/main" id="{351A38EE-030A-9945-01F6-CA0A013E7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rot="1139651">
              <a:off x="6083421" y="4853971"/>
              <a:ext cx="221309" cy="221309"/>
            </a:xfrm>
            <a:prstGeom prst="rect">
              <a:avLst/>
            </a:prstGeom>
          </p:spPr>
        </p:pic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74E7D8F-2C71-FA93-1098-43489F0EEE25}"/>
                </a:ext>
              </a:extLst>
            </p:cNvPr>
            <p:cNvCxnSpPr>
              <a:cxnSpLocks/>
            </p:cNvCxnSpPr>
            <p:nvPr/>
          </p:nvCxnSpPr>
          <p:spPr>
            <a:xfrm>
              <a:off x="7632407" y="5641709"/>
              <a:ext cx="327294" cy="1151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5667C7C-C475-484B-864A-3982A8CEFB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6810" y="5158341"/>
              <a:ext cx="438298" cy="4238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8C8930BD-6BBF-C34A-DE07-D726D11B45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0259" y="4967233"/>
              <a:ext cx="743903" cy="147244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7501E064-D9CE-E37B-7237-DE6B96BDC362}"/>
                </a:ext>
              </a:extLst>
            </p:cNvPr>
            <p:cNvSpPr/>
            <p:nvPr/>
          </p:nvSpPr>
          <p:spPr>
            <a:xfrm>
              <a:off x="6333745" y="5101674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EFDBFC4A-D869-75D5-1C81-A34C2B8BD98F}"/>
                </a:ext>
              </a:extLst>
            </p:cNvPr>
            <p:cNvCxnSpPr>
              <a:cxnSpLocks/>
            </p:cNvCxnSpPr>
            <p:nvPr/>
          </p:nvCxnSpPr>
          <p:spPr>
            <a:xfrm>
              <a:off x="7222074" y="4995740"/>
              <a:ext cx="301258" cy="3349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B645F12D-1B1B-25C5-F34F-78047A485B25}"/>
                </a:ext>
              </a:extLst>
            </p:cNvPr>
            <p:cNvSpPr/>
            <p:nvPr/>
          </p:nvSpPr>
          <p:spPr>
            <a:xfrm>
              <a:off x="7527359" y="5340864"/>
              <a:ext cx="46397" cy="4639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DE"/>
            </a:p>
          </p:txBody>
        </p:sp>
        <p:pic>
          <p:nvPicPr>
            <p:cNvPr id="189" name="Graphic 188" descr="Toy Train with solid fill">
              <a:extLst>
                <a:ext uri="{FF2B5EF4-FFF2-40B4-BE49-F238E27FC236}">
                  <a16:creationId xmlns:a16="http://schemas.microsoft.com/office/drawing/2014/main" id="{84C4CBF3-6321-16F1-E017-13D66FACC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rot="20483015">
              <a:off x="6343957" y="5515554"/>
              <a:ext cx="221309" cy="221309"/>
            </a:xfrm>
            <a:prstGeom prst="rect">
              <a:avLst/>
            </a:prstGeom>
          </p:spPr>
        </p:pic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6E274DC-90CD-E566-12E7-4B0341C0EE7C}"/>
                </a:ext>
              </a:extLst>
            </p:cNvPr>
            <p:cNvCxnSpPr>
              <a:cxnSpLocks/>
            </p:cNvCxnSpPr>
            <p:nvPr/>
          </p:nvCxnSpPr>
          <p:spPr>
            <a:xfrm>
              <a:off x="7205943" y="5450718"/>
              <a:ext cx="360241" cy="141301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950D98E-A379-631A-85A4-4E671C894A72}"/>
                </a:ext>
              </a:extLst>
            </p:cNvPr>
            <p:cNvCxnSpPr>
              <a:cxnSpLocks/>
            </p:cNvCxnSpPr>
            <p:nvPr/>
          </p:nvCxnSpPr>
          <p:spPr>
            <a:xfrm>
              <a:off x="6406449" y="5152854"/>
              <a:ext cx="399380" cy="205010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B852663-DA32-28E5-9B57-EB0AB179CC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5016" y="5381811"/>
              <a:ext cx="240453" cy="30998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6C1578B-6313-AFD5-57C9-DF5FDDF5FF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61459" y="5639207"/>
              <a:ext cx="328124" cy="113547"/>
            </a:xfrm>
            <a:prstGeom prst="line">
              <a:avLst/>
            </a:prstGeom>
            <a:ln w="57150">
              <a:solidFill>
                <a:srgbClr val="92D05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ADC0F69B-6A24-7010-3F9D-3FB48EC1A8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5355" y="5138220"/>
              <a:ext cx="452438" cy="210593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50451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56028BC2-F5A8-6D94-1798-86CA90199C1A}"/>
                </a:ext>
              </a:extLst>
            </p:cNvPr>
            <p:cNvCxnSpPr>
              <a:cxnSpLocks/>
            </p:cNvCxnSpPr>
            <p:nvPr/>
          </p:nvCxnSpPr>
          <p:spPr>
            <a:xfrm>
              <a:off x="7216626" y="4994236"/>
              <a:ext cx="310733" cy="341749"/>
            </a:xfrm>
            <a:prstGeom prst="line">
              <a:avLst/>
            </a:prstGeom>
            <a:ln w="57150">
              <a:solidFill>
                <a:schemeClr val="tx2">
                  <a:lumMod val="50000"/>
                  <a:lumOff val="50000"/>
                  <a:alpha val="39772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E00536A1-E0D0-A956-A5BC-982A4D7AAC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97815" y="5616801"/>
              <a:ext cx="742962" cy="10255"/>
            </a:xfrm>
            <a:prstGeom prst="line">
              <a:avLst/>
            </a:prstGeom>
            <a:ln w="57150">
              <a:solidFill>
                <a:srgbClr val="92D05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A736C66A-3B04-64F3-20E7-B8BC5449BF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2800" y="5642878"/>
              <a:ext cx="308774" cy="120728"/>
            </a:xfrm>
            <a:prstGeom prst="line">
              <a:avLst/>
            </a:prstGeom>
            <a:ln w="57150">
              <a:solidFill>
                <a:srgbClr val="92D05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A7FFC6F0-3F40-3196-4C21-D58435323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35955" y="5154775"/>
              <a:ext cx="440775" cy="422012"/>
            </a:xfrm>
            <a:prstGeom prst="line">
              <a:avLst/>
            </a:prstGeom>
            <a:ln w="57150">
              <a:solidFill>
                <a:srgbClr val="F67400">
                  <a:alpha val="5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9" name="Picture 328">
            <a:extLst>
              <a:ext uri="{FF2B5EF4-FFF2-40B4-BE49-F238E27FC236}">
                <a16:creationId xmlns:a16="http://schemas.microsoft.com/office/drawing/2014/main" id="{B0A5FDAE-08FB-B4AB-188F-6C1BBFCA05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9582" y="4552936"/>
            <a:ext cx="2440067" cy="14787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AA352CA1-09BC-061F-5D3F-AB3922782786}"/>
                  </a:ext>
                </a:extLst>
              </p:cNvPr>
              <p:cNvSpPr txBox="1"/>
              <p:nvPr/>
            </p:nvSpPr>
            <p:spPr>
              <a:xfrm>
                <a:off x="5212215" y="4093549"/>
                <a:ext cx="1563802" cy="8125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>
                                  <a:latin typeface="+mn-lt"/>
                                </a:rPr>
                                <m:t>min</m:t>
                              </m:r>
                            </m:e>
                            <m:sup>
                              <m:r>
                                <m:rPr>
                                  <m:nor/>
                                </m:rPr>
                                <a:rPr lang="de-DE">
                                  <a:latin typeface="+mn-lt"/>
                                </a:rPr>
                                <m:t> </m:t>
                              </m:r>
                            </m:sup>
                          </m:sSup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nor/>
                                  <m:brk m:alnAt="7"/>
                                </m:rPr>
                                <a:rPr lang="de-DE">
                                  <a:latin typeface="+mn-lt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de-DE">
                                  <a:latin typeface="+mn-lt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nor/>
                                </m:rPr>
                                <a:rPr lang="de-DE">
                                  <a:latin typeface="+mn-lt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e-DE">
                                      <a:latin typeface="+mn-lt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e-DE">
                                      <a:latin typeface="+mn-lt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de-DE">
                                  <a:latin typeface="+mn-lt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de-DE">
                                      <a:latin typeface="+mn-lt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de-DE">
                                      <a:latin typeface="+mn-lt"/>
                                    </a:rPr>
                                    <m:t>t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DE">
                  <a:latin typeface="+mn-lt"/>
                </a:endParaRPr>
              </a:p>
            </p:txBody>
          </p:sp>
        </mc:Choice>
        <mc:Fallback xmlns="">
          <p:sp>
            <p:nvSpPr>
              <p:cNvPr id="330" name="TextBox 329">
                <a:extLst>
                  <a:ext uri="{FF2B5EF4-FFF2-40B4-BE49-F238E27FC236}">
                    <a16:creationId xmlns:a16="http://schemas.microsoft.com/office/drawing/2014/main" id="{AA352CA1-09BC-061F-5D3F-AB3922782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215" y="4093549"/>
                <a:ext cx="1563802" cy="8125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9125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" grpId="0" animBg="1"/>
      <p:bldP spid="337" grpId="0"/>
      <p:bldP spid="333" grpId="0" animBg="1"/>
      <p:bldP spid="339" grpId="0"/>
      <p:bldP spid="12" grpId="0" animBg="1"/>
      <p:bldP spid="13" grpId="0"/>
      <p:bldP spid="33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75069-43F9-1A70-6387-C5C7DD5D6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49</a:t>
            </a:fld>
            <a:endParaRPr lang="de-DE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635AB61-19E8-201F-A27F-34594D7EFC45}"/>
              </a:ext>
            </a:extLst>
          </p:cNvPr>
          <p:cNvSpPr txBox="1"/>
          <p:nvPr/>
        </p:nvSpPr>
        <p:spPr>
          <a:xfrm>
            <a:off x="13993197" y="4453296"/>
            <a:ext cx="54546" cy="1930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b="1">
                <a:latin typeface="+mn-lt"/>
              </a:rPr>
              <a:t>B</a:t>
            </a:r>
            <a:endParaRPr lang="en-DE" sz="1600" b="1">
              <a:latin typeface="+mn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3B976E-ADC9-00E2-237D-BA1DF1C1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8E8802A-1C35-BBDB-D35B-436CBC8E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Summary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05283B-E722-842C-9DC2-C12F0A0157F1}"/>
              </a:ext>
            </a:extLst>
          </p:cNvPr>
          <p:cNvCxnSpPr>
            <a:cxnSpLocks/>
          </p:cNvCxnSpPr>
          <p:nvPr/>
        </p:nvCxnSpPr>
        <p:spPr>
          <a:xfrm flipH="1">
            <a:off x="3352800" y="1759419"/>
            <a:ext cx="238195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FA2CCD-237C-F0B3-45F2-001E42697D01}"/>
              </a:ext>
            </a:extLst>
          </p:cNvPr>
          <p:cNvCxnSpPr>
            <a:cxnSpLocks/>
            <a:stCxn id="326" idx="4"/>
            <a:endCxn id="12" idx="0"/>
          </p:cNvCxnSpPr>
          <p:nvPr/>
        </p:nvCxnSpPr>
        <p:spPr>
          <a:xfrm flipH="1">
            <a:off x="5986251" y="2287803"/>
            <a:ext cx="1" cy="2214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01834F-EE16-A673-BD29-A6D3F5FD92E0}"/>
              </a:ext>
            </a:extLst>
          </p:cNvPr>
          <p:cNvCxnSpPr>
            <a:cxnSpLocks/>
          </p:cNvCxnSpPr>
          <p:nvPr/>
        </p:nvCxnSpPr>
        <p:spPr>
          <a:xfrm>
            <a:off x="5986251" y="1756462"/>
            <a:ext cx="22885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Oval 325">
            <a:extLst>
              <a:ext uri="{FF2B5EF4-FFF2-40B4-BE49-F238E27FC236}">
                <a16:creationId xmlns:a16="http://schemas.microsoft.com/office/drawing/2014/main" id="{213DB8BE-D2AC-4AA0-E51E-6D04857DCBA0}"/>
              </a:ext>
            </a:extLst>
          </p:cNvPr>
          <p:cNvSpPr/>
          <p:nvPr/>
        </p:nvSpPr>
        <p:spPr>
          <a:xfrm>
            <a:off x="4466167" y="1231034"/>
            <a:ext cx="3040169" cy="10567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>
                <a:solidFill>
                  <a:schemeClr val="tx1"/>
                </a:solidFill>
              </a:rPr>
              <a:t>Problem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4" name="Rounded Rectangle 110">
            <a:extLst>
              <a:ext uri="{FF2B5EF4-FFF2-40B4-BE49-F238E27FC236}">
                <a16:creationId xmlns:a16="http://schemas.microsoft.com/office/drawing/2014/main" id="{46E14AF2-2D4D-6982-C84E-AA8433271B09}"/>
              </a:ext>
            </a:extLst>
          </p:cNvPr>
          <p:cNvSpPr/>
          <p:nvPr/>
        </p:nvSpPr>
        <p:spPr>
          <a:xfrm>
            <a:off x="2757916" y="1454743"/>
            <a:ext cx="1135629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12F2FC76-F415-75DE-87D5-D1227E0D49EA}"/>
              </a:ext>
            </a:extLst>
          </p:cNvPr>
          <p:cNvSpPr/>
          <p:nvPr/>
        </p:nvSpPr>
        <p:spPr>
          <a:xfrm>
            <a:off x="2757916" y="1490867"/>
            <a:ext cx="1135629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Input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338" name="Rounded Rectangle 110">
            <a:extLst>
              <a:ext uri="{FF2B5EF4-FFF2-40B4-BE49-F238E27FC236}">
                <a16:creationId xmlns:a16="http://schemas.microsoft.com/office/drawing/2014/main" id="{B07C721B-237A-CF32-425A-D04B3AF287C9}"/>
              </a:ext>
            </a:extLst>
          </p:cNvPr>
          <p:cNvSpPr/>
          <p:nvPr/>
        </p:nvSpPr>
        <p:spPr>
          <a:xfrm>
            <a:off x="7996800" y="1454742"/>
            <a:ext cx="1135629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EE8819D-FE5B-F983-1B9E-B135BB727402}"/>
              </a:ext>
            </a:extLst>
          </p:cNvPr>
          <p:cNvSpPr/>
          <p:nvPr/>
        </p:nvSpPr>
        <p:spPr>
          <a:xfrm>
            <a:off x="7996800" y="1490866"/>
            <a:ext cx="1135629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Output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2" name="Rounded Rectangle 110">
            <a:extLst>
              <a:ext uri="{FF2B5EF4-FFF2-40B4-BE49-F238E27FC236}">
                <a16:creationId xmlns:a16="http://schemas.microsoft.com/office/drawing/2014/main" id="{BB8960FE-86E6-116E-C613-EAF49E81E654}"/>
              </a:ext>
            </a:extLst>
          </p:cNvPr>
          <p:cNvSpPr/>
          <p:nvPr/>
        </p:nvSpPr>
        <p:spPr>
          <a:xfrm>
            <a:off x="5220489" y="2509285"/>
            <a:ext cx="1531524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4B46E-400E-483D-783B-C393000E2041}"/>
              </a:ext>
            </a:extLst>
          </p:cNvPr>
          <p:cNvSpPr/>
          <p:nvPr/>
        </p:nvSpPr>
        <p:spPr>
          <a:xfrm>
            <a:off x="5342843" y="2545409"/>
            <a:ext cx="1286816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Objective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020789-8FB2-5715-44F8-1A0DDCBC4B90}"/>
              </a:ext>
            </a:extLst>
          </p:cNvPr>
          <p:cNvSpPr/>
          <p:nvPr/>
        </p:nvSpPr>
        <p:spPr>
          <a:xfrm>
            <a:off x="4465477" y="3323708"/>
            <a:ext cx="3040169" cy="10567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>
                <a:solidFill>
                  <a:schemeClr val="tx1"/>
                </a:solidFill>
              </a:rPr>
              <a:t>Approach</a:t>
            </a:r>
            <a:endParaRPr 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610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5B0864B-DDB3-EC5F-10C6-B21B2A3B5FDF}"/>
              </a:ext>
            </a:extLst>
          </p:cNvPr>
          <p:cNvCxnSpPr>
            <a:cxnSpLocks/>
          </p:cNvCxnSpPr>
          <p:nvPr/>
        </p:nvCxnSpPr>
        <p:spPr>
          <a:xfrm>
            <a:off x="6060155" y="2370667"/>
            <a:ext cx="2037874" cy="8918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32BD3F-D576-9EBA-0387-823A29847CE0}"/>
              </a:ext>
            </a:extLst>
          </p:cNvPr>
          <p:cNvCxnSpPr>
            <a:cxnSpLocks/>
          </p:cNvCxnSpPr>
          <p:nvPr/>
        </p:nvCxnSpPr>
        <p:spPr>
          <a:xfrm flipH="1">
            <a:off x="4058126" y="2370667"/>
            <a:ext cx="2037874" cy="89182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75069-43F9-1A70-6387-C5C7DD5D6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50</a:t>
            </a:fld>
            <a:endParaRPr lang="de-DE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635AB61-19E8-201F-A27F-34594D7EFC45}"/>
              </a:ext>
            </a:extLst>
          </p:cNvPr>
          <p:cNvSpPr txBox="1"/>
          <p:nvPr/>
        </p:nvSpPr>
        <p:spPr>
          <a:xfrm>
            <a:off x="13993197" y="4453296"/>
            <a:ext cx="54546" cy="1930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b="1">
                <a:latin typeface="+mn-lt"/>
              </a:rPr>
              <a:t>B</a:t>
            </a:r>
            <a:endParaRPr lang="en-DE" sz="1600" b="1">
              <a:latin typeface="+mn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3B976E-ADC9-00E2-237D-BA1DF1C1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8E8802A-1C35-BBDB-D35B-436CBC8E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Summary</a:t>
            </a:r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8F975A97-DCA0-A124-A909-4F78344F67A8}"/>
              </a:ext>
            </a:extLst>
          </p:cNvPr>
          <p:cNvSpPr/>
          <p:nvPr/>
        </p:nvSpPr>
        <p:spPr>
          <a:xfrm>
            <a:off x="4456050" y="1820828"/>
            <a:ext cx="3040169" cy="10567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>
                <a:solidFill>
                  <a:schemeClr val="tx1"/>
                </a:solidFill>
              </a:rPr>
              <a:t>Approach</a:t>
            </a:r>
            <a:endParaRPr lang="en-US" sz="2400" b="1">
              <a:solidFill>
                <a:schemeClr val="tx1"/>
              </a:solidFill>
            </a:endParaRPr>
          </a:p>
        </p:txBody>
      </p:sp>
      <p:sp>
        <p:nvSpPr>
          <p:cNvPr id="5" name="Rounded Rectangle 110">
            <a:extLst>
              <a:ext uri="{FF2B5EF4-FFF2-40B4-BE49-F238E27FC236}">
                <a16:creationId xmlns:a16="http://schemas.microsoft.com/office/drawing/2014/main" id="{F41B09AB-A29A-A00F-BD01-FCDB56B19E4B}"/>
              </a:ext>
            </a:extLst>
          </p:cNvPr>
          <p:cNvSpPr/>
          <p:nvPr/>
        </p:nvSpPr>
        <p:spPr>
          <a:xfrm>
            <a:off x="7636013" y="3015516"/>
            <a:ext cx="3862021" cy="27762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7561AC-8FBE-CF08-D112-0BCB1BD8EFA0}"/>
              </a:ext>
            </a:extLst>
          </p:cNvPr>
          <p:cNvSpPr/>
          <p:nvPr/>
        </p:nvSpPr>
        <p:spPr>
          <a:xfrm>
            <a:off x="8839631" y="3029726"/>
            <a:ext cx="1454783" cy="465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Decoupled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4" name="Rounded Rectangle 110">
            <a:extLst>
              <a:ext uri="{FF2B5EF4-FFF2-40B4-BE49-F238E27FC236}">
                <a16:creationId xmlns:a16="http://schemas.microsoft.com/office/drawing/2014/main" id="{7495D913-521E-AD65-472B-5D381C84F611}"/>
              </a:ext>
            </a:extLst>
          </p:cNvPr>
          <p:cNvSpPr/>
          <p:nvPr/>
        </p:nvSpPr>
        <p:spPr>
          <a:xfrm>
            <a:off x="796999" y="3015516"/>
            <a:ext cx="3630395" cy="28346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C97211-1476-4595-364D-EDFF96AE7713}"/>
              </a:ext>
            </a:extLst>
          </p:cNvPr>
          <p:cNvSpPr/>
          <p:nvPr/>
        </p:nvSpPr>
        <p:spPr>
          <a:xfrm>
            <a:off x="1906396" y="3029726"/>
            <a:ext cx="1454783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Combined</a:t>
            </a:r>
            <a:endParaRPr lang="en-US" sz="240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53C222-C038-8AE5-FC44-77CD7A66D77E}"/>
              </a:ext>
            </a:extLst>
          </p:cNvPr>
          <p:cNvGrpSpPr/>
          <p:nvPr/>
        </p:nvGrpSpPr>
        <p:grpSpPr>
          <a:xfrm>
            <a:off x="1166167" y="3728533"/>
            <a:ext cx="2892059" cy="1624502"/>
            <a:chOff x="1871456" y="2469650"/>
            <a:chExt cx="2892059" cy="162450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700BD3-CE33-51B9-A696-8DD68153B90F}"/>
                </a:ext>
              </a:extLst>
            </p:cNvPr>
            <p:cNvGrpSpPr/>
            <p:nvPr/>
          </p:nvGrpSpPr>
          <p:grpSpPr>
            <a:xfrm>
              <a:off x="1871456" y="2469650"/>
              <a:ext cx="2892059" cy="1515568"/>
              <a:chOff x="5658322" y="3215716"/>
              <a:chExt cx="2091549" cy="1112322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80829ED4-E89A-304D-70FD-AB87D1F4628E}"/>
                  </a:ext>
                </a:extLst>
              </p:cNvPr>
              <p:cNvGrpSpPr/>
              <p:nvPr/>
            </p:nvGrpSpPr>
            <p:grpSpPr>
              <a:xfrm rot="19727091">
                <a:off x="6561715" y="3399218"/>
                <a:ext cx="579672" cy="417195"/>
                <a:chOff x="2190750" y="2862203"/>
                <a:chExt cx="586201" cy="421895"/>
              </a:xfrm>
            </p:grpSpPr>
            <p:pic>
              <p:nvPicPr>
                <p:cNvPr id="34" name="Graphic 33" descr="Toy Train with solid fill">
                  <a:extLst>
                    <a:ext uri="{FF2B5EF4-FFF2-40B4-BE49-F238E27FC236}">
                      <a16:creationId xmlns:a16="http://schemas.microsoft.com/office/drawing/2014/main" id="{D2812F99-44EB-BA43-1F83-A696F033B7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99D30A4-9B45-3C03-8BD2-D382188BE2CC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B49A6E3E-A96E-0E65-1F1B-90331F2215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1DBB9EF5-9F31-A624-40EB-E1516E17A3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F782EDB2-889B-99E3-4B00-3AE442022DDA}"/>
                  </a:ext>
                </a:extLst>
              </p:cNvPr>
              <p:cNvGrpSpPr/>
              <p:nvPr/>
            </p:nvGrpSpPr>
            <p:grpSpPr>
              <a:xfrm>
                <a:off x="5658322" y="3215716"/>
                <a:ext cx="2091549" cy="1112322"/>
                <a:chOff x="2426305" y="3644089"/>
                <a:chExt cx="1212760" cy="644966"/>
              </a:xfrm>
            </p:grpSpPr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4F1E920A-0BFA-68AB-8A1C-3D2415EC60F5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7CC2BE81-4FFD-4301-1E5C-6CB476FE01E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0110B8A2-F7F1-D122-DF03-EEA034CF70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4C0DAE67-C7BA-5AB1-9563-9D9B888B546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Straight Connector 27">
                    <a:extLst>
                      <a:ext uri="{FF2B5EF4-FFF2-40B4-BE49-F238E27FC236}">
                        <a16:creationId xmlns:a16="http://schemas.microsoft.com/office/drawing/2014/main" id="{FB0B757C-3C7D-8848-3C86-87DB04B944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8C5A4C84-5CAD-0C4B-0A75-35C54BE0B3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Connector 30">
                    <a:extLst>
                      <a:ext uri="{FF2B5EF4-FFF2-40B4-BE49-F238E27FC236}">
                        <a16:creationId xmlns:a16="http://schemas.microsoft.com/office/drawing/2014/main" id="{D9196523-2E80-1045-1D89-88EFBE26657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95EFAD56-66C8-5AF7-268A-503085F6745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Straight Connector 32">
                    <a:extLst>
                      <a:ext uri="{FF2B5EF4-FFF2-40B4-BE49-F238E27FC236}">
                        <a16:creationId xmlns:a16="http://schemas.microsoft.com/office/drawing/2014/main" id="{6D8884E9-8C75-E166-1172-9FB981FBA7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E15496E-A279-BA87-4C0E-3B99770188FC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18" name="Straight Connector 17">
                    <a:extLst>
                      <a:ext uri="{FF2B5EF4-FFF2-40B4-BE49-F238E27FC236}">
                        <a16:creationId xmlns:a16="http://schemas.microsoft.com/office/drawing/2014/main" id="{63E7CC9D-22E7-7A64-D9F3-E7B701D78E9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>
                    <a:extLst>
                      <a:ext uri="{FF2B5EF4-FFF2-40B4-BE49-F238E27FC236}">
                        <a16:creationId xmlns:a16="http://schemas.microsoft.com/office/drawing/2014/main" id="{D9102980-BFE0-131E-72B0-D4FF8D8BCD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Connector 19">
                    <a:extLst>
                      <a:ext uri="{FF2B5EF4-FFF2-40B4-BE49-F238E27FC236}">
                        <a16:creationId xmlns:a16="http://schemas.microsoft.com/office/drawing/2014/main" id="{E87B912D-E812-0DC7-BB52-D50ABBED65C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D2916DD6-1268-7E47-463A-C540B3192F0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9E9E0F7-0701-3046-EEB9-AC11F9C0E77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9781" y="398615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CC5DFC2-D935-E3E3-8FFE-731FC20307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29943" y="3508272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A7A8256-91C9-81EF-5E36-8C8772C7F0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29834" y="3459787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A4E44DE-88B5-C0EC-4298-CC8FB38A16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4283" y="2726830"/>
              <a:ext cx="108000" cy="108000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8EEC511-780A-92E0-91C7-1E6280ED24D8}"/>
              </a:ext>
            </a:extLst>
          </p:cNvPr>
          <p:cNvGrpSpPr/>
          <p:nvPr/>
        </p:nvGrpSpPr>
        <p:grpSpPr>
          <a:xfrm>
            <a:off x="8190009" y="3820198"/>
            <a:ext cx="2754029" cy="1441172"/>
            <a:chOff x="7428514" y="2549750"/>
            <a:chExt cx="2754029" cy="1441172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BB82008D-88B1-2DBF-384B-4F19C3460FE1}"/>
                </a:ext>
              </a:extLst>
            </p:cNvPr>
            <p:cNvGrpSpPr/>
            <p:nvPr/>
          </p:nvGrpSpPr>
          <p:grpSpPr>
            <a:xfrm>
              <a:off x="7428514" y="2549750"/>
              <a:ext cx="2278349" cy="1344546"/>
              <a:chOff x="1278251" y="3243351"/>
              <a:chExt cx="1666075" cy="983219"/>
            </a:xfrm>
          </p:grpSpPr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CBB52B4B-564B-0255-642A-7FCDEE0CF6E8}"/>
                  </a:ext>
                </a:extLst>
              </p:cNvPr>
              <p:cNvGrpSpPr/>
              <p:nvPr/>
            </p:nvGrpSpPr>
            <p:grpSpPr>
              <a:xfrm>
                <a:off x="1278251" y="3243351"/>
                <a:ext cx="687363" cy="494702"/>
                <a:chOff x="2190750" y="2862203"/>
                <a:chExt cx="586201" cy="421895"/>
              </a:xfrm>
            </p:grpSpPr>
            <p:pic>
              <p:nvPicPr>
                <p:cNvPr id="177" name="Graphic 176" descr="Toy Train with solid fill">
                  <a:extLst>
                    <a:ext uri="{FF2B5EF4-FFF2-40B4-BE49-F238E27FC236}">
                      <a16:creationId xmlns:a16="http://schemas.microsoft.com/office/drawing/2014/main" id="{50375E7D-F774-9067-A1D4-B78A41C405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/>
                <a:stretch/>
              </p:blipFill>
              <p:spPr>
                <a:xfrm>
                  <a:off x="2355056" y="2862203"/>
                  <a:ext cx="421895" cy="421895"/>
                </a:xfrm>
                <a:prstGeom prst="rect">
                  <a:avLst/>
                </a:prstGeom>
              </p:spPr>
            </p:pic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3BDB9CDB-D9B9-AD2B-96A7-4C62B27B6312}"/>
                    </a:ext>
                  </a:extLst>
                </p:cNvPr>
                <p:cNvCxnSpPr/>
                <p:nvPr/>
              </p:nvCxnSpPr>
              <p:spPr>
                <a:xfrm flipH="1">
                  <a:off x="2225516" y="3042285"/>
                  <a:ext cx="129540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1C32BF31-1AF7-DB73-351B-C1D87B645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90750" y="3073151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C8FF0A74-06DF-8E6A-AE32-A30E162FA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224088" y="3116535"/>
                  <a:ext cx="13096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90688EA2-269B-ED4E-2E0F-FAD4DF917C7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60454" y="3243351"/>
                <a:ext cx="1583872" cy="983219"/>
              </a:xfrm>
              <a:prstGeom prst="line">
                <a:avLst/>
              </a:prstGeom>
              <a:ln w="12700">
                <a:prstDash val="lgDash"/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F9FD2087-3A0B-69DC-AD59-6BAA152451E8}"/>
                </a:ext>
              </a:extLst>
            </p:cNvPr>
            <p:cNvGrpSpPr/>
            <p:nvPr/>
          </p:nvGrpSpPr>
          <p:grpSpPr>
            <a:xfrm>
              <a:off x="8629915" y="3118768"/>
              <a:ext cx="1552628" cy="872154"/>
              <a:chOff x="1871464" y="2469614"/>
              <a:chExt cx="2892064" cy="1624538"/>
            </a:xfrm>
          </p:grpSpPr>
          <p:grpSp>
            <p:nvGrpSpPr>
              <p:cNvPr id="155" name="Group 154">
                <a:extLst>
                  <a:ext uri="{FF2B5EF4-FFF2-40B4-BE49-F238E27FC236}">
                    <a16:creationId xmlns:a16="http://schemas.microsoft.com/office/drawing/2014/main" id="{3C305530-7AE7-D439-BA05-7400A01B527C}"/>
                  </a:ext>
                </a:extLst>
              </p:cNvPr>
              <p:cNvGrpSpPr/>
              <p:nvPr/>
            </p:nvGrpSpPr>
            <p:grpSpPr>
              <a:xfrm>
                <a:off x="1871464" y="2469614"/>
                <a:ext cx="2892064" cy="1515565"/>
                <a:chOff x="2426305" y="3644089"/>
                <a:chExt cx="1212760" cy="644966"/>
              </a:xfrm>
            </p:grpSpPr>
            <p:grpSp>
              <p:nvGrpSpPr>
                <p:cNvPr id="160" name="Group 159">
                  <a:extLst>
                    <a:ext uri="{FF2B5EF4-FFF2-40B4-BE49-F238E27FC236}">
                      <a16:creationId xmlns:a16="http://schemas.microsoft.com/office/drawing/2014/main" id="{1B0F74E1-4D87-0D37-0BB0-5CD0B12F82B3}"/>
                    </a:ext>
                  </a:extLst>
                </p:cNvPr>
                <p:cNvGrpSpPr/>
                <p:nvPr/>
              </p:nvGrpSpPr>
              <p:grpSpPr>
                <a:xfrm>
                  <a:off x="2432078" y="3645395"/>
                  <a:ext cx="1206945" cy="643660"/>
                  <a:chOff x="22727142" y="7778047"/>
                  <a:chExt cx="4840213" cy="2581251"/>
                </a:xfrm>
              </p:grpSpPr>
              <p:sp>
                <p:nvSpPr>
                  <p:cNvPr id="167" name="Oval 166">
                    <a:extLst>
                      <a:ext uri="{FF2B5EF4-FFF2-40B4-BE49-F238E27FC236}">
                        <a16:creationId xmlns:a16="http://schemas.microsoft.com/office/drawing/2014/main" id="{36CA455A-27B1-C614-B4FF-D25E7F797FF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3232597" y="8833544"/>
                    <a:ext cx="181622" cy="184316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DE"/>
                  </a:p>
                </p:txBody>
              </p: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E3599E6A-E2D7-2108-DDA7-FA81289CA4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64731" y="9033264"/>
                    <a:ext cx="935368" cy="48434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8FC00E98-8024-151D-B2A2-E0DF7D3221B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3564731" y="9790421"/>
                    <a:ext cx="935368" cy="56887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B8ED4684-005C-D516-B52D-9B9024EF25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5078627" y="9634049"/>
                    <a:ext cx="705601" cy="0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1" name="Straight Connector 170">
                    <a:extLst>
                      <a:ext uri="{FF2B5EF4-FFF2-40B4-BE49-F238E27FC236}">
                        <a16:creationId xmlns:a16="http://schemas.microsoft.com/office/drawing/2014/main" id="{00CDA36F-8C4B-01B4-0E48-A9B6CA41C9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4989012" y="8425297"/>
                    <a:ext cx="1661911" cy="103878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2" name="Straight Connector 171">
                    <a:extLst>
                      <a:ext uri="{FF2B5EF4-FFF2-40B4-BE49-F238E27FC236}">
                        <a16:creationId xmlns:a16="http://schemas.microsoft.com/office/drawing/2014/main" id="{F806EED2-B868-9318-E15A-70E5B0F0F1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6253151" y="8557300"/>
                    <a:ext cx="552165" cy="822042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3" name="Straight Connector 172">
                    <a:extLst>
                      <a:ext uri="{FF2B5EF4-FFF2-40B4-BE49-F238E27FC236}">
                        <a16:creationId xmlns:a16="http://schemas.microsoft.com/office/drawing/2014/main" id="{40E3FD08-F787-796C-67FA-A8147E5FCB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727142" y="8618051"/>
                    <a:ext cx="320609" cy="162424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4" name="Straight Connector 173">
                    <a:extLst>
                      <a:ext uri="{FF2B5EF4-FFF2-40B4-BE49-F238E27FC236}">
                        <a16:creationId xmlns:a16="http://schemas.microsoft.com/office/drawing/2014/main" id="{854D4D3C-B899-CCA4-A9C1-8A50F6F92A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7161078" y="7778047"/>
                    <a:ext cx="406277" cy="304447"/>
                  </a:xfrm>
                  <a:prstGeom prst="line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1043E562-80C5-05DF-2647-A501AFC83654}"/>
                    </a:ext>
                  </a:extLst>
                </p:cNvPr>
                <p:cNvGrpSpPr/>
                <p:nvPr/>
              </p:nvGrpSpPr>
              <p:grpSpPr>
                <a:xfrm>
                  <a:off x="2426305" y="3644089"/>
                  <a:ext cx="1212760" cy="442005"/>
                  <a:chOff x="2426305" y="3644089"/>
                  <a:chExt cx="1212760" cy="442005"/>
                </a:xfrm>
              </p:grpSpPr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01AEE678-90FD-8D54-0A0C-88D9BA3D29E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32924" y="3954438"/>
                    <a:ext cx="245762" cy="131656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B94DB167-4600-48C0-E6D4-66A1B15E4F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2990807" y="3806806"/>
                    <a:ext cx="419641" cy="262169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5" name="Straight Connector 164">
                    <a:extLst>
                      <a:ext uri="{FF2B5EF4-FFF2-40B4-BE49-F238E27FC236}">
                        <a16:creationId xmlns:a16="http://schemas.microsoft.com/office/drawing/2014/main" id="{67CC0B10-31E8-7D21-D3C5-9D69B3304C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530631" y="3644089"/>
                    <a:ext cx="108434" cy="83963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5BC56E2C-7234-CF8A-89BB-59EBD6D999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426305" y="3854871"/>
                    <a:ext cx="95715" cy="50281"/>
                  </a:xfrm>
                  <a:prstGeom prst="line">
                    <a:avLst/>
                  </a:prstGeom>
                  <a:ln w="57150">
                    <a:solidFill>
                      <a:schemeClr val="tx2">
                        <a:lumMod val="50000"/>
                        <a:lumOff val="50000"/>
                        <a:alpha val="39772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222BFE7B-7019-5FC8-16CD-7D164823DF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239781" y="398615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6EC98605-F482-F321-D24A-D69BA51CC1D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29943" y="350827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D28DDC67-C645-72DB-D3A5-B63A4988461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829834" y="345978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A3C85227-2F67-68E9-E362-0D23492B550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83" y="272683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6667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C184455-02FA-00F2-449A-63D50AACC0F9}"/>
              </a:ext>
            </a:extLst>
          </p:cNvPr>
          <p:cNvCxnSpPr>
            <a:cxnSpLocks/>
          </p:cNvCxnSpPr>
          <p:nvPr/>
        </p:nvCxnSpPr>
        <p:spPr>
          <a:xfrm>
            <a:off x="5985561" y="5339811"/>
            <a:ext cx="2734412" cy="14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6DEF336-3D93-D5CF-48B8-F6D3FAF50BF6}"/>
              </a:ext>
            </a:extLst>
          </p:cNvPr>
          <p:cNvCxnSpPr>
            <a:cxnSpLocks/>
          </p:cNvCxnSpPr>
          <p:nvPr/>
        </p:nvCxnSpPr>
        <p:spPr>
          <a:xfrm flipH="1">
            <a:off x="3578578" y="5345225"/>
            <a:ext cx="2336677" cy="352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D15EAF6-0ED0-5339-9616-9FE872F3DEE8}"/>
              </a:ext>
            </a:extLst>
          </p:cNvPr>
          <p:cNvCxnSpPr>
            <a:cxnSpLocks/>
          </p:cNvCxnSpPr>
          <p:nvPr/>
        </p:nvCxnSpPr>
        <p:spPr>
          <a:xfrm>
            <a:off x="5985561" y="3958052"/>
            <a:ext cx="2734412" cy="143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EB0ACC2-65FE-1245-500B-303458E97FEE}"/>
              </a:ext>
            </a:extLst>
          </p:cNvPr>
          <p:cNvCxnSpPr>
            <a:cxnSpLocks/>
          </p:cNvCxnSpPr>
          <p:nvPr/>
        </p:nvCxnSpPr>
        <p:spPr>
          <a:xfrm flipH="1">
            <a:off x="3578578" y="3989557"/>
            <a:ext cx="2336677" cy="352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175069-43F9-1A70-6387-C5C7DD5D6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51</a:t>
            </a:fld>
            <a:endParaRPr lang="de-DE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4635AB61-19E8-201F-A27F-34594D7EFC45}"/>
              </a:ext>
            </a:extLst>
          </p:cNvPr>
          <p:cNvSpPr txBox="1"/>
          <p:nvPr/>
        </p:nvSpPr>
        <p:spPr>
          <a:xfrm>
            <a:off x="13993197" y="4453296"/>
            <a:ext cx="54546" cy="1930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4000"/>
              </a:lnSpc>
            </a:pPr>
            <a:r>
              <a:rPr lang="de-DE" sz="1200" b="1">
                <a:latin typeface="+mn-lt"/>
              </a:rPr>
              <a:t>B</a:t>
            </a:r>
            <a:endParaRPr lang="en-DE" sz="1600" b="1">
              <a:latin typeface="+mn-lt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63B976E-ADC9-00E2-237D-BA1DF1C1FD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8E8802A-1C35-BBDB-D35B-436CBC8E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Summary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05283B-E722-842C-9DC2-C12F0A0157F1}"/>
              </a:ext>
            </a:extLst>
          </p:cNvPr>
          <p:cNvCxnSpPr>
            <a:cxnSpLocks/>
          </p:cNvCxnSpPr>
          <p:nvPr/>
        </p:nvCxnSpPr>
        <p:spPr>
          <a:xfrm flipH="1">
            <a:off x="3352800" y="1759419"/>
            <a:ext cx="2381956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FA2CCD-237C-F0B3-45F2-001E42697D01}"/>
              </a:ext>
            </a:extLst>
          </p:cNvPr>
          <p:cNvCxnSpPr>
            <a:cxnSpLocks/>
            <a:stCxn id="326" idx="4"/>
            <a:endCxn id="12" idx="0"/>
          </p:cNvCxnSpPr>
          <p:nvPr/>
        </p:nvCxnSpPr>
        <p:spPr>
          <a:xfrm>
            <a:off x="5985907" y="2287803"/>
            <a:ext cx="344" cy="221482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01834F-EE16-A673-BD29-A6D3F5FD92E0}"/>
              </a:ext>
            </a:extLst>
          </p:cNvPr>
          <p:cNvCxnSpPr>
            <a:cxnSpLocks/>
          </p:cNvCxnSpPr>
          <p:nvPr/>
        </p:nvCxnSpPr>
        <p:spPr>
          <a:xfrm>
            <a:off x="5986251" y="1756462"/>
            <a:ext cx="228850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6" name="Oval 325">
            <a:extLst>
              <a:ext uri="{FF2B5EF4-FFF2-40B4-BE49-F238E27FC236}">
                <a16:creationId xmlns:a16="http://schemas.microsoft.com/office/drawing/2014/main" id="{213DB8BE-D2AC-4AA0-E51E-6D04857DCBA0}"/>
              </a:ext>
            </a:extLst>
          </p:cNvPr>
          <p:cNvSpPr/>
          <p:nvPr/>
        </p:nvSpPr>
        <p:spPr>
          <a:xfrm>
            <a:off x="4465822" y="1231034"/>
            <a:ext cx="3040169" cy="10567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>
                <a:solidFill>
                  <a:schemeClr val="tx1"/>
                </a:solidFill>
              </a:rPr>
              <a:t>Problem</a:t>
            </a:r>
            <a:endParaRPr lang="en-US" sz="2800" b="1">
              <a:solidFill>
                <a:schemeClr val="tx1"/>
              </a:solidFill>
            </a:endParaRPr>
          </a:p>
        </p:txBody>
      </p:sp>
      <p:sp>
        <p:nvSpPr>
          <p:cNvPr id="4" name="Rounded Rectangle 110">
            <a:extLst>
              <a:ext uri="{FF2B5EF4-FFF2-40B4-BE49-F238E27FC236}">
                <a16:creationId xmlns:a16="http://schemas.microsoft.com/office/drawing/2014/main" id="{46E14AF2-2D4D-6982-C84E-AA8433271B09}"/>
              </a:ext>
            </a:extLst>
          </p:cNvPr>
          <p:cNvSpPr/>
          <p:nvPr/>
        </p:nvSpPr>
        <p:spPr>
          <a:xfrm>
            <a:off x="2757916" y="1454743"/>
            <a:ext cx="1135629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337" name="Rectangle 336">
            <a:extLst>
              <a:ext uri="{FF2B5EF4-FFF2-40B4-BE49-F238E27FC236}">
                <a16:creationId xmlns:a16="http://schemas.microsoft.com/office/drawing/2014/main" id="{12F2FC76-F415-75DE-87D5-D1227E0D49EA}"/>
              </a:ext>
            </a:extLst>
          </p:cNvPr>
          <p:cNvSpPr/>
          <p:nvPr/>
        </p:nvSpPr>
        <p:spPr>
          <a:xfrm>
            <a:off x="2757916" y="1490867"/>
            <a:ext cx="1135629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Input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338" name="Rounded Rectangle 110">
            <a:extLst>
              <a:ext uri="{FF2B5EF4-FFF2-40B4-BE49-F238E27FC236}">
                <a16:creationId xmlns:a16="http://schemas.microsoft.com/office/drawing/2014/main" id="{B07C721B-237A-CF32-425A-D04B3AF287C9}"/>
              </a:ext>
            </a:extLst>
          </p:cNvPr>
          <p:cNvSpPr/>
          <p:nvPr/>
        </p:nvSpPr>
        <p:spPr>
          <a:xfrm>
            <a:off x="7996800" y="1454742"/>
            <a:ext cx="1135629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339" name="Rectangle 338">
            <a:extLst>
              <a:ext uri="{FF2B5EF4-FFF2-40B4-BE49-F238E27FC236}">
                <a16:creationId xmlns:a16="http://schemas.microsoft.com/office/drawing/2014/main" id="{8EE8819D-FE5B-F983-1B9E-B135BB727402}"/>
              </a:ext>
            </a:extLst>
          </p:cNvPr>
          <p:cNvSpPr/>
          <p:nvPr/>
        </p:nvSpPr>
        <p:spPr>
          <a:xfrm>
            <a:off x="7996800" y="1490866"/>
            <a:ext cx="1135629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Output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2" name="Rounded Rectangle 110">
            <a:extLst>
              <a:ext uri="{FF2B5EF4-FFF2-40B4-BE49-F238E27FC236}">
                <a16:creationId xmlns:a16="http://schemas.microsoft.com/office/drawing/2014/main" id="{BB8960FE-86E6-116E-C613-EAF49E81E654}"/>
              </a:ext>
            </a:extLst>
          </p:cNvPr>
          <p:cNvSpPr/>
          <p:nvPr/>
        </p:nvSpPr>
        <p:spPr>
          <a:xfrm>
            <a:off x="5220489" y="2509285"/>
            <a:ext cx="1531524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4B46E-400E-483D-783B-C393000E2041}"/>
              </a:ext>
            </a:extLst>
          </p:cNvPr>
          <p:cNvSpPr/>
          <p:nvPr/>
        </p:nvSpPr>
        <p:spPr>
          <a:xfrm>
            <a:off x="5342843" y="2545409"/>
            <a:ext cx="1286816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Objective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8020789-8FB2-5715-44F8-1A0DDCBC4B90}"/>
              </a:ext>
            </a:extLst>
          </p:cNvPr>
          <p:cNvSpPr/>
          <p:nvPr/>
        </p:nvSpPr>
        <p:spPr>
          <a:xfrm>
            <a:off x="4465822" y="3444019"/>
            <a:ext cx="3040169" cy="10567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>
                <a:solidFill>
                  <a:schemeClr val="tx1"/>
                </a:solidFill>
              </a:rPr>
              <a:t>Approach</a:t>
            </a:r>
            <a:endParaRPr lang="en-US" sz="2400" b="1">
              <a:solidFill>
                <a:schemeClr val="tx1"/>
              </a:solidFill>
            </a:endParaRPr>
          </a:p>
        </p:txBody>
      </p:sp>
      <p:sp>
        <p:nvSpPr>
          <p:cNvPr id="21" name="Rounded Rectangle 110">
            <a:extLst>
              <a:ext uri="{FF2B5EF4-FFF2-40B4-BE49-F238E27FC236}">
                <a16:creationId xmlns:a16="http://schemas.microsoft.com/office/drawing/2014/main" id="{38E36A59-DE4D-7098-1734-2257E8F14B4F}"/>
              </a:ext>
            </a:extLst>
          </p:cNvPr>
          <p:cNvSpPr/>
          <p:nvPr/>
        </p:nvSpPr>
        <p:spPr>
          <a:xfrm>
            <a:off x="7909290" y="3670684"/>
            <a:ext cx="1621367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95950A-43C6-16C8-CE94-055553F7544E}"/>
              </a:ext>
            </a:extLst>
          </p:cNvPr>
          <p:cNvSpPr/>
          <p:nvPr/>
        </p:nvSpPr>
        <p:spPr>
          <a:xfrm>
            <a:off x="7992582" y="3739641"/>
            <a:ext cx="1454783" cy="4655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Decoupled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Rounded Rectangle 110">
            <a:extLst>
              <a:ext uri="{FF2B5EF4-FFF2-40B4-BE49-F238E27FC236}">
                <a16:creationId xmlns:a16="http://schemas.microsoft.com/office/drawing/2014/main" id="{9CEBCA37-1476-967B-95C3-59EDBDE99DBD}"/>
              </a:ext>
            </a:extLst>
          </p:cNvPr>
          <p:cNvSpPr/>
          <p:nvPr/>
        </p:nvSpPr>
        <p:spPr>
          <a:xfrm>
            <a:off x="2440466" y="3670684"/>
            <a:ext cx="1621367" cy="60343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2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A10B4A-C863-9713-0DE6-BB2A60BE80AA}"/>
              </a:ext>
            </a:extLst>
          </p:cNvPr>
          <p:cNvSpPr/>
          <p:nvPr/>
        </p:nvSpPr>
        <p:spPr>
          <a:xfrm>
            <a:off x="2523758" y="3706808"/>
            <a:ext cx="1454783" cy="5311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 err="1">
                <a:solidFill>
                  <a:schemeClr val="tx1"/>
                </a:solidFill>
              </a:rPr>
              <a:t>Combined</a:t>
            </a:r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C51B40-56E3-E80D-20C7-0FCC359D1709}"/>
              </a:ext>
            </a:extLst>
          </p:cNvPr>
          <p:cNvSpPr/>
          <p:nvPr/>
        </p:nvSpPr>
        <p:spPr>
          <a:xfrm>
            <a:off x="4465475" y="4818601"/>
            <a:ext cx="3040172" cy="105677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800" b="1" err="1">
                <a:solidFill>
                  <a:schemeClr val="tx1"/>
                </a:solidFill>
              </a:rPr>
              <a:t>Conclusion</a:t>
            </a:r>
            <a:endParaRPr lang="en-US" sz="2400" b="1">
              <a:solidFill>
                <a:schemeClr val="tx1"/>
              </a:solidFill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DB8A56B-65BA-6C40-6DE1-AAF2AEB47A6A}"/>
              </a:ext>
            </a:extLst>
          </p:cNvPr>
          <p:cNvGrpSpPr/>
          <p:nvPr/>
        </p:nvGrpSpPr>
        <p:grpSpPr>
          <a:xfrm>
            <a:off x="1904894" y="4864288"/>
            <a:ext cx="2073647" cy="965396"/>
            <a:chOff x="1904894" y="4920133"/>
            <a:chExt cx="2073647" cy="965396"/>
          </a:xfrm>
        </p:grpSpPr>
        <p:sp>
          <p:nvSpPr>
            <p:cNvPr id="32" name="Rounded Rectangle 110">
              <a:extLst>
                <a:ext uri="{FF2B5EF4-FFF2-40B4-BE49-F238E27FC236}">
                  <a16:creationId xmlns:a16="http://schemas.microsoft.com/office/drawing/2014/main" id="{0C0A8011-D439-F8C3-0752-052DC8FDBE1D}"/>
                </a:ext>
              </a:extLst>
            </p:cNvPr>
            <p:cNvSpPr/>
            <p:nvPr/>
          </p:nvSpPr>
          <p:spPr>
            <a:xfrm>
              <a:off x="1904894" y="4920133"/>
              <a:ext cx="2073647" cy="96539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00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E66AAA7-E1B1-65C3-DD87-A87186B8F574}"/>
                </a:ext>
              </a:extLst>
            </p:cNvPr>
            <p:cNvSpPr/>
            <p:nvPr/>
          </p:nvSpPr>
          <p:spPr>
            <a:xfrm>
              <a:off x="1979331" y="4956730"/>
              <a:ext cx="1924772" cy="8922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 err="1">
                  <a:solidFill>
                    <a:schemeClr val="tx1"/>
                  </a:solidFill>
                </a:rPr>
                <a:t>Combined</a:t>
              </a:r>
              <a:r>
                <a:rPr lang="de-DE" sz="2000">
                  <a:solidFill>
                    <a:schemeClr val="tx1"/>
                  </a:solidFill>
                </a:rPr>
                <a:t>:</a:t>
              </a:r>
            </a:p>
            <a:p>
              <a:pPr algn="ctr"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More </a:t>
              </a:r>
              <a:r>
                <a:rPr lang="de-DE" sz="2000" err="1">
                  <a:solidFill>
                    <a:schemeClr val="tx1"/>
                  </a:solidFill>
                </a:rPr>
                <a:t>accurate</a:t>
              </a:r>
              <a:endParaRPr lang="en-US" sz="2400">
                <a:solidFill>
                  <a:schemeClr val="tx1"/>
                </a:solidFill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D38AB3-A2B7-CA48-7F98-16C5C40FA970}"/>
              </a:ext>
            </a:extLst>
          </p:cNvPr>
          <p:cNvGrpSpPr/>
          <p:nvPr/>
        </p:nvGrpSpPr>
        <p:grpSpPr>
          <a:xfrm>
            <a:off x="7996421" y="4864288"/>
            <a:ext cx="2073647" cy="965396"/>
            <a:chOff x="1904894" y="4920133"/>
            <a:chExt cx="2073647" cy="965396"/>
          </a:xfrm>
        </p:grpSpPr>
        <p:sp>
          <p:nvSpPr>
            <p:cNvPr id="38" name="Rounded Rectangle 110">
              <a:extLst>
                <a:ext uri="{FF2B5EF4-FFF2-40B4-BE49-F238E27FC236}">
                  <a16:creationId xmlns:a16="http://schemas.microsoft.com/office/drawing/2014/main" id="{76843B67-D88C-BB6F-A407-3A18FC2FC49F}"/>
                </a:ext>
              </a:extLst>
            </p:cNvPr>
            <p:cNvSpPr/>
            <p:nvPr/>
          </p:nvSpPr>
          <p:spPr>
            <a:xfrm>
              <a:off x="1904894" y="4920133"/>
              <a:ext cx="2073647" cy="96539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00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C8E5F3-0E63-6DCB-985C-432C01351854}"/>
                </a:ext>
              </a:extLst>
            </p:cNvPr>
            <p:cNvSpPr/>
            <p:nvPr/>
          </p:nvSpPr>
          <p:spPr>
            <a:xfrm>
              <a:off x="1979331" y="4956730"/>
              <a:ext cx="1924772" cy="89220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lang="de-DE" sz="2000" err="1">
                  <a:solidFill>
                    <a:schemeClr val="tx1"/>
                  </a:solidFill>
                </a:rPr>
                <a:t>Decoupled</a:t>
              </a:r>
              <a:r>
                <a:rPr lang="de-DE" sz="2000">
                  <a:solidFill>
                    <a:schemeClr val="tx1"/>
                  </a:solidFill>
                </a:rPr>
                <a:t>:</a:t>
              </a:r>
            </a:p>
            <a:p>
              <a:pPr algn="ctr"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More </a:t>
              </a:r>
              <a:r>
                <a:rPr lang="de-DE" sz="2000" err="1">
                  <a:solidFill>
                    <a:schemeClr val="tx1"/>
                  </a:solidFill>
                </a:rPr>
                <a:t>efficient</a:t>
              </a:r>
              <a:endParaRPr lang="en-US" sz="240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504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5AF5A5-9F20-0682-C177-07F6ACF5F7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52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0C66A-B76E-71DB-C372-7AB687E80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B32462-1D51-F2EF-FEC5-41D1C7AE2E9F}"/>
              </a:ext>
            </a:extLst>
          </p:cNvPr>
          <p:cNvGrpSpPr/>
          <p:nvPr/>
        </p:nvGrpSpPr>
        <p:grpSpPr>
          <a:xfrm>
            <a:off x="414883" y="538802"/>
            <a:ext cx="11362234" cy="723644"/>
            <a:chOff x="317065" y="5310449"/>
            <a:chExt cx="11362234" cy="723644"/>
          </a:xfrm>
        </p:grpSpPr>
        <p:pic>
          <p:nvPicPr>
            <p:cNvPr id="7" name="Bild 2" descr="20150416 tum logo blau png final.png">
              <a:extLst>
                <a:ext uri="{FF2B5EF4-FFF2-40B4-BE49-F238E27FC236}">
                  <a16:creationId xmlns:a16="http://schemas.microsoft.com/office/drawing/2014/main" id="{9A321A2B-299D-3935-D2E0-C9BCD2E0A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05295" y="5310449"/>
              <a:ext cx="1374004" cy="723644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F44542CA-0A6D-69C5-DEEB-DA923121C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7065" y="5394685"/>
              <a:ext cx="2332306" cy="555172"/>
            </a:xfrm>
            <a:prstGeom prst="rect">
              <a:avLst/>
            </a:prstGeom>
          </p:spPr>
        </p:pic>
      </p:grpSp>
      <p:pic>
        <p:nvPicPr>
          <p:cNvPr id="10" name="Video 9">
            <a:hlinkClick r:id="" action="ppaction://media"/>
            <a:extLst>
              <a:ext uri="{FF2B5EF4-FFF2-40B4-BE49-F238E27FC236}">
                <a16:creationId xmlns:a16="http://schemas.microsoft.com/office/drawing/2014/main" id="{F298C491-641E-0A18-ADB0-8B7B96DCAAEA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6664"/>
                </p14:media>
              </p:ext>
            </p:extLst>
          </p:nvPr>
        </p:nvPicPr>
        <p:blipFill rotWithShape="1">
          <a:blip r:embed="rId8"/>
          <a:srcRect l="1158" t="15845" r="-97" b="14467"/>
          <a:stretch/>
        </p:blipFill>
        <p:spPr>
          <a:xfrm>
            <a:off x="414884" y="1889776"/>
            <a:ext cx="11354460" cy="338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54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286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9ED18F-9C5E-9854-E2EA-35AEB126BB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53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6A8137-F451-F69F-BB00-3A6680F9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504" y="3158349"/>
            <a:ext cx="8508999" cy="541302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de-DE" sz="8000"/>
              <a:t>Backup-Slides</a:t>
            </a:r>
            <a:endParaRPr lang="en-US" sz="800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722E016C-E3BE-3D13-F121-E5ABA44B0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10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2205DC6-2AD0-34FB-9509-C78DFB46F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725" y="2601119"/>
            <a:ext cx="8972550" cy="1655762"/>
          </a:xfrm>
        </p:spPr>
        <p:txBody>
          <a:bodyPr/>
          <a:lstStyle/>
          <a:p>
            <a:r>
              <a:rPr lang="de-DE" sz="4400" i="1">
                <a:latin typeface="Blackadder ITC" panose="04020505051007020D02" pitchFamily="82" charset="0"/>
              </a:rPr>
              <a:t>Egal wie gut du fährst, Züge fahren Güter.</a:t>
            </a:r>
          </a:p>
          <a:p>
            <a:pPr>
              <a:lnSpc>
                <a:spcPct val="200000"/>
              </a:lnSpc>
            </a:pPr>
            <a:r>
              <a:rPr lang="de-DE" sz="2000" i="1"/>
              <a:t>~ Jan Delay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DFD3FA-9B4B-2E88-3F25-3D7BFE7A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2622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09525C-FA57-6AC7-122B-5310D2BF4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83" y="1551172"/>
            <a:ext cx="11345332" cy="4922144"/>
          </a:xfrm>
        </p:spPr>
        <p:txBody>
          <a:bodyPr/>
          <a:lstStyle/>
          <a:p>
            <a:r>
              <a:rPr lang="de-DE" sz="1400" err="1"/>
              <a:t>What</a:t>
            </a:r>
            <a:r>
              <a:rPr lang="de-DE" sz="1400"/>
              <a:t> </a:t>
            </a:r>
            <a:r>
              <a:rPr lang="de-DE" sz="1400" err="1"/>
              <a:t>have</a:t>
            </a:r>
            <a:r>
              <a:rPr lang="de-DE" sz="1400"/>
              <a:t> </a:t>
            </a:r>
            <a:r>
              <a:rPr lang="de-DE" sz="1400" err="1"/>
              <a:t>we</a:t>
            </a:r>
            <a:r>
              <a:rPr lang="de-DE" sz="1400"/>
              <a:t> </a:t>
            </a:r>
            <a:r>
              <a:rPr lang="de-DE" sz="1400" err="1"/>
              <a:t>done</a:t>
            </a:r>
            <a:r>
              <a:rPr lang="de-DE" sz="1400"/>
              <a:t> </a:t>
            </a:r>
            <a:r>
              <a:rPr lang="de-DE" sz="1400" err="1"/>
              <a:t>additionally</a:t>
            </a:r>
            <a:r>
              <a:rPr lang="de-DE" sz="140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Greedy algorithm by Fabi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Heuristic Conflict Based Search (CBS)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Model dynamics as path through speed graph (nodes = different speeds and edge if train can reach next speed in next segment)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Refine </a:t>
            </a:r>
            <a:r>
              <a:rPr lang="en-US" sz="1400" err="1"/>
              <a:t>pwl</a:t>
            </a:r>
            <a:r>
              <a:rPr lang="en-US" sz="1400"/>
              <a:t> dynamics by simplifying dynamics around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…</a:t>
            </a:r>
          </a:p>
          <a:p>
            <a:endParaRPr lang="en-US" sz="1400"/>
          </a:p>
          <a:p>
            <a:r>
              <a:rPr lang="de-DE" sz="1400" err="1"/>
              <a:t>What</a:t>
            </a:r>
            <a:r>
              <a:rPr lang="de-DE" sz="1400"/>
              <a:t> </a:t>
            </a:r>
            <a:r>
              <a:rPr lang="de-DE" sz="1400" err="1"/>
              <a:t>could</a:t>
            </a:r>
            <a:r>
              <a:rPr lang="de-DE" sz="1400"/>
              <a:t> </a:t>
            </a:r>
            <a:r>
              <a:rPr lang="de-DE" sz="1400" err="1"/>
              <a:t>have</a:t>
            </a:r>
            <a:r>
              <a:rPr lang="de-DE" sz="1400"/>
              <a:t> </a:t>
            </a:r>
            <a:r>
              <a:rPr lang="de-DE" sz="1400" err="1"/>
              <a:t>been</a:t>
            </a:r>
            <a:r>
              <a:rPr lang="de-DE" sz="1400"/>
              <a:t> </a:t>
            </a:r>
            <a:r>
              <a:rPr lang="de-DE" sz="1400" err="1"/>
              <a:t>done</a:t>
            </a:r>
            <a:r>
              <a:rPr lang="de-DE" sz="140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Segment-</a:t>
            </a:r>
            <a:r>
              <a:rPr lang="de-DE" sz="1400" err="1"/>
              <a:t>based</a:t>
            </a:r>
            <a:r>
              <a:rPr lang="de-DE" sz="1400"/>
              <a:t> </a:t>
            </a:r>
            <a:r>
              <a:rPr lang="de-DE" sz="1400" err="1"/>
              <a:t>combined</a:t>
            </a:r>
            <a:r>
              <a:rPr lang="de-DE" sz="1400"/>
              <a:t> </a:t>
            </a:r>
            <a:r>
              <a:rPr lang="de-DE" sz="1400" err="1"/>
              <a:t>approach</a:t>
            </a:r>
            <a:endParaRPr lang="de-D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Job-shop </a:t>
            </a:r>
            <a:r>
              <a:rPr lang="de-DE" sz="1400" err="1"/>
              <a:t>scheduling</a:t>
            </a:r>
            <a:r>
              <a:rPr lang="de-DE" sz="1400"/>
              <a:t> </a:t>
            </a:r>
            <a:r>
              <a:rPr lang="de-DE" sz="1400" err="1"/>
              <a:t>for</a:t>
            </a:r>
            <a:r>
              <a:rPr lang="de-DE" sz="1400"/>
              <a:t> </a:t>
            </a:r>
            <a:r>
              <a:rPr lang="de-DE" sz="1400" err="1"/>
              <a:t>solving</a:t>
            </a:r>
            <a:r>
              <a:rPr lang="de-DE" sz="1400"/>
              <a:t> </a:t>
            </a:r>
            <a:r>
              <a:rPr lang="de-DE" sz="1400" err="1"/>
              <a:t>the</a:t>
            </a:r>
            <a:r>
              <a:rPr lang="de-DE" sz="1400"/>
              <a:t> </a:t>
            </a:r>
            <a:r>
              <a:rPr lang="de-DE" sz="1400" err="1"/>
              <a:t>discrete</a:t>
            </a:r>
            <a:r>
              <a:rPr lang="de-DE" sz="1400"/>
              <a:t> </a:t>
            </a:r>
            <a:r>
              <a:rPr lang="de-DE" sz="1400" err="1"/>
              <a:t>part</a:t>
            </a:r>
            <a:r>
              <a:rPr lang="de-DE" sz="1400"/>
              <a:t> (</a:t>
            </a:r>
            <a:r>
              <a:rPr lang="de-DE" sz="1400" err="1"/>
              <a:t>segments</a:t>
            </a:r>
            <a:r>
              <a:rPr lang="de-DE" sz="1400"/>
              <a:t> = </a:t>
            </a:r>
            <a:r>
              <a:rPr lang="de-DE" sz="1400" err="1"/>
              <a:t>machines</a:t>
            </a:r>
            <a:r>
              <a:rPr lang="de-DE" sz="1400"/>
              <a:t>, </a:t>
            </a:r>
            <a:r>
              <a:rPr lang="de-DE" sz="1400" err="1"/>
              <a:t>trains</a:t>
            </a:r>
            <a:r>
              <a:rPr lang="de-DE" sz="1400"/>
              <a:t> = </a:t>
            </a:r>
            <a:r>
              <a:rPr lang="de-DE" sz="1400" err="1"/>
              <a:t>jobs</a:t>
            </a:r>
            <a:r>
              <a:rPr lang="de-DE" sz="140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Multi-</a:t>
            </a:r>
            <a:r>
              <a:rPr lang="de-DE" sz="1400" err="1"/>
              <a:t>commodity</a:t>
            </a:r>
            <a:r>
              <a:rPr lang="de-DE" sz="1400"/>
              <a:t> </a:t>
            </a:r>
            <a:r>
              <a:rPr lang="de-DE" sz="1400" err="1"/>
              <a:t>flow</a:t>
            </a:r>
            <a:r>
              <a:rPr lang="de-DE" sz="1400"/>
              <a:t> </a:t>
            </a:r>
            <a:r>
              <a:rPr lang="de-DE" sz="1400" err="1"/>
              <a:t>for</a:t>
            </a:r>
            <a:r>
              <a:rPr lang="de-DE" sz="1400"/>
              <a:t> </a:t>
            </a:r>
            <a:r>
              <a:rPr lang="de-DE" sz="1400" err="1"/>
              <a:t>solving</a:t>
            </a:r>
            <a:r>
              <a:rPr lang="de-DE" sz="1400"/>
              <a:t> </a:t>
            </a:r>
            <a:r>
              <a:rPr lang="de-DE" sz="1400" err="1"/>
              <a:t>discrete</a:t>
            </a:r>
            <a:r>
              <a:rPr lang="de-DE" sz="1400"/>
              <a:t> </a:t>
            </a:r>
            <a:r>
              <a:rPr lang="de-DE" sz="1400" err="1"/>
              <a:t>part</a:t>
            </a:r>
            <a:endParaRPr lang="de-D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Separation Oracle </a:t>
            </a:r>
            <a:r>
              <a:rPr lang="de-DE" sz="1400" err="1"/>
              <a:t>for</a:t>
            </a:r>
            <a:r>
              <a:rPr lang="de-DE" sz="1400"/>
              <a:t> route-</a:t>
            </a:r>
            <a:r>
              <a:rPr lang="de-DE" sz="1400" err="1"/>
              <a:t>based</a:t>
            </a:r>
            <a:r>
              <a:rPr lang="de-DE" sz="1400"/>
              <a:t> </a:t>
            </a:r>
            <a:r>
              <a:rPr lang="de-DE" sz="1400" err="1"/>
              <a:t>discrete</a:t>
            </a:r>
            <a:r>
              <a:rPr lang="de-DE" sz="1400"/>
              <a:t> </a:t>
            </a:r>
            <a:r>
              <a:rPr lang="de-DE" sz="1400" err="1"/>
              <a:t>parts</a:t>
            </a:r>
            <a:r>
              <a:rPr lang="de-DE" sz="1400"/>
              <a:t> (?)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err="1"/>
              <a:t>Choose</a:t>
            </a:r>
            <a:r>
              <a:rPr lang="de-DE" sz="1400"/>
              <a:t> </a:t>
            </a:r>
            <a:r>
              <a:rPr lang="de-DE" sz="1400" err="1"/>
              <a:t>only</a:t>
            </a:r>
            <a:r>
              <a:rPr lang="de-DE" sz="1400"/>
              <a:t> ‚</a:t>
            </a:r>
            <a:r>
              <a:rPr lang="de-DE" sz="1400" err="1"/>
              <a:t>good</a:t>
            </a:r>
            <a:r>
              <a:rPr lang="de-DE" sz="1400"/>
              <a:t>‘ </a:t>
            </a:r>
            <a:r>
              <a:rPr lang="de-DE" sz="1400" err="1"/>
              <a:t>routes</a:t>
            </a:r>
            <a:r>
              <a:rPr lang="de-DE" sz="1400"/>
              <a:t> </a:t>
            </a:r>
            <a:r>
              <a:rPr lang="de-DE" sz="1400" err="1"/>
              <a:t>from</a:t>
            </a:r>
            <a:r>
              <a:rPr lang="de-DE" sz="1400"/>
              <a:t> </a:t>
            </a:r>
            <a:r>
              <a:rPr lang="de-DE" sz="1400" err="1"/>
              <a:t>the</a:t>
            </a:r>
            <a:r>
              <a:rPr lang="de-DE" sz="1400"/>
              <a:t> exponential-</a:t>
            </a:r>
            <a:r>
              <a:rPr lang="de-DE" sz="1400" err="1"/>
              <a:t>sized</a:t>
            </a:r>
            <a:r>
              <a:rPr lang="de-DE" sz="1400"/>
              <a:t> </a:t>
            </a:r>
            <a:r>
              <a:rPr lang="de-DE" sz="1400" err="1"/>
              <a:t>set</a:t>
            </a:r>
            <a:r>
              <a:rPr lang="de-DE" sz="1400"/>
              <a:t> </a:t>
            </a:r>
            <a:r>
              <a:rPr lang="de-DE" sz="1400" err="1"/>
              <a:t>of</a:t>
            </a:r>
            <a:r>
              <a:rPr lang="de-DE" sz="1400"/>
              <a:t> </a:t>
            </a:r>
            <a:r>
              <a:rPr lang="de-DE" sz="1400" err="1"/>
              <a:t>routes</a:t>
            </a:r>
            <a:endParaRPr lang="de-D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err="1"/>
              <a:t>Merge</a:t>
            </a:r>
            <a:r>
              <a:rPr lang="de-DE" sz="1400"/>
              <a:t> </a:t>
            </a:r>
            <a:r>
              <a:rPr lang="de-DE" sz="1400" err="1"/>
              <a:t>decoupled</a:t>
            </a:r>
            <a:r>
              <a:rPr lang="de-DE" sz="1400"/>
              <a:t> </a:t>
            </a:r>
            <a:r>
              <a:rPr lang="de-DE" sz="1400" err="1"/>
              <a:t>approaches</a:t>
            </a:r>
            <a:r>
              <a:rPr lang="de-DE" sz="1400"/>
              <a:t> </a:t>
            </a:r>
            <a:r>
              <a:rPr lang="de-DE" sz="1400" err="1"/>
              <a:t>to</a:t>
            </a:r>
            <a:r>
              <a:rPr lang="de-DE" sz="1400"/>
              <a:t> </a:t>
            </a:r>
            <a:r>
              <a:rPr lang="de-DE" sz="1400" err="1"/>
              <a:t>solve</a:t>
            </a:r>
            <a:r>
              <a:rPr lang="de-DE" sz="1400"/>
              <a:t> </a:t>
            </a:r>
            <a:r>
              <a:rPr lang="de-DE" sz="1400" err="1"/>
              <a:t>huge</a:t>
            </a:r>
            <a:r>
              <a:rPr lang="de-DE" sz="1400"/>
              <a:t> </a:t>
            </a:r>
            <a:r>
              <a:rPr lang="de-DE" sz="1400" err="1"/>
              <a:t>networks</a:t>
            </a:r>
            <a:endParaRPr lang="de-DE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err="1"/>
              <a:t>Solve</a:t>
            </a:r>
            <a:r>
              <a:rPr lang="de-DE" sz="1400"/>
              <a:t> </a:t>
            </a:r>
            <a:r>
              <a:rPr lang="de-DE" sz="1400" err="1"/>
              <a:t>local</a:t>
            </a:r>
            <a:r>
              <a:rPr lang="de-DE" sz="1400"/>
              <a:t> </a:t>
            </a:r>
            <a:r>
              <a:rPr lang="de-DE" sz="1400" err="1"/>
              <a:t>areas</a:t>
            </a:r>
            <a:r>
              <a:rPr lang="de-DE" sz="1400"/>
              <a:t> and </a:t>
            </a:r>
            <a:r>
              <a:rPr lang="de-DE" sz="1400" err="1"/>
              <a:t>combine</a:t>
            </a:r>
            <a:r>
              <a:rPr lang="de-DE" sz="1400"/>
              <a:t> </a:t>
            </a:r>
            <a:r>
              <a:rPr lang="de-DE" sz="1400" err="1"/>
              <a:t>to</a:t>
            </a:r>
            <a:r>
              <a:rPr lang="de-DE" sz="1400"/>
              <a:t> </a:t>
            </a:r>
            <a:r>
              <a:rPr lang="de-DE" sz="1400" err="1"/>
              <a:t>solve</a:t>
            </a:r>
            <a:r>
              <a:rPr lang="de-DE" sz="1400"/>
              <a:t> </a:t>
            </a:r>
            <a:r>
              <a:rPr lang="de-DE" sz="1400" err="1"/>
              <a:t>huge</a:t>
            </a:r>
            <a:r>
              <a:rPr lang="de-DE" sz="1400"/>
              <a:t> </a:t>
            </a:r>
            <a:r>
              <a:rPr lang="de-DE" sz="1400" err="1"/>
              <a:t>networks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Reduce conflict constraints when conflict is unlikely (relevant for route-based approach)</a:t>
            </a:r>
            <a:endParaRPr lang="de-DE" sz="1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93B512-F8C8-E514-187E-F799F7CF38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55</a:t>
            </a:fld>
            <a:endParaRPr lang="de-D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D726E52-FA39-A0B7-BF0C-1AB98D7F6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67FFE36-1BDF-EAA3-A31E-0D2766ED1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Outlook</a:t>
            </a:r>
          </a:p>
        </p:txBody>
      </p:sp>
    </p:spTree>
    <p:extLst>
      <p:ext uri="{BB962C8B-B14F-4D97-AF65-F5344CB8AC3E}">
        <p14:creationId xmlns:p14="http://schemas.microsoft.com/office/powerpoint/2010/main" val="577843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FE27483-B1DF-0573-E206-0F5CA3C11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>
                <a:effectLst/>
                <a:latin typeface="Courier New" panose="02070309020205020404" pitchFamily="49" charset="0"/>
              </a:rPr>
              <a:t>• </a:t>
            </a:r>
            <a:r>
              <a:rPr lang="en-US" b="0" i="0">
                <a:effectLst/>
                <a:latin typeface="Arial" panose="020B0604020202020204" pitchFamily="34" charset="0"/>
              </a:rPr>
              <a:t>Trains have no length</a:t>
            </a:r>
            <a:br>
              <a:rPr lang="en-US"/>
            </a:br>
            <a:r>
              <a:rPr lang="en-US" b="0" i="0">
                <a:effectLst/>
                <a:latin typeface="Courier New" panose="02070309020205020404" pitchFamily="49" charset="0"/>
              </a:rPr>
              <a:t>• </a:t>
            </a:r>
            <a:r>
              <a:rPr lang="en-US" b="0" i="0">
                <a:effectLst/>
                <a:latin typeface="Arial" panose="020B0604020202020204" pitchFamily="34" charset="0"/>
              </a:rPr>
              <a:t>A train arrives at a station once it reaches the exact center of the corresponding segment</a:t>
            </a:r>
            <a:br>
              <a:rPr lang="en-US"/>
            </a:br>
            <a:r>
              <a:rPr lang="en-US" b="0" i="0">
                <a:effectLst/>
                <a:latin typeface="Courier New" panose="02070309020205020404" pitchFamily="49" charset="0"/>
              </a:rPr>
              <a:t>• </a:t>
            </a:r>
            <a:r>
              <a:rPr lang="en-US" b="0" i="0">
                <a:effectLst/>
                <a:latin typeface="Arial" panose="020B0604020202020204" pitchFamily="34" charset="0"/>
              </a:rPr>
              <a:t>We do not respect complex physical laws, so only basic physics are assumed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C04A9-68E6-F137-9000-BB8251771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56</a:t>
            </a:fld>
            <a:endParaRPr lang="de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D084D7E-2AB6-D470-60C5-864A5620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Assumptions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simplification</a:t>
            </a:r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753AD-43E1-AC1A-A9E8-AF1057492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92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721C42-897B-7A3B-9F4E-7F9B145CDB7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57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0BB7EE-A785-181C-D504-DD6AE175A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Hardness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0FC88-E227-B489-5B32-260C33FCB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F24715-A18C-6BAA-5D6B-78256F9DF873}"/>
              </a:ext>
            </a:extLst>
          </p:cNvPr>
          <p:cNvGrpSpPr/>
          <p:nvPr/>
        </p:nvGrpSpPr>
        <p:grpSpPr>
          <a:xfrm>
            <a:off x="553038" y="1454458"/>
            <a:ext cx="11085924" cy="4494512"/>
            <a:chOff x="414883" y="1673533"/>
            <a:chExt cx="11085924" cy="44945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71E8347E-C3D9-1DCF-7CE9-FD8F3F37E25E}"/>
                </a:ext>
              </a:extLst>
            </p:cNvPr>
            <p:cNvGrpSpPr/>
            <p:nvPr/>
          </p:nvGrpSpPr>
          <p:grpSpPr>
            <a:xfrm>
              <a:off x="414883" y="3144502"/>
              <a:ext cx="3337967" cy="1552575"/>
              <a:chOff x="414883" y="1666875"/>
              <a:chExt cx="3337967" cy="1552575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7CD28656-2A32-5DE9-F0D7-E4978BA6E66C}"/>
                  </a:ext>
                </a:extLst>
              </p:cNvPr>
              <p:cNvSpPr/>
              <p:nvPr/>
            </p:nvSpPr>
            <p:spPr>
              <a:xfrm>
                <a:off x="414883" y="1666875"/>
                <a:ext cx="3337967" cy="1552575"/>
              </a:xfrm>
              <a:prstGeom prst="roundRect">
                <a:avLst/>
              </a:prstGeom>
              <a:noFill/>
              <a:ln w="762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73F4209E-2764-4965-E92F-4EC36773BDAF}"/>
                  </a:ext>
                </a:extLst>
              </p:cNvPr>
              <p:cNvGrpSpPr/>
              <p:nvPr/>
            </p:nvGrpSpPr>
            <p:grpSpPr>
              <a:xfrm>
                <a:off x="543729" y="1945285"/>
                <a:ext cx="3080275" cy="995755"/>
                <a:chOff x="523280" y="1843059"/>
                <a:chExt cx="3080275" cy="995755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DE183F20-2798-077D-1BB7-16673E878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23280" y="2475500"/>
                  <a:ext cx="3080275" cy="363314"/>
                </a:xfrm>
                <a:prstGeom prst="rect">
                  <a:avLst/>
                </a:prstGeom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BE91EAA9-03AF-18F3-DA2D-C143F8BA9A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96627" y="1843059"/>
                  <a:ext cx="933580" cy="409632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EC43F15-B620-D2BF-2B37-1AB22E09610D}"/>
                </a:ext>
              </a:extLst>
            </p:cNvPr>
            <p:cNvGrpSpPr/>
            <p:nvPr/>
          </p:nvGrpSpPr>
          <p:grpSpPr>
            <a:xfrm>
              <a:off x="4448093" y="1673533"/>
              <a:ext cx="7052714" cy="4494512"/>
              <a:chOff x="4724403" y="1680192"/>
              <a:chExt cx="7052714" cy="4494512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A0F266BE-F979-3EEC-5CE5-F57B9B04DD2C}"/>
                  </a:ext>
                </a:extLst>
              </p:cNvPr>
              <p:cNvGrpSpPr/>
              <p:nvPr/>
            </p:nvGrpSpPr>
            <p:grpSpPr>
              <a:xfrm>
                <a:off x="4854800" y="1794968"/>
                <a:ext cx="6791920" cy="4264961"/>
                <a:chOff x="4876800" y="1909743"/>
                <a:chExt cx="6791920" cy="4264961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99DE3DA7-1D2F-5A69-FFB8-EE4934DF6F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72152" y="2838814"/>
                  <a:ext cx="4601217" cy="1038370"/>
                </a:xfrm>
                <a:prstGeom prst="rect">
                  <a:avLst/>
                </a:prstGeom>
              </p:spPr>
            </p:pic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CF4B79F0-8342-8920-2DA2-7E769D21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76800" y="2524502"/>
                  <a:ext cx="6791920" cy="265310"/>
                </a:xfrm>
                <a:prstGeom prst="rect">
                  <a:avLst/>
                </a:prstGeom>
              </p:spPr>
            </p:pic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6A166002-E68A-ACC8-644A-8362792CB7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410627" y="1909743"/>
                  <a:ext cx="1724266" cy="276264"/>
                </a:xfrm>
                <a:prstGeom prst="rect">
                  <a:avLst/>
                </a:prstGeom>
              </p:spPr>
            </p:pic>
            <p:pic>
              <p:nvPicPr>
                <p:cNvPr id="17" name="Picture 16">
                  <a:extLst>
                    <a:ext uri="{FF2B5EF4-FFF2-40B4-BE49-F238E27FC236}">
                      <a16:creationId xmlns:a16="http://schemas.microsoft.com/office/drawing/2014/main" id="{ED0C7652-89DA-1832-380B-8627107DC3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00923" y="3885402"/>
                  <a:ext cx="924054" cy="352474"/>
                </a:xfrm>
                <a:prstGeom prst="rect">
                  <a:avLst/>
                </a:prstGeom>
              </p:spPr>
            </p:pic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D855AE2A-CBA8-FA31-CD84-99CD1670A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00923" y="4246094"/>
                  <a:ext cx="2362530" cy="362001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403361BB-0E86-A331-D01B-12D613E7C0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00923" y="4616313"/>
                  <a:ext cx="924054" cy="438211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39A9467D-DF05-0D98-4C78-BC92ED04C0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00923" y="5062742"/>
                  <a:ext cx="876422" cy="333422"/>
                </a:xfrm>
                <a:prstGeom prst="rect">
                  <a:avLst/>
                </a:prstGeom>
              </p:spPr>
            </p:pic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43EAFB44-ACC9-ED78-BC0B-90D26FB390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00923" y="5404382"/>
                  <a:ext cx="1124107" cy="419158"/>
                </a:xfrm>
                <a:prstGeom prst="rect">
                  <a:avLst/>
                </a:prstGeom>
              </p:spPr>
            </p:pic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B7952E93-9EEC-FBDF-3ABA-FDDEBD330A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00923" y="5831756"/>
                  <a:ext cx="819264" cy="342948"/>
                </a:xfrm>
                <a:prstGeom prst="rect">
                  <a:avLst/>
                </a:prstGeom>
              </p:spPr>
            </p:pic>
          </p:grp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6A894C8E-93F4-6691-C036-8FD44B63E827}"/>
                  </a:ext>
                </a:extLst>
              </p:cNvPr>
              <p:cNvSpPr/>
              <p:nvPr/>
            </p:nvSpPr>
            <p:spPr>
              <a:xfrm>
                <a:off x="4724403" y="1680192"/>
                <a:ext cx="7052714" cy="4494512"/>
              </a:xfrm>
              <a:prstGeom prst="roundRect">
                <a:avLst/>
              </a:prstGeom>
              <a:noFill/>
              <a:ln w="76200"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</p:grpSp>
        <p:sp>
          <p:nvSpPr>
            <p:cNvPr id="36" name="Isosceles Triangle 35">
              <a:extLst>
                <a:ext uri="{FF2B5EF4-FFF2-40B4-BE49-F238E27FC236}">
                  <a16:creationId xmlns:a16="http://schemas.microsoft.com/office/drawing/2014/main" id="{00CFBC45-3382-1964-2D6B-74576251FBDC}"/>
                </a:ext>
              </a:extLst>
            </p:cNvPr>
            <p:cNvSpPr/>
            <p:nvPr/>
          </p:nvSpPr>
          <p:spPr>
            <a:xfrm rot="5400000">
              <a:off x="3600376" y="3807175"/>
              <a:ext cx="1022219" cy="227230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29093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7AB125-9803-618F-11B9-6EDB0BB11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>
                <a:cs typeface="Arial"/>
              </a:rPr>
              <a:t>Decoupled approach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endParaRPr lang="en-US">
              <a:cs typeface="Arial"/>
            </a:endParaRP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en-US">
                <a:cs typeface="Arial"/>
              </a:rPr>
              <a:t>The </a:t>
            </a:r>
            <a:r>
              <a:rPr lang="en-US" b="1">
                <a:cs typeface="Arial"/>
              </a:rPr>
              <a:t>simpler </a:t>
            </a:r>
            <a:r>
              <a:rPr lang="en-US">
                <a:cs typeface="Arial"/>
              </a:rPr>
              <a:t>the dynamics in</a:t>
            </a:r>
            <a:r>
              <a:rPr lang="en-US">
                <a:ea typeface="+mn-lt"/>
                <a:cs typeface="+mn-lt"/>
              </a:rPr>
              <a:t> MILP - the </a:t>
            </a:r>
            <a:r>
              <a:rPr lang="en-US" b="1">
                <a:ea typeface="+mn-lt"/>
                <a:cs typeface="+mn-lt"/>
              </a:rPr>
              <a:t>higher</a:t>
            </a:r>
            <a:r>
              <a:rPr lang="en-US">
                <a:ea typeface="+mn-lt"/>
                <a:cs typeface="+mn-lt"/>
              </a:rPr>
              <a:t> the approximation error</a:t>
            </a:r>
          </a:p>
          <a:p>
            <a:pPr marL="285750" indent="-285750">
              <a:lnSpc>
                <a:spcPct val="113999"/>
              </a:lnSpc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Approximation error 2 trains, one switch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412D8B-1E5E-5DF6-D167-F54210F26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58</a:t>
            </a:fld>
            <a:endParaRPr lang="de-D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B3D86E7-4090-21AC-C3B8-E72F3334653E}"/>
              </a:ext>
            </a:extLst>
          </p:cNvPr>
          <p:cNvSpPr/>
          <p:nvPr/>
        </p:nvSpPr>
        <p:spPr>
          <a:xfrm>
            <a:off x="2444277" y="2256952"/>
            <a:ext cx="3146926" cy="8328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b="1">
                <a:solidFill>
                  <a:schemeClr val="tx1"/>
                </a:solidFill>
                <a:cs typeface="Arial"/>
              </a:rPr>
              <a:t>(MILP) </a:t>
            </a:r>
            <a:r>
              <a:rPr lang="de-DE" sz="1400" b="1" err="1">
                <a:solidFill>
                  <a:schemeClr val="tx1"/>
                </a:solidFill>
                <a:cs typeface="Arial"/>
              </a:rPr>
              <a:t>Compute</a:t>
            </a:r>
            <a:r>
              <a:rPr lang="de-DE" sz="1400" b="1">
                <a:solidFill>
                  <a:schemeClr val="tx1"/>
                </a:solidFill>
                <a:cs typeface="Arial"/>
              </a:rPr>
              <a:t> </a:t>
            </a:r>
            <a:r>
              <a:rPr lang="de-DE" sz="1400" b="1" err="1">
                <a:solidFill>
                  <a:schemeClr val="tx1"/>
                </a:solidFill>
                <a:cs typeface="Arial"/>
              </a:rPr>
              <a:t>routes</a:t>
            </a:r>
            <a:r>
              <a:rPr lang="de-DE" sz="1400" b="1">
                <a:solidFill>
                  <a:schemeClr val="tx1"/>
                </a:solidFill>
                <a:cs typeface="Arial"/>
              </a:rPr>
              <a:t> and </a:t>
            </a:r>
            <a:r>
              <a:rPr lang="de-DE" sz="1400" b="1">
                <a:solidFill>
                  <a:schemeClr val="tx1"/>
                </a:solidFill>
                <a:ea typeface="+mn-lt"/>
                <a:cs typeface="+mn-lt"/>
              </a:rPr>
              <a:t>track </a:t>
            </a:r>
            <a:r>
              <a:rPr lang="de-DE" sz="1400" b="1" err="1">
                <a:solidFill>
                  <a:schemeClr val="tx1"/>
                </a:solidFill>
                <a:ea typeface="+mn-lt"/>
                <a:cs typeface="+mn-lt"/>
              </a:rPr>
              <a:t>occupancy</a:t>
            </a:r>
            <a:r>
              <a:rPr lang="de-DE" sz="1400" b="1">
                <a:solidFill>
                  <a:schemeClr val="tx1"/>
                </a:solidFill>
                <a:ea typeface="+mn-lt"/>
                <a:cs typeface="+mn-lt"/>
              </a:rPr>
              <a:t> </a:t>
            </a:r>
            <a:r>
              <a:rPr lang="de-DE" sz="1400" b="1" err="1">
                <a:solidFill>
                  <a:schemeClr val="tx1"/>
                </a:solidFill>
                <a:cs typeface="Arial"/>
              </a:rPr>
              <a:t>using</a:t>
            </a:r>
            <a:endParaRPr lang="de-DE" sz="1400" b="1">
              <a:solidFill>
                <a:schemeClr val="tx1"/>
              </a:solidFill>
              <a:cs typeface="Arial"/>
            </a:endParaRPr>
          </a:p>
          <a:p>
            <a:pPr algn="ctr"/>
            <a:r>
              <a:rPr lang="de-DE" sz="1400" b="1" err="1">
                <a:solidFill>
                  <a:schemeClr val="accent5">
                    <a:lumMod val="75000"/>
                    <a:lumOff val="25000"/>
                  </a:schemeClr>
                </a:solidFill>
                <a:cs typeface="Arial"/>
              </a:rPr>
              <a:t>simplified</a:t>
            </a:r>
            <a:r>
              <a:rPr lang="de-DE" sz="1400" b="1">
                <a:solidFill>
                  <a:schemeClr val="accent5">
                    <a:lumMod val="75000"/>
                    <a:lumOff val="25000"/>
                  </a:schemeClr>
                </a:solidFill>
                <a:cs typeface="Arial"/>
              </a:rPr>
              <a:t> </a:t>
            </a:r>
            <a:r>
              <a:rPr lang="de-DE" sz="1400" b="1" err="1">
                <a:solidFill>
                  <a:schemeClr val="accent5">
                    <a:lumMod val="75000"/>
                    <a:lumOff val="25000"/>
                  </a:schemeClr>
                </a:solidFill>
                <a:cs typeface="Arial"/>
              </a:rPr>
              <a:t>dynamics</a:t>
            </a:r>
            <a:endParaRPr lang="de-DE" sz="1400" b="1">
              <a:solidFill>
                <a:schemeClr val="accent5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9829E47-A082-0644-5F03-29EE82A2A4C1}"/>
              </a:ext>
            </a:extLst>
          </p:cNvPr>
          <p:cNvSpPr/>
          <p:nvPr/>
        </p:nvSpPr>
        <p:spPr>
          <a:xfrm>
            <a:off x="7107444" y="2256275"/>
            <a:ext cx="1983516" cy="832879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400" b="1">
                <a:solidFill>
                  <a:schemeClr val="tx1"/>
                </a:solidFill>
                <a:cs typeface="Arial"/>
              </a:rPr>
              <a:t>(OCP) </a:t>
            </a:r>
            <a:r>
              <a:rPr lang="de-DE" sz="1400" b="1" err="1">
                <a:solidFill>
                  <a:schemeClr val="tx1"/>
                </a:solidFill>
                <a:cs typeface="Arial"/>
              </a:rPr>
              <a:t>Compute</a:t>
            </a:r>
            <a:r>
              <a:rPr lang="de-DE" sz="1400" b="1">
                <a:solidFill>
                  <a:schemeClr val="tx1"/>
                </a:solidFill>
                <a:cs typeface="Arial"/>
              </a:rPr>
              <a:t> optimal </a:t>
            </a:r>
            <a:r>
              <a:rPr lang="de-DE" sz="1400" b="1" err="1">
                <a:solidFill>
                  <a:schemeClr val="tx1"/>
                </a:solidFill>
                <a:cs typeface="Arial"/>
              </a:rPr>
              <a:t>trajectories</a:t>
            </a:r>
            <a:endParaRPr lang="de-DE" sz="1400" b="1">
              <a:solidFill>
                <a:schemeClr val="tx1"/>
              </a:solidFill>
              <a:cs typeface="Arial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D553EC-2C5F-106E-3308-3420F2FE0106}"/>
              </a:ext>
            </a:extLst>
          </p:cNvPr>
          <p:cNvCxnSpPr>
            <a:cxnSpLocks/>
          </p:cNvCxnSpPr>
          <p:nvPr/>
        </p:nvCxnSpPr>
        <p:spPr>
          <a:xfrm flipV="1">
            <a:off x="5769429" y="2665167"/>
            <a:ext cx="1167042" cy="7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FECAF3F-AD81-D311-0209-78672A68CC36}"/>
              </a:ext>
            </a:extLst>
          </p:cNvPr>
          <p:cNvGrpSpPr/>
          <p:nvPr/>
        </p:nvGrpSpPr>
        <p:grpSpPr>
          <a:xfrm>
            <a:off x="3760119" y="4216871"/>
            <a:ext cx="4682820" cy="1223816"/>
            <a:chOff x="2568628" y="4208559"/>
            <a:chExt cx="4682820" cy="122381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7702DA9-7F40-957B-8BF0-5BEC22B88304}"/>
                </a:ext>
              </a:extLst>
            </p:cNvPr>
            <p:cNvGrpSpPr/>
            <p:nvPr/>
          </p:nvGrpSpPr>
          <p:grpSpPr>
            <a:xfrm>
              <a:off x="2568628" y="4208559"/>
              <a:ext cx="4522108" cy="1223816"/>
              <a:chOff x="1596043" y="4216867"/>
              <a:chExt cx="6168045" cy="1672701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BDB06288-99BF-29A9-A8C3-6563D581C6F7}"/>
                  </a:ext>
                </a:extLst>
              </p:cNvPr>
              <p:cNvSpPr/>
              <p:nvPr/>
            </p:nvSpPr>
            <p:spPr>
              <a:xfrm>
                <a:off x="3075709" y="5723313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6531D51-8AE3-4D1D-C453-5BA4C0C02E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183" y="4511061"/>
                <a:ext cx="2623517" cy="60597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Graphic 35" descr="Toy Train with solid fill">
                <a:extLst>
                  <a:ext uri="{FF2B5EF4-FFF2-40B4-BE49-F238E27FC236}">
                    <a16:creationId xmlns:a16="http://schemas.microsoft.com/office/drawing/2014/main" id="{D3D73929-9A07-8958-2289-F639BB3B2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660000">
                <a:off x="1966653" y="4216867"/>
                <a:ext cx="403552" cy="403552"/>
              </a:xfrm>
              <a:prstGeom prst="rect">
                <a:avLst/>
              </a:prstGeom>
            </p:spPr>
          </p:pic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AAED61D-BFAF-4318-52B2-011CCA939C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7549" y="5197191"/>
                <a:ext cx="1153946" cy="5793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04A618B-B5E4-8E03-8E52-409F685908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5357" y="5141230"/>
                <a:ext cx="2837829" cy="282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6709825-CFCE-811B-5748-83C9267C4AA3}"/>
                  </a:ext>
                </a:extLst>
              </p:cNvPr>
              <p:cNvSpPr/>
              <p:nvPr/>
            </p:nvSpPr>
            <p:spPr>
              <a:xfrm>
                <a:off x="4488873" y="5074920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D94ACA7-985E-8428-05B9-F1D80427BA9C}"/>
                  </a:ext>
                </a:extLst>
              </p:cNvPr>
              <p:cNvSpPr/>
              <p:nvPr/>
            </p:nvSpPr>
            <p:spPr>
              <a:xfrm>
                <a:off x="1596043" y="4418214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A3718F6-6129-0394-F8EF-90A793A3EDB7}"/>
                  </a:ext>
                </a:extLst>
              </p:cNvPr>
              <p:cNvSpPr/>
              <p:nvPr/>
            </p:nvSpPr>
            <p:spPr>
              <a:xfrm>
                <a:off x="7597833" y="5041669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pic>
            <p:nvPicPr>
              <p:cNvPr id="42" name="Graphic 41" descr="Toy Train with solid fill">
                <a:extLst>
                  <a:ext uri="{FF2B5EF4-FFF2-40B4-BE49-F238E27FC236}">
                    <a16:creationId xmlns:a16="http://schemas.microsoft.com/office/drawing/2014/main" id="{AF54BC20-66AE-7605-D6BC-CF5F2FE42D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 rot="20040000">
                <a:off x="3147060" y="5314147"/>
                <a:ext cx="403552" cy="403552"/>
              </a:xfrm>
              <a:prstGeom prst="rect">
                <a:avLst/>
              </a:prstGeom>
            </p:spPr>
          </p:pic>
        </p:grpSp>
        <p:pic>
          <p:nvPicPr>
            <p:cNvPr id="33" name="Picture 28">
              <a:extLst>
                <a:ext uri="{FF2B5EF4-FFF2-40B4-BE49-F238E27FC236}">
                  <a16:creationId xmlns:a16="http://schemas.microsoft.com/office/drawing/2014/main" id="{01713E78-CA68-D8A9-BA42-C6F4BA2BC4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5825" t="625" r="16945" b="15625"/>
            <a:stretch/>
          </p:blipFill>
          <p:spPr>
            <a:xfrm>
              <a:off x="6924848" y="4364874"/>
              <a:ext cx="326600" cy="421439"/>
            </a:xfrm>
            <a:prstGeom prst="rect">
              <a:avLst/>
            </a:prstGeom>
          </p:spPr>
        </p:pic>
      </p:grp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9A9CF07-8C63-8CF8-D553-CF13E97AF6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9641352-C3BC-A69C-CB0E-2DBFC7AB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Moving Trains in decoupled approach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7754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283FBB-3800-5CFF-20A9-34C7C7BF29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59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071DEA-ABF5-EA73-3E3C-DE6FD8C4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093" y="994334"/>
            <a:ext cx="8508999" cy="820738"/>
          </a:xfrm>
          <a:prstGeom prst="rect">
            <a:avLst/>
          </a:prstGeom>
        </p:spPr>
        <p:txBody>
          <a:bodyPr/>
          <a:lstStyle/>
          <a:p>
            <a:r>
              <a:rPr lang="en-US">
                <a:cs typeface="Arial"/>
              </a:rPr>
              <a:t>Approximation Error Example</a:t>
            </a:r>
            <a:br>
              <a:rPr lang="en-US">
                <a:cs typeface="Arial"/>
              </a:rPr>
            </a:b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09AD59-1687-3276-1B77-EC3A181DA35B}"/>
              </a:ext>
            </a:extLst>
          </p:cNvPr>
          <p:cNvSpPr txBox="1"/>
          <p:nvPr/>
        </p:nvSpPr>
        <p:spPr>
          <a:xfrm>
            <a:off x="2213811" y="2039966"/>
            <a:ext cx="1794261" cy="751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3999"/>
              </a:lnSpc>
            </a:pPr>
            <a:r>
              <a:rPr lang="en-US" sz="160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lang="en-US" sz="1600">
                <a:latin typeface="Arial"/>
                <a:cs typeface="Arial"/>
              </a:rPr>
              <a:t> train</a:t>
            </a:r>
            <a:endParaRPr lang="en-US" sz="1600"/>
          </a:p>
          <a:p>
            <a:pPr marL="171450" indent="-171450">
              <a:lnSpc>
                <a:spcPct val="113999"/>
              </a:lnSpc>
              <a:buFont typeface="Arial"/>
              <a:buChar char="•"/>
            </a:pPr>
            <a:r>
              <a:rPr lang="en-US" sz="1400">
                <a:latin typeface="+mn-lt"/>
                <a:cs typeface="Arial"/>
              </a:rPr>
              <a:t>max speed 40 m/s</a:t>
            </a:r>
            <a:endParaRPr lang="en-US" sz="1400"/>
          </a:p>
          <a:p>
            <a:pPr marL="171450" indent="-171450">
              <a:lnSpc>
                <a:spcPct val="113999"/>
              </a:lnSpc>
              <a:buFont typeface="Arial"/>
              <a:buChar char="•"/>
            </a:pPr>
            <a:r>
              <a:rPr lang="en-DE" sz="1400">
                <a:latin typeface="+mn-lt"/>
                <a:cs typeface="Arial"/>
              </a:rPr>
              <a:t>lightweight</a:t>
            </a:r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38D2EE-ECC0-D823-85AB-FD5978C7F1CD}"/>
              </a:ext>
            </a:extLst>
          </p:cNvPr>
          <p:cNvSpPr txBox="1"/>
          <p:nvPr/>
        </p:nvSpPr>
        <p:spPr>
          <a:xfrm>
            <a:off x="2213811" y="3177048"/>
            <a:ext cx="2141073" cy="751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3999"/>
              </a:lnSpc>
            </a:pPr>
            <a:r>
              <a:rPr lang="en-DE" sz="1600">
                <a:solidFill>
                  <a:schemeClr val="bg2"/>
                </a:solidFill>
                <a:latin typeface="+mn-lt"/>
                <a:cs typeface="Arial"/>
              </a:rPr>
              <a:t>Blue</a:t>
            </a:r>
            <a:r>
              <a:rPr lang="en-DE" sz="1600">
                <a:latin typeface="+mn-lt"/>
                <a:cs typeface="Arial"/>
              </a:rPr>
              <a:t> train</a:t>
            </a:r>
            <a:endParaRPr lang="en-US" sz="1600"/>
          </a:p>
          <a:p>
            <a:pPr marL="171450" indent="-171450">
              <a:lnSpc>
                <a:spcPct val="113999"/>
              </a:lnSpc>
              <a:buFont typeface="Arial"/>
              <a:buChar char="•"/>
            </a:pPr>
            <a:r>
              <a:rPr lang="en-DE" sz="1400">
                <a:latin typeface="+mn-lt"/>
                <a:cs typeface="Arial"/>
              </a:rPr>
              <a:t>max speed same as red</a:t>
            </a:r>
            <a:endParaRPr lang="en-US" sz="1400"/>
          </a:p>
          <a:p>
            <a:pPr marL="171450" indent="-171450">
              <a:lnSpc>
                <a:spcPct val="113999"/>
              </a:lnSpc>
              <a:buFont typeface="Arial"/>
              <a:buChar char="•"/>
            </a:pPr>
            <a:r>
              <a:rPr lang="en-US" sz="1400">
                <a:latin typeface="Arial"/>
                <a:cs typeface="Arial"/>
              </a:rPr>
              <a:t>heavyweight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D46E8B0-D74D-CA14-61E4-8F3580EA0E60}"/>
              </a:ext>
            </a:extLst>
          </p:cNvPr>
          <p:cNvGrpSpPr/>
          <p:nvPr/>
        </p:nvGrpSpPr>
        <p:grpSpPr>
          <a:xfrm>
            <a:off x="4045647" y="2163628"/>
            <a:ext cx="4682820" cy="1223816"/>
            <a:chOff x="2568628" y="4208559"/>
            <a:chExt cx="4682820" cy="1223816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DBFC485-FC4A-1CC2-0F2D-7F5700E9A5A3}"/>
                </a:ext>
              </a:extLst>
            </p:cNvPr>
            <p:cNvGrpSpPr/>
            <p:nvPr/>
          </p:nvGrpSpPr>
          <p:grpSpPr>
            <a:xfrm>
              <a:off x="2568628" y="4208559"/>
              <a:ext cx="4522108" cy="1223816"/>
              <a:chOff x="1596043" y="4216867"/>
              <a:chExt cx="6168045" cy="1672701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3FEB5AA-DD82-B78A-699E-7F4BBADC343D}"/>
                  </a:ext>
                </a:extLst>
              </p:cNvPr>
              <p:cNvSpPr/>
              <p:nvPr/>
            </p:nvSpPr>
            <p:spPr>
              <a:xfrm>
                <a:off x="3075709" y="5723313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A6C9A4E-28F3-6870-83AE-740D551887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183" y="4511061"/>
                <a:ext cx="2623517" cy="60597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" name="Graphic 27" descr="Toy Train with solid fill">
                <a:extLst>
                  <a:ext uri="{FF2B5EF4-FFF2-40B4-BE49-F238E27FC236}">
                    <a16:creationId xmlns:a16="http://schemas.microsoft.com/office/drawing/2014/main" id="{5158E141-B396-38EA-19B2-5B12643C94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660000">
                <a:off x="1966653" y="4216867"/>
                <a:ext cx="403552" cy="403552"/>
              </a:xfrm>
              <a:prstGeom prst="rect">
                <a:avLst/>
              </a:prstGeom>
            </p:spPr>
          </p:pic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EF051AE6-05B7-522F-62A1-058DCB95F7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7549" y="5197191"/>
                <a:ext cx="1153946" cy="5793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81DB13F-BE2C-F792-62FD-356983F578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5357" y="5141230"/>
                <a:ext cx="2837829" cy="282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13641A5C-8D74-4936-1399-D4745853A61E}"/>
                  </a:ext>
                </a:extLst>
              </p:cNvPr>
              <p:cNvSpPr/>
              <p:nvPr/>
            </p:nvSpPr>
            <p:spPr>
              <a:xfrm>
                <a:off x="4488873" y="5074920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061CE841-E0E4-54B2-983F-4A699A8F44E7}"/>
                  </a:ext>
                </a:extLst>
              </p:cNvPr>
              <p:cNvSpPr/>
              <p:nvPr/>
            </p:nvSpPr>
            <p:spPr>
              <a:xfrm>
                <a:off x="1596043" y="4418214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E3B5695-5A44-4803-DF4B-6569B89F0077}"/>
                  </a:ext>
                </a:extLst>
              </p:cNvPr>
              <p:cNvSpPr/>
              <p:nvPr/>
            </p:nvSpPr>
            <p:spPr>
              <a:xfrm>
                <a:off x="7597833" y="5041669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pic>
            <p:nvPicPr>
              <p:cNvPr id="34" name="Graphic 33" descr="Toy Train with solid fill">
                <a:extLst>
                  <a:ext uri="{FF2B5EF4-FFF2-40B4-BE49-F238E27FC236}">
                    <a16:creationId xmlns:a16="http://schemas.microsoft.com/office/drawing/2014/main" id="{BC2EEC1F-1910-53A8-91C7-2B1E120540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 rot="20040000">
                <a:off x="3147060" y="5314147"/>
                <a:ext cx="403552" cy="403552"/>
              </a:xfrm>
              <a:prstGeom prst="rect">
                <a:avLst/>
              </a:prstGeom>
            </p:spPr>
          </p:pic>
        </p:grpSp>
        <p:pic>
          <p:nvPicPr>
            <p:cNvPr id="25" name="Picture 28">
              <a:extLst>
                <a:ext uri="{FF2B5EF4-FFF2-40B4-BE49-F238E27FC236}">
                  <a16:creationId xmlns:a16="http://schemas.microsoft.com/office/drawing/2014/main" id="{853D213B-D1CE-0ED7-B86F-0281FC7F39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5825" t="625" r="16945" b="15625"/>
            <a:stretch/>
          </p:blipFill>
          <p:spPr>
            <a:xfrm>
              <a:off x="6924848" y="4364874"/>
              <a:ext cx="326600" cy="421439"/>
            </a:xfrm>
            <a:prstGeom prst="rect">
              <a:avLst/>
            </a:prstGeom>
          </p:spPr>
        </p:pic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C09F579-122E-1E1B-0A83-38CE23A6E833}"/>
              </a:ext>
            </a:extLst>
          </p:cNvPr>
          <p:cNvSpPr txBox="1"/>
          <p:nvPr/>
        </p:nvSpPr>
        <p:spPr>
          <a:xfrm>
            <a:off x="8980018" y="2605231"/>
            <a:ext cx="1370990" cy="5379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3999"/>
              </a:lnSpc>
            </a:pPr>
            <a:r>
              <a:rPr lang="en-US" sz="1600">
                <a:latin typeface="Arial"/>
                <a:cs typeface="Arial"/>
              </a:rPr>
              <a:t>Minimize sum of delays here</a:t>
            </a:r>
            <a:endParaRPr lang="en-US" sz="160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7411E8E-902A-7E90-7F43-D83DD278BAF9}"/>
              </a:ext>
            </a:extLst>
          </p:cNvPr>
          <p:cNvSpPr/>
          <p:nvPr/>
        </p:nvSpPr>
        <p:spPr>
          <a:xfrm>
            <a:off x="4165841" y="5222632"/>
            <a:ext cx="3861301" cy="5604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1600">
                <a:solidFill>
                  <a:schemeClr val="tx1"/>
                </a:solidFill>
                <a:cs typeface="Arial"/>
              </a:rPr>
              <a:t>Optimal: </a:t>
            </a:r>
            <a:r>
              <a:rPr lang="de-DE" sz="1600" err="1">
                <a:solidFill>
                  <a:srgbClr val="FF0000"/>
                </a:solidFill>
                <a:cs typeface="Arial"/>
              </a:rPr>
              <a:t>Red</a:t>
            </a:r>
            <a:r>
              <a:rPr lang="de-DE" sz="1600">
                <a:solidFill>
                  <a:srgbClr val="FF0000"/>
                </a:solidFill>
                <a:cs typeface="Arial"/>
              </a:rPr>
              <a:t> </a:t>
            </a:r>
            <a:r>
              <a:rPr lang="de-DE" sz="1600" err="1">
                <a:solidFill>
                  <a:schemeClr val="tx1"/>
                </a:solidFill>
                <a:cs typeface="Arial"/>
              </a:rPr>
              <a:t>before</a:t>
            </a:r>
            <a:r>
              <a:rPr lang="de-DE" sz="1600">
                <a:solidFill>
                  <a:schemeClr val="bg1"/>
                </a:solidFill>
                <a:cs typeface="Arial"/>
              </a:rPr>
              <a:t> </a:t>
            </a:r>
            <a:r>
              <a:rPr lang="de-DE" sz="1600">
                <a:solidFill>
                  <a:schemeClr val="bg2"/>
                </a:solidFill>
                <a:cs typeface="Arial"/>
              </a:rPr>
              <a:t>Blue </a:t>
            </a:r>
            <a:r>
              <a:rPr lang="de-DE" sz="1600">
                <a:solidFill>
                  <a:schemeClr val="tx1"/>
                </a:solidFill>
                <a:cs typeface="Arial"/>
              </a:rPr>
              <a:t>Train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5C0983E8-0E26-2EDF-8872-AD30F7D7100A}"/>
              </a:ext>
            </a:extLst>
          </p:cNvPr>
          <p:cNvSpPr/>
          <p:nvPr/>
        </p:nvSpPr>
        <p:spPr>
          <a:xfrm>
            <a:off x="3833332" y="4175227"/>
            <a:ext cx="4534631" cy="56043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>
                <a:solidFill>
                  <a:schemeClr val="tx1"/>
                </a:solidFill>
                <a:cs typeface="Arial"/>
              </a:rPr>
              <a:t>Which train enters the common segment first?</a:t>
            </a:r>
            <a:endParaRPr lang="de-DE" sz="1600">
              <a:solidFill>
                <a:schemeClr val="tx1"/>
              </a:solidFill>
              <a:cs typeface="Arial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5A8A376-BBC2-2EA9-2CF7-1CF35A32E0BB}"/>
              </a:ext>
            </a:extLst>
          </p:cNvPr>
          <p:cNvCxnSpPr>
            <a:cxnSpLocks/>
          </p:cNvCxnSpPr>
          <p:nvPr/>
        </p:nvCxnSpPr>
        <p:spPr>
          <a:xfrm>
            <a:off x="6101940" y="4816925"/>
            <a:ext cx="3261" cy="342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6DEF135-256C-C3D8-0F21-4677DE4B7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356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37" grpId="0"/>
      <p:bldP spid="45" grpId="0" animBg="1"/>
      <p:bldP spid="4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34CA21-B903-BE17-3DF1-F8EA20909F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60</a:t>
            </a:fld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B3108D-5F89-51A5-1EBA-224FACE8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3209" y="994337"/>
            <a:ext cx="6538883" cy="410369"/>
          </a:xfrm>
          <a:prstGeom prst="rect">
            <a:avLst/>
          </a:prstGeom>
        </p:spPr>
        <p:txBody>
          <a:bodyPr/>
          <a:lstStyle/>
          <a:p>
            <a:r>
              <a:rPr lang="en-US">
                <a:cs typeface="Arial"/>
              </a:rPr>
              <a:t>Spectrum of 'simplified dynamics'</a:t>
            </a:r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4A585C7-20FD-2F11-E13F-BA0DC00E2974}"/>
              </a:ext>
            </a:extLst>
          </p:cNvPr>
          <p:cNvGrpSpPr/>
          <p:nvPr/>
        </p:nvGrpSpPr>
        <p:grpSpPr>
          <a:xfrm>
            <a:off x="2014415" y="991534"/>
            <a:ext cx="1607112" cy="400857"/>
            <a:chOff x="2568628" y="4208559"/>
            <a:chExt cx="4682820" cy="122381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914F4DA-0D0D-EA09-53C6-3A476042737F}"/>
                </a:ext>
              </a:extLst>
            </p:cNvPr>
            <p:cNvGrpSpPr/>
            <p:nvPr/>
          </p:nvGrpSpPr>
          <p:grpSpPr>
            <a:xfrm>
              <a:off x="2568628" y="4208559"/>
              <a:ext cx="4522108" cy="1223816"/>
              <a:chOff x="1596043" y="4216867"/>
              <a:chExt cx="6168045" cy="1672701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2333E61F-4233-F937-550D-CA492F569F04}"/>
                  </a:ext>
                </a:extLst>
              </p:cNvPr>
              <p:cNvSpPr/>
              <p:nvPr/>
            </p:nvSpPr>
            <p:spPr>
              <a:xfrm>
                <a:off x="3075709" y="5723313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CF9F14C-248A-3C63-A6F5-6C57F80C31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98183" y="4511061"/>
                <a:ext cx="2623517" cy="60597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4" name="Graphic 23" descr="Toy Train with solid fill">
                <a:extLst>
                  <a:ext uri="{FF2B5EF4-FFF2-40B4-BE49-F238E27FC236}">
                    <a16:creationId xmlns:a16="http://schemas.microsoft.com/office/drawing/2014/main" id="{CAC51383-D3C1-4FD7-F27B-91DD80DEED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 rot="660000">
                <a:off x="1966653" y="4216867"/>
                <a:ext cx="403552" cy="403552"/>
              </a:xfrm>
              <a:prstGeom prst="rect">
                <a:avLst/>
              </a:prstGeom>
            </p:spPr>
          </p:pic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4453431B-AEB3-003C-392F-E330B93152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57549" y="5197191"/>
                <a:ext cx="1153946" cy="57933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3F145EAF-0FBF-689A-8764-D7359C3936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15357" y="5141230"/>
                <a:ext cx="2837829" cy="2824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C94A809-C2AD-1F47-25C3-4C40766EE3AB}"/>
                  </a:ext>
                </a:extLst>
              </p:cNvPr>
              <p:cNvSpPr/>
              <p:nvPr/>
            </p:nvSpPr>
            <p:spPr>
              <a:xfrm>
                <a:off x="4488873" y="5074920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978662EB-3E57-57B3-E3F1-0162DA567810}"/>
                  </a:ext>
                </a:extLst>
              </p:cNvPr>
              <p:cNvSpPr/>
              <p:nvPr/>
            </p:nvSpPr>
            <p:spPr>
              <a:xfrm>
                <a:off x="1596043" y="4418214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3F2F0A0-B1FE-6419-AF81-8DBF1078E7FB}"/>
                  </a:ext>
                </a:extLst>
              </p:cNvPr>
              <p:cNvSpPr/>
              <p:nvPr/>
            </p:nvSpPr>
            <p:spPr>
              <a:xfrm>
                <a:off x="7597833" y="5041669"/>
                <a:ext cx="166255" cy="166255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/>
              </a:p>
            </p:txBody>
          </p:sp>
          <p:pic>
            <p:nvPicPr>
              <p:cNvPr id="30" name="Graphic 29" descr="Toy Train with solid fill">
                <a:extLst>
                  <a:ext uri="{FF2B5EF4-FFF2-40B4-BE49-F238E27FC236}">
                    <a16:creationId xmlns:a16="http://schemas.microsoft.com/office/drawing/2014/main" id="{3B361618-C119-2743-39D3-23CAEB47B0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 rot="20040000">
                <a:off x="3147060" y="5314147"/>
                <a:ext cx="403552" cy="403552"/>
              </a:xfrm>
              <a:prstGeom prst="rect">
                <a:avLst/>
              </a:prstGeom>
            </p:spPr>
          </p:pic>
        </p:grpSp>
        <p:pic>
          <p:nvPicPr>
            <p:cNvPr id="21" name="Picture 28">
              <a:extLst>
                <a:ext uri="{FF2B5EF4-FFF2-40B4-BE49-F238E27FC236}">
                  <a16:creationId xmlns:a16="http://schemas.microsoft.com/office/drawing/2014/main" id="{D3BE9ECE-B72B-4B5D-F6AD-D27784AD715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5825" t="625" r="16945" b="15625"/>
            <a:stretch/>
          </p:blipFill>
          <p:spPr>
            <a:xfrm>
              <a:off x="6924848" y="4364874"/>
              <a:ext cx="326600" cy="421439"/>
            </a:xfrm>
            <a:prstGeom prst="rect">
              <a:avLst/>
            </a:prstGeom>
          </p:spPr>
        </p:pic>
      </p:grp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CDDF0E46-62B1-30E0-ACB1-6A973C6A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8851" y="2152887"/>
            <a:ext cx="7727602" cy="291208"/>
          </a:xfrm>
        </p:spPr>
        <p:txBody>
          <a:bodyPr/>
          <a:lstStyle/>
          <a:p>
            <a:r>
              <a:rPr lang="en-US">
                <a:cs typeface="Arial"/>
              </a:rPr>
              <a:t>No dynamics: arbitrary speed changes from segment to segment </a:t>
            </a:r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B833630-5B04-4E1A-6235-C454A6C3FD7D}"/>
              </a:ext>
            </a:extLst>
          </p:cNvPr>
          <p:cNvCxnSpPr/>
          <p:nvPr/>
        </p:nvCxnSpPr>
        <p:spPr>
          <a:xfrm>
            <a:off x="2205644" y="3819698"/>
            <a:ext cx="6808124" cy="831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midterm-no-dynamics">
            <a:hlinkClick r:id="" action="ppaction://media"/>
            <a:extLst>
              <a:ext uri="{FF2B5EF4-FFF2-40B4-BE49-F238E27FC236}">
                <a16:creationId xmlns:a16="http://schemas.microsoft.com/office/drawing/2014/main" id="{C4CDC813-951D-B556-3A92-208D3D81ED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2205647" y="2526466"/>
            <a:ext cx="4646813" cy="1181619"/>
          </a:xfrm>
          <a:prstGeom prst="rect">
            <a:avLst/>
          </a:prstGeom>
        </p:spPr>
      </p:pic>
      <p:pic>
        <p:nvPicPr>
          <p:cNvPr id="39" name="Picture 39" descr="Chart, shape, line chart&#10;&#10;Description automatically generated">
            <a:extLst>
              <a:ext uri="{FF2B5EF4-FFF2-40B4-BE49-F238E27FC236}">
                <a16:creationId xmlns:a16="http://schemas.microsoft.com/office/drawing/2014/main" id="{A3B98BB0-19E7-D1B2-04FA-00DE73022A8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02087" y="2526423"/>
            <a:ext cx="1911928" cy="1289773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2E73217-517A-EDD9-113E-861350148C80}"/>
              </a:ext>
            </a:extLst>
          </p:cNvPr>
          <p:cNvCxnSpPr>
            <a:cxnSpLocks/>
          </p:cNvCxnSpPr>
          <p:nvPr/>
        </p:nvCxnSpPr>
        <p:spPr>
          <a:xfrm>
            <a:off x="2205644" y="4310149"/>
            <a:ext cx="6808124" cy="4156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710A287C-01C6-A5B0-7821-0A8C2B089D5C}"/>
              </a:ext>
            </a:extLst>
          </p:cNvPr>
          <p:cNvSpPr/>
          <p:nvPr/>
        </p:nvSpPr>
        <p:spPr>
          <a:xfrm>
            <a:off x="6038944" y="3930260"/>
            <a:ext cx="63701" cy="71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FE96C58-8488-47D9-863D-9260A2C874E9}"/>
              </a:ext>
            </a:extLst>
          </p:cNvPr>
          <p:cNvSpPr/>
          <p:nvPr/>
        </p:nvSpPr>
        <p:spPr>
          <a:xfrm>
            <a:off x="6038944" y="4063263"/>
            <a:ext cx="63701" cy="71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61006AE-897D-8921-D8BF-996ECB2CC8C7}"/>
              </a:ext>
            </a:extLst>
          </p:cNvPr>
          <p:cNvSpPr/>
          <p:nvPr/>
        </p:nvSpPr>
        <p:spPr>
          <a:xfrm>
            <a:off x="6038943" y="4204579"/>
            <a:ext cx="63701" cy="717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/>
          </a:p>
        </p:txBody>
      </p:sp>
      <p:sp>
        <p:nvSpPr>
          <p:cNvPr id="53" name="Content Placeholder 35">
            <a:extLst>
              <a:ext uri="{FF2B5EF4-FFF2-40B4-BE49-F238E27FC236}">
                <a16:creationId xmlns:a16="http://schemas.microsoft.com/office/drawing/2014/main" id="{606A992B-3C35-0470-6515-D8EF489F35FF}"/>
              </a:ext>
            </a:extLst>
          </p:cNvPr>
          <p:cNvSpPr txBox="1">
            <a:spLocks/>
          </p:cNvSpPr>
          <p:nvPr/>
        </p:nvSpPr>
        <p:spPr>
          <a:xfrm>
            <a:off x="2203312" y="4400094"/>
            <a:ext cx="6655261" cy="291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Arial"/>
              </a:rPr>
              <a:t>PWL-approximated dynamics: controlled speed changes on subsegments</a:t>
            </a:r>
            <a:endParaRPr lang="en-US"/>
          </a:p>
        </p:txBody>
      </p:sp>
      <p:pic>
        <p:nvPicPr>
          <p:cNvPr id="54" name="midterm-pwl-dynamics">
            <a:hlinkClick r:id="" action="ppaction://media"/>
            <a:extLst>
              <a:ext uri="{FF2B5EF4-FFF2-40B4-BE49-F238E27FC236}">
                <a16:creationId xmlns:a16="http://schemas.microsoft.com/office/drawing/2014/main" id="{B00AFBD0-C6BF-CA72-E5E5-1F211F18258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2205644" y="4745962"/>
            <a:ext cx="4646814" cy="1173306"/>
          </a:xfrm>
          <a:prstGeom prst="rect">
            <a:avLst/>
          </a:prstGeom>
        </p:spPr>
      </p:pic>
      <p:pic>
        <p:nvPicPr>
          <p:cNvPr id="55" name="Picture 55" descr="Chart&#10;&#10;Description automatically generated">
            <a:extLst>
              <a:ext uri="{FF2B5EF4-FFF2-40B4-BE49-F238E27FC236}">
                <a16:creationId xmlns:a16="http://schemas.microsoft.com/office/drawing/2014/main" id="{E8DA6A7E-A438-87B4-93C4-F3BCC9216F3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02091" y="4745918"/>
            <a:ext cx="1911927" cy="1306398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1FA18BA-42D7-DB66-E24E-463448A23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05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3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2734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1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video>
              <p:cMediaNode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54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83032-F01F-019F-88EB-7D6DD99DA7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61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9BAA07-C781-D12F-9423-46530ED4E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1" y="772664"/>
            <a:ext cx="11345332" cy="410369"/>
          </a:xfrm>
        </p:spPr>
        <p:txBody>
          <a:bodyPr/>
          <a:lstStyle/>
          <a:p>
            <a:r>
              <a:rPr lang="de-DE"/>
              <a:t>Segment-</a:t>
            </a:r>
            <a:r>
              <a:rPr lang="de-DE" err="1"/>
              <a:t>based</a:t>
            </a:r>
            <a:r>
              <a:rPr lang="de-DE"/>
              <a:t> Ansatz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6D215-C7CF-11C2-8F9B-027F52A689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E75F37D-3CAD-D051-50F0-E92B606B493F}"/>
              </a:ext>
            </a:extLst>
          </p:cNvPr>
          <p:cNvGrpSpPr/>
          <p:nvPr/>
        </p:nvGrpSpPr>
        <p:grpSpPr>
          <a:xfrm>
            <a:off x="9633343" y="391131"/>
            <a:ext cx="2133206" cy="1013550"/>
            <a:chOff x="1278259" y="3243351"/>
            <a:chExt cx="2360806" cy="112169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3401B8A-73B7-536E-D5E4-7C0755642D5A}"/>
                </a:ext>
              </a:extLst>
            </p:cNvPr>
            <p:cNvGrpSpPr/>
            <p:nvPr/>
          </p:nvGrpSpPr>
          <p:grpSpPr>
            <a:xfrm>
              <a:off x="1278259" y="3243351"/>
              <a:ext cx="687363" cy="494702"/>
              <a:chOff x="2190750" y="2862203"/>
              <a:chExt cx="586201" cy="421895"/>
            </a:xfrm>
          </p:grpSpPr>
          <p:pic>
            <p:nvPicPr>
              <p:cNvPr id="31" name="Graphic 30" descr="Toy Train with solid fill">
                <a:extLst>
                  <a:ext uri="{FF2B5EF4-FFF2-40B4-BE49-F238E27FC236}">
                    <a16:creationId xmlns:a16="http://schemas.microsoft.com/office/drawing/2014/main" id="{023B07C2-D73B-BFE0-21E1-BB9E5019A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/>
            </p:blipFill>
            <p:spPr>
              <a:xfrm>
                <a:off x="2355056" y="2862203"/>
                <a:ext cx="421895" cy="421895"/>
              </a:xfrm>
              <a:prstGeom prst="rect">
                <a:avLst/>
              </a:prstGeom>
            </p:spPr>
          </p:pic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3651F1D-0353-DDB4-EC77-34DF2D82513D}"/>
                  </a:ext>
                </a:extLst>
              </p:cNvPr>
              <p:cNvCxnSpPr/>
              <p:nvPr/>
            </p:nvCxnSpPr>
            <p:spPr>
              <a:xfrm flipH="1">
                <a:off x="2225516" y="3042285"/>
                <a:ext cx="12954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90E5329E-2C62-34CB-4C4E-B42FEFDBBD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90750" y="3073151"/>
                <a:ext cx="13096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D3DC210-E8EC-7040-9890-8232A1452B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24088" y="3116535"/>
                <a:ext cx="130968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F1E7004-C9C9-5D9D-E436-BFE353569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0454" y="3243351"/>
              <a:ext cx="1583872" cy="983219"/>
            </a:xfrm>
            <a:prstGeom prst="line">
              <a:avLst/>
            </a:prstGeom>
            <a:ln w="12700">
              <a:prstDash val="lg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E130CFA-8803-C7EC-D13F-45E71CD35CCC}"/>
                </a:ext>
              </a:extLst>
            </p:cNvPr>
            <p:cNvGrpSpPr/>
            <p:nvPr/>
          </p:nvGrpSpPr>
          <p:grpSpPr>
            <a:xfrm>
              <a:off x="2426305" y="3644089"/>
              <a:ext cx="1212760" cy="720952"/>
              <a:chOff x="2426305" y="3644089"/>
              <a:chExt cx="1212760" cy="720952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7CB4415-3242-0AF8-5DEE-2650B68088DD}"/>
                  </a:ext>
                </a:extLst>
              </p:cNvPr>
              <p:cNvGrpSpPr/>
              <p:nvPr/>
            </p:nvGrpSpPr>
            <p:grpSpPr>
              <a:xfrm>
                <a:off x="2432072" y="3645360"/>
                <a:ext cx="1206941" cy="719681"/>
                <a:chOff x="22727142" y="7778047"/>
                <a:chExt cx="4840213" cy="2886136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A990F2E4-BD06-200A-F30B-6244F413EE4A}"/>
                    </a:ext>
                  </a:extLst>
                </p:cNvPr>
                <p:cNvSpPr/>
                <p:nvPr/>
              </p:nvSpPr>
              <p:spPr>
                <a:xfrm>
                  <a:off x="23142160" y="8737399"/>
                  <a:ext cx="310417" cy="31041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8E309AB-9348-D669-8EF1-7BABE81048C6}"/>
                    </a:ext>
                  </a:extLst>
                </p:cNvPr>
                <p:cNvSpPr/>
                <p:nvPr/>
              </p:nvSpPr>
              <p:spPr>
                <a:xfrm>
                  <a:off x="23142159" y="10353766"/>
                  <a:ext cx="310417" cy="31041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21C789C0-7498-41E1-2CBD-CABD61DF8157}"/>
                    </a:ext>
                  </a:extLst>
                </p:cNvPr>
                <p:cNvSpPr/>
                <p:nvPr/>
              </p:nvSpPr>
              <p:spPr>
                <a:xfrm>
                  <a:off x="25979555" y="9480007"/>
                  <a:ext cx="310417" cy="31041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F40133F-613A-4AC7-4420-17AF0E6ECA1F}"/>
                    </a:ext>
                  </a:extLst>
                </p:cNvPr>
                <p:cNvSpPr/>
                <p:nvPr/>
              </p:nvSpPr>
              <p:spPr>
                <a:xfrm>
                  <a:off x="24587457" y="9464080"/>
                  <a:ext cx="310417" cy="31041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9E38659A-580E-60BB-27A3-7C94B65F5774}"/>
                    </a:ext>
                  </a:extLst>
                </p:cNvPr>
                <p:cNvSpPr/>
                <p:nvPr/>
              </p:nvSpPr>
              <p:spPr>
                <a:xfrm>
                  <a:off x="26785099" y="8125146"/>
                  <a:ext cx="310417" cy="31041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DE"/>
                </a:p>
              </p:txBody>
            </p: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139538C0-E24F-9341-566B-6C4B9724A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64731" y="9033264"/>
                  <a:ext cx="935368" cy="484340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680F67C6-D76F-9669-4D82-3242DEA03D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3564731" y="9790421"/>
                  <a:ext cx="935368" cy="568877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22BF4A78-7F07-EA70-7ABE-AFF562F69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078627" y="9634049"/>
                  <a:ext cx="705601" cy="0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5224891-D1A4-2312-B68A-D7CEA35BE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4989012" y="8425297"/>
                  <a:ext cx="1661911" cy="1038784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A5FDA1D1-F2F5-E505-4671-288980B65A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6253151" y="8557300"/>
                  <a:ext cx="552165" cy="822042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413921E1-8FEB-2519-E3C8-5C9683946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727142" y="8618051"/>
                  <a:ext cx="320609" cy="162424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532402FB-C973-C18F-E599-3B94093700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161078" y="7778047"/>
                  <a:ext cx="406277" cy="304447"/>
                </a:xfrm>
                <a:prstGeom prst="lin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85A2EDB-9DC0-6723-71BA-01CD20F72834}"/>
                  </a:ext>
                </a:extLst>
              </p:cNvPr>
              <p:cNvGrpSpPr/>
              <p:nvPr/>
            </p:nvGrpSpPr>
            <p:grpSpPr>
              <a:xfrm>
                <a:off x="2426305" y="3644089"/>
                <a:ext cx="1212760" cy="442005"/>
                <a:chOff x="2426305" y="3644089"/>
                <a:chExt cx="1212760" cy="442005"/>
              </a:xfrm>
            </p:grpSpPr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C473A77E-0816-881F-95A3-7A0A2D14C9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32924" y="3954438"/>
                  <a:ext cx="245762" cy="131656"/>
                </a:xfrm>
                <a:prstGeom prst="line">
                  <a:avLst/>
                </a:prstGeom>
                <a:ln w="57150">
                  <a:solidFill>
                    <a:schemeClr val="tx2">
                      <a:lumMod val="50000"/>
                      <a:lumOff val="50000"/>
                      <a:alpha val="39772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C368B1D8-4AA6-A6B1-50D9-A57729A454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990807" y="3806806"/>
                  <a:ext cx="419641" cy="262169"/>
                </a:xfrm>
                <a:prstGeom prst="line">
                  <a:avLst/>
                </a:prstGeom>
                <a:ln w="57150">
                  <a:solidFill>
                    <a:schemeClr val="tx2">
                      <a:lumMod val="50000"/>
                      <a:lumOff val="50000"/>
                      <a:alpha val="39772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49052D7-D44A-0337-955F-05C7D76B9E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530631" y="3644089"/>
                  <a:ext cx="108434" cy="83963"/>
                </a:xfrm>
                <a:prstGeom prst="line">
                  <a:avLst/>
                </a:prstGeom>
                <a:ln w="57150">
                  <a:solidFill>
                    <a:schemeClr val="tx2">
                      <a:lumMod val="50000"/>
                      <a:lumOff val="50000"/>
                      <a:alpha val="39772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A9BB8FB-2082-06B1-5F95-9B88FDCDD8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426305" y="3854871"/>
                  <a:ext cx="95715" cy="50281"/>
                </a:xfrm>
                <a:prstGeom prst="line">
                  <a:avLst/>
                </a:prstGeom>
                <a:ln w="57150">
                  <a:solidFill>
                    <a:schemeClr val="tx2">
                      <a:lumMod val="50000"/>
                      <a:lumOff val="50000"/>
                      <a:alpha val="39772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A2246DD-2EC7-EDD2-A553-5F859379EBA0}"/>
                  </a:ext>
                </a:extLst>
              </p:cNvPr>
              <p:cNvSpPr/>
              <p:nvPr/>
            </p:nvSpPr>
            <p:spPr>
              <a:xfrm>
                <a:off x="425451" y="1554233"/>
                <a:ext cx="8394851" cy="4727297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>
                    <a:solidFill>
                      <a:schemeClr val="tx1"/>
                    </a:solidFill>
                  </a:rPr>
                  <a:t>Binary </a:t>
                </a:r>
                <a:r>
                  <a:rPr lang="de-DE" sz="2000" err="1">
                    <a:solidFill>
                      <a:schemeClr val="tx1"/>
                    </a:solidFill>
                  </a:rPr>
                  <a:t>decision</a:t>
                </a:r>
                <a:r>
                  <a:rPr lang="de-DE" sz="2000">
                    <a:solidFill>
                      <a:schemeClr val="tx1"/>
                    </a:solidFill>
                  </a:rPr>
                  <a:t> variables</a:t>
                </a:r>
              </a:p>
              <a:p>
                <a:pPr marL="285750" indent="-28575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de-DE" err="1">
                    <a:solidFill>
                      <a:schemeClr val="tx1"/>
                    </a:solidFill>
                  </a:rPr>
                  <a:t>Routes</a:t>
                </a:r>
                <a:r>
                  <a:rPr lang="de-DE">
                    <a:solidFill>
                      <a:schemeClr val="tx1"/>
                    </a:solidFill>
                  </a:rPr>
                  <a:t> (</a:t>
                </a:r>
                <a:r>
                  <a:rPr lang="de-DE" err="1">
                    <a:solidFill>
                      <a:schemeClr val="tx1"/>
                    </a:solidFill>
                  </a:rPr>
                  <a:t>sequence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of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segments</a:t>
                </a:r>
                <a:r>
                  <a:rPr lang="de-DE">
                    <a:solidFill>
                      <a:schemeClr val="tx1"/>
                    </a:solidFill>
                  </a:rPr>
                  <a:t>) </a:t>
                </a:r>
                <a:r>
                  <a:rPr lang="de-DE" err="1">
                    <a:solidFill>
                      <a:schemeClr val="tx1"/>
                    </a:solidFill>
                  </a:rPr>
                  <a:t>for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each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train</a:t>
                </a:r>
                <a:r>
                  <a:rPr lang="de-DE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e>
                      <m:sub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t</m:t>
                        </m:r>
                      </m:sup>
                    </m:sSubSup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de-DE">
                    <a:solidFill>
                      <a:schemeClr val="tx1"/>
                    </a:solidFill>
                  </a:rPr>
                  <a:t>)</a:t>
                </a:r>
              </a:p>
              <a:p>
                <a:pPr marL="285750" indent="-28575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de-DE">
                    <a:solidFill>
                      <a:schemeClr val="tx1"/>
                    </a:solidFill>
                  </a:rPr>
                  <a:t>Train </a:t>
                </a:r>
                <a:r>
                  <a:rPr lang="de-DE" err="1">
                    <a:solidFill>
                      <a:schemeClr val="tx1"/>
                    </a:solidFill>
                  </a:rPr>
                  <a:t>order</a:t>
                </a:r>
                <a:r>
                  <a:rPr lang="de-DE">
                    <a:solidFill>
                      <a:schemeClr val="tx1"/>
                    </a:solidFill>
                  </a:rPr>
                  <a:t> on </a:t>
                </a:r>
                <a:r>
                  <a:rPr lang="de-DE" err="1">
                    <a:solidFill>
                      <a:schemeClr val="tx1"/>
                    </a:solidFill>
                  </a:rPr>
                  <a:t>segments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for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each</a:t>
                </a:r>
                <a:r>
                  <a:rPr lang="de-DE">
                    <a:solidFill>
                      <a:schemeClr val="tx1"/>
                    </a:solidFill>
                  </a:rPr>
                  <a:t> pair </a:t>
                </a:r>
                <a:r>
                  <a:rPr lang="de-DE" err="1">
                    <a:solidFill>
                      <a:schemeClr val="tx1"/>
                    </a:solidFill>
                  </a:rPr>
                  <a:t>of</a:t>
                </a:r>
                <a:r>
                  <a:rPr lang="de-DE">
                    <a:solidFill>
                      <a:schemeClr val="tx1"/>
                    </a:solidFill>
                  </a:rPr>
                  <a:t> </a:t>
                </a:r>
                <a:r>
                  <a:rPr lang="de-DE" err="1">
                    <a:solidFill>
                      <a:schemeClr val="tx1"/>
                    </a:solidFill>
                  </a:rPr>
                  <a:t>trains</a:t>
                </a:r>
                <a:r>
                  <a:rPr lang="de-DE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Y</m:t>
                        </m:r>
                      </m:e>
                      <m:sub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tt</m:t>
                        </m:r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′</m:t>
                        </m:r>
                      </m:sup>
                    </m:sSubSup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∈{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de-DE">
                    <a:solidFill>
                      <a:schemeClr val="tx1"/>
                    </a:solidFill>
                  </a:rPr>
                  <a:t>)</a:t>
                </a:r>
              </a:p>
              <a:p>
                <a:pPr marL="285750" indent="-28575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de-DE">
                    <a:solidFill>
                      <a:schemeClr val="tx1"/>
                    </a:solidFill>
                  </a:rPr>
                  <a:t>…</a:t>
                </a:r>
              </a:p>
              <a:p>
                <a:pPr>
                  <a:lnSpc>
                    <a:spcPct val="114000"/>
                  </a:lnSpc>
                </a:pPr>
                <a:endParaRPr lang="de-DE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:r>
                  <a:rPr lang="de-DE" sz="2000" err="1">
                    <a:solidFill>
                      <a:schemeClr val="tx1"/>
                    </a:solidFill>
                  </a:rPr>
                  <a:t>Continuous</a:t>
                </a:r>
                <a:r>
                  <a:rPr lang="de-DE" sz="2000">
                    <a:solidFill>
                      <a:schemeClr val="tx1"/>
                    </a:solidFill>
                  </a:rPr>
                  <a:t> </a:t>
                </a:r>
                <a:r>
                  <a:rPr lang="de-DE" sz="2000" err="1">
                    <a:solidFill>
                      <a:schemeClr val="tx1"/>
                    </a:solidFill>
                  </a:rPr>
                  <a:t>decision</a:t>
                </a:r>
                <a:r>
                  <a:rPr lang="de-DE" sz="2000">
                    <a:solidFill>
                      <a:schemeClr val="tx1"/>
                    </a:solidFill>
                  </a:rPr>
                  <a:t> variables</a:t>
                </a:r>
              </a:p>
              <a:p>
                <a:pPr marL="285750" indent="-28575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chemeClr val="tx1"/>
                    </a:solidFill>
                  </a:rPr>
                  <a:t>Segment occupation intervals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t</m:t>
                        </m:r>
                      </m:sup>
                    </m:sSubSup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DE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s</m:t>
                        </m:r>
                      </m:sub>
                      <m:sup>
                        <m:r>
                          <m:rPr>
                            <m:nor/>
                          </m:rPr>
                          <a:rPr lang="de-DE" i="1">
                            <a:solidFill>
                              <a:schemeClr val="tx1"/>
                            </a:solidFill>
                          </a:rPr>
                          <m:t>t</m:t>
                        </m:r>
                      </m:sup>
                    </m:sSubSup>
                    <m:r>
                      <a:rPr lang="de-DE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]⊆</m:t>
                    </m:r>
                    <m:sSub>
                      <m:sSubPr>
                        <m:ctrlPr>
                          <a:rPr lang="de-DE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de-DE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endParaRPr lang="en-US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14000"/>
                  </a:lnSpc>
                  <a:buFont typeface="Arial" panose="020B0604020202020204" pitchFamily="34" charset="0"/>
                  <a:buChar char="•"/>
                </a:pPr>
                <a:r>
                  <a:rPr lang="de-DE">
                    <a:solidFill>
                      <a:schemeClr val="tx1"/>
                    </a:solidFill>
                  </a:rPr>
                  <a:t>…</a:t>
                </a:r>
              </a:p>
              <a:p>
                <a:pPr>
                  <a:lnSpc>
                    <a:spcPct val="114000"/>
                  </a:lnSpc>
                </a:pPr>
                <a:endParaRPr lang="de-DE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:r>
                  <a:rPr lang="en-US" sz="2000">
                    <a:solidFill>
                      <a:schemeClr val="tx1"/>
                    </a:solidFill>
                  </a:rPr>
                  <a:t>Segment occupation for segment s</a:t>
                </a:r>
                <a:br>
                  <a:rPr lang="en-US" sz="1400">
                    <a:solidFill>
                      <a:schemeClr val="tx1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β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≥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α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+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W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+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f>
                        <m:f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de-DE" b="0" i="0" dirty="0" smtClean="0">
                              <a:solidFill>
                                <a:schemeClr val="tx1"/>
                              </a:solidFill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de-DE" b="0" i="0" dirty="0" smtClean="0">
                              <a:solidFill>
                                <a:schemeClr val="tx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de-DE" b="0" i="0" dirty="0" smtClean="0">
                              <a:solidFill>
                                <a:schemeClr val="tx1"/>
                              </a:solidFill>
                            </a:rPr>
                            <m:t>s</m:t>
                          </m:r>
                          <m:r>
                            <m:rPr>
                              <m:nor/>
                            </m:rPr>
                            <a:rPr lang="de-DE" b="0" i="0" dirty="0" smtClean="0">
                              <a:solidFill>
                                <a:schemeClr val="tx1"/>
                              </a:solidFill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 lang="en-US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chemeClr val="tx1"/>
                                  </a:solidFill>
                                </a:rPr>
                                <m:t>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chemeClr val="tx1"/>
                                  </a:solidFill>
                                </a:rPr>
                                <m:t>t</m:t>
                              </m:r>
                            </m:sub>
                            <m:sup>
                              <m:r>
                                <m:rPr>
                                  <m:nor/>
                                </m:rPr>
                                <a:rPr lang="de-DE" b="0" i="1" dirty="0" smtClean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 dirty="0">
                                  <a:solidFill>
                                    <a:schemeClr val="tx1"/>
                                  </a:solidFill>
                                </a:rPr>
                                <m:t>m</m:t>
                              </m:r>
                              <m:r>
                                <m:rPr>
                                  <m:nor/>
                                </m:rPr>
                                <a:rPr lang="de-DE" i="1" dirty="0">
                                  <a:solidFill>
                                    <a:schemeClr val="tx1"/>
                                  </a:solidFill>
                                </a:rPr>
                                <m:t>ax</m:t>
                              </m:r>
                            </m:sup>
                          </m:sSubSup>
                        </m:den>
                      </m:f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⋅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S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  </m:t>
                      </m:r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∀</m:t>
                      </m:r>
                      <m:r>
                        <m:rPr>
                          <m:nor/>
                        </m:rPr>
                        <a:rPr lang="de-DE" b="0" i="1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t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α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≥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β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de-DE" b="0" i="1" dirty="0" smtClean="0">
                              <a:solidFill>
                                <a:schemeClr val="tx1"/>
                              </a:solidFill>
                            </a:rPr>
                            <m:t>′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−</m:t>
                      </m:r>
                      <m:r>
                        <m:rPr>
                          <m:nor/>
                        </m:rPr>
                        <a:rPr lang="de-DE" b="0" i="1" dirty="0" smtClean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M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i="1" dirty="0">
                          <a:solidFill>
                            <a:schemeClr val="tx1"/>
                          </a:solidFill>
                        </a:rPr>
                        <m:t>⋅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dirty="0">
                              <a:solidFill>
                                <a:schemeClr val="tx1"/>
                              </a:solidFill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3</m:t>
                          </m:r>
                          <m:r>
                            <m:rPr>
                              <m:nor/>
                            </m:rPr>
                            <a:rPr lang="de-DE" b="0" i="1" dirty="0" smtClean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de-DE" b="0" i="1" dirty="0" smtClean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S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−</m:t>
                      </m:r>
                      <m:sSubSup>
                        <m:sSubSup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S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en-US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′</m:t>
                          </m:r>
                        </m:sup>
                      </m:sSubSup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−</m:t>
                      </m:r>
                      <m:sSubSup>
                        <m:sSubSupPr>
                          <m:ctrlPr>
                            <a:rPr lang="de-DE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Y</m:t>
                          </m:r>
                        </m:e>
                        <m:sub/>
                        <m:sup>
                          <m:r>
                            <m:rPr>
                              <m:nor/>
                            </m:rPr>
                            <a:rPr lang="de-DE" i="1" dirty="0">
                              <a:solidFill>
                                <a:schemeClr val="tx1"/>
                              </a:solidFill>
                            </a:rPr>
                            <m:t>t</m:t>
                          </m:r>
                          <m:sSup>
                            <m:sSupPr>
                              <m:ctrlPr>
                                <a:rPr lang="de-DE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de-DE" i="1" dirty="0">
                                  <a:solidFill>
                                    <a:schemeClr val="tx1"/>
                                  </a:solidFill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de-DE" b="0" i="1" dirty="0" smtClean="0">
                                  <a:solidFill>
                                    <a:schemeClr val="tx1"/>
                                  </a:solidFill>
                                </a:rPr>
                                <m:t>′</m:t>
                              </m:r>
                            </m:e>
                            <m:sup/>
                          </m:sSup>
                        </m:sup>
                      </m:sSubSup>
                      <m:r>
                        <m:rPr>
                          <m:nor/>
                        </m:rPr>
                        <a:rPr lang="de-DE" dirty="0">
                          <a:solidFill>
                            <a:schemeClr val="tx1"/>
                          </a:solidFill>
                        </a:rPr>
                        <m:t>)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  </m:t>
                      </m:r>
                      <m:r>
                        <m:rPr>
                          <m:nor/>
                        </m:rPr>
                        <a:rPr lang="de-DE" dirty="0">
                          <a:solidFill>
                            <a:schemeClr val="tx1"/>
                          </a:solidFill>
                        </a:rPr>
                        <m:t>∀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, 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t</m:t>
                      </m:r>
                      <m:r>
                        <m:rPr>
                          <m:nor/>
                        </m:rPr>
                        <a:rPr lang="de-DE" i="1" dirty="0">
                          <a:solidFill>
                            <a:schemeClr val="tx1"/>
                          </a:solidFill>
                        </a:rPr>
                        <m:t>′</m:t>
                      </m:r>
                    </m:oMath>
                  </m:oMathPara>
                </a14:m>
                <a:endParaRPr lang="en-US" i="1">
                  <a:solidFill>
                    <a:schemeClr val="tx1"/>
                  </a:solidFill>
                </a:endParaRPr>
              </a:p>
              <a:p>
                <a:pPr>
                  <a:lnSpc>
                    <a:spcPct val="114000"/>
                  </a:lnSpc>
                </a:pPr>
                <a:endParaRPr 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4A2246DD-2EC7-EDD2-A553-5F859379EB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51" y="1554233"/>
                <a:ext cx="8394851" cy="4727297"/>
              </a:xfrm>
              <a:prstGeom prst="rect">
                <a:avLst/>
              </a:prstGeom>
              <a:blipFill>
                <a:blip r:embed="rId4"/>
                <a:stretch>
                  <a:fillRect l="-799" t="-3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9282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1DAF96-E58F-E376-9A7D-BC9F5E8F4F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62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ABAEF5-E6E8-064F-6CC7-CBF7AC1C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Total Delay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266A-8CB0-1A98-DC4A-6F7FE082C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53FE45-4BD4-07AF-3B0F-BFFAEE3E4446}"/>
                  </a:ext>
                </a:extLst>
              </p:cNvPr>
              <p:cNvSpPr txBox="1"/>
              <p:nvPr/>
            </p:nvSpPr>
            <p:spPr>
              <a:xfrm>
                <a:off x="4570700" y="740154"/>
                <a:ext cx="3050600" cy="475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de-DE" sz="2000" i="1" smtClean="0"/>
                        <m:t>T</m:t>
                      </m:r>
                      <m:r>
                        <m:rPr>
                          <m:nor/>
                        </m:rPr>
                        <a:rPr lang="de-DE" sz="2000" i="1" smtClean="0"/>
                        <m:t>−</m:t>
                      </m:r>
                      <m:sSub>
                        <m:sSubPr>
                          <m:ctrlPr>
                            <a:rPr lang="de-D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de-DE" sz="2000" i="1"/>
                            <m:t>T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DE" sz="2000" i="1"/>
                            <m:t>plan</m:t>
                          </m:r>
                        </m:sub>
                      </m:sSub>
                    </m:oMath>
                  </m:oMathPara>
                </a14:m>
                <a:endParaRPr lang="de-DE" sz="200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53FE45-4BD4-07AF-3B0F-BFFAEE3E4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700" y="740154"/>
                <a:ext cx="3050600" cy="475387"/>
              </a:xfrm>
              <a:prstGeom prst="rect">
                <a:avLst/>
              </a:prstGeom>
              <a:blipFill>
                <a:blip r:embed="rId3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36FCD4B-90B8-E90F-30DA-1E4AF5000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658" y="1501200"/>
            <a:ext cx="10492684" cy="49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00094"/>
      </p:ext>
    </p:extLst>
  </p:cSld>
  <p:clrMapOvr>
    <a:masterClrMapping/>
  </p:clrMapOvr>
  <p:transition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98F5E1-A1B2-D19F-67A5-3457315DBD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63</a:t>
            </a:fld>
            <a:endParaRPr lang="de-DE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058E776-BCD6-7AE8-FD19-630387CD61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71C4299-610F-EEC8-7982-DCEEDD1A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Runtime</a:t>
            </a:r>
            <a:endParaRPr lang="de-DE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313583A-5061-5151-8C6E-821EA69D7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479" y="1501200"/>
            <a:ext cx="10383043" cy="49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002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55B222-8F66-83B2-9C4F-B14E35985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64</a:t>
            </a:fld>
            <a:endParaRPr lang="de-D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DA66B5-8A29-AE07-37F6-BE797DB5EBC9}"/>
              </a:ext>
            </a:extLst>
          </p:cNvPr>
          <p:cNvGrpSpPr/>
          <p:nvPr/>
        </p:nvGrpSpPr>
        <p:grpSpPr>
          <a:xfrm>
            <a:off x="414883" y="538802"/>
            <a:ext cx="11362234" cy="723644"/>
            <a:chOff x="317065" y="5310449"/>
            <a:chExt cx="11362234" cy="723644"/>
          </a:xfrm>
        </p:grpSpPr>
        <p:pic>
          <p:nvPicPr>
            <p:cNvPr id="10" name="Bild 2" descr="20150416 tum logo blau png final.png">
              <a:extLst>
                <a:ext uri="{FF2B5EF4-FFF2-40B4-BE49-F238E27FC236}">
                  <a16:creationId xmlns:a16="http://schemas.microsoft.com/office/drawing/2014/main" id="{3AAFEF2A-10A0-5ECF-E926-AA3E3D128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305295" y="5310449"/>
              <a:ext cx="1374004" cy="723644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D31BC4E-15DD-5787-70B7-700FB2513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7065" y="5394685"/>
              <a:ext cx="2332306" cy="555172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B2E90-73E0-3800-E7CC-029396256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pic>
        <p:nvPicPr>
          <p:cNvPr id="13" name="Video 12">
            <a:hlinkClick r:id="" action="ppaction://media"/>
            <a:extLst>
              <a:ext uri="{FF2B5EF4-FFF2-40B4-BE49-F238E27FC236}">
                <a16:creationId xmlns:a16="http://schemas.microsoft.com/office/drawing/2014/main" id="{C2978149-2F87-5DD2-5BB7-465166E8AEF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7"/>
          <a:srcRect t="15546" b="16923"/>
          <a:stretch/>
        </p:blipFill>
        <p:spPr>
          <a:xfrm>
            <a:off x="278130" y="1981112"/>
            <a:ext cx="11635740" cy="336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311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300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55B222-8F66-83B2-9C4F-B14E35985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65</a:t>
            </a:fld>
            <a:endParaRPr lang="de-D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DA66B5-8A29-AE07-37F6-BE797DB5EBC9}"/>
              </a:ext>
            </a:extLst>
          </p:cNvPr>
          <p:cNvGrpSpPr/>
          <p:nvPr/>
        </p:nvGrpSpPr>
        <p:grpSpPr>
          <a:xfrm>
            <a:off x="414883" y="538802"/>
            <a:ext cx="11362234" cy="723644"/>
            <a:chOff x="317065" y="5310449"/>
            <a:chExt cx="11362234" cy="723644"/>
          </a:xfrm>
        </p:grpSpPr>
        <p:pic>
          <p:nvPicPr>
            <p:cNvPr id="10" name="Bild 2" descr="20150416 tum logo blau png final.png">
              <a:extLst>
                <a:ext uri="{FF2B5EF4-FFF2-40B4-BE49-F238E27FC236}">
                  <a16:creationId xmlns:a16="http://schemas.microsoft.com/office/drawing/2014/main" id="{3AAFEF2A-10A0-5ECF-E926-AA3E3D128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305295" y="5310449"/>
              <a:ext cx="1374004" cy="723644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ED31BC4E-15DD-5787-70B7-700FB2513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7065" y="5394685"/>
              <a:ext cx="2332306" cy="555172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B2E90-73E0-3800-E7CC-029396256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pic>
        <p:nvPicPr>
          <p:cNvPr id="6" name="logo">
            <a:hlinkClick r:id="" action="ppaction://media"/>
            <a:extLst>
              <a:ext uri="{FF2B5EF4-FFF2-40B4-BE49-F238E27FC236}">
                <a16:creationId xmlns:a16="http://schemas.microsoft.com/office/drawing/2014/main" id="{EA661637-2770-1E6B-0177-EAD9F4757A0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6878" t="22621" r="5019" b="33552"/>
          <a:stretch/>
        </p:blipFill>
        <p:spPr>
          <a:xfrm>
            <a:off x="234705" y="1971000"/>
            <a:ext cx="11722590" cy="29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2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4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E6349-14D6-5AC8-46A4-F6DA195B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66</a:t>
            </a:fld>
            <a:endParaRPr lang="de-DE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464197F-AEE1-524C-B625-4423C82AC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4883" y="6473316"/>
            <a:ext cx="8619040" cy="365125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r>
              <a:rPr lang="de-DE"/>
              <a:t>Optimal Train Routing and Scheduling</a:t>
            </a:r>
            <a:endParaRPr lang="en-US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269817E2-15DF-CB16-5657-87C82D085F43}"/>
              </a:ext>
            </a:extLst>
          </p:cNvPr>
          <p:cNvSpPr/>
          <p:nvPr/>
        </p:nvSpPr>
        <p:spPr>
          <a:xfrm rot="16200000">
            <a:off x="4068699" y="3588331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8CD535E0-474A-FCEC-6AD6-EC81E55008CC}"/>
              </a:ext>
            </a:extLst>
          </p:cNvPr>
          <p:cNvSpPr/>
          <p:nvPr/>
        </p:nvSpPr>
        <p:spPr>
          <a:xfrm>
            <a:off x="6719627" y="3134226"/>
            <a:ext cx="1903963" cy="10454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3999"/>
              </a:lnSpc>
            </a:pPr>
            <a:r>
              <a:rPr lang="de-DE" sz="2000" err="1">
                <a:solidFill>
                  <a:schemeClr val="tx1"/>
                </a:solidFill>
              </a:rPr>
              <a:t>Combined</a:t>
            </a:r>
            <a:r>
              <a:rPr lang="de-DE" sz="2000">
                <a:solidFill>
                  <a:schemeClr val="tx1"/>
                </a:solidFill>
              </a:rPr>
              <a:t> Approach</a:t>
            </a:r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95E0A8A0-6048-C572-09A5-E165BC4DC341}"/>
              </a:ext>
            </a:extLst>
          </p:cNvPr>
          <p:cNvSpPr/>
          <p:nvPr/>
        </p:nvSpPr>
        <p:spPr>
          <a:xfrm rot="16200000">
            <a:off x="6340552" y="3581226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742579E8-1E6C-3B05-9EB3-2859524653C0}"/>
              </a:ext>
            </a:extLst>
          </p:cNvPr>
          <p:cNvSpPr/>
          <p:nvPr/>
        </p:nvSpPr>
        <p:spPr>
          <a:xfrm rot="16200000">
            <a:off x="8606202" y="3581226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26FD856-38B1-8749-A8D9-915763601DEF}"/>
              </a:ext>
            </a:extLst>
          </p:cNvPr>
          <p:cNvGrpSpPr/>
          <p:nvPr/>
        </p:nvGrpSpPr>
        <p:grpSpPr>
          <a:xfrm>
            <a:off x="1278642" y="2718415"/>
            <a:ext cx="2825451" cy="1753224"/>
            <a:chOff x="520575" y="4328312"/>
            <a:chExt cx="1753716" cy="1088201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A10C109-4BF3-AE45-77E1-8F3A6BC4FB1A}"/>
                </a:ext>
              </a:extLst>
            </p:cNvPr>
            <p:cNvGrpSpPr/>
            <p:nvPr/>
          </p:nvGrpSpPr>
          <p:grpSpPr>
            <a:xfrm>
              <a:off x="520575" y="4328312"/>
              <a:ext cx="1737853" cy="504001"/>
              <a:chOff x="304797" y="4176233"/>
              <a:chExt cx="1737853" cy="504001"/>
            </a:xfrm>
          </p:grpSpPr>
          <p:sp>
            <p:nvSpPr>
              <p:cNvPr id="59" name="Flowchart: Stored Data 58">
                <a:extLst>
                  <a:ext uri="{FF2B5EF4-FFF2-40B4-BE49-F238E27FC236}">
                    <a16:creationId xmlns:a16="http://schemas.microsoft.com/office/drawing/2014/main" id="{27B59229-FBA5-2DBE-13BF-AF7D89DF912C}"/>
                  </a:ext>
                </a:extLst>
              </p:cNvPr>
              <p:cNvSpPr/>
              <p:nvPr/>
            </p:nvSpPr>
            <p:spPr>
              <a:xfrm flipH="1">
                <a:off x="556797" y="4176233"/>
                <a:ext cx="1485853" cy="5040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3CAB2437-97D5-929E-C2A6-E0C9452C608C}"/>
                  </a:ext>
                </a:extLst>
              </p:cNvPr>
              <p:cNvGrpSpPr/>
              <p:nvPr/>
            </p:nvGrpSpPr>
            <p:grpSpPr>
              <a:xfrm>
                <a:off x="304797" y="4176234"/>
                <a:ext cx="504000" cy="504000"/>
                <a:chOff x="1851183" y="3079700"/>
                <a:chExt cx="495300" cy="495300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BD342AEB-5C00-E937-DBCF-6C0063630AF6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78" name="Graphic 77" descr="Document outline">
                  <a:extLst>
                    <a:ext uri="{FF2B5EF4-FFF2-40B4-BE49-F238E27FC236}">
                      <a16:creationId xmlns:a16="http://schemas.microsoft.com/office/drawing/2014/main" id="{F6FE098C-90AF-396F-CF52-49EB8D955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4E7BC74-9D35-B914-C48E-C26CAA085858}"/>
                  </a:ext>
                </a:extLst>
              </p:cNvPr>
              <p:cNvSpPr txBox="1"/>
              <p:nvPr/>
            </p:nvSpPr>
            <p:spPr>
              <a:xfrm>
                <a:off x="882252" y="4219549"/>
                <a:ext cx="1030572" cy="41736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Network, Schedule</a:t>
                </a:r>
                <a:endParaRPr lang="en-DE" sz="2000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22716794-D221-2D4E-AF17-69E3B5648628}"/>
                </a:ext>
              </a:extLst>
            </p:cNvPr>
            <p:cNvGrpSpPr/>
            <p:nvPr/>
          </p:nvGrpSpPr>
          <p:grpSpPr>
            <a:xfrm>
              <a:off x="520575" y="4912512"/>
              <a:ext cx="1753716" cy="504001"/>
              <a:chOff x="304797" y="4912512"/>
              <a:chExt cx="1753716" cy="504001"/>
            </a:xfrm>
          </p:grpSpPr>
          <p:sp>
            <p:nvSpPr>
              <p:cNvPr id="54" name="Flowchart: Stored Data 53">
                <a:extLst>
                  <a:ext uri="{FF2B5EF4-FFF2-40B4-BE49-F238E27FC236}">
                    <a16:creationId xmlns:a16="http://schemas.microsoft.com/office/drawing/2014/main" id="{1B64A252-91D6-F781-F5C5-13D8D8A205BE}"/>
                  </a:ext>
                </a:extLst>
              </p:cNvPr>
              <p:cNvSpPr/>
              <p:nvPr/>
            </p:nvSpPr>
            <p:spPr>
              <a:xfrm flipH="1">
                <a:off x="556797" y="4912512"/>
                <a:ext cx="1485853" cy="5040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4A9158C6-7C73-40B9-E055-64F671C437A3}"/>
                  </a:ext>
                </a:extLst>
              </p:cNvPr>
              <p:cNvGrpSpPr/>
              <p:nvPr/>
            </p:nvGrpSpPr>
            <p:grpSpPr>
              <a:xfrm>
                <a:off x="304797" y="4912513"/>
                <a:ext cx="504000" cy="504000"/>
                <a:chOff x="1851183" y="3079700"/>
                <a:chExt cx="495300" cy="495300"/>
              </a:xfrm>
            </p:grpSpPr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8CEE0C7-8053-FD13-CC77-3AF06FC8DD6C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58" name="Graphic 57" descr="Document outline">
                  <a:extLst>
                    <a:ext uri="{FF2B5EF4-FFF2-40B4-BE49-F238E27FC236}">
                      <a16:creationId xmlns:a16="http://schemas.microsoft.com/office/drawing/2014/main" id="{829F9F69-014B-F1E6-013C-8C523EECD2B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DBBE26-F5E4-3C60-54F2-23581BF572AB}"/>
                  </a:ext>
                </a:extLst>
              </p:cNvPr>
              <p:cNvSpPr txBox="1"/>
              <p:nvPr/>
            </p:nvSpPr>
            <p:spPr>
              <a:xfrm>
                <a:off x="866391" y="5061908"/>
                <a:ext cx="1192122" cy="1995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Trains</a:t>
                </a:r>
                <a:endParaRPr lang="en-DE" sz="2000"/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325351-CAFA-A4C3-A49A-7F0333AB4F25}"/>
              </a:ext>
            </a:extLst>
          </p:cNvPr>
          <p:cNvGrpSpPr/>
          <p:nvPr/>
        </p:nvGrpSpPr>
        <p:grpSpPr>
          <a:xfrm>
            <a:off x="9006028" y="3247059"/>
            <a:ext cx="2146421" cy="812004"/>
            <a:chOff x="2006006" y="3269604"/>
            <a:chExt cx="1332258" cy="504001"/>
          </a:xfrm>
        </p:grpSpPr>
        <p:sp>
          <p:nvSpPr>
            <p:cNvPr id="80" name="Flowchart: Stored Data 79">
              <a:extLst>
                <a:ext uri="{FF2B5EF4-FFF2-40B4-BE49-F238E27FC236}">
                  <a16:creationId xmlns:a16="http://schemas.microsoft.com/office/drawing/2014/main" id="{8CCDF226-5CA2-BBE7-D66E-087D5108CA93}"/>
                </a:ext>
              </a:extLst>
            </p:cNvPr>
            <p:cNvSpPr/>
            <p:nvPr/>
          </p:nvSpPr>
          <p:spPr>
            <a:xfrm flipH="1">
              <a:off x="2258005" y="3269604"/>
              <a:ext cx="1080259" cy="504000"/>
            </a:xfrm>
            <a:prstGeom prst="flowChartOnlineStorage">
              <a:avLst/>
            </a:prstGeom>
            <a:solidFill>
              <a:srgbClr val="7EC4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endParaRPr lang="en-DE" sz="2000">
                <a:solidFill>
                  <a:schemeClr val="tx1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B1446BD5-F8E0-CE4A-5781-29D1A826425F}"/>
                </a:ext>
              </a:extLst>
            </p:cNvPr>
            <p:cNvSpPr txBox="1"/>
            <p:nvPr/>
          </p:nvSpPr>
          <p:spPr>
            <a:xfrm>
              <a:off x="2583461" y="3425103"/>
              <a:ext cx="658495" cy="1947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2000"/>
                <a:t>Solution</a:t>
              </a:r>
              <a:endParaRPr lang="en-DE" sz="200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BBBDC96D-D0F4-304D-B852-E6A880D51B9A}"/>
                </a:ext>
              </a:extLst>
            </p:cNvPr>
            <p:cNvGrpSpPr/>
            <p:nvPr/>
          </p:nvGrpSpPr>
          <p:grpSpPr>
            <a:xfrm>
              <a:off x="2006006" y="3269605"/>
              <a:ext cx="504000" cy="504000"/>
              <a:chOff x="2006006" y="3269605"/>
              <a:chExt cx="504000" cy="504000"/>
            </a:xfrm>
          </p:grpSpPr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F01AA916-7CE9-BDF9-6A12-A99AA2BA8535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 sz="2000"/>
              </a:p>
            </p:txBody>
          </p:sp>
          <p:pic>
            <p:nvPicPr>
              <p:cNvPr id="84" name="Graphic 83" descr="Lights On outline">
                <a:extLst>
                  <a:ext uri="{FF2B5EF4-FFF2-40B4-BE49-F238E27FC236}">
                    <a16:creationId xmlns:a16="http://schemas.microsoft.com/office/drawing/2014/main" id="{1820969E-D32E-353B-C202-9B6037682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083315" y="3346914"/>
                <a:ext cx="349383" cy="349383"/>
              </a:xfrm>
              <a:prstGeom prst="rect">
                <a:avLst/>
              </a:prstGeom>
            </p:spPr>
          </p:pic>
        </p:grp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77B4A65-8ADA-0A1B-62A7-3A50C950EC20}"/>
              </a:ext>
            </a:extLst>
          </p:cNvPr>
          <p:cNvGrpSpPr/>
          <p:nvPr/>
        </p:nvGrpSpPr>
        <p:grpSpPr>
          <a:xfrm>
            <a:off x="4743045" y="4179648"/>
            <a:ext cx="5931389" cy="1650777"/>
            <a:chOff x="4731470" y="4577031"/>
            <a:chExt cx="5931389" cy="1650777"/>
          </a:xfrm>
        </p:grpSpPr>
        <p:sp>
          <p:nvSpPr>
            <p:cNvPr id="86" name="Rectangle: Rounded Corners 61">
              <a:extLst>
                <a:ext uri="{FF2B5EF4-FFF2-40B4-BE49-F238E27FC236}">
                  <a16:creationId xmlns:a16="http://schemas.microsoft.com/office/drawing/2014/main" id="{6C18B874-6E0A-74C8-9BBE-27B96A8822CA}"/>
                </a:ext>
              </a:extLst>
            </p:cNvPr>
            <p:cNvSpPr/>
            <p:nvPr/>
          </p:nvSpPr>
          <p:spPr>
            <a:xfrm>
              <a:off x="5054672" y="5063794"/>
              <a:ext cx="5161853" cy="321362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Route-</a:t>
              </a:r>
              <a:r>
                <a:rPr lang="de-DE" sz="2000" err="1">
                  <a:solidFill>
                    <a:schemeClr val="tx1"/>
                  </a:solidFill>
                </a:rPr>
                <a:t>based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ansatz</a:t>
              </a:r>
              <a:r>
                <a:rPr lang="de-DE" sz="2000">
                  <a:solidFill>
                    <a:schemeClr val="tx1"/>
                  </a:solidFill>
                </a:rPr>
                <a:t> (</a:t>
              </a:r>
              <a:r>
                <a:rPr lang="de-DE" sz="2000" err="1">
                  <a:solidFill>
                    <a:schemeClr val="tx1"/>
                  </a:solidFill>
                </a:rPr>
                <a:t>simplified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dynamics</a:t>
              </a:r>
              <a:r>
                <a:rPr lang="de-DE" sz="2000">
                  <a:solidFill>
                    <a:schemeClr val="tx1"/>
                  </a:solidFill>
                </a:rPr>
                <a:t>)</a:t>
              </a:r>
            </a:p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  <a:cs typeface="Arial"/>
                </a:rPr>
                <a:t>[</a:t>
              </a:r>
              <a:r>
                <a:rPr lang="de-DE" sz="2000" err="1">
                  <a:solidFill>
                    <a:schemeClr val="tx1"/>
                  </a:solidFill>
                  <a:cs typeface="Arial"/>
                </a:rPr>
                <a:t>Section</a:t>
              </a:r>
              <a:r>
                <a:rPr lang="de-DE" sz="2000">
                  <a:solidFill>
                    <a:schemeClr val="tx1"/>
                  </a:solidFill>
                  <a:cs typeface="Arial"/>
                </a:rPr>
                <a:t> 4.2]</a:t>
              </a:r>
            </a:p>
          </p:txBody>
        </p:sp>
        <p:sp>
          <p:nvSpPr>
            <p:cNvPr id="89" name="Rectangle: Rounded Corners 70">
              <a:extLst>
                <a:ext uri="{FF2B5EF4-FFF2-40B4-BE49-F238E27FC236}">
                  <a16:creationId xmlns:a16="http://schemas.microsoft.com/office/drawing/2014/main" id="{1E6F054A-77C1-EE68-60E2-3E037A1C1BD6}"/>
                </a:ext>
              </a:extLst>
            </p:cNvPr>
            <p:cNvSpPr/>
            <p:nvPr/>
          </p:nvSpPr>
          <p:spPr>
            <a:xfrm>
              <a:off x="5046427" y="5906446"/>
              <a:ext cx="5616432" cy="321362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de-DE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</a:rPr>
                <a:t>Segment-</a:t>
              </a:r>
              <a:r>
                <a:rPr lang="de-DE" sz="2000" err="1">
                  <a:solidFill>
                    <a:schemeClr val="tx1"/>
                  </a:solidFill>
                </a:rPr>
                <a:t>based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ansatz</a:t>
              </a:r>
              <a:r>
                <a:rPr lang="de-DE" sz="2000">
                  <a:solidFill>
                    <a:schemeClr val="tx1"/>
                  </a:solidFill>
                </a:rPr>
                <a:t> (</a:t>
              </a:r>
              <a:r>
                <a:rPr lang="de-DE" sz="2000" err="1">
                  <a:solidFill>
                    <a:schemeClr val="tx1"/>
                  </a:solidFill>
                </a:rPr>
                <a:t>no</a:t>
              </a:r>
              <a:r>
                <a:rPr lang="de-DE" sz="2000">
                  <a:solidFill>
                    <a:schemeClr val="tx1"/>
                  </a:solidFill>
                </a:rPr>
                <a:t> </a:t>
              </a:r>
              <a:r>
                <a:rPr lang="de-DE" sz="2000" err="1">
                  <a:solidFill>
                    <a:schemeClr val="tx1"/>
                  </a:solidFill>
                </a:rPr>
                <a:t>dynamics</a:t>
              </a:r>
              <a:r>
                <a:rPr lang="de-DE" sz="2000">
                  <a:solidFill>
                    <a:schemeClr val="tx1"/>
                  </a:solidFill>
                </a:rPr>
                <a:t>)</a:t>
              </a:r>
            </a:p>
            <a:p>
              <a:pPr>
                <a:lnSpc>
                  <a:spcPct val="114000"/>
                </a:lnSpc>
              </a:pPr>
              <a:r>
                <a:rPr lang="de-DE" sz="2000">
                  <a:solidFill>
                    <a:schemeClr val="tx1"/>
                  </a:solidFill>
                  <a:cs typeface="Arial"/>
                </a:rPr>
                <a:t>[</a:t>
              </a:r>
              <a:r>
                <a:rPr lang="de-DE" sz="2000" err="1">
                  <a:solidFill>
                    <a:schemeClr val="tx1"/>
                  </a:solidFill>
                  <a:cs typeface="Arial"/>
                </a:rPr>
                <a:t>Section</a:t>
              </a:r>
              <a:r>
                <a:rPr lang="de-DE" sz="2000">
                  <a:solidFill>
                    <a:schemeClr val="tx1"/>
                  </a:solidFill>
                  <a:cs typeface="Arial"/>
                </a:rPr>
                <a:t> 4.3]</a:t>
              </a:r>
            </a:p>
          </p:txBody>
        </p:sp>
        <p:cxnSp>
          <p:nvCxnSpPr>
            <p:cNvPr id="90" name="Connector: Elbow 114">
              <a:extLst>
                <a:ext uri="{FF2B5EF4-FFF2-40B4-BE49-F238E27FC236}">
                  <a16:creationId xmlns:a16="http://schemas.microsoft.com/office/drawing/2014/main" id="{72FC1BC0-D295-BAE6-1221-1578E3EC760B}"/>
                </a:ext>
              </a:extLst>
            </p:cNvPr>
            <p:cNvCxnSpPr>
              <a:cxnSpLocks/>
              <a:endCxn id="86" idx="1"/>
            </p:cNvCxnSpPr>
            <p:nvPr/>
          </p:nvCxnSpPr>
          <p:spPr>
            <a:xfrm rot="16200000" flipH="1">
              <a:off x="4569350" y="4739152"/>
              <a:ext cx="647443" cy="323202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onnector: Elbow 115">
              <a:extLst>
                <a:ext uri="{FF2B5EF4-FFF2-40B4-BE49-F238E27FC236}">
                  <a16:creationId xmlns:a16="http://schemas.microsoft.com/office/drawing/2014/main" id="{99E5F9CB-56E4-5253-2A1D-2D4DDFE97FF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4282190" y="5302890"/>
              <a:ext cx="1213518" cy="31495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2" name="Rectangle: Rounded Corners 8">
            <a:extLst>
              <a:ext uri="{FF2B5EF4-FFF2-40B4-BE49-F238E27FC236}">
                <a16:creationId xmlns:a16="http://schemas.microsoft.com/office/drawing/2014/main" id="{C7C23432-114B-0E38-06A5-9C61C6F9743E}"/>
              </a:ext>
            </a:extLst>
          </p:cNvPr>
          <p:cNvSpPr/>
          <p:nvPr/>
        </p:nvSpPr>
        <p:spPr>
          <a:xfrm>
            <a:off x="4453116" y="3139371"/>
            <a:ext cx="1900085" cy="10454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000">
                <a:solidFill>
                  <a:schemeClr val="tx1"/>
                </a:solidFill>
              </a:rPr>
              <a:t>Mixed Integer LP</a:t>
            </a:r>
          </a:p>
        </p:txBody>
      </p:sp>
      <p:sp>
        <p:nvSpPr>
          <p:cNvPr id="101" name="Rectangle: Rounded Corners 70">
            <a:extLst>
              <a:ext uri="{FF2B5EF4-FFF2-40B4-BE49-F238E27FC236}">
                <a16:creationId xmlns:a16="http://schemas.microsoft.com/office/drawing/2014/main" id="{1AC1B746-A165-AA1F-1F71-4C46CB9ACF72}"/>
              </a:ext>
            </a:extLst>
          </p:cNvPr>
          <p:cNvSpPr/>
          <p:nvPr/>
        </p:nvSpPr>
        <p:spPr>
          <a:xfrm>
            <a:off x="7583344" y="2512524"/>
            <a:ext cx="1746138" cy="466202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</a:pPr>
            <a:r>
              <a:rPr lang="de-DE" sz="2000" dirty="0">
                <a:solidFill>
                  <a:schemeClr val="tx1"/>
                </a:solidFill>
                <a:cs typeface="Arial"/>
              </a:rPr>
              <a:t>[</a:t>
            </a:r>
            <a:r>
              <a:rPr lang="de-DE" sz="2000" dirty="0" err="1">
                <a:solidFill>
                  <a:schemeClr val="tx1"/>
                </a:solidFill>
                <a:cs typeface="Arial"/>
              </a:rPr>
              <a:t>Section</a:t>
            </a:r>
            <a:r>
              <a:rPr lang="de-DE" sz="2000" dirty="0">
                <a:solidFill>
                  <a:schemeClr val="tx1"/>
                </a:solidFill>
                <a:cs typeface="Arial"/>
              </a:rPr>
              <a:t> 4.4]</a:t>
            </a:r>
          </a:p>
        </p:txBody>
      </p:sp>
      <p:cxnSp>
        <p:nvCxnSpPr>
          <p:cNvPr id="103" name="Connector: Elbow 115">
            <a:extLst>
              <a:ext uri="{FF2B5EF4-FFF2-40B4-BE49-F238E27FC236}">
                <a16:creationId xmlns:a16="http://schemas.microsoft.com/office/drawing/2014/main" id="{6E6EC764-E94E-632F-AA31-B81C41D23DED}"/>
              </a:ext>
            </a:extLst>
          </p:cNvPr>
          <p:cNvCxnSpPr>
            <a:cxnSpLocks/>
            <a:endCxn id="101" idx="1"/>
          </p:cNvCxnSpPr>
          <p:nvPr/>
        </p:nvCxnSpPr>
        <p:spPr>
          <a:xfrm rot="5400000" flipH="1" flipV="1">
            <a:off x="7285253" y="2836136"/>
            <a:ext cx="388601" cy="20758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Arrow: Down 3">
            <a:extLst>
              <a:ext uri="{FF2B5EF4-FFF2-40B4-BE49-F238E27FC236}">
                <a16:creationId xmlns:a16="http://schemas.microsoft.com/office/drawing/2014/main" id="{B3DAA406-0CA6-F3F5-E05A-583F326F66DC}"/>
              </a:ext>
            </a:extLst>
          </p:cNvPr>
          <p:cNvSpPr/>
          <p:nvPr/>
        </p:nvSpPr>
        <p:spPr>
          <a:xfrm rot="16200000">
            <a:off x="4500450" y="1106512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B611BA1-DC2C-F5BE-F1EC-D5ED525AAF8E}"/>
              </a:ext>
            </a:extLst>
          </p:cNvPr>
          <p:cNvSpPr/>
          <p:nvPr/>
        </p:nvSpPr>
        <p:spPr>
          <a:xfrm>
            <a:off x="4890722" y="452933"/>
            <a:ext cx="2924957" cy="1439083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r>
              <a:rPr lang="de-DE" sz="2000">
                <a:solidFill>
                  <a:schemeClr val="tx1"/>
                </a:solidFill>
              </a:rPr>
              <a:t>Mixed Integer Optimal Control </a:t>
            </a:r>
            <a:r>
              <a:rPr lang="de-DE" sz="2000" err="1">
                <a:solidFill>
                  <a:schemeClr val="tx1"/>
                </a:solidFill>
              </a:rPr>
              <a:t>Program</a:t>
            </a:r>
            <a:r>
              <a:rPr lang="de-DE" sz="2000">
                <a:solidFill>
                  <a:schemeClr val="tx1"/>
                </a:solidFill>
              </a:rPr>
              <a:t> (MIOCP)</a:t>
            </a:r>
            <a:endParaRPr lang="en-DE" sz="2000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3ACA874-58DA-5591-A1AF-0B6D4437BF1B}"/>
              </a:ext>
            </a:extLst>
          </p:cNvPr>
          <p:cNvGrpSpPr/>
          <p:nvPr/>
        </p:nvGrpSpPr>
        <p:grpSpPr>
          <a:xfrm>
            <a:off x="8227400" y="795660"/>
            <a:ext cx="2149117" cy="813024"/>
            <a:chOff x="2006006" y="3269604"/>
            <a:chExt cx="1332258" cy="504001"/>
          </a:xfrm>
        </p:grpSpPr>
        <p:sp>
          <p:nvSpPr>
            <p:cNvPr id="8" name="Flowchart: Stored Data 7">
              <a:extLst>
                <a:ext uri="{FF2B5EF4-FFF2-40B4-BE49-F238E27FC236}">
                  <a16:creationId xmlns:a16="http://schemas.microsoft.com/office/drawing/2014/main" id="{D1A2605D-09FA-E9A5-0632-F188D2DD619E}"/>
                </a:ext>
              </a:extLst>
            </p:cNvPr>
            <p:cNvSpPr/>
            <p:nvPr/>
          </p:nvSpPr>
          <p:spPr>
            <a:xfrm flipH="1">
              <a:off x="2258005" y="3269604"/>
              <a:ext cx="1080259" cy="504000"/>
            </a:xfrm>
            <a:prstGeom prst="flowChartOnlineStorage">
              <a:avLst/>
            </a:prstGeom>
            <a:solidFill>
              <a:srgbClr val="7EC4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4000"/>
                </a:lnSpc>
              </a:pPr>
              <a:endParaRPr lang="en-DE" sz="200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24D80D2-70A5-53CF-6350-D771FBA9AEF0}"/>
                </a:ext>
              </a:extLst>
            </p:cNvPr>
            <p:cNvSpPr txBox="1"/>
            <p:nvPr/>
          </p:nvSpPr>
          <p:spPr>
            <a:xfrm>
              <a:off x="2583461" y="3425103"/>
              <a:ext cx="732777" cy="1849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114000"/>
                </a:lnSpc>
              </a:pPr>
              <a:r>
                <a:rPr lang="de-DE" sz="2000"/>
                <a:t>Solution</a:t>
              </a:r>
              <a:endParaRPr lang="en-DE" sz="20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1326F4A-D47A-C7BC-FE95-24D32F8D3550}"/>
                </a:ext>
              </a:extLst>
            </p:cNvPr>
            <p:cNvGrpSpPr/>
            <p:nvPr/>
          </p:nvGrpSpPr>
          <p:grpSpPr>
            <a:xfrm>
              <a:off x="2006006" y="3269605"/>
              <a:ext cx="504000" cy="504000"/>
              <a:chOff x="2006006" y="3269605"/>
              <a:chExt cx="504000" cy="5040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B2A42DD-EE26-7778-BCFA-E8EEB7A1F9BC}"/>
                  </a:ext>
                </a:extLst>
              </p:cNvPr>
              <p:cNvSpPr/>
              <p:nvPr/>
            </p:nvSpPr>
            <p:spPr>
              <a:xfrm>
                <a:off x="2006006" y="3269605"/>
                <a:ext cx="504000" cy="5040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endParaRPr lang="en-US" sz="2000"/>
              </a:p>
            </p:txBody>
          </p:sp>
          <p:pic>
            <p:nvPicPr>
              <p:cNvPr id="12" name="Graphic 11" descr="Lights On outline">
                <a:extLst>
                  <a:ext uri="{FF2B5EF4-FFF2-40B4-BE49-F238E27FC236}">
                    <a16:creationId xmlns:a16="http://schemas.microsoft.com/office/drawing/2014/main" id="{CEAFF091-266B-CDA3-40FC-90C01024AC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083315" y="3346914"/>
                <a:ext cx="349383" cy="349383"/>
              </a:xfrm>
              <a:prstGeom prst="rect">
                <a:avLst/>
              </a:prstGeom>
            </p:spPr>
          </p:pic>
        </p:grpSp>
      </p:grp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809309E-815A-9F51-20AD-6A540B2379C7}"/>
              </a:ext>
            </a:extLst>
          </p:cNvPr>
          <p:cNvSpPr/>
          <p:nvPr/>
        </p:nvSpPr>
        <p:spPr>
          <a:xfrm rot="16200000">
            <a:off x="7806725" y="1125732"/>
            <a:ext cx="421663" cy="152881"/>
          </a:xfrm>
          <a:prstGeom prst="downArrow">
            <a:avLst>
              <a:gd name="adj1" fmla="val 31290"/>
              <a:gd name="adj2" fmla="val 10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en-US" sz="20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D0CB7F-9A6B-3460-A937-7DFD185B86CC}"/>
              </a:ext>
            </a:extLst>
          </p:cNvPr>
          <p:cNvGrpSpPr/>
          <p:nvPr/>
        </p:nvGrpSpPr>
        <p:grpSpPr>
          <a:xfrm>
            <a:off x="2275951" y="336154"/>
            <a:ext cx="2225488" cy="1704927"/>
            <a:chOff x="1608440" y="3553984"/>
            <a:chExt cx="2225488" cy="170492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D4FF983-D4B7-2E99-2E7A-8AB256AF1690}"/>
                </a:ext>
              </a:extLst>
            </p:cNvPr>
            <p:cNvGrpSpPr/>
            <p:nvPr/>
          </p:nvGrpSpPr>
          <p:grpSpPr>
            <a:xfrm>
              <a:off x="1614097" y="3553984"/>
              <a:ext cx="2219831" cy="812002"/>
              <a:chOff x="1573192" y="4207141"/>
              <a:chExt cx="1673068" cy="612000"/>
            </a:xfrm>
          </p:grpSpPr>
          <p:sp>
            <p:nvSpPr>
              <p:cNvPr id="22" name="Flowchart: Stored Data 11">
                <a:extLst>
                  <a:ext uri="{FF2B5EF4-FFF2-40B4-BE49-F238E27FC236}">
                    <a16:creationId xmlns:a16="http://schemas.microsoft.com/office/drawing/2014/main" id="{E61047F4-B1BC-5F11-8E1D-729F7C25AEEC}"/>
                  </a:ext>
                </a:extLst>
              </p:cNvPr>
              <p:cNvSpPr/>
              <p:nvPr/>
            </p:nvSpPr>
            <p:spPr>
              <a:xfrm flipH="1">
                <a:off x="1843516" y="4207141"/>
                <a:ext cx="1402744" cy="6115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0EB2DE2-47CC-046A-3F4B-1BEE50962938}"/>
                  </a:ext>
                </a:extLst>
              </p:cNvPr>
              <p:cNvGrpSpPr/>
              <p:nvPr/>
            </p:nvGrpSpPr>
            <p:grpSpPr>
              <a:xfrm>
                <a:off x="1573192" y="4207141"/>
                <a:ext cx="612000" cy="612000"/>
                <a:chOff x="1851183" y="3079700"/>
                <a:chExt cx="495300" cy="495300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8EF298C6-778E-1A7A-27E0-714238DA0542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26" name="Graphic 25" descr="Document outline">
                  <a:extLst>
                    <a:ext uri="{FF2B5EF4-FFF2-40B4-BE49-F238E27FC236}">
                      <a16:creationId xmlns:a16="http://schemas.microsoft.com/office/drawing/2014/main" id="{A0B468C2-074B-0983-1D89-9172E44B32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51ECBDF-C212-5B5E-33C4-9569F1DFC4B1}"/>
                  </a:ext>
                </a:extLst>
              </p:cNvPr>
              <p:cNvSpPr txBox="1"/>
              <p:nvPr/>
            </p:nvSpPr>
            <p:spPr>
              <a:xfrm>
                <a:off x="2269259" y="4249304"/>
                <a:ext cx="843117" cy="506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Network, Schedule</a:t>
                </a:r>
                <a:endParaRPr lang="en-DE" sz="20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7A7AF8E5-B7A2-DF3C-41AC-387ECBA18DC8}"/>
                </a:ext>
              </a:extLst>
            </p:cNvPr>
            <p:cNvGrpSpPr/>
            <p:nvPr/>
          </p:nvGrpSpPr>
          <p:grpSpPr>
            <a:xfrm>
              <a:off x="1608440" y="4446909"/>
              <a:ext cx="2225485" cy="812002"/>
              <a:chOff x="1573192" y="4207141"/>
              <a:chExt cx="1677332" cy="612000"/>
            </a:xfrm>
          </p:grpSpPr>
          <p:sp>
            <p:nvSpPr>
              <p:cNvPr id="17" name="Flowchart: Stored Data 11">
                <a:extLst>
                  <a:ext uri="{FF2B5EF4-FFF2-40B4-BE49-F238E27FC236}">
                    <a16:creationId xmlns:a16="http://schemas.microsoft.com/office/drawing/2014/main" id="{AC148C23-29A7-DA03-4E29-BEFA5588EEF8}"/>
                  </a:ext>
                </a:extLst>
              </p:cNvPr>
              <p:cNvSpPr/>
              <p:nvPr/>
            </p:nvSpPr>
            <p:spPr>
              <a:xfrm flipH="1">
                <a:off x="1895203" y="4207141"/>
                <a:ext cx="1355321" cy="611500"/>
              </a:xfrm>
              <a:prstGeom prst="flowChartOnlineStorag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14000"/>
                  </a:lnSpc>
                </a:pPr>
                <a:endParaRPr lang="en-DE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5DCE6BB-8FC0-C955-DD00-23C08E9177B1}"/>
                  </a:ext>
                </a:extLst>
              </p:cNvPr>
              <p:cNvGrpSpPr/>
              <p:nvPr/>
            </p:nvGrpSpPr>
            <p:grpSpPr>
              <a:xfrm>
                <a:off x="1573192" y="4207141"/>
                <a:ext cx="612000" cy="612000"/>
                <a:chOff x="1851183" y="3079700"/>
                <a:chExt cx="495300" cy="495300"/>
              </a:xfrm>
            </p:grpSpPr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4BECA413-C613-633B-9F36-899FEDDCF20F}"/>
                    </a:ext>
                  </a:extLst>
                </p:cNvPr>
                <p:cNvSpPr/>
                <p:nvPr/>
              </p:nvSpPr>
              <p:spPr>
                <a:xfrm>
                  <a:off x="1851183" y="3079700"/>
                  <a:ext cx="495300" cy="4953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114000"/>
                    </a:lnSpc>
                  </a:pPr>
                  <a:endParaRPr lang="en-US" sz="2000"/>
                </a:p>
              </p:txBody>
            </p:sp>
            <p:pic>
              <p:nvPicPr>
                <p:cNvPr id="21" name="Graphic 20" descr="Document outline">
                  <a:extLst>
                    <a:ext uri="{FF2B5EF4-FFF2-40B4-BE49-F238E27FC236}">
                      <a16:creationId xmlns:a16="http://schemas.microsoft.com/office/drawing/2014/main" id="{E68FD417-057B-6107-2876-60BA79EA15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41072" y="3169589"/>
                  <a:ext cx="315522" cy="315522"/>
                </a:xfrm>
                <a:prstGeom prst="rect">
                  <a:avLst/>
                </a:prstGeom>
              </p:spPr>
            </p:pic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4055413-E325-CF65-C1B3-92D8D7DA10DB}"/>
                  </a:ext>
                </a:extLst>
              </p:cNvPr>
              <p:cNvSpPr txBox="1"/>
              <p:nvPr/>
            </p:nvSpPr>
            <p:spPr>
              <a:xfrm>
                <a:off x="2275636" y="4395208"/>
                <a:ext cx="843117" cy="2423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4000"/>
                  </a:lnSpc>
                </a:pPr>
                <a:r>
                  <a:rPr lang="de-DE" sz="2000"/>
                  <a:t>Trains</a:t>
                </a:r>
                <a:endParaRPr lang="en-DE" sz="20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27586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5C29935-77DF-96E6-C3EB-7C50DA4C741A}"/>
              </a:ext>
            </a:extLst>
          </p:cNvPr>
          <p:cNvGrpSpPr/>
          <p:nvPr/>
        </p:nvGrpSpPr>
        <p:grpSpPr>
          <a:xfrm>
            <a:off x="5213350" y="2546350"/>
            <a:ext cx="1765300" cy="1765300"/>
            <a:chOff x="3689350" y="2546350"/>
            <a:chExt cx="1765300" cy="1765300"/>
          </a:xfrm>
        </p:grpSpPr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E5991BEB-F8BF-314A-324B-20A16CC9CA81}"/>
                </a:ext>
              </a:extLst>
            </p:cNvPr>
            <p:cNvSpPr/>
            <p:nvPr/>
          </p:nvSpPr>
          <p:spPr>
            <a:xfrm>
              <a:off x="3689350" y="2546350"/>
              <a:ext cx="1765300" cy="1765300"/>
            </a:xfrm>
            <a:prstGeom prst="flowChartConnector">
              <a:avLst/>
            </a:prstGeom>
            <a:solidFill>
              <a:schemeClr val="accent5"/>
            </a:solidFill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DDC832C-CBF6-C848-9160-7F92A2212766}"/>
                </a:ext>
              </a:extLst>
            </p:cNvPr>
            <p:cNvGrpSpPr/>
            <p:nvPr/>
          </p:nvGrpSpPr>
          <p:grpSpPr>
            <a:xfrm>
              <a:off x="3856270" y="2916583"/>
              <a:ext cx="1431460" cy="1024834"/>
              <a:chOff x="9783306" y="1424940"/>
              <a:chExt cx="1250603" cy="895352"/>
            </a:xfrm>
            <a:solidFill>
              <a:schemeClr val="bg1"/>
            </a:solidFill>
          </p:grpSpPr>
          <p:pic>
            <p:nvPicPr>
              <p:cNvPr id="25" name="Graphic 24" descr="Toy Train with solid fill">
                <a:extLst>
                  <a:ext uri="{FF2B5EF4-FFF2-40B4-BE49-F238E27FC236}">
                    <a16:creationId xmlns:a16="http://schemas.microsoft.com/office/drawing/2014/main" id="{7C28E8B5-293B-2FA9-504E-D96707A2D9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138557" y="1424940"/>
                <a:ext cx="895352" cy="895352"/>
              </a:xfrm>
              <a:prstGeom prst="rect">
                <a:avLst/>
              </a:prstGeom>
            </p:spPr>
          </p:pic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C54B5C1-D479-F38E-7CD5-8BC0BB63A5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15497" y="1867860"/>
                <a:ext cx="170401" cy="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5A746993-3ECC-00FF-3BDC-08623B7955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3306" y="1925970"/>
                <a:ext cx="264381" cy="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A501C42-78FE-BA84-E961-40B24A752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57740" y="1986044"/>
                <a:ext cx="228158" cy="0"/>
              </a:xfrm>
              <a:prstGeom prst="line">
                <a:avLst/>
              </a:prstGeom>
              <a:grpFill/>
              <a:ln w="1905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028755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41859D6-B023-5306-C1B3-66D927140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800" b="0" i="0">
                <a:effectLst/>
                <a:latin typeface="Arial" panose="020B0604020202020204" pitchFamily="34" charset="0"/>
              </a:rPr>
              <a:t>[1] Joel A E Andersson, Joris Gillis, Greg Horn, James B Rawlings and Moritz Diehl. ‘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CasADi</a:t>
            </a:r>
            <a:r>
              <a:rPr lang="de-DE" sz="800" b="0" i="0">
                <a:effectLst/>
                <a:latin typeface="Arial" panose="020B0604020202020204" pitchFamily="34" charset="0"/>
              </a:rPr>
              <a:t> – 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software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framework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nonlinear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optimization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optimal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control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Mathematical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Programming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Computation</a:t>
            </a:r>
            <a:r>
              <a:rPr lang="de-DE" sz="800" b="0" i="0">
                <a:effectLst/>
                <a:latin typeface="Arial" panose="020B0604020202020204" pitchFamily="34" charset="0"/>
              </a:rPr>
              <a:t> (2018).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[2] Jerome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Berclaz</a:t>
            </a:r>
            <a:r>
              <a:rPr lang="de-DE" sz="800" b="0" i="0">
                <a:effectLst/>
                <a:latin typeface="Arial" panose="020B0604020202020204" pitchFamily="34" charset="0"/>
              </a:rPr>
              <a:t>, Engin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Turetken</a:t>
            </a:r>
            <a:r>
              <a:rPr lang="de-DE" sz="800" b="0" i="0">
                <a:effectLst/>
                <a:latin typeface="Arial" panose="020B0604020202020204" pitchFamily="34" charset="0"/>
              </a:rPr>
              <a:t>, Francois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Fleuret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Pascal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Fua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‘Multiple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Object</a:t>
            </a:r>
            <a:r>
              <a:rPr lang="de-DE" sz="800" b="0" i="0">
                <a:effectLst/>
                <a:latin typeface="Arial" panose="020B0604020202020204" pitchFamily="34" charset="0"/>
              </a:rPr>
              <a:t> Tracking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using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K-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Shortest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Paths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Optimization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IEEE Transactions on Pattern Analysis and</a:t>
            </a:r>
            <a:br>
              <a:rPr lang="de-DE" sz="800"/>
            </a:br>
            <a:r>
              <a:rPr lang="de-DE" sz="800" b="0" i="0" err="1">
                <a:effectLst/>
                <a:latin typeface="Arial" panose="020B0604020202020204" pitchFamily="34" charset="0"/>
              </a:rPr>
              <a:t>Machine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Intelligence</a:t>
            </a:r>
            <a:r>
              <a:rPr lang="de-DE" sz="800" b="0" i="0">
                <a:effectLst/>
                <a:latin typeface="Arial" panose="020B0604020202020204" pitchFamily="34" charset="0"/>
              </a:rPr>
              <a:t> 33 (2011), pp. 1806–1819.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doi</a:t>
            </a:r>
            <a:r>
              <a:rPr lang="de-DE" sz="800" b="0" i="0">
                <a:effectLst/>
                <a:latin typeface="Arial" panose="020B0604020202020204" pitchFamily="34" charset="0"/>
              </a:rPr>
              <a:t>: </a:t>
            </a:r>
            <a:r>
              <a:rPr lang="de-DE" sz="800" b="0" i="0">
                <a:effectLst/>
                <a:latin typeface="Arial" panose="020B0604020202020204" pitchFamily="34" charset="0"/>
                <a:hlinkClick r:id="rId2"/>
              </a:rPr>
              <a:t>https://doi.org/10.1109/TPAMI.2011.21</a:t>
            </a:r>
            <a:r>
              <a:rPr lang="de-DE" sz="800" b="0" i="0">
                <a:effectLst/>
                <a:latin typeface="Arial" panose="020B0604020202020204" pitchFamily="34" charset="0"/>
              </a:rPr>
              <a:t>. url: http://infoscience.epfl.ch/record/164041.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[3]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Gabrio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Caimi</a:t>
            </a:r>
            <a:r>
              <a:rPr lang="de-DE" sz="800" b="0" i="0">
                <a:effectLst/>
                <a:latin typeface="Arial" panose="020B0604020202020204" pitchFamily="34" charset="0"/>
              </a:rPr>
              <a:t>, Fabian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Chudak</a:t>
            </a:r>
            <a:r>
              <a:rPr lang="de-DE" sz="800" b="0" i="0">
                <a:effectLst/>
                <a:latin typeface="Arial" panose="020B0604020202020204" pitchFamily="34" charset="0"/>
              </a:rPr>
              <a:t>, Martin Fuchsberger, Marco Laumanns and Rico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Zenklusen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new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resource-constrained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multicommodity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flow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model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conflict-free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train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routing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scheduling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Transportation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science</a:t>
            </a:r>
            <a:r>
              <a:rPr lang="de-DE" sz="800" b="0" i="0">
                <a:effectLst/>
                <a:latin typeface="Arial" panose="020B0604020202020204" pitchFamily="34" charset="0"/>
              </a:rPr>
              <a:t> 45.2 (2011), pp. 212–227.</a:t>
            </a:r>
          </a:p>
          <a:p>
            <a:endParaRPr lang="de-DE" sz="800">
              <a:latin typeface="Arial" panose="020B0604020202020204" pitchFamily="34" charset="0"/>
            </a:endParaRPr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[4] Andrea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D’Ariano</a:t>
            </a:r>
            <a:r>
              <a:rPr lang="de-DE" sz="800" b="0" i="0">
                <a:effectLst/>
                <a:latin typeface="Arial" panose="020B0604020202020204" pitchFamily="34" charset="0"/>
              </a:rPr>
              <a:t>, Marco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Pranzo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Ingo A. Hansen. ‘Conflict Resolution and Train Speed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Coordination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Solving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Real-Time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Timetable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Perturbations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IEEE Transactions on Intelligent Transportation Systems 8.2 (2007), pp. 208–222.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doi</a:t>
            </a:r>
            <a:r>
              <a:rPr lang="de-DE" sz="800" b="0" i="0">
                <a:effectLst/>
                <a:latin typeface="Arial" panose="020B0604020202020204" pitchFamily="34" charset="0"/>
              </a:rPr>
              <a:t>: 10.1109/TITS.2006.888605.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[5]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Quoc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Khanh</a:t>
            </a:r>
            <a:r>
              <a:rPr lang="de-DE" sz="800" b="0" i="0">
                <a:effectLst/>
                <a:latin typeface="Arial" panose="020B0604020202020204" pitchFamily="34" charset="0"/>
              </a:rPr>
              <a:t> Dang, Thomas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Bourdeaud’Huy</a:t>
            </a:r>
            <a:r>
              <a:rPr lang="de-DE" sz="800" b="0" i="0">
                <a:effectLst/>
                <a:latin typeface="Arial" panose="020B0604020202020204" pitchFamily="34" charset="0"/>
              </a:rPr>
              <a:t>, Khaled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Mesghouni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Armand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Toguyeni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‘Low-Level Modeling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Optimal Train Routing and Scheduling 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Busy</a:t>
            </a:r>
            <a:r>
              <a:rPr lang="de-DE" sz="800" b="0" i="0">
                <a:effectLst/>
                <a:latin typeface="Arial" panose="020B0604020202020204" pitchFamily="34" charset="0"/>
              </a:rPr>
              <a:t> Railway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Stations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International Journal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of</a:t>
            </a:r>
            <a:r>
              <a:rPr lang="de-DE" sz="800" b="0" i="0">
                <a:effectLst/>
                <a:latin typeface="Arial" panose="020B0604020202020204" pitchFamily="34" charset="0"/>
              </a:rPr>
              <a:t> Transport and Vehicle Engineering (2019). url: </a:t>
            </a:r>
            <a:r>
              <a:rPr lang="de-DE" sz="800" b="0" i="0">
                <a:effectLst/>
                <a:latin typeface="Arial" panose="020B0604020202020204" pitchFamily="34" charset="0"/>
                <a:hlinkClick r:id="rId3"/>
              </a:rPr>
              <a:t>https://hal</a:t>
            </a:r>
            <a:r>
              <a:rPr lang="de-DE" sz="800" b="0" i="0">
                <a:effectLst/>
                <a:latin typeface="Arial" panose="020B0604020202020204" pitchFamily="34" charset="0"/>
              </a:rPr>
              <a:t>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science</a:t>
            </a:r>
            <a:r>
              <a:rPr lang="de-DE" sz="800" b="0" i="0">
                <a:effectLst/>
                <a:latin typeface="Arial" panose="020B0604020202020204" pitchFamily="34" charset="0"/>
              </a:rPr>
              <a:t>/hal-03462793.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[6] J. Du and J.Y.-T. Leung. ‘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Minimizing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total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tardiness</a:t>
            </a:r>
            <a:r>
              <a:rPr lang="de-DE" sz="800" b="0" i="0">
                <a:effectLst/>
                <a:latin typeface="Arial" panose="020B0604020202020204" pitchFamily="34" charset="0"/>
              </a:rPr>
              <a:t> on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one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machine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is</a:t>
            </a:r>
            <a:r>
              <a:rPr lang="de-DE" sz="800" b="0" i="0">
                <a:effectLst/>
                <a:latin typeface="Arial" panose="020B0604020202020204" pitchFamily="34" charset="0"/>
              </a:rPr>
              <a:t> NP-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hard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Math. Oper. Res. 15.3 (1990), pp. 483–495.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[7] Omid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Gholami</a:t>
            </a:r>
            <a:r>
              <a:rPr lang="de-DE" sz="800" b="0" i="0">
                <a:effectLst/>
                <a:latin typeface="Arial" panose="020B0604020202020204" pitchFamily="34" charset="0"/>
              </a:rPr>
              <a:t>, Yuri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Sotskov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Frank Werner. ‘Job-Shop Scheduling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with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Objectives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Appropriate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Train Scheduling in a Single-Track Railway’. In: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July</a:t>
            </a:r>
            <a:r>
              <a:rPr lang="de-DE" sz="800" b="0" i="0">
                <a:effectLst/>
                <a:latin typeface="Arial" panose="020B0604020202020204" pitchFamily="34" charset="0"/>
              </a:rPr>
              <a:t> 2012.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[8]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Banafsheh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Khosravi</a:t>
            </a:r>
            <a:r>
              <a:rPr lang="de-DE" sz="800" b="0" i="0">
                <a:effectLst/>
                <a:latin typeface="Arial" panose="020B0604020202020204" pitchFamily="34" charset="0"/>
              </a:rPr>
              <a:t>, Julia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Bennell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Chris Potts. ‘Train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scheduling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rescheduling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the</a:t>
            </a:r>
            <a:r>
              <a:rPr lang="de-DE" sz="800" b="0" i="0">
                <a:effectLst/>
                <a:latin typeface="Arial" panose="020B0604020202020204" pitchFamily="34" charset="0"/>
              </a:rPr>
              <a:t> UK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with</a:t>
            </a:r>
            <a:r>
              <a:rPr lang="de-DE" sz="800" b="0" i="0">
                <a:effectLst/>
                <a:latin typeface="Arial" panose="020B0604020202020204" pitchFamily="34" charset="0"/>
              </a:rPr>
              <a:t> 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modified</a:t>
            </a:r>
            <a:r>
              <a:rPr lang="de-DE" sz="800" b="0" i="0">
                <a:effectLst/>
                <a:latin typeface="Arial" panose="020B0604020202020204" pitchFamily="34" charset="0"/>
              </a:rPr>
              <a:t> shifting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bottleneck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procedure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OpenAccess</a:t>
            </a:r>
            <a:r>
              <a:rPr lang="de-DE" sz="800" b="0" i="0">
                <a:effectLst/>
                <a:latin typeface="Arial" panose="020B0604020202020204" pitchFamily="34" charset="0"/>
              </a:rPr>
              <a:t> Series 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Informatics</a:t>
            </a:r>
            <a:r>
              <a:rPr lang="de-DE" sz="800" b="0" i="0">
                <a:effectLst/>
                <a:latin typeface="Arial" panose="020B0604020202020204" pitchFamily="34" charset="0"/>
              </a:rPr>
              <a:t> 25 (Jan. 2012), pp. 120–131.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doi</a:t>
            </a:r>
            <a:r>
              <a:rPr lang="de-DE" sz="800" b="0" i="0">
                <a:effectLst/>
                <a:latin typeface="Arial" panose="020B0604020202020204" pitchFamily="34" charset="0"/>
              </a:rPr>
              <a:t>: 10.4230/OASIcs.ATMOS.2012.120.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[9] Paola Pellegrini,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Gr</a:t>
            </a:r>
            <a:r>
              <a:rPr lang="de-DE" sz="800" b="0" i="0">
                <a:effectLst/>
                <a:latin typeface="Arial" panose="020B0604020202020204" pitchFamily="34" charset="0"/>
              </a:rPr>
              <a:t> ́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egory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Marli`ere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Joaquin Rodriguez. ‘Optimal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train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routing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scheduling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managing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traffic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perturbations</a:t>
            </a:r>
            <a:r>
              <a:rPr lang="de-DE" sz="800" b="0" i="0">
                <a:effectLst/>
                <a:latin typeface="Arial" panose="020B0604020202020204" pitchFamily="34" charset="0"/>
              </a:rPr>
              <a:t> 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complex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junctions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Transportation Research Part B: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Methodological</a:t>
            </a:r>
            <a:r>
              <a:rPr lang="de-DE" sz="800" b="0" i="0">
                <a:effectLst/>
                <a:latin typeface="Arial" panose="020B0604020202020204" pitchFamily="34" charset="0"/>
              </a:rPr>
              <a:t> 59 (2014), pp. 58–80.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[10] Ben Roberts and Dirk P.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Kroese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Estimating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the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Number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of</a:t>
            </a:r>
            <a:r>
              <a:rPr lang="de-DE" sz="800" b="0" i="0">
                <a:effectLst/>
                <a:latin typeface="Arial" panose="020B0604020202020204" pitchFamily="34" charset="0"/>
              </a:rPr>
              <a:t> s-t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Paths</a:t>
            </a:r>
            <a:r>
              <a:rPr lang="de-DE" sz="800" b="0" i="0">
                <a:effectLst/>
                <a:latin typeface="Arial" panose="020B0604020202020204" pitchFamily="34" charset="0"/>
              </a:rPr>
              <a:t> in a Graph’. In: Journal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of</a:t>
            </a:r>
            <a:r>
              <a:rPr lang="de-DE" sz="800" b="0" i="0">
                <a:effectLst/>
                <a:latin typeface="Arial" panose="020B0604020202020204" pitchFamily="34" charset="0"/>
              </a:rPr>
              <a:t> Graph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Algorithms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Applications</a:t>
            </a:r>
            <a:r>
              <a:rPr lang="de-DE" sz="800" b="0" i="0">
                <a:effectLst/>
                <a:latin typeface="Arial" panose="020B0604020202020204" pitchFamily="34" charset="0"/>
              </a:rPr>
              <a:t> 11.1 (2007), pp. 195–214.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doi</a:t>
            </a:r>
            <a:r>
              <a:rPr lang="de-DE" sz="800" b="0" i="0">
                <a:effectLst/>
                <a:latin typeface="Arial" panose="020B0604020202020204" pitchFamily="34" charset="0"/>
              </a:rPr>
              <a:t>: 10.7155/jgaa.00142.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[11] Mauricio Salerno, Yolanda E-Mart ́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ın</a:t>
            </a:r>
            <a:r>
              <a:rPr lang="de-DE" sz="800" b="0" i="0">
                <a:effectLst/>
                <a:latin typeface="Arial" panose="020B0604020202020204" pitchFamily="34" charset="0"/>
              </a:rPr>
              <a:t>, Raquel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Fuentetaja</a:t>
            </a:r>
            <a:r>
              <a:rPr lang="de-DE" sz="800" b="0" i="0">
                <a:effectLst/>
                <a:latin typeface="Arial" panose="020B0604020202020204" pitchFamily="34" charset="0"/>
              </a:rPr>
              <a:t>, Alba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Gragera</a:t>
            </a:r>
            <a:r>
              <a:rPr lang="de-DE" sz="800" b="0" i="0">
                <a:effectLst/>
                <a:latin typeface="Arial" panose="020B0604020202020204" pitchFamily="34" charset="0"/>
              </a:rPr>
              <a:t>, Alberto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Pozanco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Daniel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Borrajo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‘Train Route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Planning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as</a:t>
            </a:r>
            <a:r>
              <a:rPr lang="de-DE" sz="800" b="0" i="0">
                <a:effectLst/>
                <a:latin typeface="Arial" panose="020B0604020202020204" pitchFamily="34" charset="0"/>
              </a:rPr>
              <a:t> a Multi-agent Path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Finding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Problem’. In: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Advances</a:t>
            </a:r>
            <a:r>
              <a:rPr lang="de-DE" sz="800" b="0" i="0">
                <a:effectLst/>
                <a:latin typeface="Arial" panose="020B0604020202020204" pitchFamily="34" charset="0"/>
              </a:rPr>
              <a:t> 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Artificial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Intelligence</a:t>
            </a:r>
            <a:r>
              <a:rPr lang="de-DE" sz="800" b="0" i="0">
                <a:effectLst/>
                <a:latin typeface="Arial" panose="020B0604020202020204" pitchFamily="34" charset="0"/>
              </a:rPr>
              <a:t>. Ed.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by</a:t>
            </a:r>
            <a:r>
              <a:rPr lang="de-DE" sz="800" b="0" i="0">
                <a:effectLst/>
                <a:latin typeface="Arial" panose="020B0604020202020204" pitchFamily="34" charset="0"/>
              </a:rPr>
              <a:t> Enrique Alba, Gabriel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Luque</a:t>
            </a:r>
            <a:r>
              <a:rPr lang="de-DE" sz="800" b="0" i="0">
                <a:effectLst/>
                <a:latin typeface="Arial" panose="020B0604020202020204" pitchFamily="34" charset="0"/>
              </a:rPr>
              <a:t>, Francisco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Chicano</a:t>
            </a:r>
            <a:r>
              <a:rPr lang="de-DE" sz="800" b="0" i="0">
                <a:effectLst/>
                <a:latin typeface="Arial" panose="020B0604020202020204" pitchFamily="34" charset="0"/>
              </a:rPr>
              <a:t>, Carlos Cotta, David Camacho, Manuel Ojeda-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Aciego</a:t>
            </a:r>
            <a:r>
              <a:rPr lang="de-DE" sz="800" b="0" i="0">
                <a:effectLst/>
                <a:latin typeface="Arial" panose="020B0604020202020204" pitchFamily="34" charset="0"/>
              </a:rPr>
              <a:t>, Susana Montes, Alicia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Troncoso</a:t>
            </a:r>
            <a:r>
              <a:rPr lang="de-DE" sz="800" b="0" i="0">
                <a:effectLst/>
                <a:latin typeface="Arial" panose="020B0604020202020204" pitchFamily="34" charset="0"/>
              </a:rPr>
              <a:t>, Jos ́e Riquelme and Rodrigo Gil-Merino. Cham: Springer International Publishing, 2021, pp. 237–246.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[12] Marcella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Sam`a</a:t>
            </a:r>
            <a:r>
              <a:rPr lang="de-DE" sz="800" b="0" i="0">
                <a:effectLst/>
                <a:latin typeface="Arial" panose="020B0604020202020204" pitchFamily="34" charset="0"/>
              </a:rPr>
              <a:t>, Paola Pellegrini, Andrea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D’Ariano</a:t>
            </a:r>
            <a:r>
              <a:rPr lang="de-DE" sz="800" b="0" i="0">
                <a:effectLst/>
                <a:latin typeface="Arial" panose="020B0604020202020204" pitchFamily="34" charset="0"/>
              </a:rPr>
              <a:t>, Joaquin Rodriguez and Dario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Pacciarelli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‘Ant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colony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optimization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the</a:t>
            </a:r>
            <a:r>
              <a:rPr lang="de-DE" sz="800" b="0" i="0">
                <a:effectLst/>
                <a:latin typeface="Arial" panose="020B0604020202020204" pitchFamily="34" charset="0"/>
              </a:rPr>
              <a:t> real-time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train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routing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selection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problem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Transportation Research Part B: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Methodological</a:t>
            </a:r>
            <a:r>
              <a:rPr lang="de-DE" sz="800" b="0" i="0">
                <a:effectLst/>
                <a:latin typeface="Arial" panose="020B0604020202020204" pitchFamily="34" charset="0"/>
              </a:rPr>
              <a:t> 85 (2016), pp. 89–108.</a:t>
            </a:r>
            <a:br>
              <a:rPr lang="de-DE" sz="800"/>
            </a:br>
            <a:endParaRPr lang="de-DE" sz="800"/>
          </a:p>
          <a:p>
            <a:r>
              <a:rPr lang="de-DE" sz="800" b="0" i="0">
                <a:effectLst/>
                <a:latin typeface="Arial" panose="020B0604020202020204" pitchFamily="34" charset="0"/>
              </a:rPr>
              <a:t>[13]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Yihui</a:t>
            </a:r>
            <a:r>
              <a:rPr lang="de-DE" sz="800" b="0" i="0">
                <a:effectLst/>
                <a:latin typeface="Arial" panose="020B0604020202020204" pitchFamily="34" charset="0"/>
              </a:rPr>
              <a:t> Wang, Bart De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Schutter</a:t>
            </a:r>
            <a:r>
              <a:rPr lang="de-DE" sz="800" b="0" i="0">
                <a:effectLst/>
                <a:latin typeface="Arial" panose="020B0604020202020204" pitchFamily="34" charset="0"/>
              </a:rPr>
              <a:t>, Ton JJ van den Boom and Bin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Ning</a:t>
            </a:r>
            <a:r>
              <a:rPr lang="de-DE" sz="800" b="0" i="0">
                <a:effectLst/>
                <a:latin typeface="Arial" panose="020B0604020202020204" pitchFamily="34" charset="0"/>
              </a:rPr>
              <a:t>. ‘Optimal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trajectory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planning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for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trains</a:t>
            </a:r>
            <a:r>
              <a:rPr lang="de-DE" sz="800" b="0" i="0">
                <a:effectLst/>
                <a:latin typeface="Arial" panose="020B0604020202020204" pitchFamily="34" charset="0"/>
              </a:rPr>
              <a:t>–a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pseudospectral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method</a:t>
            </a:r>
            <a:r>
              <a:rPr lang="de-DE" sz="800" b="0" i="0">
                <a:effectLst/>
                <a:latin typeface="Arial" panose="020B0604020202020204" pitchFamily="34" charset="0"/>
              </a:rPr>
              <a:t> and a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mixed</a:t>
            </a:r>
            <a:r>
              <a:rPr lang="de-DE" sz="800" b="0" i="0">
                <a:effectLst/>
                <a:latin typeface="Arial" panose="020B0604020202020204" pitchFamily="34" charset="0"/>
              </a:rPr>
              <a:t> integer linear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programming</a:t>
            </a:r>
            <a:r>
              <a:rPr lang="de-DE" sz="800" b="0" i="0">
                <a:effectLst/>
                <a:latin typeface="Arial" panose="020B0604020202020204" pitchFamily="34" charset="0"/>
              </a:rPr>
              <a:t> </a:t>
            </a:r>
            <a:r>
              <a:rPr lang="de-DE" sz="800" b="0" i="0" err="1">
                <a:effectLst/>
                <a:latin typeface="Arial" panose="020B0604020202020204" pitchFamily="34" charset="0"/>
              </a:rPr>
              <a:t>approach</a:t>
            </a:r>
            <a:r>
              <a:rPr lang="de-DE" sz="800" b="0" i="0">
                <a:effectLst/>
                <a:latin typeface="Arial" panose="020B0604020202020204" pitchFamily="34" charset="0"/>
              </a:rPr>
              <a:t>’. In: Transportation Research Part C: Emerging Technologies 29 (2013), pp. 97–114.</a:t>
            </a:r>
            <a:endParaRPr lang="de-DE" sz="8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A08660-C6BF-2762-BFC0-EC0B0EDFC3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68</a:t>
            </a:fld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8A576F-CCAE-4C1F-9815-4FD0A352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References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6EE21-D537-2353-86FA-21A434C16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Optimal Train Routing and Scheduling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77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160304-TUM-Praesentation-Vorlage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D456972-7325-45F1-93F0-CD538ED5CC58}" vid="{CFAF062D-835C-4BEF-9E37-757E859AA4D6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D456972-7325-45F1-93F0-CD538ED5CC58}" vid="{2784438A-A2B8-47E9-9B65-B321DD4A84AC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D456972-7325-45F1-93F0-CD538ED5CC58}" vid="{C31B848E-18A1-425A-B28D-7708582A77D4}"/>
    </a:ext>
  </a:extLst>
</a:theme>
</file>

<file path=ppt/theme/theme4.xml><?xml version="1.0" encoding="utf-8"?>
<a:theme xmlns:a="http://schemas.openxmlformats.org/drawingml/2006/main" name="Inhalt">
  <a:themeElements>
    <a:clrScheme name="TUM x Siemens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7EC492"/>
      </a:accent4>
      <a:accent5>
        <a:srgbClr val="003710"/>
      </a:accent5>
      <a:accent6>
        <a:srgbClr val="62A39F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D456972-7325-45F1-93F0-CD538ED5CC58}" vid="{4932B11D-AC27-406E-A186-D088DD60EAF1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D456972-7325-45F1-93F0-CD538ED5CC58}" vid="{CEA4F1DE-00A5-4965-8B36-7FB142A3DF5B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FD456972-7325-45F1-93F0-CD538ED5CC58}" vid="{52206067-8638-438C-9D8D-9901FBC481C6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160304-TUM-Praesentation-Vorlage</Template>
  <TotalTime>0</TotalTime>
  <Words>3071</Words>
  <Application>Microsoft Office PowerPoint</Application>
  <PresentationFormat>Widescreen</PresentationFormat>
  <Paragraphs>897</Paragraphs>
  <Slides>68</Slides>
  <Notes>23</Notes>
  <HiddenSlides>16</HiddenSlides>
  <MMClips>10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68</vt:i4>
      </vt:variant>
    </vt:vector>
  </HeadingPairs>
  <TitlesOfParts>
    <vt:vector size="85" baseType="lpstr">
      <vt:lpstr>Arial</vt:lpstr>
      <vt:lpstr>Arial (Body)</vt:lpstr>
      <vt:lpstr>Arial,Sans-Serif</vt:lpstr>
      <vt:lpstr>Blackadder ITC</vt:lpstr>
      <vt:lpstr>Calibri</vt:lpstr>
      <vt:lpstr>Cambria Math</vt:lpstr>
      <vt:lpstr>Courier New</vt:lpstr>
      <vt:lpstr>MathJax_Main</vt:lpstr>
      <vt:lpstr>MathJax_Math-italic</vt:lpstr>
      <vt:lpstr>Symbol</vt:lpstr>
      <vt:lpstr>Wingdings</vt:lpstr>
      <vt:lpstr>160304-TUM-Praesentation-Vorlage</vt:lpstr>
      <vt:lpstr>Titel 2</vt:lpstr>
      <vt:lpstr>Titel 3</vt:lpstr>
      <vt:lpstr>Inhalt</vt:lpstr>
      <vt:lpstr>Kapiteltrenner blau</vt:lpstr>
      <vt:lpstr>Kapiteltrenner schwarz</vt:lpstr>
      <vt:lpstr>Optimal Train Routing and Scheduling</vt:lpstr>
      <vt:lpstr>PowerPoint Presentation</vt:lpstr>
      <vt:lpstr>Agenda</vt:lpstr>
      <vt:lpstr>Problem Description</vt:lpstr>
      <vt:lpstr>Problem Description</vt:lpstr>
      <vt:lpstr>Problem Description</vt:lpstr>
      <vt:lpstr>Problem Description</vt:lpstr>
      <vt:lpstr>Problem Description</vt:lpstr>
      <vt:lpstr>Problem Description</vt:lpstr>
      <vt:lpstr>Problem Description</vt:lpstr>
      <vt:lpstr>Problem Description</vt:lpstr>
      <vt:lpstr>Problem Description</vt:lpstr>
      <vt:lpstr>Problem Description</vt:lpstr>
      <vt:lpstr>Problem Description</vt:lpstr>
      <vt:lpstr>Desired Output</vt:lpstr>
      <vt:lpstr>Agenda</vt:lpstr>
      <vt:lpstr>PowerPoint Presentation</vt:lpstr>
      <vt:lpstr>PowerPoint Presentation</vt:lpstr>
      <vt:lpstr>PowerPoint Presentation</vt:lpstr>
      <vt:lpstr>PowerPoint Presentation</vt:lpstr>
      <vt:lpstr>Preprocessing</vt:lpstr>
      <vt:lpstr>Optimization Model</vt:lpstr>
      <vt:lpstr>Optimization Model</vt:lpstr>
      <vt:lpstr>Conflict Constraints</vt:lpstr>
      <vt:lpstr>Conflict Constraints</vt:lpstr>
      <vt:lpstr>Optimization Model Overview</vt:lpstr>
      <vt:lpstr>Solving the Problem</vt:lpstr>
      <vt:lpstr>Agenda</vt:lpstr>
      <vt:lpstr>Combined vs. Decoupled Approach</vt:lpstr>
      <vt:lpstr>Combined vs. Decoupled Approach</vt:lpstr>
      <vt:lpstr>Combined vs. Decoupled Approach</vt:lpstr>
      <vt:lpstr>Route-based Ansatz</vt:lpstr>
      <vt:lpstr>Linearized Dynamics</vt:lpstr>
      <vt:lpstr>Time difference bounds: Example</vt:lpstr>
      <vt:lpstr>Time difference bounds</vt:lpstr>
      <vt:lpstr>Linearized Dynamics: PWL Approximation</vt:lpstr>
      <vt:lpstr>Linearized Dynamics: Example</vt:lpstr>
      <vt:lpstr>Segment-based Ansatz</vt:lpstr>
      <vt:lpstr>Segment-based Ansatz</vt:lpstr>
      <vt:lpstr>Model Complexity</vt:lpstr>
      <vt:lpstr>Agenda</vt:lpstr>
      <vt:lpstr>Choice of "α" </vt:lpstr>
      <vt:lpstr>Test Examples</vt:lpstr>
      <vt:lpstr>Total Objective</vt:lpstr>
      <vt:lpstr>Decoupled Route-based vs. Segment-based</vt:lpstr>
      <vt:lpstr>Decoupled Route-based vs. Segment-based</vt:lpstr>
      <vt:lpstr>Agenda</vt:lpstr>
      <vt:lpstr>Summary</vt:lpstr>
      <vt:lpstr>Summary</vt:lpstr>
      <vt:lpstr>Summary</vt:lpstr>
      <vt:lpstr>Summary</vt:lpstr>
      <vt:lpstr>PowerPoint Presentation</vt:lpstr>
      <vt:lpstr>Backup-Slides</vt:lpstr>
      <vt:lpstr>PowerPoint Presentation</vt:lpstr>
      <vt:lpstr>Outlook</vt:lpstr>
      <vt:lpstr>Assumptions for simplification</vt:lpstr>
      <vt:lpstr>Hardness</vt:lpstr>
      <vt:lpstr>Moving Trains in decoupled approach</vt:lpstr>
      <vt:lpstr>Approximation Error Example </vt:lpstr>
      <vt:lpstr>Spectrum of 'simplified dynamics'</vt:lpstr>
      <vt:lpstr>Segment-based Ansatz</vt:lpstr>
      <vt:lpstr>Total Delay</vt:lpstr>
      <vt:lpstr>Runtime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Sándor Daróczi</dc:creator>
  <cp:lastModifiedBy>Simon Ramoser</cp:lastModifiedBy>
  <cp:revision>2</cp:revision>
  <cp:lastPrinted>2015-07-30T14:04:45Z</cp:lastPrinted>
  <dcterms:created xsi:type="dcterms:W3CDTF">2023-06-08T10:14:19Z</dcterms:created>
  <dcterms:modified xsi:type="dcterms:W3CDTF">2023-07-15T14:05:14Z</dcterms:modified>
</cp:coreProperties>
</file>